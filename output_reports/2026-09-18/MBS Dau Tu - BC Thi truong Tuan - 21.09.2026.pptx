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91" r:id="rId2"/>
    <p:sldId id="2738" r:id="rId3"/>
    <p:sldId id="2898" r:id="rId4"/>
    <p:sldId id="2922" r:id="rId5"/>
    <p:sldId id="2899" r:id="rId6"/>
    <p:sldId id="2926" r:id="rId7"/>
    <p:sldId id="2920" r:id="rId8"/>
    <p:sldId id="2921" r:id="rId9"/>
    <p:sldId id="2925" r:id="rId10"/>
    <p:sldId id="2915" r:id="rId11"/>
    <p:sldId id="292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099133-360E-B7FA-5670-27D0F42E245D}" name="Tran Khanh Hien" initials="TKH" userId="4f6d85d472746b1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Trương Thùy Dương" initials="TTD" lastIdx="12" clrIdx="0"/>
  <p:cmAuthor id="1" name="Trần Thị Khánh Hiền" initials="TKH" lastIdx="7" clrIdx="1">
    <p:extLst>
      <p:ext uri="{19B8F6BF-5375-455C-9EA6-DF929625EA0E}">
        <p15:presenceInfo xmlns:p15="http://schemas.microsoft.com/office/powerpoint/2012/main" userId="4f6d85d472746b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CC4"/>
    <a:srgbClr val="07A9F0"/>
    <a:srgbClr val="EB2D4B"/>
    <a:srgbClr val="141ED2"/>
    <a:srgbClr val="54C4AE"/>
    <a:srgbClr val="FF7F0C"/>
    <a:srgbClr val="0000FF"/>
    <a:srgbClr val="2355CA"/>
    <a:srgbClr val="40B3FF"/>
    <a:srgbClr val="883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66" autoAdjust="0"/>
    <p:restoredTop sz="93909"/>
  </p:normalViewPr>
  <p:slideViewPr>
    <p:cSldViewPr snapToGrid="0">
      <p:cViewPr varScale="1">
        <p:scale>
          <a:sx n="105" d="100"/>
          <a:sy n="105" d="100"/>
        </p:scale>
        <p:origin x="1140" y="102"/>
      </p:cViewPr>
      <p:guideLst>
        <p:guide orient="horz" pos="2160"/>
        <p:guide pos="3840"/>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dmin\Documents\Projects\BCTT%20Tuan\dong%20gop%20cua%20vingroup\Dong%20gop%20cua%20vingroup_update%20180926.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2"/>
          <c:order val="0"/>
          <c:tx>
            <c:v>VNINDEX</c:v>
          </c:tx>
          <c:spPr>
            <a:ln>
              <a:prstDash val="solid"/>
            </a:ln>
          </c:spPr>
          <c:marker>
            <c:symbol val="none"/>
          </c:marker>
          <c:cat>
            <c:numRef>
              <c:f>Sheet1!$A$2:$A$393</c:f>
              <c:numCache>
                <c:formatCode>mm/dd/yyyy</c:formatCode>
                <c:ptCount val="392"/>
                <c:pt idx="1">
                  <c:v>46283</c:v>
                </c:pt>
                <c:pt idx="2">
                  <c:v>46282</c:v>
                </c:pt>
                <c:pt idx="3">
                  <c:v>46281</c:v>
                </c:pt>
                <c:pt idx="4">
                  <c:v>46280</c:v>
                </c:pt>
                <c:pt idx="5">
                  <c:v>46279</c:v>
                </c:pt>
                <c:pt idx="6">
                  <c:v>46276</c:v>
                </c:pt>
                <c:pt idx="7">
                  <c:v>46275</c:v>
                </c:pt>
                <c:pt idx="8">
                  <c:v>46274</c:v>
                </c:pt>
                <c:pt idx="9">
                  <c:v>46273</c:v>
                </c:pt>
                <c:pt idx="10">
                  <c:v>46272</c:v>
                </c:pt>
                <c:pt idx="11">
                  <c:v>46269</c:v>
                </c:pt>
                <c:pt idx="12">
                  <c:v>46268</c:v>
                </c:pt>
                <c:pt idx="13">
                  <c:v>46262</c:v>
                </c:pt>
                <c:pt idx="14">
                  <c:v>46261</c:v>
                </c:pt>
                <c:pt idx="15">
                  <c:v>46260</c:v>
                </c:pt>
                <c:pt idx="16">
                  <c:v>46259</c:v>
                </c:pt>
                <c:pt idx="17">
                  <c:v>46258</c:v>
                </c:pt>
                <c:pt idx="18">
                  <c:v>46255</c:v>
                </c:pt>
                <c:pt idx="19">
                  <c:v>46254</c:v>
                </c:pt>
                <c:pt idx="20">
                  <c:v>46253</c:v>
                </c:pt>
                <c:pt idx="21">
                  <c:v>46252</c:v>
                </c:pt>
                <c:pt idx="22">
                  <c:v>46251</c:v>
                </c:pt>
                <c:pt idx="23">
                  <c:v>46248</c:v>
                </c:pt>
                <c:pt idx="24">
                  <c:v>46247</c:v>
                </c:pt>
                <c:pt idx="25">
                  <c:v>46246</c:v>
                </c:pt>
                <c:pt idx="26">
                  <c:v>46245</c:v>
                </c:pt>
                <c:pt idx="27">
                  <c:v>46244</c:v>
                </c:pt>
                <c:pt idx="28">
                  <c:v>46241</c:v>
                </c:pt>
                <c:pt idx="29">
                  <c:v>46240</c:v>
                </c:pt>
                <c:pt idx="30">
                  <c:v>46239</c:v>
                </c:pt>
                <c:pt idx="31">
                  <c:v>46238</c:v>
                </c:pt>
                <c:pt idx="32">
                  <c:v>46237</c:v>
                </c:pt>
                <c:pt idx="33">
                  <c:v>46234</c:v>
                </c:pt>
                <c:pt idx="34">
                  <c:v>46233</c:v>
                </c:pt>
                <c:pt idx="35">
                  <c:v>46232</c:v>
                </c:pt>
                <c:pt idx="36">
                  <c:v>46231</c:v>
                </c:pt>
                <c:pt idx="37">
                  <c:v>46230</c:v>
                </c:pt>
                <c:pt idx="38">
                  <c:v>46227</c:v>
                </c:pt>
                <c:pt idx="39">
                  <c:v>46226</c:v>
                </c:pt>
                <c:pt idx="40">
                  <c:v>46225</c:v>
                </c:pt>
                <c:pt idx="41">
                  <c:v>46224</c:v>
                </c:pt>
                <c:pt idx="42">
                  <c:v>46223</c:v>
                </c:pt>
                <c:pt idx="43">
                  <c:v>46220</c:v>
                </c:pt>
                <c:pt idx="44">
                  <c:v>46219</c:v>
                </c:pt>
                <c:pt idx="45">
                  <c:v>46218</c:v>
                </c:pt>
                <c:pt idx="46">
                  <c:v>46217</c:v>
                </c:pt>
                <c:pt idx="47">
                  <c:v>46216</c:v>
                </c:pt>
                <c:pt idx="48">
                  <c:v>46213</c:v>
                </c:pt>
                <c:pt idx="49">
                  <c:v>46212</c:v>
                </c:pt>
                <c:pt idx="50">
                  <c:v>46211</c:v>
                </c:pt>
                <c:pt idx="51">
                  <c:v>46210</c:v>
                </c:pt>
                <c:pt idx="52">
                  <c:v>46209</c:v>
                </c:pt>
                <c:pt idx="53">
                  <c:v>46206</c:v>
                </c:pt>
                <c:pt idx="54">
                  <c:v>46205</c:v>
                </c:pt>
                <c:pt idx="55">
                  <c:v>46204</c:v>
                </c:pt>
                <c:pt idx="56">
                  <c:v>46203</c:v>
                </c:pt>
                <c:pt idx="57">
                  <c:v>46202</c:v>
                </c:pt>
                <c:pt idx="58">
                  <c:v>46199</c:v>
                </c:pt>
                <c:pt idx="59">
                  <c:v>46198</c:v>
                </c:pt>
                <c:pt idx="60">
                  <c:v>46197</c:v>
                </c:pt>
                <c:pt idx="61">
                  <c:v>46196</c:v>
                </c:pt>
                <c:pt idx="62">
                  <c:v>46195</c:v>
                </c:pt>
                <c:pt idx="63">
                  <c:v>46192</c:v>
                </c:pt>
                <c:pt idx="64">
                  <c:v>46191</c:v>
                </c:pt>
                <c:pt idx="65">
                  <c:v>46190</c:v>
                </c:pt>
                <c:pt idx="66">
                  <c:v>46189</c:v>
                </c:pt>
                <c:pt idx="67">
                  <c:v>46188</c:v>
                </c:pt>
                <c:pt idx="68">
                  <c:v>46185</c:v>
                </c:pt>
                <c:pt idx="69">
                  <c:v>46184</c:v>
                </c:pt>
                <c:pt idx="70">
                  <c:v>46183</c:v>
                </c:pt>
                <c:pt idx="71">
                  <c:v>46182</c:v>
                </c:pt>
                <c:pt idx="72">
                  <c:v>46181</c:v>
                </c:pt>
                <c:pt idx="73">
                  <c:v>46178</c:v>
                </c:pt>
                <c:pt idx="74">
                  <c:v>46177</c:v>
                </c:pt>
                <c:pt idx="75">
                  <c:v>46176</c:v>
                </c:pt>
                <c:pt idx="76">
                  <c:v>46175</c:v>
                </c:pt>
                <c:pt idx="77">
                  <c:v>46174</c:v>
                </c:pt>
                <c:pt idx="78">
                  <c:v>46171</c:v>
                </c:pt>
                <c:pt idx="79">
                  <c:v>46170</c:v>
                </c:pt>
                <c:pt idx="80">
                  <c:v>46169</c:v>
                </c:pt>
                <c:pt idx="81">
                  <c:v>46168</c:v>
                </c:pt>
                <c:pt idx="82">
                  <c:v>46167</c:v>
                </c:pt>
                <c:pt idx="83">
                  <c:v>46164</c:v>
                </c:pt>
                <c:pt idx="84">
                  <c:v>46163</c:v>
                </c:pt>
                <c:pt idx="85">
                  <c:v>46162</c:v>
                </c:pt>
                <c:pt idx="86">
                  <c:v>46161</c:v>
                </c:pt>
                <c:pt idx="87">
                  <c:v>46160</c:v>
                </c:pt>
                <c:pt idx="88">
                  <c:v>46157</c:v>
                </c:pt>
                <c:pt idx="89">
                  <c:v>46156</c:v>
                </c:pt>
                <c:pt idx="90">
                  <c:v>46155</c:v>
                </c:pt>
                <c:pt idx="91">
                  <c:v>46154</c:v>
                </c:pt>
                <c:pt idx="92">
                  <c:v>46153</c:v>
                </c:pt>
                <c:pt idx="93">
                  <c:v>46150</c:v>
                </c:pt>
                <c:pt idx="94">
                  <c:v>46149</c:v>
                </c:pt>
                <c:pt idx="95">
                  <c:v>46148</c:v>
                </c:pt>
                <c:pt idx="96">
                  <c:v>46147</c:v>
                </c:pt>
                <c:pt idx="97">
                  <c:v>46146</c:v>
                </c:pt>
                <c:pt idx="98">
                  <c:v>46141</c:v>
                </c:pt>
                <c:pt idx="99">
                  <c:v>46140</c:v>
                </c:pt>
                <c:pt idx="100">
                  <c:v>46136</c:v>
                </c:pt>
                <c:pt idx="101">
                  <c:v>46135</c:v>
                </c:pt>
                <c:pt idx="102">
                  <c:v>46134</c:v>
                </c:pt>
                <c:pt idx="103">
                  <c:v>46133</c:v>
                </c:pt>
                <c:pt idx="104">
                  <c:v>46132</c:v>
                </c:pt>
                <c:pt idx="105">
                  <c:v>46129</c:v>
                </c:pt>
                <c:pt idx="106">
                  <c:v>46128</c:v>
                </c:pt>
                <c:pt idx="107">
                  <c:v>46127</c:v>
                </c:pt>
                <c:pt idx="108">
                  <c:v>46126</c:v>
                </c:pt>
                <c:pt idx="109">
                  <c:v>46125</c:v>
                </c:pt>
                <c:pt idx="110">
                  <c:v>46122</c:v>
                </c:pt>
                <c:pt idx="111">
                  <c:v>46121</c:v>
                </c:pt>
                <c:pt idx="112">
                  <c:v>46120</c:v>
                </c:pt>
                <c:pt idx="113">
                  <c:v>46119</c:v>
                </c:pt>
                <c:pt idx="114">
                  <c:v>46118</c:v>
                </c:pt>
                <c:pt idx="115">
                  <c:v>46115</c:v>
                </c:pt>
                <c:pt idx="116">
                  <c:v>46114</c:v>
                </c:pt>
                <c:pt idx="117">
                  <c:v>46113</c:v>
                </c:pt>
                <c:pt idx="118">
                  <c:v>46112</c:v>
                </c:pt>
                <c:pt idx="119">
                  <c:v>46111</c:v>
                </c:pt>
                <c:pt idx="120">
                  <c:v>46108</c:v>
                </c:pt>
                <c:pt idx="121">
                  <c:v>46107</c:v>
                </c:pt>
                <c:pt idx="122">
                  <c:v>46106</c:v>
                </c:pt>
                <c:pt idx="123">
                  <c:v>46105</c:v>
                </c:pt>
                <c:pt idx="124">
                  <c:v>46104</c:v>
                </c:pt>
                <c:pt idx="125">
                  <c:v>46101</c:v>
                </c:pt>
                <c:pt idx="126">
                  <c:v>46100</c:v>
                </c:pt>
                <c:pt idx="127">
                  <c:v>46099</c:v>
                </c:pt>
                <c:pt idx="128">
                  <c:v>46098</c:v>
                </c:pt>
                <c:pt idx="129">
                  <c:v>46097</c:v>
                </c:pt>
                <c:pt idx="130">
                  <c:v>46094</c:v>
                </c:pt>
                <c:pt idx="131">
                  <c:v>46093</c:v>
                </c:pt>
                <c:pt idx="132">
                  <c:v>46092</c:v>
                </c:pt>
                <c:pt idx="133">
                  <c:v>46091</c:v>
                </c:pt>
                <c:pt idx="134">
                  <c:v>46090</c:v>
                </c:pt>
                <c:pt idx="135">
                  <c:v>46087</c:v>
                </c:pt>
                <c:pt idx="136">
                  <c:v>46086</c:v>
                </c:pt>
                <c:pt idx="137">
                  <c:v>46085</c:v>
                </c:pt>
                <c:pt idx="138">
                  <c:v>46084</c:v>
                </c:pt>
                <c:pt idx="139">
                  <c:v>46083</c:v>
                </c:pt>
                <c:pt idx="140">
                  <c:v>46080</c:v>
                </c:pt>
                <c:pt idx="141">
                  <c:v>46079</c:v>
                </c:pt>
                <c:pt idx="142">
                  <c:v>46078</c:v>
                </c:pt>
                <c:pt idx="143">
                  <c:v>46077</c:v>
                </c:pt>
                <c:pt idx="144">
                  <c:v>46076</c:v>
                </c:pt>
                <c:pt idx="145">
                  <c:v>46066</c:v>
                </c:pt>
                <c:pt idx="146">
                  <c:v>46065</c:v>
                </c:pt>
                <c:pt idx="147">
                  <c:v>46064</c:v>
                </c:pt>
                <c:pt idx="148">
                  <c:v>46063</c:v>
                </c:pt>
                <c:pt idx="149">
                  <c:v>46062</c:v>
                </c:pt>
                <c:pt idx="150">
                  <c:v>46059</c:v>
                </c:pt>
                <c:pt idx="151">
                  <c:v>46058</c:v>
                </c:pt>
                <c:pt idx="152">
                  <c:v>46057</c:v>
                </c:pt>
                <c:pt idx="153">
                  <c:v>46056</c:v>
                </c:pt>
                <c:pt idx="154">
                  <c:v>46055</c:v>
                </c:pt>
                <c:pt idx="155">
                  <c:v>46052</c:v>
                </c:pt>
                <c:pt idx="156">
                  <c:v>46051</c:v>
                </c:pt>
                <c:pt idx="157">
                  <c:v>46050</c:v>
                </c:pt>
                <c:pt idx="158">
                  <c:v>46049</c:v>
                </c:pt>
                <c:pt idx="159">
                  <c:v>46048</c:v>
                </c:pt>
                <c:pt idx="160">
                  <c:v>46045</c:v>
                </c:pt>
                <c:pt idx="161">
                  <c:v>46044</c:v>
                </c:pt>
                <c:pt idx="162">
                  <c:v>46043</c:v>
                </c:pt>
                <c:pt idx="163">
                  <c:v>46042</c:v>
                </c:pt>
                <c:pt idx="164">
                  <c:v>46041</c:v>
                </c:pt>
                <c:pt idx="165">
                  <c:v>46038</c:v>
                </c:pt>
                <c:pt idx="166">
                  <c:v>46037</c:v>
                </c:pt>
                <c:pt idx="167">
                  <c:v>46036</c:v>
                </c:pt>
                <c:pt idx="168">
                  <c:v>46035</c:v>
                </c:pt>
                <c:pt idx="169">
                  <c:v>46034</c:v>
                </c:pt>
                <c:pt idx="170">
                  <c:v>46031</c:v>
                </c:pt>
                <c:pt idx="171">
                  <c:v>46030</c:v>
                </c:pt>
                <c:pt idx="172">
                  <c:v>46029</c:v>
                </c:pt>
                <c:pt idx="173">
                  <c:v>46028</c:v>
                </c:pt>
                <c:pt idx="174">
                  <c:v>46027</c:v>
                </c:pt>
                <c:pt idx="175" formatCode="m/d/yyyy">
                  <c:v>46022</c:v>
                </c:pt>
                <c:pt idx="176" formatCode="m/d/yyyy">
                  <c:v>46021</c:v>
                </c:pt>
                <c:pt idx="177" formatCode="m/d/yyyy">
                  <c:v>46020</c:v>
                </c:pt>
                <c:pt idx="178" formatCode="m/d/yyyy">
                  <c:v>46017</c:v>
                </c:pt>
                <c:pt idx="179" formatCode="m/d/yyyy">
                  <c:v>46016</c:v>
                </c:pt>
                <c:pt idx="180" formatCode="m/d/yyyy">
                  <c:v>46015</c:v>
                </c:pt>
                <c:pt idx="181" formatCode="m/d/yyyy">
                  <c:v>46014</c:v>
                </c:pt>
                <c:pt idx="182" formatCode="m/d/yyyy">
                  <c:v>46013</c:v>
                </c:pt>
                <c:pt idx="183" formatCode="m/d/yyyy">
                  <c:v>46010</c:v>
                </c:pt>
                <c:pt idx="184" formatCode="m/d/yyyy">
                  <c:v>46009</c:v>
                </c:pt>
                <c:pt idx="185" formatCode="m/d/yyyy">
                  <c:v>46008</c:v>
                </c:pt>
                <c:pt idx="186" formatCode="m/d/yyyy">
                  <c:v>46007</c:v>
                </c:pt>
                <c:pt idx="187" formatCode="m/d/yyyy">
                  <c:v>46006</c:v>
                </c:pt>
                <c:pt idx="188" formatCode="m/d/yyyy">
                  <c:v>46003</c:v>
                </c:pt>
                <c:pt idx="189" formatCode="m/d/yyyy">
                  <c:v>46002</c:v>
                </c:pt>
                <c:pt idx="190" formatCode="m/d/yyyy">
                  <c:v>46001</c:v>
                </c:pt>
                <c:pt idx="191" formatCode="m/d/yyyy">
                  <c:v>46000</c:v>
                </c:pt>
                <c:pt idx="192" formatCode="m/d/yyyy">
                  <c:v>45999</c:v>
                </c:pt>
                <c:pt idx="193" formatCode="m/d/yyyy">
                  <c:v>45996</c:v>
                </c:pt>
                <c:pt idx="194" formatCode="m/d/yyyy">
                  <c:v>45995</c:v>
                </c:pt>
                <c:pt idx="195" formatCode="m/d/yyyy">
                  <c:v>45994</c:v>
                </c:pt>
                <c:pt idx="196" formatCode="m/d/yyyy">
                  <c:v>45993</c:v>
                </c:pt>
                <c:pt idx="197" formatCode="m/d/yyyy">
                  <c:v>45992</c:v>
                </c:pt>
                <c:pt idx="198" formatCode="m/d/yyyy">
                  <c:v>45989</c:v>
                </c:pt>
                <c:pt idx="199" formatCode="m/d/yyyy">
                  <c:v>45988</c:v>
                </c:pt>
                <c:pt idx="200" formatCode="m/d/yyyy">
                  <c:v>45987</c:v>
                </c:pt>
                <c:pt idx="201" formatCode="m/d/yyyy">
                  <c:v>45986</c:v>
                </c:pt>
                <c:pt idx="202" formatCode="m/d/yyyy">
                  <c:v>45985</c:v>
                </c:pt>
                <c:pt idx="203" formatCode="m/d/yyyy">
                  <c:v>45982</c:v>
                </c:pt>
                <c:pt idx="204" formatCode="m/d/yyyy">
                  <c:v>45981</c:v>
                </c:pt>
                <c:pt idx="205" formatCode="m/d/yyyy">
                  <c:v>45980</c:v>
                </c:pt>
                <c:pt idx="206" formatCode="m/d/yyyy">
                  <c:v>45979</c:v>
                </c:pt>
                <c:pt idx="207" formatCode="m/d/yyyy">
                  <c:v>45978</c:v>
                </c:pt>
                <c:pt idx="208" formatCode="m/d/yyyy">
                  <c:v>45975</c:v>
                </c:pt>
                <c:pt idx="209" formatCode="m/d/yyyy">
                  <c:v>45974</c:v>
                </c:pt>
                <c:pt idx="210" formatCode="m/d/yyyy">
                  <c:v>45973</c:v>
                </c:pt>
                <c:pt idx="211" formatCode="m/d/yyyy">
                  <c:v>45972</c:v>
                </c:pt>
                <c:pt idx="212" formatCode="m/d/yyyy">
                  <c:v>45971</c:v>
                </c:pt>
                <c:pt idx="213" formatCode="m/d/yyyy">
                  <c:v>45968</c:v>
                </c:pt>
                <c:pt idx="214" formatCode="m/d/yyyy">
                  <c:v>45967</c:v>
                </c:pt>
                <c:pt idx="215" formatCode="m/d/yyyy">
                  <c:v>45966</c:v>
                </c:pt>
                <c:pt idx="216" formatCode="m/d/yyyy">
                  <c:v>45965</c:v>
                </c:pt>
                <c:pt idx="217" formatCode="m/d/yyyy">
                  <c:v>45964</c:v>
                </c:pt>
                <c:pt idx="218" formatCode="m/d/yyyy">
                  <c:v>45961</c:v>
                </c:pt>
                <c:pt idx="219" formatCode="m/d/yyyy">
                  <c:v>45960</c:v>
                </c:pt>
                <c:pt idx="220" formatCode="m/d/yyyy">
                  <c:v>45959</c:v>
                </c:pt>
                <c:pt idx="221" formatCode="m/d/yyyy">
                  <c:v>45958</c:v>
                </c:pt>
                <c:pt idx="222" formatCode="m/d/yyyy">
                  <c:v>45957</c:v>
                </c:pt>
                <c:pt idx="223" formatCode="m/d/yyyy">
                  <c:v>45954</c:v>
                </c:pt>
                <c:pt idx="224" formatCode="m/d/yyyy">
                  <c:v>45953</c:v>
                </c:pt>
                <c:pt idx="225" formatCode="m/d/yyyy">
                  <c:v>45952</c:v>
                </c:pt>
                <c:pt idx="226" formatCode="m/d/yyyy">
                  <c:v>45951</c:v>
                </c:pt>
                <c:pt idx="227" formatCode="m/d/yyyy">
                  <c:v>45950</c:v>
                </c:pt>
                <c:pt idx="228" formatCode="m/d/yyyy">
                  <c:v>45947</c:v>
                </c:pt>
                <c:pt idx="229" formatCode="m/d/yyyy">
                  <c:v>45946</c:v>
                </c:pt>
                <c:pt idx="230" formatCode="m/d/yyyy">
                  <c:v>45945</c:v>
                </c:pt>
                <c:pt idx="231" formatCode="m/d/yyyy">
                  <c:v>45944</c:v>
                </c:pt>
                <c:pt idx="232" formatCode="m/d/yyyy">
                  <c:v>45943</c:v>
                </c:pt>
                <c:pt idx="233" formatCode="m/d/yyyy">
                  <c:v>45940</c:v>
                </c:pt>
                <c:pt idx="234" formatCode="m/d/yyyy">
                  <c:v>45939</c:v>
                </c:pt>
                <c:pt idx="235" formatCode="m/d/yyyy">
                  <c:v>45938</c:v>
                </c:pt>
                <c:pt idx="236" formatCode="m/d/yyyy">
                  <c:v>45937</c:v>
                </c:pt>
                <c:pt idx="237" formatCode="m/d/yyyy">
                  <c:v>45936</c:v>
                </c:pt>
                <c:pt idx="238" formatCode="m/d/yyyy">
                  <c:v>45933</c:v>
                </c:pt>
                <c:pt idx="239" formatCode="m/d/yyyy">
                  <c:v>45932</c:v>
                </c:pt>
                <c:pt idx="240" formatCode="m/d/yyyy">
                  <c:v>45931</c:v>
                </c:pt>
                <c:pt idx="241" formatCode="m/d/yyyy">
                  <c:v>45930</c:v>
                </c:pt>
                <c:pt idx="242" formatCode="m/d/yyyy">
                  <c:v>45929</c:v>
                </c:pt>
                <c:pt idx="243" formatCode="m/d/yyyy">
                  <c:v>45926</c:v>
                </c:pt>
                <c:pt idx="244" formatCode="m/d/yyyy">
                  <c:v>45925</c:v>
                </c:pt>
                <c:pt idx="245" formatCode="m/d/yyyy">
                  <c:v>45924</c:v>
                </c:pt>
                <c:pt idx="246" formatCode="m/d/yyyy">
                  <c:v>45923</c:v>
                </c:pt>
                <c:pt idx="247" formatCode="m/d/yyyy">
                  <c:v>45922</c:v>
                </c:pt>
                <c:pt idx="248" formatCode="m/d/yyyy">
                  <c:v>45919</c:v>
                </c:pt>
                <c:pt idx="249" formatCode="m/d/yyyy">
                  <c:v>45918</c:v>
                </c:pt>
                <c:pt idx="250" formatCode="m/d/yyyy">
                  <c:v>45917</c:v>
                </c:pt>
                <c:pt idx="251" formatCode="m/d/yyyy">
                  <c:v>45916</c:v>
                </c:pt>
                <c:pt idx="252" formatCode="m/d/yyyy">
                  <c:v>45915</c:v>
                </c:pt>
                <c:pt idx="253" formatCode="m/d/yyyy">
                  <c:v>45912</c:v>
                </c:pt>
                <c:pt idx="254" formatCode="m/d/yyyy">
                  <c:v>45911</c:v>
                </c:pt>
                <c:pt idx="255" formatCode="m/d/yyyy">
                  <c:v>45910</c:v>
                </c:pt>
                <c:pt idx="256" formatCode="m/d/yyyy">
                  <c:v>45909</c:v>
                </c:pt>
                <c:pt idx="257" formatCode="m/d/yyyy">
                  <c:v>45908</c:v>
                </c:pt>
                <c:pt idx="258" formatCode="m/d/yyyy">
                  <c:v>45905</c:v>
                </c:pt>
                <c:pt idx="259" formatCode="m/d/yyyy">
                  <c:v>45904</c:v>
                </c:pt>
                <c:pt idx="260" formatCode="m/d/yyyy">
                  <c:v>45903</c:v>
                </c:pt>
                <c:pt idx="261" formatCode="m/d/yyyy">
                  <c:v>45898</c:v>
                </c:pt>
                <c:pt idx="262" formatCode="m/d/yyyy">
                  <c:v>45897</c:v>
                </c:pt>
                <c:pt idx="263" formatCode="m/d/yyyy">
                  <c:v>45896</c:v>
                </c:pt>
                <c:pt idx="264" formatCode="m/d/yyyy">
                  <c:v>45895</c:v>
                </c:pt>
                <c:pt idx="265" formatCode="m/d/yyyy">
                  <c:v>45894</c:v>
                </c:pt>
                <c:pt idx="266" formatCode="m/d/yyyy">
                  <c:v>45891</c:v>
                </c:pt>
                <c:pt idx="267" formatCode="m/d/yyyy">
                  <c:v>45890</c:v>
                </c:pt>
                <c:pt idx="268" formatCode="m/d/yyyy">
                  <c:v>45889</c:v>
                </c:pt>
                <c:pt idx="269" formatCode="m/d/yyyy">
                  <c:v>45888</c:v>
                </c:pt>
                <c:pt idx="270" formatCode="m/d/yyyy">
                  <c:v>45887</c:v>
                </c:pt>
                <c:pt idx="271" formatCode="m/d/yyyy">
                  <c:v>45884</c:v>
                </c:pt>
                <c:pt idx="272" formatCode="m/d/yyyy">
                  <c:v>45883</c:v>
                </c:pt>
                <c:pt idx="273" formatCode="m/d/yyyy">
                  <c:v>45882</c:v>
                </c:pt>
                <c:pt idx="274" formatCode="m/d/yyyy">
                  <c:v>45881</c:v>
                </c:pt>
                <c:pt idx="275" formatCode="m/d/yyyy">
                  <c:v>45880</c:v>
                </c:pt>
                <c:pt idx="276" formatCode="m/d/yyyy">
                  <c:v>45877</c:v>
                </c:pt>
                <c:pt idx="277" formatCode="m/d/yyyy">
                  <c:v>45876</c:v>
                </c:pt>
                <c:pt idx="278" formatCode="m/d/yyyy">
                  <c:v>45875</c:v>
                </c:pt>
                <c:pt idx="279" formatCode="m/d/yyyy">
                  <c:v>45874</c:v>
                </c:pt>
                <c:pt idx="280" formatCode="m/d/yyyy">
                  <c:v>45873</c:v>
                </c:pt>
                <c:pt idx="281" formatCode="m/d/yyyy">
                  <c:v>45870</c:v>
                </c:pt>
                <c:pt idx="282" formatCode="m/d/yyyy">
                  <c:v>45869</c:v>
                </c:pt>
                <c:pt idx="283" formatCode="m/d/yyyy">
                  <c:v>45868</c:v>
                </c:pt>
                <c:pt idx="284" formatCode="m/d/yyyy">
                  <c:v>45867</c:v>
                </c:pt>
                <c:pt idx="285" formatCode="m/d/yyyy">
                  <c:v>45866</c:v>
                </c:pt>
                <c:pt idx="286" formatCode="m/d/yyyy">
                  <c:v>45863</c:v>
                </c:pt>
                <c:pt idx="287" formatCode="m/d/yyyy">
                  <c:v>45862</c:v>
                </c:pt>
                <c:pt idx="288" formatCode="m/d/yyyy">
                  <c:v>45861</c:v>
                </c:pt>
                <c:pt idx="289" formatCode="m/d/yyyy">
                  <c:v>45860</c:v>
                </c:pt>
                <c:pt idx="290" formatCode="m/d/yyyy">
                  <c:v>45859</c:v>
                </c:pt>
                <c:pt idx="291" formatCode="m/d/yyyy">
                  <c:v>45856</c:v>
                </c:pt>
                <c:pt idx="292" formatCode="m/d/yyyy">
                  <c:v>45855</c:v>
                </c:pt>
                <c:pt idx="293" formatCode="m/d/yyyy">
                  <c:v>45854</c:v>
                </c:pt>
                <c:pt idx="294" formatCode="m/d/yyyy">
                  <c:v>45853</c:v>
                </c:pt>
                <c:pt idx="295" formatCode="m/d/yyyy">
                  <c:v>45852</c:v>
                </c:pt>
                <c:pt idx="296" formatCode="m/d/yyyy">
                  <c:v>45849</c:v>
                </c:pt>
                <c:pt idx="297" formatCode="m/d/yyyy">
                  <c:v>45848</c:v>
                </c:pt>
                <c:pt idx="298" formatCode="m/d/yyyy">
                  <c:v>45847</c:v>
                </c:pt>
                <c:pt idx="299" formatCode="m/d/yyyy">
                  <c:v>45846</c:v>
                </c:pt>
                <c:pt idx="300" formatCode="m/d/yyyy">
                  <c:v>45845</c:v>
                </c:pt>
                <c:pt idx="301" formatCode="m/d/yyyy">
                  <c:v>45842</c:v>
                </c:pt>
                <c:pt idx="302" formatCode="m/d/yyyy">
                  <c:v>45841</c:v>
                </c:pt>
                <c:pt idx="303" formatCode="m/d/yyyy">
                  <c:v>45840</c:v>
                </c:pt>
                <c:pt idx="304" formatCode="m/d/yyyy">
                  <c:v>45839</c:v>
                </c:pt>
                <c:pt idx="305" formatCode="m/d/yyyy">
                  <c:v>45838</c:v>
                </c:pt>
                <c:pt idx="306" formatCode="m/d/yyyy">
                  <c:v>45835</c:v>
                </c:pt>
                <c:pt idx="307" formatCode="m/d/yyyy">
                  <c:v>45834</c:v>
                </c:pt>
                <c:pt idx="308" formatCode="m/d/yyyy">
                  <c:v>45833</c:v>
                </c:pt>
                <c:pt idx="309" formatCode="m/d/yyyy">
                  <c:v>45832</c:v>
                </c:pt>
                <c:pt idx="310" formatCode="m/d/yyyy">
                  <c:v>45831</c:v>
                </c:pt>
                <c:pt idx="311" formatCode="m/d/yyyy">
                  <c:v>45828</c:v>
                </c:pt>
                <c:pt idx="312" formatCode="m/d/yyyy">
                  <c:v>45827</c:v>
                </c:pt>
                <c:pt idx="313" formatCode="m/d/yyyy">
                  <c:v>45826</c:v>
                </c:pt>
                <c:pt idx="314" formatCode="m/d/yyyy">
                  <c:v>45825</c:v>
                </c:pt>
                <c:pt idx="315" formatCode="m/d/yyyy">
                  <c:v>45824</c:v>
                </c:pt>
                <c:pt idx="316" formatCode="m/d/yyyy">
                  <c:v>45821</c:v>
                </c:pt>
                <c:pt idx="317" formatCode="m/d/yyyy">
                  <c:v>45820</c:v>
                </c:pt>
                <c:pt idx="318" formatCode="m/d/yyyy">
                  <c:v>45819</c:v>
                </c:pt>
                <c:pt idx="319" formatCode="m/d/yyyy">
                  <c:v>45818</c:v>
                </c:pt>
                <c:pt idx="320" formatCode="m/d/yyyy">
                  <c:v>45817</c:v>
                </c:pt>
                <c:pt idx="321" formatCode="m/d/yyyy">
                  <c:v>45814</c:v>
                </c:pt>
                <c:pt idx="322" formatCode="m/d/yyyy">
                  <c:v>45813</c:v>
                </c:pt>
                <c:pt idx="323" formatCode="m/d/yyyy">
                  <c:v>45812</c:v>
                </c:pt>
                <c:pt idx="324" formatCode="m/d/yyyy">
                  <c:v>45811</c:v>
                </c:pt>
                <c:pt idx="325" formatCode="m/d/yyyy">
                  <c:v>45810</c:v>
                </c:pt>
                <c:pt idx="326" formatCode="m/d/yyyy">
                  <c:v>45807</c:v>
                </c:pt>
                <c:pt idx="327" formatCode="m/d/yyyy">
                  <c:v>45806</c:v>
                </c:pt>
                <c:pt idx="328" formatCode="m/d/yyyy">
                  <c:v>45805</c:v>
                </c:pt>
                <c:pt idx="329" formatCode="m/d/yyyy">
                  <c:v>45804</c:v>
                </c:pt>
                <c:pt idx="330" formatCode="m/d/yyyy">
                  <c:v>45803</c:v>
                </c:pt>
                <c:pt idx="331" formatCode="m/d/yyyy">
                  <c:v>45800</c:v>
                </c:pt>
                <c:pt idx="332" formatCode="m/d/yyyy">
                  <c:v>45799</c:v>
                </c:pt>
                <c:pt idx="333" formatCode="m/d/yyyy">
                  <c:v>45798</c:v>
                </c:pt>
                <c:pt idx="334" formatCode="m/d/yyyy">
                  <c:v>45797</c:v>
                </c:pt>
                <c:pt idx="335" formatCode="m/d/yyyy">
                  <c:v>45796</c:v>
                </c:pt>
                <c:pt idx="336" formatCode="m/d/yyyy">
                  <c:v>45793</c:v>
                </c:pt>
                <c:pt idx="337" formatCode="m/d/yyyy">
                  <c:v>45792</c:v>
                </c:pt>
                <c:pt idx="338" formatCode="m/d/yyyy">
                  <c:v>45791</c:v>
                </c:pt>
                <c:pt idx="339" formatCode="m/d/yyyy">
                  <c:v>45790</c:v>
                </c:pt>
                <c:pt idx="340" formatCode="m/d/yyyy">
                  <c:v>45789</c:v>
                </c:pt>
                <c:pt idx="341" formatCode="m/d/yyyy">
                  <c:v>45786</c:v>
                </c:pt>
                <c:pt idx="342" formatCode="m/d/yyyy">
                  <c:v>45785</c:v>
                </c:pt>
                <c:pt idx="343" formatCode="m/d/yyyy">
                  <c:v>45784</c:v>
                </c:pt>
                <c:pt idx="344" formatCode="m/d/yyyy">
                  <c:v>45783</c:v>
                </c:pt>
                <c:pt idx="345" formatCode="m/d/yyyy">
                  <c:v>45782</c:v>
                </c:pt>
                <c:pt idx="346" formatCode="m/d/yyyy">
                  <c:v>45776</c:v>
                </c:pt>
                <c:pt idx="347" formatCode="m/d/yyyy">
                  <c:v>45775</c:v>
                </c:pt>
                <c:pt idx="348" formatCode="m/d/yyyy">
                  <c:v>45772</c:v>
                </c:pt>
                <c:pt idx="349" formatCode="m/d/yyyy">
                  <c:v>45771</c:v>
                </c:pt>
                <c:pt idx="350" formatCode="m/d/yyyy">
                  <c:v>45770</c:v>
                </c:pt>
                <c:pt idx="351" formatCode="m/d/yyyy">
                  <c:v>45769</c:v>
                </c:pt>
                <c:pt idx="352" formatCode="m/d/yyyy">
                  <c:v>45768</c:v>
                </c:pt>
                <c:pt idx="353" formatCode="m/d/yyyy">
                  <c:v>45765</c:v>
                </c:pt>
                <c:pt idx="354" formatCode="m/d/yyyy">
                  <c:v>45764</c:v>
                </c:pt>
                <c:pt idx="355" formatCode="m/d/yyyy">
                  <c:v>45763</c:v>
                </c:pt>
                <c:pt idx="356" formatCode="m/d/yyyy">
                  <c:v>45762</c:v>
                </c:pt>
                <c:pt idx="357" formatCode="m/d/yyyy">
                  <c:v>45761</c:v>
                </c:pt>
                <c:pt idx="358" formatCode="m/d/yyyy">
                  <c:v>45758</c:v>
                </c:pt>
                <c:pt idx="359" formatCode="m/d/yyyy">
                  <c:v>45757</c:v>
                </c:pt>
                <c:pt idx="360" formatCode="m/d/yyyy">
                  <c:v>45756</c:v>
                </c:pt>
                <c:pt idx="361" formatCode="m/d/yyyy">
                  <c:v>45755</c:v>
                </c:pt>
                <c:pt idx="362" formatCode="m/d/yyyy">
                  <c:v>45751</c:v>
                </c:pt>
                <c:pt idx="363" formatCode="m/d/yyyy">
                  <c:v>45750</c:v>
                </c:pt>
                <c:pt idx="364" formatCode="m/d/yyyy">
                  <c:v>45749</c:v>
                </c:pt>
                <c:pt idx="365" formatCode="m/d/yyyy">
                  <c:v>45748</c:v>
                </c:pt>
                <c:pt idx="366" formatCode="m/d/yyyy">
                  <c:v>45747</c:v>
                </c:pt>
                <c:pt idx="367" formatCode="m/d/yyyy">
                  <c:v>45744</c:v>
                </c:pt>
                <c:pt idx="368" formatCode="m/d/yyyy">
                  <c:v>45743</c:v>
                </c:pt>
                <c:pt idx="369" formatCode="m/d/yyyy">
                  <c:v>45742</c:v>
                </c:pt>
                <c:pt idx="370" formatCode="m/d/yyyy">
                  <c:v>45741</c:v>
                </c:pt>
                <c:pt idx="371" formatCode="m/d/yyyy">
                  <c:v>45740</c:v>
                </c:pt>
                <c:pt idx="372" formatCode="m/d/yyyy">
                  <c:v>45737</c:v>
                </c:pt>
                <c:pt idx="373" formatCode="m/d/yyyy">
                  <c:v>45736</c:v>
                </c:pt>
                <c:pt idx="374" formatCode="m/d/yyyy">
                  <c:v>45735</c:v>
                </c:pt>
                <c:pt idx="375" formatCode="m/d/yyyy">
                  <c:v>45734</c:v>
                </c:pt>
                <c:pt idx="376" formatCode="m/d/yyyy">
                  <c:v>45733</c:v>
                </c:pt>
                <c:pt idx="377" formatCode="m/d/yyyy">
                  <c:v>45730</c:v>
                </c:pt>
                <c:pt idx="378" formatCode="m/d/yyyy">
                  <c:v>45729</c:v>
                </c:pt>
                <c:pt idx="379" formatCode="m/d/yyyy">
                  <c:v>45728</c:v>
                </c:pt>
                <c:pt idx="380" formatCode="m/d/yyyy">
                  <c:v>45727</c:v>
                </c:pt>
                <c:pt idx="381" formatCode="m/d/yyyy">
                  <c:v>45726</c:v>
                </c:pt>
                <c:pt idx="382" formatCode="m/d/yyyy">
                  <c:v>45723</c:v>
                </c:pt>
                <c:pt idx="383" formatCode="m/d/yyyy">
                  <c:v>45722</c:v>
                </c:pt>
                <c:pt idx="384" formatCode="m/d/yyyy">
                  <c:v>45721</c:v>
                </c:pt>
                <c:pt idx="385" formatCode="m/d/yyyy">
                  <c:v>45720</c:v>
                </c:pt>
                <c:pt idx="386" formatCode="m/d/yyyy">
                  <c:v>45719</c:v>
                </c:pt>
                <c:pt idx="387" formatCode="m/d/yyyy">
                  <c:v>45716</c:v>
                </c:pt>
                <c:pt idx="388" formatCode="m/d/yyyy">
                  <c:v>45715</c:v>
                </c:pt>
                <c:pt idx="389" formatCode="m/d/yyyy">
                  <c:v>45714</c:v>
                </c:pt>
                <c:pt idx="390" formatCode="m/d/yyyy">
                  <c:v>45713</c:v>
                </c:pt>
                <c:pt idx="391" formatCode="m/d/yyyy">
                  <c:v>45712</c:v>
                </c:pt>
              </c:numCache>
            </c:numRef>
          </c:cat>
          <c:val>
            <c:numRef>
              <c:f>Sheet1!$B$2:$B$393</c:f>
              <c:numCache>
                <c:formatCode>#,##0.00</c:formatCode>
                <c:ptCount val="392"/>
                <c:pt idx="0" formatCode="#,##0.0_ ;\-#,##0.0\ ">
                  <c:v>-16.459999999999809</c:v>
                </c:pt>
                <c:pt idx="1">
                  <c:v>1815.66</c:v>
                </c:pt>
                <c:pt idx="2">
                  <c:v>1822.77</c:v>
                </c:pt>
                <c:pt idx="3">
                  <c:v>1810.11</c:v>
                </c:pt>
                <c:pt idx="4">
                  <c:v>1811.15</c:v>
                </c:pt>
                <c:pt idx="5">
                  <c:v>1788.23</c:v>
                </c:pt>
                <c:pt idx="6">
                  <c:v>1795.21</c:v>
                </c:pt>
                <c:pt idx="7">
                  <c:v>1829.23</c:v>
                </c:pt>
                <c:pt idx="8">
                  <c:v>1827.12</c:v>
                </c:pt>
                <c:pt idx="9">
                  <c:v>1830.44</c:v>
                </c:pt>
                <c:pt idx="10">
                  <c:v>1821.64</c:v>
                </c:pt>
                <c:pt idx="11">
                  <c:v>1853.08</c:v>
                </c:pt>
                <c:pt idx="12">
                  <c:v>1827.72</c:v>
                </c:pt>
                <c:pt idx="13">
                  <c:v>1832.12</c:v>
                </c:pt>
                <c:pt idx="14">
                  <c:v>1831.56</c:v>
                </c:pt>
                <c:pt idx="15">
                  <c:v>1821.32</c:v>
                </c:pt>
                <c:pt idx="16">
                  <c:v>1791.41</c:v>
                </c:pt>
                <c:pt idx="17">
                  <c:v>1788.78</c:v>
                </c:pt>
                <c:pt idx="18">
                  <c:v>1768.12</c:v>
                </c:pt>
                <c:pt idx="19">
                  <c:v>1734.24</c:v>
                </c:pt>
                <c:pt idx="20">
                  <c:v>1726.69</c:v>
                </c:pt>
                <c:pt idx="21">
                  <c:v>1732.02</c:v>
                </c:pt>
                <c:pt idx="22">
                  <c:v>1727.46</c:v>
                </c:pt>
                <c:pt idx="23">
                  <c:v>1729.08</c:v>
                </c:pt>
                <c:pt idx="24">
                  <c:v>1765.63</c:v>
                </c:pt>
                <c:pt idx="25">
                  <c:v>1793.18</c:v>
                </c:pt>
                <c:pt idx="26">
                  <c:v>1773.41</c:v>
                </c:pt>
                <c:pt idx="27">
                  <c:v>1776.77</c:v>
                </c:pt>
                <c:pt idx="28">
                  <c:v>1768.06</c:v>
                </c:pt>
                <c:pt idx="29">
                  <c:v>1764.78</c:v>
                </c:pt>
                <c:pt idx="30">
                  <c:v>1776.46</c:v>
                </c:pt>
                <c:pt idx="31">
                  <c:v>1777.23</c:v>
                </c:pt>
                <c:pt idx="32">
                  <c:v>1762.84</c:v>
                </c:pt>
                <c:pt idx="33">
                  <c:v>1735.78</c:v>
                </c:pt>
                <c:pt idx="34">
                  <c:v>1744.66</c:v>
                </c:pt>
                <c:pt idx="35">
                  <c:v>1704.68</c:v>
                </c:pt>
                <c:pt idx="36">
                  <c:v>1680.62</c:v>
                </c:pt>
                <c:pt idx="37">
                  <c:v>1669.01</c:v>
                </c:pt>
                <c:pt idx="38">
                  <c:v>1686.11</c:v>
                </c:pt>
                <c:pt idx="39">
                  <c:v>1699.38</c:v>
                </c:pt>
                <c:pt idx="40">
                  <c:v>1668.53</c:v>
                </c:pt>
                <c:pt idx="41">
                  <c:v>1730.56</c:v>
                </c:pt>
                <c:pt idx="42">
                  <c:v>1743.51</c:v>
                </c:pt>
                <c:pt idx="43">
                  <c:v>1787.45</c:v>
                </c:pt>
                <c:pt idx="44">
                  <c:v>1804.24</c:v>
                </c:pt>
                <c:pt idx="45">
                  <c:v>1782.12</c:v>
                </c:pt>
                <c:pt idx="46">
                  <c:v>1806.63</c:v>
                </c:pt>
                <c:pt idx="47">
                  <c:v>1800.54</c:v>
                </c:pt>
                <c:pt idx="48">
                  <c:v>1828.34</c:v>
                </c:pt>
                <c:pt idx="49">
                  <c:v>1840.7</c:v>
                </c:pt>
                <c:pt idx="50">
                  <c:v>1853.7</c:v>
                </c:pt>
                <c:pt idx="51">
                  <c:v>1848.25</c:v>
                </c:pt>
                <c:pt idx="52">
                  <c:v>1843.5</c:v>
                </c:pt>
                <c:pt idx="53">
                  <c:v>1862.08</c:v>
                </c:pt>
                <c:pt idx="54">
                  <c:v>1866.35</c:v>
                </c:pt>
                <c:pt idx="55">
                  <c:v>1867.21</c:v>
                </c:pt>
                <c:pt idx="56">
                  <c:v>1860.01</c:v>
                </c:pt>
                <c:pt idx="57">
                  <c:v>1854.97</c:v>
                </c:pt>
                <c:pt idx="58">
                  <c:v>1871.91</c:v>
                </c:pt>
                <c:pt idx="59">
                  <c:v>1863.07</c:v>
                </c:pt>
                <c:pt idx="60">
                  <c:v>1878.02</c:v>
                </c:pt>
                <c:pt idx="61">
                  <c:v>1869.04</c:v>
                </c:pt>
                <c:pt idx="62">
                  <c:v>1857.91</c:v>
                </c:pt>
                <c:pt idx="63">
                  <c:v>1824.53</c:v>
                </c:pt>
                <c:pt idx="64">
                  <c:v>1830.47</c:v>
                </c:pt>
                <c:pt idx="65">
                  <c:v>1806.2</c:v>
                </c:pt>
                <c:pt idx="66">
                  <c:v>1807.94</c:v>
                </c:pt>
                <c:pt idx="67">
                  <c:v>1799.31</c:v>
                </c:pt>
                <c:pt idx="68">
                  <c:v>1791.65</c:v>
                </c:pt>
                <c:pt idx="69">
                  <c:v>1798.61</c:v>
                </c:pt>
                <c:pt idx="70">
                  <c:v>1803.71</c:v>
                </c:pt>
                <c:pt idx="71">
                  <c:v>1793.05</c:v>
                </c:pt>
                <c:pt idx="72">
                  <c:v>1790.53</c:v>
                </c:pt>
                <c:pt idx="73">
                  <c:v>1838.9</c:v>
                </c:pt>
                <c:pt idx="74">
                  <c:v>1831.55</c:v>
                </c:pt>
                <c:pt idx="75">
                  <c:v>1819.01</c:v>
                </c:pt>
                <c:pt idx="76">
                  <c:v>1826.47</c:v>
                </c:pt>
                <c:pt idx="77">
                  <c:v>1844.54</c:v>
                </c:pt>
                <c:pt idx="78">
                  <c:v>1863.49</c:v>
                </c:pt>
                <c:pt idx="79">
                  <c:v>1863.67</c:v>
                </c:pt>
                <c:pt idx="80">
                  <c:v>1874.43</c:v>
                </c:pt>
                <c:pt idx="81">
                  <c:v>1884.18</c:v>
                </c:pt>
                <c:pt idx="82">
                  <c:v>1886.03</c:v>
                </c:pt>
                <c:pt idx="83">
                  <c:v>1877.13</c:v>
                </c:pt>
                <c:pt idx="84">
                  <c:v>1896.89</c:v>
                </c:pt>
                <c:pt idx="85">
                  <c:v>1913.23</c:v>
                </c:pt>
                <c:pt idx="86">
                  <c:v>1912.93</c:v>
                </c:pt>
                <c:pt idx="87">
                  <c:v>1927.94</c:v>
                </c:pt>
                <c:pt idx="88">
                  <c:v>1921.6</c:v>
                </c:pt>
                <c:pt idx="89">
                  <c:v>1925.46</c:v>
                </c:pt>
                <c:pt idx="90">
                  <c:v>1898.37</c:v>
                </c:pt>
                <c:pt idx="91">
                  <c:v>1901.1</c:v>
                </c:pt>
                <c:pt idx="92">
                  <c:v>1895.5</c:v>
                </c:pt>
                <c:pt idx="93">
                  <c:v>1915.37</c:v>
                </c:pt>
                <c:pt idx="94">
                  <c:v>1909.01</c:v>
                </c:pt>
                <c:pt idx="95">
                  <c:v>1891.2</c:v>
                </c:pt>
                <c:pt idx="96">
                  <c:v>1874.85</c:v>
                </c:pt>
                <c:pt idx="97">
                  <c:v>1854.06</c:v>
                </c:pt>
                <c:pt idx="98">
                  <c:v>1854.1</c:v>
                </c:pt>
                <c:pt idx="99">
                  <c:v>1875.84</c:v>
                </c:pt>
                <c:pt idx="100">
                  <c:v>1853.29</c:v>
                </c:pt>
                <c:pt idx="101">
                  <c:v>1870.36</c:v>
                </c:pt>
                <c:pt idx="102">
                  <c:v>1857.3</c:v>
                </c:pt>
                <c:pt idx="103">
                  <c:v>1833.48</c:v>
                </c:pt>
                <c:pt idx="104">
                  <c:v>1837.11</c:v>
                </c:pt>
                <c:pt idx="105">
                  <c:v>1817.17</c:v>
                </c:pt>
                <c:pt idx="106">
                  <c:v>1819.83</c:v>
                </c:pt>
                <c:pt idx="107">
                  <c:v>1800.65</c:v>
                </c:pt>
                <c:pt idx="108">
                  <c:v>1775.65</c:v>
                </c:pt>
                <c:pt idx="109">
                  <c:v>1758.96</c:v>
                </c:pt>
                <c:pt idx="110">
                  <c:v>1750</c:v>
                </c:pt>
                <c:pt idx="111">
                  <c:v>1736.68</c:v>
                </c:pt>
                <c:pt idx="112">
                  <c:v>1756.55</c:v>
                </c:pt>
                <c:pt idx="113">
                  <c:v>1677.54</c:v>
                </c:pt>
                <c:pt idx="114">
                  <c:v>1674.99</c:v>
                </c:pt>
                <c:pt idx="115">
                  <c:v>1684.04</c:v>
                </c:pt>
                <c:pt idx="116">
                  <c:v>1694.82</c:v>
                </c:pt>
                <c:pt idx="117">
                  <c:v>1702.93</c:v>
                </c:pt>
                <c:pt idx="118">
                  <c:v>1674.49</c:v>
                </c:pt>
                <c:pt idx="119">
                  <c:v>1662.54</c:v>
                </c:pt>
                <c:pt idx="120">
                  <c:v>1672.8</c:v>
                </c:pt>
                <c:pt idx="121">
                  <c:v>1644.63</c:v>
                </c:pt>
                <c:pt idx="122">
                  <c:v>1658.19</c:v>
                </c:pt>
                <c:pt idx="123">
                  <c:v>1614.77</c:v>
                </c:pt>
                <c:pt idx="124">
                  <c:v>1591.17</c:v>
                </c:pt>
                <c:pt idx="125">
                  <c:v>1647.81</c:v>
                </c:pt>
                <c:pt idx="126">
                  <c:v>1699.13</c:v>
                </c:pt>
                <c:pt idx="127">
                  <c:v>1713.83</c:v>
                </c:pt>
                <c:pt idx="128">
                  <c:v>1710.29</c:v>
                </c:pt>
                <c:pt idx="129">
                  <c:v>1693.21</c:v>
                </c:pt>
                <c:pt idx="130">
                  <c:v>1696.24</c:v>
                </c:pt>
                <c:pt idx="131">
                  <c:v>1709.61</c:v>
                </c:pt>
                <c:pt idx="132">
                  <c:v>1728.34</c:v>
                </c:pt>
                <c:pt idx="133">
                  <c:v>1676.73</c:v>
                </c:pt>
                <c:pt idx="134">
                  <c:v>1652.79</c:v>
                </c:pt>
                <c:pt idx="135">
                  <c:v>1767.84</c:v>
                </c:pt>
                <c:pt idx="136">
                  <c:v>1808.51</c:v>
                </c:pt>
                <c:pt idx="137">
                  <c:v>1818.27</c:v>
                </c:pt>
                <c:pt idx="138">
                  <c:v>1813.14</c:v>
                </c:pt>
                <c:pt idx="139">
                  <c:v>1846.1</c:v>
                </c:pt>
                <c:pt idx="140">
                  <c:v>1880.33</c:v>
                </c:pt>
                <c:pt idx="141">
                  <c:v>1879.64</c:v>
                </c:pt>
                <c:pt idx="142">
                  <c:v>1860.91</c:v>
                </c:pt>
                <c:pt idx="143">
                  <c:v>1867.62</c:v>
                </c:pt>
                <c:pt idx="144">
                  <c:v>1860.14</c:v>
                </c:pt>
                <c:pt idx="145">
                  <c:v>1824.09</c:v>
                </c:pt>
                <c:pt idx="146">
                  <c:v>1814.09</c:v>
                </c:pt>
                <c:pt idx="147">
                  <c:v>1796.85</c:v>
                </c:pt>
                <c:pt idx="148">
                  <c:v>1754.03</c:v>
                </c:pt>
                <c:pt idx="149">
                  <c:v>1754.82</c:v>
                </c:pt>
                <c:pt idx="150">
                  <c:v>1755.49</c:v>
                </c:pt>
                <c:pt idx="151">
                  <c:v>1782.56</c:v>
                </c:pt>
                <c:pt idx="152">
                  <c:v>1791.43</c:v>
                </c:pt>
                <c:pt idx="153">
                  <c:v>1813.4</c:v>
                </c:pt>
                <c:pt idx="154">
                  <c:v>1806.5</c:v>
                </c:pt>
                <c:pt idx="155">
                  <c:v>1829.04</c:v>
                </c:pt>
                <c:pt idx="156">
                  <c:v>1814.98</c:v>
                </c:pt>
                <c:pt idx="157">
                  <c:v>1802.91</c:v>
                </c:pt>
                <c:pt idx="158">
                  <c:v>1830.5</c:v>
                </c:pt>
                <c:pt idx="159">
                  <c:v>1843.72</c:v>
                </c:pt>
                <c:pt idx="160">
                  <c:v>1870.79</c:v>
                </c:pt>
                <c:pt idx="161">
                  <c:v>1882.73</c:v>
                </c:pt>
                <c:pt idx="162">
                  <c:v>1885.44</c:v>
                </c:pt>
                <c:pt idx="163">
                  <c:v>1893.78</c:v>
                </c:pt>
                <c:pt idx="164">
                  <c:v>1896.59</c:v>
                </c:pt>
                <c:pt idx="165">
                  <c:v>1879.13</c:v>
                </c:pt>
                <c:pt idx="166">
                  <c:v>1864.8</c:v>
                </c:pt>
                <c:pt idx="167">
                  <c:v>1894.44</c:v>
                </c:pt>
                <c:pt idx="168">
                  <c:v>1902.93</c:v>
                </c:pt>
                <c:pt idx="169">
                  <c:v>1877.33</c:v>
                </c:pt>
                <c:pt idx="170">
                  <c:v>1867.9</c:v>
                </c:pt>
                <c:pt idx="171">
                  <c:v>1855.56</c:v>
                </c:pt>
                <c:pt idx="172">
                  <c:v>1861.58</c:v>
                </c:pt>
                <c:pt idx="173">
                  <c:v>1816.27</c:v>
                </c:pt>
                <c:pt idx="174">
                  <c:v>1788.4</c:v>
                </c:pt>
                <c:pt idx="175">
                  <c:v>1784.49</c:v>
                </c:pt>
                <c:pt idx="176">
                  <c:v>1766.9</c:v>
                </c:pt>
                <c:pt idx="177">
                  <c:v>1754.84</c:v>
                </c:pt>
                <c:pt idx="178">
                  <c:v>1729.8</c:v>
                </c:pt>
                <c:pt idx="179">
                  <c:v>1742.85</c:v>
                </c:pt>
                <c:pt idx="180">
                  <c:v>1782.82</c:v>
                </c:pt>
                <c:pt idx="181">
                  <c:v>1772.15</c:v>
                </c:pt>
                <c:pt idx="182">
                  <c:v>1751.03</c:v>
                </c:pt>
                <c:pt idx="183">
                  <c:v>1704.31</c:v>
                </c:pt>
                <c:pt idx="184">
                  <c:v>1676.98</c:v>
                </c:pt>
                <c:pt idx="185">
                  <c:v>1673.66</c:v>
                </c:pt>
                <c:pt idx="186">
                  <c:v>1679.18</c:v>
                </c:pt>
                <c:pt idx="187">
                  <c:v>1646.01</c:v>
                </c:pt>
                <c:pt idx="188">
                  <c:v>1646.89</c:v>
                </c:pt>
                <c:pt idx="189">
                  <c:v>1698.9</c:v>
                </c:pt>
                <c:pt idx="190">
                  <c:v>1718.98</c:v>
                </c:pt>
                <c:pt idx="191">
                  <c:v>1747.17</c:v>
                </c:pt>
                <c:pt idx="192">
                  <c:v>1753.74</c:v>
                </c:pt>
                <c:pt idx="193">
                  <c:v>1741.32</c:v>
                </c:pt>
                <c:pt idx="194">
                  <c:v>1737.24</c:v>
                </c:pt>
                <c:pt idx="195">
                  <c:v>1731.77</c:v>
                </c:pt>
                <c:pt idx="196">
                  <c:v>1717.06</c:v>
                </c:pt>
                <c:pt idx="197">
                  <c:v>1701.67</c:v>
                </c:pt>
                <c:pt idx="198">
                  <c:v>1690.99</c:v>
                </c:pt>
                <c:pt idx="199">
                  <c:v>1684.32</c:v>
                </c:pt>
                <c:pt idx="200">
                  <c:v>1680.36</c:v>
                </c:pt>
                <c:pt idx="201">
                  <c:v>1660.36</c:v>
                </c:pt>
                <c:pt idx="202">
                  <c:v>1667.98</c:v>
                </c:pt>
                <c:pt idx="203">
                  <c:v>1654.93</c:v>
                </c:pt>
                <c:pt idx="204">
                  <c:v>1655.99</c:v>
                </c:pt>
                <c:pt idx="205">
                  <c:v>1649</c:v>
                </c:pt>
                <c:pt idx="206">
                  <c:v>1659.92</c:v>
                </c:pt>
                <c:pt idx="207">
                  <c:v>1654.42</c:v>
                </c:pt>
                <c:pt idx="208">
                  <c:v>1635.46</c:v>
                </c:pt>
                <c:pt idx="209">
                  <c:v>1631.44</c:v>
                </c:pt>
                <c:pt idx="210">
                  <c:v>1631.86</c:v>
                </c:pt>
                <c:pt idx="211">
                  <c:v>1593.61</c:v>
                </c:pt>
                <c:pt idx="212">
                  <c:v>1580.54</c:v>
                </c:pt>
                <c:pt idx="213">
                  <c:v>1599.1</c:v>
                </c:pt>
                <c:pt idx="214">
                  <c:v>1642.64</c:v>
                </c:pt>
                <c:pt idx="215">
                  <c:v>1654.89</c:v>
                </c:pt>
                <c:pt idx="216">
                  <c:v>1651.98</c:v>
                </c:pt>
                <c:pt idx="217">
                  <c:v>1617</c:v>
                </c:pt>
                <c:pt idx="218">
                  <c:v>1639.65</c:v>
                </c:pt>
                <c:pt idx="219">
                  <c:v>1669.57</c:v>
                </c:pt>
                <c:pt idx="220">
                  <c:v>1685.83</c:v>
                </c:pt>
                <c:pt idx="221">
                  <c:v>1680.5</c:v>
                </c:pt>
                <c:pt idx="222">
                  <c:v>1652.54</c:v>
                </c:pt>
                <c:pt idx="223">
                  <c:v>1683.18</c:v>
                </c:pt>
                <c:pt idx="224">
                  <c:v>1687.06</c:v>
                </c:pt>
                <c:pt idx="225">
                  <c:v>1678.5</c:v>
                </c:pt>
                <c:pt idx="226">
                  <c:v>1663.43</c:v>
                </c:pt>
                <c:pt idx="227">
                  <c:v>1636.43</c:v>
                </c:pt>
                <c:pt idx="228">
                  <c:v>1731.19</c:v>
                </c:pt>
                <c:pt idx="229">
                  <c:v>1766.85</c:v>
                </c:pt>
                <c:pt idx="230">
                  <c:v>1757.95</c:v>
                </c:pt>
                <c:pt idx="231">
                  <c:v>1761.06</c:v>
                </c:pt>
                <c:pt idx="232">
                  <c:v>1765.12</c:v>
                </c:pt>
                <c:pt idx="233">
                  <c:v>1747.55</c:v>
                </c:pt>
                <c:pt idx="234">
                  <c:v>1716.47</c:v>
                </c:pt>
                <c:pt idx="235">
                  <c:v>1697.83</c:v>
                </c:pt>
                <c:pt idx="236">
                  <c:v>1685.3</c:v>
                </c:pt>
                <c:pt idx="237">
                  <c:v>1695.5</c:v>
                </c:pt>
                <c:pt idx="238">
                  <c:v>1645.82</c:v>
                </c:pt>
                <c:pt idx="239">
                  <c:v>1652.71</c:v>
                </c:pt>
                <c:pt idx="240">
                  <c:v>1665.05</c:v>
                </c:pt>
                <c:pt idx="241">
                  <c:v>1661.7</c:v>
                </c:pt>
                <c:pt idx="242">
                  <c:v>1666.48</c:v>
                </c:pt>
                <c:pt idx="243">
                  <c:v>1660.7</c:v>
                </c:pt>
                <c:pt idx="244">
                  <c:v>1666.09</c:v>
                </c:pt>
                <c:pt idx="245">
                  <c:v>1657.46</c:v>
                </c:pt>
                <c:pt idx="246">
                  <c:v>1635.26</c:v>
                </c:pt>
                <c:pt idx="247">
                  <c:v>1634.45</c:v>
                </c:pt>
                <c:pt idx="248">
                  <c:v>1658.62</c:v>
                </c:pt>
                <c:pt idx="249">
                  <c:v>1665.18</c:v>
                </c:pt>
                <c:pt idx="250">
                  <c:v>1670.97</c:v>
                </c:pt>
                <c:pt idx="251">
                  <c:v>1680.9</c:v>
                </c:pt>
                <c:pt idx="252">
                  <c:v>1684.9</c:v>
                </c:pt>
                <c:pt idx="253">
                  <c:v>1667.26</c:v>
                </c:pt>
                <c:pt idx="254">
                  <c:v>1657.75</c:v>
                </c:pt>
                <c:pt idx="255">
                  <c:v>1643.26</c:v>
                </c:pt>
                <c:pt idx="256">
                  <c:v>1637.32</c:v>
                </c:pt>
                <c:pt idx="257">
                  <c:v>1624.53</c:v>
                </c:pt>
                <c:pt idx="258">
                  <c:v>1666.97</c:v>
                </c:pt>
                <c:pt idx="259">
                  <c:v>1696.29</c:v>
                </c:pt>
                <c:pt idx="260">
                  <c:v>1681.3</c:v>
                </c:pt>
                <c:pt idx="261">
                  <c:v>1682.21</c:v>
                </c:pt>
                <c:pt idx="262">
                  <c:v>1680.86</c:v>
                </c:pt>
                <c:pt idx="263">
                  <c:v>1672.78</c:v>
                </c:pt>
                <c:pt idx="264">
                  <c:v>1667.63</c:v>
                </c:pt>
                <c:pt idx="265">
                  <c:v>1614.03</c:v>
                </c:pt>
                <c:pt idx="266">
                  <c:v>1645.47</c:v>
                </c:pt>
                <c:pt idx="267">
                  <c:v>1688</c:v>
                </c:pt>
                <c:pt idx="268">
                  <c:v>1664.36</c:v>
                </c:pt>
                <c:pt idx="269">
                  <c:v>1654.2</c:v>
                </c:pt>
                <c:pt idx="270">
                  <c:v>1636.37</c:v>
                </c:pt>
                <c:pt idx="271">
                  <c:v>1630</c:v>
                </c:pt>
                <c:pt idx="272">
                  <c:v>1640.69</c:v>
                </c:pt>
                <c:pt idx="273">
                  <c:v>1611.6</c:v>
                </c:pt>
                <c:pt idx="274">
                  <c:v>1608.22</c:v>
                </c:pt>
                <c:pt idx="275">
                  <c:v>1596.86</c:v>
                </c:pt>
                <c:pt idx="276">
                  <c:v>1584.95</c:v>
                </c:pt>
                <c:pt idx="277">
                  <c:v>1581.81</c:v>
                </c:pt>
                <c:pt idx="278">
                  <c:v>1573.71</c:v>
                </c:pt>
                <c:pt idx="279">
                  <c:v>1547.15</c:v>
                </c:pt>
                <c:pt idx="280">
                  <c:v>1528.19</c:v>
                </c:pt>
                <c:pt idx="281">
                  <c:v>1495.21</c:v>
                </c:pt>
                <c:pt idx="282">
                  <c:v>1502.52</c:v>
                </c:pt>
                <c:pt idx="283">
                  <c:v>1507.63</c:v>
                </c:pt>
                <c:pt idx="284">
                  <c:v>1493.41</c:v>
                </c:pt>
                <c:pt idx="285">
                  <c:v>1557.42</c:v>
                </c:pt>
                <c:pt idx="286">
                  <c:v>1531.13</c:v>
                </c:pt>
                <c:pt idx="287">
                  <c:v>1521.02</c:v>
                </c:pt>
                <c:pt idx="288">
                  <c:v>1512.31</c:v>
                </c:pt>
                <c:pt idx="289">
                  <c:v>1509.54</c:v>
                </c:pt>
                <c:pt idx="290">
                  <c:v>1485.05</c:v>
                </c:pt>
                <c:pt idx="291">
                  <c:v>1497.28</c:v>
                </c:pt>
                <c:pt idx="292">
                  <c:v>1490.01</c:v>
                </c:pt>
                <c:pt idx="293">
                  <c:v>1475.47</c:v>
                </c:pt>
                <c:pt idx="294">
                  <c:v>1460.65</c:v>
                </c:pt>
                <c:pt idx="295">
                  <c:v>1470.42</c:v>
                </c:pt>
                <c:pt idx="296">
                  <c:v>1457.76</c:v>
                </c:pt>
                <c:pt idx="297">
                  <c:v>1445.64</c:v>
                </c:pt>
                <c:pt idx="298">
                  <c:v>1431.32</c:v>
                </c:pt>
                <c:pt idx="299">
                  <c:v>1415.46</c:v>
                </c:pt>
                <c:pt idx="300">
                  <c:v>1402.06</c:v>
                </c:pt>
                <c:pt idx="301">
                  <c:v>1386.97</c:v>
                </c:pt>
                <c:pt idx="302">
                  <c:v>1381.96</c:v>
                </c:pt>
                <c:pt idx="303">
                  <c:v>1384.59</c:v>
                </c:pt>
                <c:pt idx="304">
                  <c:v>1377.84</c:v>
                </c:pt>
                <c:pt idx="305">
                  <c:v>1376.07</c:v>
                </c:pt>
                <c:pt idx="306">
                  <c:v>1371.44</c:v>
                </c:pt>
                <c:pt idx="307">
                  <c:v>1365.67</c:v>
                </c:pt>
                <c:pt idx="308">
                  <c:v>1366.75</c:v>
                </c:pt>
                <c:pt idx="309">
                  <c:v>1366.77</c:v>
                </c:pt>
                <c:pt idx="310">
                  <c:v>1358.18</c:v>
                </c:pt>
                <c:pt idx="311">
                  <c:v>1349.35</c:v>
                </c:pt>
                <c:pt idx="312">
                  <c:v>1352.04</c:v>
                </c:pt>
                <c:pt idx="313">
                  <c:v>1346.83</c:v>
                </c:pt>
                <c:pt idx="314">
                  <c:v>1347.69</c:v>
                </c:pt>
                <c:pt idx="315">
                  <c:v>1338.11</c:v>
                </c:pt>
                <c:pt idx="316">
                  <c:v>1315.49</c:v>
                </c:pt>
                <c:pt idx="317">
                  <c:v>1322.99</c:v>
                </c:pt>
                <c:pt idx="318">
                  <c:v>1315.2</c:v>
                </c:pt>
                <c:pt idx="319">
                  <c:v>1316.23</c:v>
                </c:pt>
                <c:pt idx="320">
                  <c:v>1310.57</c:v>
                </c:pt>
                <c:pt idx="321">
                  <c:v>1329.89</c:v>
                </c:pt>
                <c:pt idx="322">
                  <c:v>1342.09</c:v>
                </c:pt>
                <c:pt idx="323">
                  <c:v>1345.74</c:v>
                </c:pt>
                <c:pt idx="324">
                  <c:v>1347.25</c:v>
                </c:pt>
                <c:pt idx="325">
                  <c:v>1336.3</c:v>
                </c:pt>
                <c:pt idx="326">
                  <c:v>1332.6</c:v>
                </c:pt>
                <c:pt idx="327">
                  <c:v>1341.86</c:v>
                </c:pt>
                <c:pt idx="328">
                  <c:v>1341.87</c:v>
                </c:pt>
                <c:pt idx="329">
                  <c:v>1339.81</c:v>
                </c:pt>
                <c:pt idx="330">
                  <c:v>1332.51</c:v>
                </c:pt>
                <c:pt idx="331">
                  <c:v>1314.46</c:v>
                </c:pt>
                <c:pt idx="332">
                  <c:v>1313.84</c:v>
                </c:pt>
                <c:pt idx="333">
                  <c:v>1323.05</c:v>
                </c:pt>
                <c:pt idx="334">
                  <c:v>1315.15</c:v>
                </c:pt>
                <c:pt idx="335">
                  <c:v>1296.29</c:v>
                </c:pt>
                <c:pt idx="336">
                  <c:v>1301.3900000000001</c:v>
                </c:pt>
                <c:pt idx="337">
                  <c:v>1313.2</c:v>
                </c:pt>
                <c:pt idx="338">
                  <c:v>1309.73</c:v>
                </c:pt>
                <c:pt idx="339">
                  <c:v>1293.43</c:v>
                </c:pt>
                <c:pt idx="340">
                  <c:v>1283.26</c:v>
                </c:pt>
                <c:pt idx="341">
                  <c:v>1267.3</c:v>
                </c:pt>
                <c:pt idx="342">
                  <c:v>1269.8</c:v>
                </c:pt>
                <c:pt idx="343">
                  <c:v>1250.3699999999999</c:v>
                </c:pt>
                <c:pt idx="344">
                  <c:v>1241.95</c:v>
                </c:pt>
                <c:pt idx="345">
                  <c:v>1240.05</c:v>
                </c:pt>
                <c:pt idx="346">
                  <c:v>1226.3</c:v>
                </c:pt>
                <c:pt idx="347">
                  <c:v>1226.8</c:v>
                </c:pt>
                <c:pt idx="348">
                  <c:v>1229.23</c:v>
                </c:pt>
                <c:pt idx="349">
                  <c:v>1223.3499999999999</c:v>
                </c:pt>
                <c:pt idx="350">
                  <c:v>1211</c:v>
                </c:pt>
                <c:pt idx="351">
                  <c:v>1197.1300000000001</c:v>
                </c:pt>
                <c:pt idx="352">
                  <c:v>1207.07</c:v>
                </c:pt>
                <c:pt idx="353">
                  <c:v>1219.1199999999999</c:v>
                </c:pt>
                <c:pt idx="354">
                  <c:v>1217.25</c:v>
                </c:pt>
                <c:pt idx="355">
                  <c:v>1210.3</c:v>
                </c:pt>
                <c:pt idx="356">
                  <c:v>1227.79</c:v>
                </c:pt>
                <c:pt idx="357">
                  <c:v>1241.44</c:v>
                </c:pt>
                <c:pt idx="358">
                  <c:v>1222.46</c:v>
                </c:pt>
                <c:pt idx="359">
                  <c:v>1168.3399999999999</c:v>
                </c:pt>
                <c:pt idx="360">
                  <c:v>1094.3</c:v>
                </c:pt>
                <c:pt idx="361">
                  <c:v>1132.79</c:v>
                </c:pt>
                <c:pt idx="362">
                  <c:v>1210.67</c:v>
                </c:pt>
                <c:pt idx="363">
                  <c:v>1229.8399999999999</c:v>
                </c:pt>
                <c:pt idx="364">
                  <c:v>1317.83</c:v>
                </c:pt>
                <c:pt idx="365">
                  <c:v>1317.33</c:v>
                </c:pt>
                <c:pt idx="366">
                  <c:v>1306.8599999999999</c:v>
                </c:pt>
                <c:pt idx="367">
                  <c:v>1317.46</c:v>
                </c:pt>
                <c:pt idx="368">
                  <c:v>1323.81</c:v>
                </c:pt>
                <c:pt idx="369">
                  <c:v>1326.09</c:v>
                </c:pt>
                <c:pt idx="370">
                  <c:v>1331.92</c:v>
                </c:pt>
                <c:pt idx="371">
                  <c:v>1330.32</c:v>
                </c:pt>
                <c:pt idx="372">
                  <c:v>1324.88</c:v>
                </c:pt>
                <c:pt idx="373">
                  <c:v>1323.93</c:v>
                </c:pt>
                <c:pt idx="374">
                  <c:v>1324.63</c:v>
                </c:pt>
                <c:pt idx="375">
                  <c:v>1330.97</c:v>
                </c:pt>
                <c:pt idx="376">
                  <c:v>1336.26</c:v>
                </c:pt>
                <c:pt idx="377">
                  <c:v>1326.15</c:v>
                </c:pt>
                <c:pt idx="378">
                  <c:v>1326.27</c:v>
                </c:pt>
                <c:pt idx="379">
                  <c:v>1334.41</c:v>
                </c:pt>
                <c:pt idx="380">
                  <c:v>1332.54</c:v>
                </c:pt>
                <c:pt idx="381">
                  <c:v>1330.28</c:v>
                </c:pt>
                <c:pt idx="382">
                  <c:v>1326.05</c:v>
                </c:pt>
                <c:pt idx="383">
                  <c:v>1318.22</c:v>
                </c:pt>
                <c:pt idx="384">
                  <c:v>1304.71</c:v>
                </c:pt>
                <c:pt idx="385">
                  <c:v>1311.91</c:v>
                </c:pt>
                <c:pt idx="386">
                  <c:v>1309.3699999999999</c:v>
                </c:pt>
                <c:pt idx="387">
                  <c:v>1305.3599999999999</c:v>
                </c:pt>
                <c:pt idx="388">
                  <c:v>1307.8</c:v>
                </c:pt>
                <c:pt idx="389">
                  <c:v>1302.96</c:v>
                </c:pt>
                <c:pt idx="390">
                  <c:v>1303.1600000000001</c:v>
                </c:pt>
                <c:pt idx="391">
                  <c:v>1304.56</c:v>
                </c:pt>
              </c:numCache>
            </c:numRef>
          </c:val>
          <c:smooth val="0"/>
          <c:extLst>
            <c:ext xmlns:c16="http://schemas.microsoft.com/office/drawing/2014/chart" uri="{C3380CC4-5D6E-409C-BE32-E72D297353CC}">
              <c16:uniqueId val="{00000000-B149-4CE9-B990-9101CB33B7C2}"/>
            </c:ext>
          </c:extLst>
        </c:ser>
        <c:ser>
          <c:idx val="3"/>
          <c:order val="1"/>
          <c:tx>
            <c:strRef>
              <c:f>Sheet1!$AL$1</c:f>
              <c:strCache>
                <c:ptCount val="1"/>
                <c:pt idx="0">
                  <c:v>VNINDEX loại trừ Vingroup</c:v>
                </c:pt>
              </c:strCache>
            </c:strRef>
          </c:tx>
          <c:spPr>
            <a:ln w="28575" cap="rnd">
              <a:solidFill>
                <a:schemeClr val="accent1"/>
              </a:solidFill>
              <a:prstDash val="solid"/>
              <a:round/>
            </a:ln>
          </c:spPr>
          <c:marker>
            <c:symbol val="none"/>
          </c:marker>
          <c:cat>
            <c:numRef>
              <c:f>Sheet1!$A$2:$A$393</c:f>
              <c:numCache>
                <c:formatCode>mm/dd/yyyy</c:formatCode>
                <c:ptCount val="392"/>
                <c:pt idx="1">
                  <c:v>46283</c:v>
                </c:pt>
                <c:pt idx="2">
                  <c:v>46282</c:v>
                </c:pt>
                <c:pt idx="3">
                  <c:v>46281</c:v>
                </c:pt>
                <c:pt idx="4">
                  <c:v>46280</c:v>
                </c:pt>
                <c:pt idx="5">
                  <c:v>46279</c:v>
                </c:pt>
                <c:pt idx="6">
                  <c:v>46276</c:v>
                </c:pt>
                <c:pt idx="7">
                  <c:v>46275</c:v>
                </c:pt>
                <c:pt idx="8">
                  <c:v>46274</c:v>
                </c:pt>
                <c:pt idx="9">
                  <c:v>46273</c:v>
                </c:pt>
                <c:pt idx="10">
                  <c:v>46272</c:v>
                </c:pt>
                <c:pt idx="11">
                  <c:v>46269</c:v>
                </c:pt>
                <c:pt idx="12">
                  <c:v>46268</c:v>
                </c:pt>
                <c:pt idx="13">
                  <c:v>46262</c:v>
                </c:pt>
                <c:pt idx="14">
                  <c:v>46261</c:v>
                </c:pt>
                <c:pt idx="15">
                  <c:v>46260</c:v>
                </c:pt>
                <c:pt idx="16">
                  <c:v>46259</c:v>
                </c:pt>
                <c:pt idx="17">
                  <c:v>46258</c:v>
                </c:pt>
                <c:pt idx="18">
                  <c:v>46255</c:v>
                </c:pt>
                <c:pt idx="19">
                  <c:v>46254</c:v>
                </c:pt>
                <c:pt idx="20">
                  <c:v>46253</c:v>
                </c:pt>
                <c:pt idx="21">
                  <c:v>46252</c:v>
                </c:pt>
                <c:pt idx="22">
                  <c:v>46251</c:v>
                </c:pt>
                <c:pt idx="23">
                  <c:v>46248</c:v>
                </c:pt>
                <c:pt idx="24">
                  <c:v>46247</c:v>
                </c:pt>
                <c:pt idx="25">
                  <c:v>46246</c:v>
                </c:pt>
                <c:pt idx="26">
                  <c:v>46245</c:v>
                </c:pt>
                <c:pt idx="27">
                  <c:v>46244</c:v>
                </c:pt>
                <c:pt idx="28">
                  <c:v>46241</c:v>
                </c:pt>
                <c:pt idx="29">
                  <c:v>46240</c:v>
                </c:pt>
                <c:pt idx="30">
                  <c:v>46239</c:v>
                </c:pt>
                <c:pt idx="31">
                  <c:v>46238</c:v>
                </c:pt>
                <c:pt idx="32">
                  <c:v>46237</c:v>
                </c:pt>
                <c:pt idx="33">
                  <c:v>46234</c:v>
                </c:pt>
                <c:pt idx="34">
                  <c:v>46233</c:v>
                </c:pt>
                <c:pt idx="35">
                  <c:v>46232</c:v>
                </c:pt>
                <c:pt idx="36">
                  <c:v>46231</c:v>
                </c:pt>
                <c:pt idx="37">
                  <c:v>46230</c:v>
                </c:pt>
                <c:pt idx="38">
                  <c:v>46227</c:v>
                </c:pt>
                <c:pt idx="39">
                  <c:v>46226</c:v>
                </c:pt>
                <c:pt idx="40">
                  <c:v>46225</c:v>
                </c:pt>
                <c:pt idx="41">
                  <c:v>46224</c:v>
                </c:pt>
                <c:pt idx="42">
                  <c:v>46223</c:v>
                </c:pt>
                <c:pt idx="43">
                  <c:v>46220</c:v>
                </c:pt>
                <c:pt idx="44">
                  <c:v>46219</c:v>
                </c:pt>
                <c:pt idx="45">
                  <c:v>46218</c:v>
                </c:pt>
                <c:pt idx="46">
                  <c:v>46217</c:v>
                </c:pt>
                <c:pt idx="47">
                  <c:v>46216</c:v>
                </c:pt>
                <c:pt idx="48">
                  <c:v>46213</c:v>
                </c:pt>
                <c:pt idx="49">
                  <c:v>46212</c:v>
                </c:pt>
                <c:pt idx="50">
                  <c:v>46211</c:v>
                </c:pt>
                <c:pt idx="51">
                  <c:v>46210</c:v>
                </c:pt>
                <c:pt idx="52">
                  <c:v>46209</c:v>
                </c:pt>
                <c:pt idx="53">
                  <c:v>46206</c:v>
                </c:pt>
                <c:pt idx="54">
                  <c:v>46205</c:v>
                </c:pt>
                <c:pt idx="55">
                  <c:v>46204</c:v>
                </c:pt>
                <c:pt idx="56">
                  <c:v>46203</c:v>
                </c:pt>
                <c:pt idx="57">
                  <c:v>46202</c:v>
                </c:pt>
                <c:pt idx="58">
                  <c:v>46199</c:v>
                </c:pt>
                <c:pt idx="59">
                  <c:v>46198</c:v>
                </c:pt>
                <c:pt idx="60">
                  <c:v>46197</c:v>
                </c:pt>
                <c:pt idx="61">
                  <c:v>46196</c:v>
                </c:pt>
                <c:pt idx="62">
                  <c:v>46195</c:v>
                </c:pt>
                <c:pt idx="63">
                  <c:v>46192</c:v>
                </c:pt>
                <c:pt idx="64">
                  <c:v>46191</c:v>
                </c:pt>
                <c:pt idx="65">
                  <c:v>46190</c:v>
                </c:pt>
                <c:pt idx="66">
                  <c:v>46189</c:v>
                </c:pt>
                <c:pt idx="67">
                  <c:v>46188</c:v>
                </c:pt>
                <c:pt idx="68">
                  <c:v>46185</c:v>
                </c:pt>
                <c:pt idx="69">
                  <c:v>46184</c:v>
                </c:pt>
                <c:pt idx="70">
                  <c:v>46183</c:v>
                </c:pt>
                <c:pt idx="71">
                  <c:v>46182</c:v>
                </c:pt>
                <c:pt idx="72">
                  <c:v>46181</c:v>
                </c:pt>
                <c:pt idx="73">
                  <c:v>46178</c:v>
                </c:pt>
                <c:pt idx="74">
                  <c:v>46177</c:v>
                </c:pt>
                <c:pt idx="75">
                  <c:v>46176</c:v>
                </c:pt>
                <c:pt idx="76">
                  <c:v>46175</c:v>
                </c:pt>
                <c:pt idx="77">
                  <c:v>46174</c:v>
                </c:pt>
                <c:pt idx="78">
                  <c:v>46171</c:v>
                </c:pt>
                <c:pt idx="79">
                  <c:v>46170</c:v>
                </c:pt>
                <c:pt idx="80">
                  <c:v>46169</c:v>
                </c:pt>
                <c:pt idx="81">
                  <c:v>46168</c:v>
                </c:pt>
                <c:pt idx="82">
                  <c:v>46167</c:v>
                </c:pt>
                <c:pt idx="83">
                  <c:v>46164</c:v>
                </c:pt>
                <c:pt idx="84">
                  <c:v>46163</c:v>
                </c:pt>
                <c:pt idx="85">
                  <c:v>46162</c:v>
                </c:pt>
                <c:pt idx="86">
                  <c:v>46161</c:v>
                </c:pt>
                <c:pt idx="87">
                  <c:v>46160</c:v>
                </c:pt>
                <c:pt idx="88">
                  <c:v>46157</c:v>
                </c:pt>
                <c:pt idx="89">
                  <c:v>46156</c:v>
                </c:pt>
                <c:pt idx="90">
                  <c:v>46155</c:v>
                </c:pt>
                <c:pt idx="91">
                  <c:v>46154</c:v>
                </c:pt>
                <c:pt idx="92">
                  <c:v>46153</c:v>
                </c:pt>
                <c:pt idx="93">
                  <c:v>46150</c:v>
                </c:pt>
                <c:pt idx="94">
                  <c:v>46149</c:v>
                </c:pt>
                <c:pt idx="95">
                  <c:v>46148</c:v>
                </c:pt>
                <c:pt idx="96">
                  <c:v>46147</c:v>
                </c:pt>
                <c:pt idx="97">
                  <c:v>46146</c:v>
                </c:pt>
                <c:pt idx="98">
                  <c:v>46141</c:v>
                </c:pt>
                <c:pt idx="99">
                  <c:v>46140</c:v>
                </c:pt>
                <c:pt idx="100">
                  <c:v>46136</c:v>
                </c:pt>
                <c:pt idx="101">
                  <c:v>46135</c:v>
                </c:pt>
                <c:pt idx="102">
                  <c:v>46134</c:v>
                </c:pt>
                <c:pt idx="103">
                  <c:v>46133</c:v>
                </c:pt>
                <c:pt idx="104">
                  <c:v>46132</c:v>
                </c:pt>
                <c:pt idx="105">
                  <c:v>46129</c:v>
                </c:pt>
                <c:pt idx="106">
                  <c:v>46128</c:v>
                </c:pt>
                <c:pt idx="107">
                  <c:v>46127</c:v>
                </c:pt>
                <c:pt idx="108">
                  <c:v>46126</c:v>
                </c:pt>
                <c:pt idx="109">
                  <c:v>46125</c:v>
                </c:pt>
                <c:pt idx="110">
                  <c:v>46122</c:v>
                </c:pt>
                <c:pt idx="111">
                  <c:v>46121</c:v>
                </c:pt>
                <c:pt idx="112">
                  <c:v>46120</c:v>
                </c:pt>
                <c:pt idx="113">
                  <c:v>46119</c:v>
                </c:pt>
                <c:pt idx="114">
                  <c:v>46118</c:v>
                </c:pt>
                <c:pt idx="115">
                  <c:v>46115</c:v>
                </c:pt>
                <c:pt idx="116">
                  <c:v>46114</c:v>
                </c:pt>
                <c:pt idx="117">
                  <c:v>46113</c:v>
                </c:pt>
                <c:pt idx="118">
                  <c:v>46112</c:v>
                </c:pt>
                <c:pt idx="119">
                  <c:v>46111</c:v>
                </c:pt>
                <c:pt idx="120">
                  <c:v>46108</c:v>
                </c:pt>
                <c:pt idx="121">
                  <c:v>46107</c:v>
                </c:pt>
                <c:pt idx="122">
                  <c:v>46106</c:v>
                </c:pt>
                <c:pt idx="123">
                  <c:v>46105</c:v>
                </c:pt>
                <c:pt idx="124">
                  <c:v>46104</c:v>
                </c:pt>
                <c:pt idx="125">
                  <c:v>46101</c:v>
                </c:pt>
                <c:pt idx="126">
                  <c:v>46100</c:v>
                </c:pt>
                <c:pt idx="127">
                  <c:v>46099</c:v>
                </c:pt>
                <c:pt idx="128">
                  <c:v>46098</c:v>
                </c:pt>
                <c:pt idx="129">
                  <c:v>46097</c:v>
                </c:pt>
                <c:pt idx="130">
                  <c:v>46094</c:v>
                </c:pt>
                <c:pt idx="131">
                  <c:v>46093</c:v>
                </c:pt>
                <c:pt idx="132">
                  <c:v>46092</c:v>
                </c:pt>
                <c:pt idx="133">
                  <c:v>46091</c:v>
                </c:pt>
                <c:pt idx="134">
                  <c:v>46090</c:v>
                </c:pt>
                <c:pt idx="135">
                  <c:v>46087</c:v>
                </c:pt>
                <c:pt idx="136">
                  <c:v>46086</c:v>
                </c:pt>
                <c:pt idx="137">
                  <c:v>46085</c:v>
                </c:pt>
                <c:pt idx="138">
                  <c:v>46084</c:v>
                </c:pt>
                <c:pt idx="139">
                  <c:v>46083</c:v>
                </c:pt>
                <c:pt idx="140">
                  <c:v>46080</c:v>
                </c:pt>
                <c:pt idx="141">
                  <c:v>46079</c:v>
                </c:pt>
                <c:pt idx="142">
                  <c:v>46078</c:v>
                </c:pt>
                <c:pt idx="143">
                  <c:v>46077</c:v>
                </c:pt>
                <c:pt idx="144">
                  <c:v>46076</c:v>
                </c:pt>
                <c:pt idx="145">
                  <c:v>46066</c:v>
                </c:pt>
                <c:pt idx="146">
                  <c:v>46065</c:v>
                </c:pt>
                <c:pt idx="147">
                  <c:v>46064</c:v>
                </c:pt>
                <c:pt idx="148">
                  <c:v>46063</c:v>
                </c:pt>
                <c:pt idx="149">
                  <c:v>46062</c:v>
                </c:pt>
                <c:pt idx="150">
                  <c:v>46059</c:v>
                </c:pt>
                <c:pt idx="151">
                  <c:v>46058</c:v>
                </c:pt>
                <c:pt idx="152">
                  <c:v>46057</c:v>
                </c:pt>
                <c:pt idx="153">
                  <c:v>46056</c:v>
                </c:pt>
                <c:pt idx="154">
                  <c:v>46055</c:v>
                </c:pt>
                <c:pt idx="155">
                  <c:v>46052</c:v>
                </c:pt>
                <c:pt idx="156">
                  <c:v>46051</c:v>
                </c:pt>
                <c:pt idx="157">
                  <c:v>46050</c:v>
                </c:pt>
                <c:pt idx="158">
                  <c:v>46049</c:v>
                </c:pt>
                <c:pt idx="159">
                  <c:v>46048</c:v>
                </c:pt>
                <c:pt idx="160">
                  <c:v>46045</c:v>
                </c:pt>
                <c:pt idx="161">
                  <c:v>46044</c:v>
                </c:pt>
                <c:pt idx="162">
                  <c:v>46043</c:v>
                </c:pt>
                <c:pt idx="163">
                  <c:v>46042</c:v>
                </c:pt>
                <c:pt idx="164">
                  <c:v>46041</c:v>
                </c:pt>
                <c:pt idx="165">
                  <c:v>46038</c:v>
                </c:pt>
                <c:pt idx="166">
                  <c:v>46037</c:v>
                </c:pt>
                <c:pt idx="167">
                  <c:v>46036</c:v>
                </c:pt>
                <c:pt idx="168">
                  <c:v>46035</c:v>
                </c:pt>
                <c:pt idx="169">
                  <c:v>46034</c:v>
                </c:pt>
                <c:pt idx="170">
                  <c:v>46031</c:v>
                </c:pt>
                <c:pt idx="171">
                  <c:v>46030</c:v>
                </c:pt>
                <c:pt idx="172">
                  <c:v>46029</c:v>
                </c:pt>
                <c:pt idx="173">
                  <c:v>46028</c:v>
                </c:pt>
                <c:pt idx="174">
                  <c:v>46027</c:v>
                </c:pt>
                <c:pt idx="175" formatCode="m/d/yyyy">
                  <c:v>46022</c:v>
                </c:pt>
                <c:pt idx="176" formatCode="m/d/yyyy">
                  <c:v>46021</c:v>
                </c:pt>
                <c:pt idx="177" formatCode="m/d/yyyy">
                  <c:v>46020</c:v>
                </c:pt>
                <c:pt idx="178" formatCode="m/d/yyyy">
                  <c:v>46017</c:v>
                </c:pt>
                <c:pt idx="179" formatCode="m/d/yyyy">
                  <c:v>46016</c:v>
                </c:pt>
                <c:pt idx="180" formatCode="m/d/yyyy">
                  <c:v>46015</c:v>
                </c:pt>
                <c:pt idx="181" formatCode="m/d/yyyy">
                  <c:v>46014</c:v>
                </c:pt>
                <c:pt idx="182" formatCode="m/d/yyyy">
                  <c:v>46013</c:v>
                </c:pt>
                <c:pt idx="183" formatCode="m/d/yyyy">
                  <c:v>46010</c:v>
                </c:pt>
                <c:pt idx="184" formatCode="m/d/yyyy">
                  <c:v>46009</c:v>
                </c:pt>
                <c:pt idx="185" formatCode="m/d/yyyy">
                  <c:v>46008</c:v>
                </c:pt>
                <c:pt idx="186" formatCode="m/d/yyyy">
                  <c:v>46007</c:v>
                </c:pt>
                <c:pt idx="187" formatCode="m/d/yyyy">
                  <c:v>46006</c:v>
                </c:pt>
                <c:pt idx="188" formatCode="m/d/yyyy">
                  <c:v>46003</c:v>
                </c:pt>
                <c:pt idx="189" formatCode="m/d/yyyy">
                  <c:v>46002</c:v>
                </c:pt>
                <c:pt idx="190" formatCode="m/d/yyyy">
                  <c:v>46001</c:v>
                </c:pt>
                <c:pt idx="191" formatCode="m/d/yyyy">
                  <c:v>46000</c:v>
                </c:pt>
                <c:pt idx="192" formatCode="m/d/yyyy">
                  <c:v>45999</c:v>
                </c:pt>
                <c:pt idx="193" formatCode="m/d/yyyy">
                  <c:v>45996</c:v>
                </c:pt>
                <c:pt idx="194" formatCode="m/d/yyyy">
                  <c:v>45995</c:v>
                </c:pt>
                <c:pt idx="195" formatCode="m/d/yyyy">
                  <c:v>45994</c:v>
                </c:pt>
                <c:pt idx="196" formatCode="m/d/yyyy">
                  <c:v>45993</c:v>
                </c:pt>
                <c:pt idx="197" formatCode="m/d/yyyy">
                  <c:v>45992</c:v>
                </c:pt>
                <c:pt idx="198" formatCode="m/d/yyyy">
                  <c:v>45989</c:v>
                </c:pt>
                <c:pt idx="199" formatCode="m/d/yyyy">
                  <c:v>45988</c:v>
                </c:pt>
                <c:pt idx="200" formatCode="m/d/yyyy">
                  <c:v>45987</c:v>
                </c:pt>
                <c:pt idx="201" formatCode="m/d/yyyy">
                  <c:v>45986</c:v>
                </c:pt>
                <c:pt idx="202" formatCode="m/d/yyyy">
                  <c:v>45985</c:v>
                </c:pt>
                <c:pt idx="203" formatCode="m/d/yyyy">
                  <c:v>45982</c:v>
                </c:pt>
                <c:pt idx="204" formatCode="m/d/yyyy">
                  <c:v>45981</c:v>
                </c:pt>
                <c:pt idx="205" formatCode="m/d/yyyy">
                  <c:v>45980</c:v>
                </c:pt>
                <c:pt idx="206" formatCode="m/d/yyyy">
                  <c:v>45979</c:v>
                </c:pt>
                <c:pt idx="207" formatCode="m/d/yyyy">
                  <c:v>45978</c:v>
                </c:pt>
                <c:pt idx="208" formatCode="m/d/yyyy">
                  <c:v>45975</c:v>
                </c:pt>
                <c:pt idx="209" formatCode="m/d/yyyy">
                  <c:v>45974</c:v>
                </c:pt>
                <c:pt idx="210" formatCode="m/d/yyyy">
                  <c:v>45973</c:v>
                </c:pt>
                <c:pt idx="211" formatCode="m/d/yyyy">
                  <c:v>45972</c:v>
                </c:pt>
                <c:pt idx="212" formatCode="m/d/yyyy">
                  <c:v>45971</c:v>
                </c:pt>
                <c:pt idx="213" formatCode="m/d/yyyy">
                  <c:v>45968</c:v>
                </c:pt>
                <c:pt idx="214" formatCode="m/d/yyyy">
                  <c:v>45967</c:v>
                </c:pt>
                <c:pt idx="215" formatCode="m/d/yyyy">
                  <c:v>45966</c:v>
                </c:pt>
                <c:pt idx="216" formatCode="m/d/yyyy">
                  <c:v>45965</c:v>
                </c:pt>
                <c:pt idx="217" formatCode="m/d/yyyy">
                  <c:v>45964</c:v>
                </c:pt>
                <c:pt idx="218" formatCode="m/d/yyyy">
                  <c:v>45961</c:v>
                </c:pt>
                <c:pt idx="219" formatCode="m/d/yyyy">
                  <c:v>45960</c:v>
                </c:pt>
                <c:pt idx="220" formatCode="m/d/yyyy">
                  <c:v>45959</c:v>
                </c:pt>
                <c:pt idx="221" formatCode="m/d/yyyy">
                  <c:v>45958</c:v>
                </c:pt>
                <c:pt idx="222" formatCode="m/d/yyyy">
                  <c:v>45957</c:v>
                </c:pt>
                <c:pt idx="223" formatCode="m/d/yyyy">
                  <c:v>45954</c:v>
                </c:pt>
                <c:pt idx="224" formatCode="m/d/yyyy">
                  <c:v>45953</c:v>
                </c:pt>
                <c:pt idx="225" formatCode="m/d/yyyy">
                  <c:v>45952</c:v>
                </c:pt>
                <c:pt idx="226" formatCode="m/d/yyyy">
                  <c:v>45951</c:v>
                </c:pt>
                <c:pt idx="227" formatCode="m/d/yyyy">
                  <c:v>45950</c:v>
                </c:pt>
                <c:pt idx="228" formatCode="m/d/yyyy">
                  <c:v>45947</c:v>
                </c:pt>
                <c:pt idx="229" formatCode="m/d/yyyy">
                  <c:v>45946</c:v>
                </c:pt>
                <c:pt idx="230" formatCode="m/d/yyyy">
                  <c:v>45945</c:v>
                </c:pt>
                <c:pt idx="231" formatCode="m/d/yyyy">
                  <c:v>45944</c:v>
                </c:pt>
                <c:pt idx="232" formatCode="m/d/yyyy">
                  <c:v>45943</c:v>
                </c:pt>
                <c:pt idx="233" formatCode="m/d/yyyy">
                  <c:v>45940</c:v>
                </c:pt>
                <c:pt idx="234" formatCode="m/d/yyyy">
                  <c:v>45939</c:v>
                </c:pt>
                <c:pt idx="235" formatCode="m/d/yyyy">
                  <c:v>45938</c:v>
                </c:pt>
                <c:pt idx="236" formatCode="m/d/yyyy">
                  <c:v>45937</c:v>
                </c:pt>
                <c:pt idx="237" formatCode="m/d/yyyy">
                  <c:v>45936</c:v>
                </c:pt>
                <c:pt idx="238" formatCode="m/d/yyyy">
                  <c:v>45933</c:v>
                </c:pt>
                <c:pt idx="239" formatCode="m/d/yyyy">
                  <c:v>45932</c:v>
                </c:pt>
                <c:pt idx="240" formatCode="m/d/yyyy">
                  <c:v>45931</c:v>
                </c:pt>
                <c:pt idx="241" formatCode="m/d/yyyy">
                  <c:v>45930</c:v>
                </c:pt>
                <c:pt idx="242" formatCode="m/d/yyyy">
                  <c:v>45929</c:v>
                </c:pt>
                <c:pt idx="243" formatCode="m/d/yyyy">
                  <c:v>45926</c:v>
                </c:pt>
                <c:pt idx="244" formatCode="m/d/yyyy">
                  <c:v>45925</c:v>
                </c:pt>
                <c:pt idx="245" formatCode="m/d/yyyy">
                  <c:v>45924</c:v>
                </c:pt>
                <c:pt idx="246" formatCode="m/d/yyyy">
                  <c:v>45923</c:v>
                </c:pt>
                <c:pt idx="247" formatCode="m/d/yyyy">
                  <c:v>45922</c:v>
                </c:pt>
                <c:pt idx="248" formatCode="m/d/yyyy">
                  <c:v>45919</c:v>
                </c:pt>
                <c:pt idx="249" formatCode="m/d/yyyy">
                  <c:v>45918</c:v>
                </c:pt>
                <c:pt idx="250" formatCode="m/d/yyyy">
                  <c:v>45917</c:v>
                </c:pt>
                <c:pt idx="251" formatCode="m/d/yyyy">
                  <c:v>45916</c:v>
                </c:pt>
                <c:pt idx="252" formatCode="m/d/yyyy">
                  <c:v>45915</c:v>
                </c:pt>
                <c:pt idx="253" formatCode="m/d/yyyy">
                  <c:v>45912</c:v>
                </c:pt>
                <c:pt idx="254" formatCode="m/d/yyyy">
                  <c:v>45911</c:v>
                </c:pt>
                <c:pt idx="255" formatCode="m/d/yyyy">
                  <c:v>45910</c:v>
                </c:pt>
                <c:pt idx="256" formatCode="m/d/yyyy">
                  <c:v>45909</c:v>
                </c:pt>
                <c:pt idx="257" formatCode="m/d/yyyy">
                  <c:v>45908</c:v>
                </c:pt>
                <c:pt idx="258" formatCode="m/d/yyyy">
                  <c:v>45905</c:v>
                </c:pt>
                <c:pt idx="259" formatCode="m/d/yyyy">
                  <c:v>45904</c:v>
                </c:pt>
                <c:pt idx="260" formatCode="m/d/yyyy">
                  <c:v>45903</c:v>
                </c:pt>
                <c:pt idx="261" formatCode="m/d/yyyy">
                  <c:v>45898</c:v>
                </c:pt>
                <c:pt idx="262" formatCode="m/d/yyyy">
                  <c:v>45897</c:v>
                </c:pt>
                <c:pt idx="263" formatCode="m/d/yyyy">
                  <c:v>45896</c:v>
                </c:pt>
                <c:pt idx="264" formatCode="m/d/yyyy">
                  <c:v>45895</c:v>
                </c:pt>
                <c:pt idx="265" formatCode="m/d/yyyy">
                  <c:v>45894</c:v>
                </c:pt>
                <c:pt idx="266" formatCode="m/d/yyyy">
                  <c:v>45891</c:v>
                </c:pt>
                <c:pt idx="267" formatCode="m/d/yyyy">
                  <c:v>45890</c:v>
                </c:pt>
                <c:pt idx="268" formatCode="m/d/yyyy">
                  <c:v>45889</c:v>
                </c:pt>
                <c:pt idx="269" formatCode="m/d/yyyy">
                  <c:v>45888</c:v>
                </c:pt>
                <c:pt idx="270" formatCode="m/d/yyyy">
                  <c:v>45887</c:v>
                </c:pt>
                <c:pt idx="271" formatCode="m/d/yyyy">
                  <c:v>45884</c:v>
                </c:pt>
                <c:pt idx="272" formatCode="m/d/yyyy">
                  <c:v>45883</c:v>
                </c:pt>
                <c:pt idx="273" formatCode="m/d/yyyy">
                  <c:v>45882</c:v>
                </c:pt>
                <c:pt idx="274" formatCode="m/d/yyyy">
                  <c:v>45881</c:v>
                </c:pt>
                <c:pt idx="275" formatCode="m/d/yyyy">
                  <c:v>45880</c:v>
                </c:pt>
                <c:pt idx="276" formatCode="m/d/yyyy">
                  <c:v>45877</c:v>
                </c:pt>
                <c:pt idx="277" formatCode="m/d/yyyy">
                  <c:v>45876</c:v>
                </c:pt>
                <c:pt idx="278" formatCode="m/d/yyyy">
                  <c:v>45875</c:v>
                </c:pt>
                <c:pt idx="279" formatCode="m/d/yyyy">
                  <c:v>45874</c:v>
                </c:pt>
                <c:pt idx="280" formatCode="m/d/yyyy">
                  <c:v>45873</c:v>
                </c:pt>
                <c:pt idx="281" formatCode="m/d/yyyy">
                  <c:v>45870</c:v>
                </c:pt>
                <c:pt idx="282" formatCode="m/d/yyyy">
                  <c:v>45869</c:v>
                </c:pt>
                <c:pt idx="283" formatCode="m/d/yyyy">
                  <c:v>45868</c:v>
                </c:pt>
                <c:pt idx="284" formatCode="m/d/yyyy">
                  <c:v>45867</c:v>
                </c:pt>
                <c:pt idx="285" formatCode="m/d/yyyy">
                  <c:v>45866</c:v>
                </c:pt>
                <c:pt idx="286" formatCode="m/d/yyyy">
                  <c:v>45863</c:v>
                </c:pt>
                <c:pt idx="287" formatCode="m/d/yyyy">
                  <c:v>45862</c:v>
                </c:pt>
                <c:pt idx="288" formatCode="m/d/yyyy">
                  <c:v>45861</c:v>
                </c:pt>
                <c:pt idx="289" formatCode="m/d/yyyy">
                  <c:v>45860</c:v>
                </c:pt>
                <c:pt idx="290" formatCode="m/d/yyyy">
                  <c:v>45859</c:v>
                </c:pt>
                <c:pt idx="291" formatCode="m/d/yyyy">
                  <c:v>45856</c:v>
                </c:pt>
                <c:pt idx="292" formatCode="m/d/yyyy">
                  <c:v>45855</c:v>
                </c:pt>
                <c:pt idx="293" formatCode="m/d/yyyy">
                  <c:v>45854</c:v>
                </c:pt>
                <c:pt idx="294" formatCode="m/d/yyyy">
                  <c:v>45853</c:v>
                </c:pt>
                <c:pt idx="295" formatCode="m/d/yyyy">
                  <c:v>45852</c:v>
                </c:pt>
                <c:pt idx="296" formatCode="m/d/yyyy">
                  <c:v>45849</c:v>
                </c:pt>
                <c:pt idx="297" formatCode="m/d/yyyy">
                  <c:v>45848</c:v>
                </c:pt>
                <c:pt idx="298" formatCode="m/d/yyyy">
                  <c:v>45847</c:v>
                </c:pt>
                <c:pt idx="299" formatCode="m/d/yyyy">
                  <c:v>45846</c:v>
                </c:pt>
                <c:pt idx="300" formatCode="m/d/yyyy">
                  <c:v>45845</c:v>
                </c:pt>
                <c:pt idx="301" formatCode="m/d/yyyy">
                  <c:v>45842</c:v>
                </c:pt>
                <c:pt idx="302" formatCode="m/d/yyyy">
                  <c:v>45841</c:v>
                </c:pt>
                <c:pt idx="303" formatCode="m/d/yyyy">
                  <c:v>45840</c:v>
                </c:pt>
                <c:pt idx="304" formatCode="m/d/yyyy">
                  <c:v>45839</c:v>
                </c:pt>
                <c:pt idx="305" formatCode="m/d/yyyy">
                  <c:v>45838</c:v>
                </c:pt>
                <c:pt idx="306" formatCode="m/d/yyyy">
                  <c:v>45835</c:v>
                </c:pt>
                <c:pt idx="307" formatCode="m/d/yyyy">
                  <c:v>45834</c:v>
                </c:pt>
                <c:pt idx="308" formatCode="m/d/yyyy">
                  <c:v>45833</c:v>
                </c:pt>
                <c:pt idx="309" formatCode="m/d/yyyy">
                  <c:v>45832</c:v>
                </c:pt>
                <c:pt idx="310" formatCode="m/d/yyyy">
                  <c:v>45831</c:v>
                </c:pt>
                <c:pt idx="311" formatCode="m/d/yyyy">
                  <c:v>45828</c:v>
                </c:pt>
                <c:pt idx="312" formatCode="m/d/yyyy">
                  <c:v>45827</c:v>
                </c:pt>
                <c:pt idx="313" formatCode="m/d/yyyy">
                  <c:v>45826</c:v>
                </c:pt>
                <c:pt idx="314" formatCode="m/d/yyyy">
                  <c:v>45825</c:v>
                </c:pt>
                <c:pt idx="315" formatCode="m/d/yyyy">
                  <c:v>45824</c:v>
                </c:pt>
                <c:pt idx="316" formatCode="m/d/yyyy">
                  <c:v>45821</c:v>
                </c:pt>
                <c:pt idx="317" formatCode="m/d/yyyy">
                  <c:v>45820</c:v>
                </c:pt>
                <c:pt idx="318" formatCode="m/d/yyyy">
                  <c:v>45819</c:v>
                </c:pt>
                <c:pt idx="319" formatCode="m/d/yyyy">
                  <c:v>45818</c:v>
                </c:pt>
                <c:pt idx="320" formatCode="m/d/yyyy">
                  <c:v>45817</c:v>
                </c:pt>
                <c:pt idx="321" formatCode="m/d/yyyy">
                  <c:v>45814</c:v>
                </c:pt>
                <c:pt idx="322" formatCode="m/d/yyyy">
                  <c:v>45813</c:v>
                </c:pt>
                <c:pt idx="323" formatCode="m/d/yyyy">
                  <c:v>45812</c:v>
                </c:pt>
                <c:pt idx="324" formatCode="m/d/yyyy">
                  <c:v>45811</c:v>
                </c:pt>
                <c:pt idx="325" formatCode="m/d/yyyy">
                  <c:v>45810</c:v>
                </c:pt>
                <c:pt idx="326" formatCode="m/d/yyyy">
                  <c:v>45807</c:v>
                </c:pt>
                <c:pt idx="327" formatCode="m/d/yyyy">
                  <c:v>45806</c:v>
                </c:pt>
                <c:pt idx="328" formatCode="m/d/yyyy">
                  <c:v>45805</c:v>
                </c:pt>
                <c:pt idx="329" formatCode="m/d/yyyy">
                  <c:v>45804</c:v>
                </c:pt>
                <c:pt idx="330" formatCode="m/d/yyyy">
                  <c:v>45803</c:v>
                </c:pt>
                <c:pt idx="331" formatCode="m/d/yyyy">
                  <c:v>45800</c:v>
                </c:pt>
                <c:pt idx="332" formatCode="m/d/yyyy">
                  <c:v>45799</c:v>
                </c:pt>
                <c:pt idx="333" formatCode="m/d/yyyy">
                  <c:v>45798</c:v>
                </c:pt>
                <c:pt idx="334" formatCode="m/d/yyyy">
                  <c:v>45797</c:v>
                </c:pt>
                <c:pt idx="335" formatCode="m/d/yyyy">
                  <c:v>45796</c:v>
                </c:pt>
                <c:pt idx="336" formatCode="m/d/yyyy">
                  <c:v>45793</c:v>
                </c:pt>
                <c:pt idx="337" formatCode="m/d/yyyy">
                  <c:v>45792</c:v>
                </c:pt>
                <c:pt idx="338" formatCode="m/d/yyyy">
                  <c:v>45791</c:v>
                </c:pt>
                <c:pt idx="339" formatCode="m/d/yyyy">
                  <c:v>45790</c:v>
                </c:pt>
                <c:pt idx="340" formatCode="m/d/yyyy">
                  <c:v>45789</c:v>
                </c:pt>
                <c:pt idx="341" formatCode="m/d/yyyy">
                  <c:v>45786</c:v>
                </c:pt>
                <c:pt idx="342" formatCode="m/d/yyyy">
                  <c:v>45785</c:v>
                </c:pt>
                <c:pt idx="343" formatCode="m/d/yyyy">
                  <c:v>45784</c:v>
                </c:pt>
                <c:pt idx="344" formatCode="m/d/yyyy">
                  <c:v>45783</c:v>
                </c:pt>
                <c:pt idx="345" formatCode="m/d/yyyy">
                  <c:v>45782</c:v>
                </c:pt>
                <c:pt idx="346" formatCode="m/d/yyyy">
                  <c:v>45776</c:v>
                </c:pt>
                <c:pt idx="347" formatCode="m/d/yyyy">
                  <c:v>45775</c:v>
                </c:pt>
                <c:pt idx="348" formatCode="m/d/yyyy">
                  <c:v>45772</c:v>
                </c:pt>
                <c:pt idx="349" formatCode="m/d/yyyy">
                  <c:v>45771</c:v>
                </c:pt>
                <c:pt idx="350" formatCode="m/d/yyyy">
                  <c:v>45770</c:v>
                </c:pt>
                <c:pt idx="351" formatCode="m/d/yyyy">
                  <c:v>45769</c:v>
                </c:pt>
                <c:pt idx="352" formatCode="m/d/yyyy">
                  <c:v>45768</c:v>
                </c:pt>
                <c:pt idx="353" formatCode="m/d/yyyy">
                  <c:v>45765</c:v>
                </c:pt>
                <c:pt idx="354" formatCode="m/d/yyyy">
                  <c:v>45764</c:v>
                </c:pt>
                <c:pt idx="355" formatCode="m/d/yyyy">
                  <c:v>45763</c:v>
                </c:pt>
                <c:pt idx="356" formatCode="m/d/yyyy">
                  <c:v>45762</c:v>
                </c:pt>
                <c:pt idx="357" formatCode="m/d/yyyy">
                  <c:v>45761</c:v>
                </c:pt>
                <c:pt idx="358" formatCode="m/d/yyyy">
                  <c:v>45758</c:v>
                </c:pt>
                <c:pt idx="359" formatCode="m/d/yyyy">
                  <c:v>45757</c:v>
                </c:pt>
                <c:pt idx="360" formatCode="m/d/yyyy">
                  <c:v>45756</c:v>
                </c:pt>
                <c:pt idx="361" formatCode="m/d/yyyy">
                  <c:v>45755</c:v>
                </c:pt>
                <c:pt idx="362" formatCode="m/d/yyyy">
                  <c:v>45751</c:v>
                </c:pt>
                <c:pt idx="363" formatCode="m/d/yyyy">
                  <c:v>45750</c:v>
                </c:pt>
                <c:pt idx="364" formatCode="m/d/yyyy">
                  <c:v>45749</c:v>
                </c:pt>
                <c:pt idx="365" formatCode="m/d/yyyy">
                  <c:v>45748</c:v>
                </c:pt>
                <c:pt idx="366" formatCode="m/d/yyyy">
                  <c:v>45747</c:v>
                </c:pt>
                <c:pt idx="367" formatCode="m/d/yyyy">
                  <c:v>45744</c:v>
                </c:pt>
                <c:pt idx="368" formatCode="m/d/yyyy">
                  <c:v>45743</c:v>
                </c:pt>
                <c:pt idx="369" formatCode="m/d/yyyy">
                  <c:v>45742</c:v>
                </c:pt>
                <c:pt idx="370" formatCode="m/d/yyyy">
                  <c:v>45741</c:v>
                </c:pt>
                <c:pt idx="371" formatCode="m/d/yyyy">
                  <c:v>45740</c:v>
                </c:pt>
                <c:pt idx="372" formatCode="m/d/yyyy">
                  <c:v>45737</c:v>
                </c:pt>
                <c:pt idx="373" formatCode="m/d/yyyy">
                  <c:v>45736</c:v>
                </c:pt>
                <c:pt idx="374" formatCode="m/d/yyyy">
                  <c:v>45735</c:v>
                </c:pt>
                <c:pt idx="375" formatCode="m/d/yyyy">
                  <c:v>45734</c:v>
                </c:pt>
                <c:pt idx="376" formatCode="m/d/yyyy">
                  <c:v>45733</c:v>
                </c:pt>
                <c:pt idx="377" formatCode="m/d/yyyy">
                  <c:v>45730</c:v>
                </c:pt>
                <c:pt idx="378" formatCode="m/d/yyyy">
                  <c:v>45729</c:v>
                </c:pt>
                <c:pt idx="379" formatCode="m/d/yyyy">
                  <c:v>45728</c:v>
                </c:pt>
                <c:pt idx="380" formatCode="m/d/yyyy">
                  <c:v>45727</c:v>
                </c:pt>
                <c:pt idx="381" formatCode="m/d/yyyy">
                  <c:v>45726</c:v>
                </c:pt>
                <c:pt idx="382" formatCode="m/d/yyyy">
                  <c:v>45723</c:v>
                </c:pt>
                <c:pt idx="383" formatCode="m/d/yyyy">
                  <c:v>45722</c:v>
                </c:pt>
                <c:pt idx="384" formatCode="m/d/yyyy">
                  <c:v>45721</c:v>
                </c:pt>
                <c:pt idx="385" formatCode="m/d/yyyy">
                  <c:v>45720</c:v>
                </c:pt>
                <c:pt idx="386" formatCode="m/d/yyyy">
                  <c:v>45719</c:v>
                </c:pt>
                <c:pt idx="387" formatCode="m/d/yyyy">
                  <c:v>45716</c:v>
                </c:pt>
                <c:pt idx="388" formatCode="m/d/yyyy">
                  <c:v>45715</c:v>
                </c:pt>
                <c:pt idx="389" formatCode="m/d/yyyy">
                  <c:v>45714</c:v>
                </c:pt>
                <c:pt idx="390" formatCode="m/d/yyyy">
                  <c:v>45713</c:v>
                </c:pt>
                <c:pt idx="391" formatCode="m/d/yyyy">
                  <c:v>45712</c:v>
                </c:pt>
              </c:numCache>
            </c:numRef>
          </c:cat>
          <c:val>
            <c:numRef>
              <c:f>Sheet1!$AL$2:$AL$393</c:f>
              <c:numCache>
                <c:formatCode>#,##0.00</c:formatCode>
                <c:ptCount val="392"/>
                <c:pt idx="1">
                  <c:v>1339.4362057200874</c:v>
                </c:pt>
                <c:pt idx="2">
                  <c:v>1344.3042351701852</c:v>
                </c:pt>
                <c:pt idx="3">
                  <c:v>1332.7753076914196</c:v>
                </c:pt>
                <c:pt idx="4">
                  <c:v>1332.3641881304502</c:v>
                </c:pt>
                <c:pt idx="5">
                  <c:v>1309.269976240216</c:v>
                </c:pt>
                <c:pt idx="6">
                  <c:v>1313.3961413114114</c:v>
                </c:pt>
                <c:pt idx="7">
                  <c:v>1337.5444865787013</c:v>
                </c:pt>
                <c:pt idx="8">
                  <c:v>1336.4974980871359</c:v>
                </c:pt>
                <c:pt idx="9">
                  <c:v>1335.5339720564423</c:v>
                </c:pt>
                <c:pt idx="10">
                  <c:v>1332.7228277370359</c:v>
                </c:pt>
                <c:pt idx="11">
                  <c:v>1346.7551364605195</c:v>
                </c:pt>
                <c:pt idx="12">
                  <c:v>1343.463730041228</c:v>
                </c:pt>
                <c:pt idx="13">
                  <c:v>1361.8870814025722</c:v>
                </c:pt>
                <c:pt idx="14">
                  <c:v>1360.054247125669</c:v>
                </c:pt>
                <c:pt idx="15">
                  <c:v>1360.8077020320411</c:v>
                </c:pt>
                <c:pt idx="16">
                  <c:v>1345.8279387418745</c:v>
                </c:pt>
                <c:pt idx="17">
                  <c:v>1352.9572126696171</c:v>
                </c:pt>
                <c:pt idx="18">
                  <c:v>1350.4042335277984</c:v>
                </c:pt>
                <c:pt idx="19">
                  <c:v>1326.3059105703414</c:v>
                </c:pt>
                <c:pt idx="20">
                  <c:v>1322.6998992971701</c:v>
                </c:pt>
                <c:pt idx="21">
                  <c:v>1327.6825308124385</c:v>
                </c:pt>
                <c:pt idx="22">
                  <c:v>1328.0498313322137</c:v>
                </c:pt>
                <c:pt idx="23">
                  <c:v>1326.2014996768125</c:v>
                </c:pt>
                <c:pt idx="24">
                  <c:v>1343.2925631357386</c:v>
                </c:pt>
                <c:pt idx="25">
                  <c:v>1354.2650899815599</c:v>
                </c:pt>
                <c:pt idx="26">
                  <c:v>1348.6716668110339</c:v>
                </c:pt>
                <c:pt idx="27">
                  <c:v>1352.8005635418613</c:v>
                </c:pt>
                <c:pt idx="28">
                  <c:v>1331.3155586230312</c:v>
                </c:pt>
                <c:pt idx="29">
                  <c:v>1314.0365668048387</c:v>
                </c:pt>
                <c:pt idx="30">
                  <c:v>1324.2067073572121</c:v>
                </c:pt>
                <c:pt idx="31">
                  <c:v>1328.2771047602234</c:v>
                </c:pt>
                <c:pt idx="32">
                  <c:v>1326.933244617228</c:v>
                </c:pt>
                <c:pt idx="33">
                  <c:v>1298.7100733086327</c:v>
                </c:pt>
                <c:pt idx="34">
                  <c:v>1298.4058848391583</c:v>
                </c:pt>
                <c:pt idx="35">
                  <c:v>1267.9530924200694</c:v>
                </c:pt>
                <c:pt idx="36">
                  <c:v>1261.6338297209145</c:v>
                </c:pt>
                <c:pt idx="37">
                  <c:v>1251.4559584571134</c:v>
                </c:pt>
                <c:pt idx="38">
                  <c:v>1269.6215808096088</c:v>
                </c:pt>
                <c:pt idx="39">
                  <c:v>1279.4953127304589</c:v>
                </c:pt>
                <c:pt idx="40">
                  <c:v>1273.1338610503396</c:v>
                </c:pt>
                <c:pt idx="41">
                  <c:v>1299.9636307055598</c:v>
                </c:pt>
                <c:pt idx="42">
                  <c:v>1307.9712554819143</c:v>
                </c:pt>
                <c:pt idx="43">
                  <c:v>1347.3437294341711</c:v>
                </c:pt>
                <c:pt idx="44">
                  <c:v>1356.2066389381644</c:v>
                </c:pt>
                <c:pt idx="45">
                  <c:v>1349.9413955239042</c:v>
                </c:pt>
                <c:pt idx="46">
                  <c:v>1366.6455030355487</c:v>
                </c:pt>
                <c:pt idx="47">
                  <c:v>1353.9941340548917</c:v>
                </c:pt>
                <c:pt idx="48">
                  <c:v>1375.8721456420913</c:v>
                </c:pt>
                <c:pt idx="49">
                  <c:v>1389.4084750264954</c:v>
                </c:pt>
                <c:pt idx="50">
                  <c:v>1401.3932917116226</c:v>
                </c:pt>
                <c:pt idx="51">
                  <c:v>1396.9702976181004</c:v>
                </c:pt>
                <c:pt idx="52">
                  <c:v>1388.3527663691007</c:v>
                </c:pt>
                <c:pt idx="53">
                  <c:v>1407.8255700244963</c:v>
                </c:pt>
                <c:pt idx="54">
                  <c:v>1412.6824121304098</c:v>
                </c:pt>
                <c:pt idx="55">
                  <c:v>1419.703430227657</c:v>
                </c:pt>
                <c:pt idx="56">
                  <c:v>1404.3859446210467</c:v>
                </c:pt>
                <c:pt idx="57">
                  <c:v>1405.3659446009178</c:v>
                </c:pt>
                <c:pt idx="58">
                  <c:v>1394.0562651842806</c:v>
                </c:pt>
                <c:pt idx="59">
                  <c:v>1395.4117951216369</c:v>
                </c:pt>
                <c:pt idx="60">
                  <c:v>1397.384771043251</c:v>
                </c:pt>
                <c:pt idx="61">
                  <c:v>1394.2159250664752</c:v>
                </c:pt>
                <c:pt idx="62">
                  <c:v>1397.6347965196833</c:v>
                </c:pt>
                <c:pt idx="63">
                  <c:v>1397.3157412472681</c:v>
                </c:pt>
                <c:pt idx="64">
                  <c:v>1403.8399819821489</c:v>
                </c:pt>
                <c:pt idx="65">
                  <c:v>1411.1491742738767</c:v>
                </c:pt>
                <c:pt idx="66">
                  <c:v>1408.0865846217009</c:v>
                </c:pt>
                <c:pt idx="67">
                  <c:v>1402.3991581788341</c:v>
                </c:pt>
                <c:pt idx="68">
                  <c:v>1388.3372540060759</c:v>
                </c:pt>
                <c:pt idx="69">
                  <c:v>1388.0798751013278</c:v>
                </c:pt>
                <c:pt idx="70">
                  <c:v>1390.903725955555</c:v>
                </c:pt>
                <c:pt idx="71">
                  <c:v>1385.7662562203122</c:v>
                </c:pt>
                <c:pt idx="72">
                  <c:v>1379.843684770723</c:v>
                </c:pt>
                <c:pt idx="73">
                  <c:v>1402.334744996012</c:v>
                </c:pt>
                <c:pt idx="74">
                  <c:v>1408.156299293697</c:v>
                </c:pt>
                <c:pt idx="75">
                  <c:v>1401.2560308080654</c:v>
                </c:pt>
                <c:pt idx="76">
                  <c:v>1394.2749360906378</c:v>
                </c:pt>
                <c:pt idx="77">
                  <c:v>1411.1303139732831</c:v>
                </c:pt>
                <c:pt idx="78">
                  <c:v>1415.1741664513297</c:v>
                </c:pt>
                <c:pt idx="79">
                  <c:v>1415.3370373568371</c:v>
                </c:pt>
                <c:pt idx="80">
                  <c:v>1435.564892842229</c:v>
                </c:pt>
                <c:pt idx="81">
                  <c:v>1433.9534318062081</c:v>
                </c:pt>
                <c:pt idx="82">
                  <c:v>1422.0428262570065</c:v>
                </c:pt>
                <c:pt idx="83">
                  <c:v>1422.5509973248618</c:v>
                </c:pt>
                <c:pt idx="84">
                  <c:v>1432.9432568635566</c:v>
                </c:pt>
                <c:pt idx="85">
                  <c:v>1436.5373126088264</c:v>
                </c:pt>
                <c:pt idx="86">
                  <c:v>1441.4039201178562</c:v>
                </c:pt>
                <c:pt idx="87">
                  <c:v>1459.7933218945946</c:v>
                </c:pt>
                <c:pt idx="88">
                  <c:v>1445.4133616196773</c:v>
                </c:pt>
                <c:pt idx="89">
                  <c:v>1446.6048375182104</c:v>
                </c:pt>
                <c:pt idx="90">
                  <c:v>1438.2460481297965</c:v>
                </c:pt>
                <c:pt idx="91">
                  <c:v>1431.6679300315152</c:v>
                </c:pt>
                <c:pt idx="92">
                  <c:v>1424.821703222362</c:v>
                </c:pt>
                <c:pt idx="93">
                  <c:v>1435.1411271529073</c:v>
                </c:pt>
                <c:pt idx="94">
                  <c:v>1433.9248420477991</c:v>
                </c:pt>
                <c:pt idx="95">
                  <c:v>1433.0934578437705</c:v>
                </c:pt>
                <c:pt idx="96">
                  <c:v>1418.0012432409167</c:v>
                </c:pt>
                <c:pt idx="97">
                  <c:v>1419.210761201716</c:v>
                </c:pt>
                <c:pt idx="98">
                  <c:v>1412.9990588726541</c:v>
                </c:pt>
                <c:pt idx="99">
                  <c:v>1412.8947980546689</c:v>
                </c:pt>
                <c:pt idx="100">
                  <c:v>1422.7295555623705</c:v>
                </c:pt>
                <c:pt idx="101">
                  <c:v>1428.2297074899766</c:v>
                </c:pt>
                <c:pt idx="102">
                  <c:v>1425.3573677561728</c:v>
                </c:pt>
                <c:pt idx="103">
                  <c:v>1427.8453371019141</c:v>
                </c:pt>
                <c:pt idx="104">
                  <c:v>1435.8063464850445</c:v>
                </c:pt>
                <c:pt idx="105">
                  <c:v>1430.4455670916207</c:v>
                </c:pt>
                <c:pt idx="106">
                  <c:v>1422.6591357598957</c:v>
                </c:pt>
                <c:pt idx="107">
                  <c:v>1429.7734394310487</c:v>
                </c:pt>
                <c:pt idx="108">
                  <c:v>1432.7506714921947</c:v>
                </c:pt>
                <c:pt idx="109">
                  <c:v>1430.3328742636149</c:v>
                </c:pt>
                <c:pt idx="110">
                  <c:v>1436.1875646726983</c:v>
                </c:pt>
                <c:pt idx="111">
                  <c:v>1426.4921840445845</c:v>
                </c:pt>
                <c:pt idx="112">
                  <c:v>1436.7499783664211</c:v>
                </c:pt>
                <c:pt idx="113">
                  <c:v>1383.0339531240143</c:v>
                </c:pt>
                <c:pt idx="114">
                  <c:v>1381.4389922579371</c:v>
                </c:pt>
                <c:pt idx="115">
                  <c:v>1388.967320047185</c:v>
                </c:pt>
                <c:pt idx="116">
                  <c:v>1402.0696723842771</c:v>
                </c:pt>
                <c:pt idx="117">
                  <c:v>1414.9119120035264</c:v>
                </c:pt>
                <c:pt idx="118">
                  <c:v>1403.575379830226</c:v>
                </c:pt>
                <c:pt idx="119">
                  <c:v>1400.6833017878698</c:v>
                </c:pt>
                <c:pt idx="120">
                  <c:v>1405.9527423793995</c:v>
                </c:pt>
                <c:pt idx="121">
                  <c:v>1384.2271070537658</c:v>
                </c:pt>
                <c:pt idx="122">
                  <c:v>1396.5603463315465</c:v>
                </c:pt>
                <c:pt idx="123">
                  <c:v>1367.065216372059</c:v>
                </c:pt>
                <c:pt idx="124">
                  <c:v>1342.078647401577</c:v>
                </c:pt>
                <c:pt idx="125">
                  <c:v>1380.9745423878701</c:v>
                </c:pt>
                <c:pt idx="126">
                  <c:v>1413.2476328466371</c:v>
                </c:pt>
                <c:pt idx="127">
                  <c:v>1427.7677188626853</c:v>
                </c:pt>
                <c:pt idx="128">
                  <c:v>1424.0745784469946</c:v>
                </c:pt>
                <c:pt idx="129">
                  <c:v>1411.565004649389</c:v>
                </c:pt>
                <c:pt idx="130">
                  <c:v>1415.7864160826659</c:v>
                </c:pt>
                <c:pt idx="131">
                  <c:v>1429.6382141457761</c:v>
                </c:pt>
                <c:pt idx="132">
                  <c:v>1447.7155290094906</c:v>
                </c:pt>
                <c:pt idx="133">
                  <c:v>1410.961717822805</c:v>
                </c:pt>
                <c:pt idx="134">
                  <c:v>1382.4487697286086</c:v>
                </c:pt>
                <c:pt idx="135">
                  <c:v>1471.0644960097986</c:v>
                </c:pt>
                <c:pt idx="136">
                  <c:v>1498.2532869037636</c:v>
                </c:pt>
                <c:pt idx="137">
                  <c:v>1524.3439215774836</c:v>
                </c:pt>
                <c:pt idx="138">
                  <c:v>1519.5642689183237</c:v>
                </c:pt>
                <c:pt idx="139">
                  <c:v>1524.9873784681777</c:v>
                </c:pt>
                <c:pt idx="140">
                  <c:v>1542.9310637836124</c:v>
                </c:pt>
                <c:pt idx="141">
                  <c:v>1548.0076035944744</c:v>
                </c:pt>
                <c:pt idx="142">
                  <c:v>1548.4737107751625</c:v>
                </c:pt>
                <c:pt idx="143">
                  <c:v>1542.2722847350055</c:v>
                </c:pt>
                <c:pt idx="144">
                  <c:v>1535.3372876580916</c:v>
                </c:pt>
                <c:pt idx="145">
                  <c:v>1504.2846220803979</c:v>
                </c:pt>
                <c:pt idx="146">
                  <c:v>1495.9240110473702</c:v>
                </c:pt>
                <c:pt idx="147">
                  <c:v>1497.3623472320876</c:v>
                </c:pt>
                <c:pt idx="148">
                  <c:v>1472.0215955280642</c:v>
                </c:pt>
                <c:pt idx="149">
                  <c:v>1494.2824034501459</c:v>
                </c:pt>
                <c:pt idx="150">
                  <c:v>1494.971537550412</c:v>
                </c:pt>
                <c:pt idx="151">
                  <c:v>1521.922186835983</c:v>
                </c:pt>
                <c:pt idx="152">
                  <c:v>1550.7438639712377</c:v>
                </c:pt>
                <c:pt idx="153">
                  <c:v>1551.9621446978431</c:v>
                </c:pt>
                <c:pt idx="154">
                  <c:v>1544.0300803385278</c:v>
                </c:pt>
                <c:pt idx="155">
                  <c:v>1540.7728073946168</c:v>
                </c:pt>
                <c:pt idx="156">
                  <c:v>1526.1246149650958</c:v>
                </c:pt>
                <c:pt idx="157">
                  <c:v>1517.2403679274162</c:v>
                </c:pt>
                <c:pt idx="158">
                  <c:v>1520.8210245550208</c:v>
                </c:pt>
                <c:pt idx="159">
                  <c:v>1511.4654138935891</c:v>
                </c:pt>
                <c:pt idx="160">
                  <c:v>1525.5396021998654</c:v>
                </c:pt>
                <c:pt idx="161">
                  <c:v>1547.2608965520508</c:v>
                </c:pt>
                <c:pt idx="162">
                  <c:v>1549.2595496913736</c:v>
                </c:pt>
                <c:pt idx="163">
                  <c:v>1556.738013288151</c:v>
                </c:pt>
                <c:pt idx="164">
                  <c:v>1555.04837471683</c:v>
                </c:pt>
                <c:pt idx="165">
                  <c:v>1542.0230074057392</c:v>
                </c:pt>
                <c:pt idx="166">
                  <c:v>1543.1687702775976</c:v>
                </c:pt>
                <c:pt idx="167">
                  <c:v>1555.1788381175058</c:v>
                </c:pt>
                <c:pt idx="168">
                  <c:v>1542.4647866351702</c:v>
                </c:pt>
                <c:pt idx="169">
                  <c:v>1528.2650227900797</c:v>
                </c:pt>
                <c:pt idx="170">
                  <c:v>1488.8179673720094</c:v>
                </c:pt>
                <c:pt idx="171">
                  <c:v>1475.459512294419</c:v>
                </c:pt>
                <c:pt idx="172">
                  <c:v>1464.6570678005291</c:v>
                </c:pt>
                <c:pt idx="173">
                  <c:v>1435.1470706000403</c:v>
                </c:pt>
                <c:pt idx="174">
                  <c:v>1417.6575224839862</c:v>
                </c:pt>
                <c:pt idx="175">
                  <c:v>1430.2467303271922</c:v>
                </c:pt>
                <c:pt idx="176">
                  <c:v>1430.8886073763715</c:v>
                </c:pt>
                <c:pt idx="177">
                  <c:v>1422.7474973880908</c:v>
                </c:pt>
                <c:pt idx="178">
                  <c:v>1413.5321592908485</c:v>
                </c:pt>
                <c:pt idx="179">
                  <c:v>1415.0902991544292</c:v>
                </c:pt>
                <c:pt idx="180">
                  <c:v>1424.9456067208707</c:v>
                </c:pt>
                <c:pt idx="181">
                  <c:v>1421.0608962758033</c:v>
                </c:pt>
                <c:pt idx="182">
                  <c:v>1428.1769646860321</c:v>
                </c:pt>
                <c:pt idx="183">
                  <c:v>1406.5948035721835</c:v>
                </c:pt>
                <c:pt idx="184">
                  <c:v>1397.7360640540412</c:v>
                </c:pt>
                <c:pt idx="185">
                  <c:v>1394.7577067430923</c:v>
                </c:pt>
                <c:pt idx="186">
                  <c:v>1401.6604164820919</c:v>
                </c:pt>
                <c:pt idx="187">
                  <c:v>1373.326830658948</c:v>
                </c:pt>
                <c:pt idx="188">
                  <c:v>1369.2349414935939</c:v>
                </c:pt>
                <c:pt idx="189">
                  <c:v>1407.8606926462426</c:v>
                </c:pt>
                <c:pt idx="190">
                  <c:v>1418.6667164259743</c:v>
                </c:pt>
                <c:pt idx="191">
                  <c:v>1419.7775306603007</c:v>
                </c:pt>
                <c:pt idx="192">
                  <c:v>1434.888809329771</c:v>
                </c:pt>
                <c:pt idx="193">
                  <c:v>1442.9447370337261</c:v>
                </c:pt>
                <c:pt idx="194">
                  <c:v>1457.1945283174723</c:v>
                </c:pt>
                <c:pt idx="195">
                  <c:v>1448.9147749058991</c:v>
                </c:pt>
                <c:pt idx="196">
                  <c:v>1427.5973632991017</c:v>
                </c:pt>
                <c:pt idx="197">
                  <c:v>1418.5473454961523</c:v>
                </c:pt>
                <c:pt idx="198">
                  <c:v>1421.7176138499517</c:v>
                </c:pt>
                <c:pt idx="199">
                  <c:v>1428.724133933626</c:v>
                </c:pt>
                <c:pt idx="200">
                  <c:v>1428.5690619945026</c:v>
                </c:pt>
                <c:pt idx="201">
                  <c:v>1412.3800734014781</c:v>
                </c:pt>
                <c:pt idx="202">
                  <c:v>1423.8670377349872</c:v>
                </c:pt>
                <c:pt idx="203">
                  <c:v>1425.0118733599629</c:v>
                </c:pt>
                <c:pt idx="204">
                  <c:v>1430.0525475723193</c:v>
                </c:pt>
                <c:pt idx="205">
                  <c:v>1430.6200880532206</c:v>
                </c:pt>
                <c:pt idx="206">
                  <c:v>1441.4975730171122</c:v>
                </c:pt>
                <c:pt idx="207">
                  <c:v>1440.5754316240002</c:v>
                </c:pt>
                <c:pt idx="208">
                  <c:v>1427.8602996374088</c:v>
                </c:pt>
                <c:pt idx="209">
                  <c:v>1423.9352044871466</c:v>
                </c:pt>
                <c:pt idx="210">
                  <c:v>1423.02630216127</c:v>
                </c:pt>
                <c:pt idx="211">
                  <c:v>1398.8719252439373</c:v>
                </c:pt>
                <c:pt idx="212">
                  <c:v>1391.6684606939764</c:v>
                </c:pt>
                <c:pt idx="213">
                  <c:v>1403.6862359662177</c:v>
                </c:pt>
                <c:pt idx="214">
                  <c:v>1432.5055531766684</c:v>
                </c:pt>
                <c:pt idx="215">
                  <c:v>1444.6568003040202</c:v>
                </c:pt>
                <c:pt idx="216">
                  <c:v>1445.5053777458866</c:v>
                </c:pt>
                <c:pt idx="217">
                  <c:v>1417.6779360689061</c:v>
                </c:pt>
                <c:pt idx="218">
                  <c:v>1441.8597277192473</c:v>
                </c:pt>
                <c:pt idx="219">
                  <c:v>1455.0869084048234</c:v>
                </c:pt>
                <c:pt idx="220">
                  <c:v>1463.2710331769265</c:v>
                </c:pt>
                <c:pt idx="221">
                  <c:v>1447.1506481137699</c:v>
                </c:pt>
                <c:pt idx="222">
                  <c:v>1424.9238573862694</c:v>
                </c:pt>
                <c:pt idx="223">
                  <c:v>1441.9034549731118</c:v>
                </c:pt>
                <c:pt idx="224">
                  <c:v>1449.144602713654</c:v>
                </c:pt>
                <c:pt idx="225">
                  <c:v>1453.752321826752</c:v>
                </c:pt>
                <c:pt idx="226">
                  <c:v>1442.4318819559842</c:v>
                </c:pt>
                <c:pt idx="227">
                  <c:v>1426.2757126944523</c:v>
                </c:pt>
                <c:pt idx="228">
                  <c:v>1501.6831055007522</c:v>
                </c:pt>
                <c:pt idx="229">
                  <c:v>1521.0902083125602</c:v>
                </c:pt>
                <c:pt idx="230">
                  <c:v>1513.6140065959023</c:v>
                </c:pt>
                <c:pt idx="231">
                  <c:v>1510.169004932357</c:v>
                </c:pt>
                <c:pt idx="232">
                  <c:v>1521.3879439731716</c:v>
                </c:pt>
                <c:pt idx="233">
                  <c:v>1518.3296753886855</c:v>
                </c:pt>
                <c:pt idx="234">
                  <c:v>1507.905999329033</c:v>
                </c:pt>
                <c:pt idx="235">
                  <c:v>1498.7534745634953</c:v>
                </c:pt>
                <c:pt idx="236">
                  <c:v>1489.3843571101856</c:v>
                </c:pt>
                <c:pt idx="237">
                  <c:v>1502.5458585385061</c:v>
                </c:pt>
                <c:pt idx="238">
                  <c:v>1459.8596305438805</c:v>
                </c:pt>
                <c:pt idx="239">
                  <c:v>1473.3634978955652</c:v>
                </c:pt>
                <c:pt idx="240">
                  <c:v>1483.4367342189169</c:v>
                </c:pt>
                <c:pt idx="241">
                  <c:v>1474.5774038845734</c:v>
                </c:pt>
                <c:pt idx="242">
                  <c:v>1483.4482150278427</c:v>
                </c:pt>
                <c:pt idx="243">
                  <c:v>1488.4727651781184</c:v>
                </c:pt>
                <c:pt idx="244">
                  <c:v>1498.7648216127022</c:v>
                </c:pt>
                <c:pt idx="245">
                  <c:v>1499.7680916812699</c:v>
                </c:pt>
                <c:pt idx="246">
                  <c:v>1477.0524743872677</c:v>
                </c:pt>
                <c:pt idx="247">
                  <c:v>1475.5776738445638</c:v>
                </c:pt>
                <c:pt idx="248">
                  <c:v>1493.4921853604526</c:v>
                </c:pt>
                <c:pt idx="249">
                  <c:v>1505.2488045553671</c:v>
                </c:pt>
                <c:pt idx="250">
                  <c:v>1513.1748196207932</c:v>
                </c:pt>
                <c:pt idx="251">
                  <c:v>1530.3394678724537</c:v>
                </c:pt>
                <c:pt idx="252">
                  <c:v>1530.0679224562289</c:v>
                </c:pt>
                <c:pt idx="253">
                  <c:v>1511.4257132895088</c:v>
                </c:pt>
                <c:pt idx="254">
                  <c:v>1502.9555007953575</c:v>
                </c:pt>
                <c:pt idx="255">
                  <c:v>1497.1651815644186</c:v>
                </c:pt>
                <c:pt idx="256">
                  <c:v>1493.2771821678286</c:v>
                </c:pt>
                <c:pt idx="257">
                  <c:v>1485.5584714306215</c:v>
                </c:pt>
                <c:pt idx="258">
                  <c:v>1527.9570067857214</c:v>
                </c:pt>
                <c:pt idx="259">
                  <c:v>1555.2170537816662</c:v>
                </c:pt>
                <c:pt idx="260">
                  <c:v>1539.8845131433054</c:v>
                </c:pt>
                <c:pt idx="261">
                  <c:v>1536.013710316241</c:v>
                </c:pt>
                <c:pt idx="262">
                  <c:v>1532.8075124072404</c:v>
                </c:pt>
                <c:pt idx="263">
                  <c:v>1523.0873461825981</c:v>
                </c:pt>
                <c:pt idx="264">
                  <c:v>1513.8817178986633</c:v>
                </c:pt>
                <c:pt idx="265">
                  <c:v>1471.1827230701733</c:v>
                </c:pt>
                <c:pt idx="266">
                  <c:v>1509.0548348700981</c:v>
                </c:pt>
                <c:pt idx="267">
                  <c:v>1548.9168775240414</c:v>
                </c:pt>
                <c:pt idx="268">
                  <c:v>1526.7053769574868</c:v>
                </c:pt>
                <c:pt idx="269">
                  <c:v>1526.723230570854</c:v>
                </c:pt>
                <c:pt idx="270">
                  <c:v>1508.8517520944692</c:v>
                </c:pt>
                <c:pt idx="271">
                  <c:v>1501.6635746289751</c:v>
                </c:pt>
                <c:pt idx="272">
                  <c:v>1512.5689134556837</c:v>
                </c:pt>
                <c:pt idx="273">
                  <c:v>1486.4406005035357</c:v>
                </c:pt>
                <c:pt idx="274">
                  <c:v>1483.2124837399142</c:v>
                </c:pt>
                <c:pt idx="275">
                  <c:v>1471.4299381506232</c:v>
                </c:pt>
                <c:pt idx="276">
                  <c:v>1456.6160565969296</c:v>
                </c:pt>
                <c:pt idx="277">
                  <c:v>1454.4189538443939</c:v>
                </c:pt>
                <c:pt idx="278">
                  <c:v>1441.057591455477</c:v>
                </c:pt>
                <c:pt idx="279">
                  <c:v>1416.7340849089499</c:v>
                </c:pt>
                <c:pt idx="280">
                  <c:v>1407.5156642348875</c:v>
                </c:pt>
                <c:pt idx="281">
                  <c:v>1384.733117330233</c:v>
                </c:pt>
                <c:pt idx="282">
                  <c:v>1390.4709395061484</c:v>
                </c:pt>
                <c:pt idx="283">
                  <c:v>1389.5294497121888</c:v>
                </c:pt>
                <c:pt idx="284">
                  <c:v>1371.2223173310435</c:v>
                </c:pt>
                <c:pt idx="285">
                  <c:v>1428.2750784783293</c:v>
                </c:pt>
                <c:pt idx="286">
                  <c:v>1405.170268954404</c:v>
                </c:pt>
                <c:pt idx="287">
                  <c:v>1394.6704010456647</c:v>
                </c:pt>
                <c:pt idx="288">
                  <c:v>1386.8631594496062</c:v>
                </c:pt>
                <c:pt idx="289">
                  <c:v>1378.2479505582774</c:v>
                </c:pt>
                <c:pt idx="290">
                  <c:v>1362.2975227831635</c:v>
                </c:pt>
                <c:pt idx="291">
                  <c:v>1363.7467522459933</c:v>
                </c:pt>
                <c:pt idx="292">
                  <c:v>1355.3823362620385</c:v>
                </c:pt>
                <c:pt idx="293">
                  <c:v>1350.8418829609673</c:v>
                </c:pt>
                <c:pt idx="294">
                  <c:v>1341.8025480738645</c:v>
                </c:pt>
                <c:pt idx="295">
                  <c:v>1348.5600919725603</c:v>
                </c:pt>
                <c:pt idx="296">
                  <c:v>1341.2726039091306</c:v>
                </c:pt>
                <c:pt idx="297">
                  <c:v>1336.1520814985399</c:v>
                </c:pt>
                <c:pt idx="298">
                  <c:v>1332.4151591085467</c:v>
                </c:pt>
                <c:pt idx="299">
                  <c:v>1321.0778349215964</c:v>
                </c:pt>
                <c:pt idx="300">
                  <c:v>1310.2999993569804</c:v>
                </c:pt>
                <c:pt idx="301">
                  <c:v>1297.2326943060004</c:v>
                </c:pt>
                <c:pt idx="302">
                  <c:v>1289.677110606465</c:v>
                </c:pt>
                <c:pt idx="303">
                  <c:v>1291.5056239919386</c:v>
                </c:pt>
                <c:pt idx="304">
                  <c:v>1284.5026053641857</c:v>
                </c:pt>
                <c:pt idx="305">
                  <c:v>1282.4298025104947</c:v>
                </c:pt>
                <c:pt idx="306">
                  <c:v>1277.5229085672038</c:v>
                </c:pt>
                <c:pt idx="307">
                  <c:v>1273.3111881919219</c:v>
                </c:pt>
                <c:pt idx="308">
                  <c:v>1271.7857297032783</c:v>
                </c:pt>
                <c:pt idx="309">
                  <c:v>1272.2467160113968</c:v>
                </c:pt>
                <c:pt idx="310">
                  <c:v>1269.6008092741899</c:v>
                </c:pt>
                <c:pt idx="311">
                  <c:v>1270.2374834779305</c:v>
                </c:pt>
                <c:pt idx="312">
                  <c:v>1268.8356511504526</c:v>
                </c:pt>
                <c:pt idx="313">
                  <c:v>1265.1429968932146</c:v>
                </c:pt>
                <c:pt idx="314">
                  <c:v>1267.5844357129604</c:v>
                </c:pt>
                <c:pt idx="315">
                  <c:v>1262.7649961087156</c:v>
                </c:pt>
                <c:pt idx="316">
                  <c:v>1241.4943249614616</c:v>
                </c:pt>
                <c:pt idx="317">
                  <c:v>1245.9642179917082</c:v>
                </c:pt>
                <c:pt idx="318">
                  <c:v>1232.6651501079784</c:v>
                </c:pt>
                <c:pt idx="319">
                  <c:v>1232.6496899043966</c:v>
                </c:pt>
                <c:pt idx="320">
                  <c:v>1229.5756815770562</c:v>
                </c:pt>
                <c:pt idx="321">
                  <c:v>1237.3630135719302</c:v>
                </c:pt>
                <c:pt idx="322">
                  <c:v>1247.6436939242101</c:v>
                </c:pt>
                <c:pt idx="323">
                  <c:v>1251.027804599333</c:v>
                </c:pt>
                <c:pt idx="324">
                  <c:v>1252.5064948712263</c:v>
                </c:pt>
                <c:pt idx="325">
                  <c:v>1242.1133657048008</c:v>
                </c:pt>
                <c:pt idx="326">
                  <c:v>1236.434418273941</c:v>
                </c:pt>
                <c:pt idx="327">
                  <c:v>1247.7391015847656</c:v>
                </c:pt>
                <c:pt idx="328">
                  <c:v>1249.6076053322624</c:v>
                </c:pt>
                <c:pt idx="329">
                  <c:v>1252.1856833065581</c:v>
                </c:pt>
                <c:pt idx="330">
                  <c:v>1244.375965727301</c:v>
                </c:pt>
                <c:pt idx="331">
                  <c:v>1231.9501236166682</c:v>
                </c:pt>
                <c:pt idx="332">
                  <c:v>1231.8935075985269</c:v>
                </c:pt>
                <c:pt idx="333">
                  <c:v>1238.2620606762619</c:v>
                </c:pt>
                <c:pt idx="334">
                  <c:v>1235.696931839582</c:v>
                </c:pt>
                <c:pt idx="335">
                  <c:v>1227.1073016447681</c:v>
                </c:pt>
                <c:pt idx="336">
                  <c:v>1236.9203216874762</c:v>
                </c:pt>
                <c:pt idx="337">
                  <c:v>1250.4711537645335</c:v>
                </c:pt>
                <c:pt idx="338">
                  <c:v>1247.0454426822412</c:v>
                </c:pt>
                <c:pt idx="339">
                  <c:v>1231.5077521531821</c:v>
                </c:pt>
                <c:pt idx="340">
                  <c:v>1221.1713559363841</c:v>
                </c:pt>
                <c:pt idx="341">
                  <c:v>1208.2377469720154</c:v>
                </c:pt>
                <c:pt idx="342">
                  <c:v>1208.90532520542</c:v>
                </c:pt>
                <c:pt idx="343">
                  <c:v>1194.3992914181163</c:v>
                </c:pt>
                <c:pt idx="344">
                  <c:v>1189.7220280263102</c:v>
                </c:pt>
                <c:pt idx="345">
                  <c:v>1188.2805143182904</c:v>
                </c:pt>
                <c:pt idx="346">
                  <c:v>1179.4993254252568</c:v>
                </c:pt>
                <c:pt idx="347">
                  <c:v>1180.2001751301195</c:v>
                </c:pt>
                <c:pt idx="348">
                  <c:v>1179.9724240395817</c:v>
                </c:pt>
                <c:pt idx="349">
                  <c:v>1179.1096353221023</c:v>
                </c:pt>
                <c:pt idx="350">
                  <c:v>1173.6291120393162</c:v>
                </c:pt>
                <c:pt idx="351">
                  <c:v>1161.1105100035804</c:v>
                </c:pt>
                <c:pt idx="352">
                  <c:v>1171.3291879390185</c:v>
                </c:pt>
                <c:pt idx="353">
                  <c:v>1179.1668731681307</c:v>
                </c:pt>
                <c:pt idx="354">
                  <c:v>1171.0390964048922</c:v>
                </c:pt>
                <c:pt idx="355">
                  <c:v>1167.222975315168</c:v>
                </c:pt>
                <c:pt idx="356">
                  <c:v>1181.4027621729974</c:v>
                </c:pt>
                <c:pt idx="357">
                  <c:v>1196.172041159457</c:v>
                </c:pt>
                <c:pt idx="358">
                  <c:v>1185.4422458606034</c:v>
                </c:pt>
                <c:pt idx="359">
                  <c:v>1136.9222449946044</c:v>
                </c:pt>
                <c:pt idx="360">
                  <c:v>1070.3800768664607</c:v>
                </c:pt>
                <c:pt idx="361">
                  <c:v>1112.3576988502227</c:v>
                </c:pt>
                <c:pt idx="362">
                  <c:v>1183.3535652276041</c:v>
                </c:pt>
                <c:pt idx="363">
                  <c:v>1205.4576761735498</c:v>
                </c:pt>
                <c:pt idx="364">
                  <c:v>1285.1996035390998</c:v>
                </c:pt>
                <c:pt idx="365">
                  <c:v>1285.4222830338663</c:v>
                </c:pt>
                <c:pt idx="366">
                  <c:v>1278.6440555379859</c:v>
                </c:pt>
                <c:pt idx="367">
                  <c:v>1289.1519151223824</c:v>
                </c:pt>
                <c:pt idx="368">
                  <c:v>1296.2448013997059</c:v>
                </c:pt>
                <c:pt idx="369">
                  <c:v>1298.1578351202463</c:v>
                </c:pt>
                <c:pt idx="370">
                  <c:v>1304.1611196235656</c:v>
                </c:pt>
                <c:pt idx="371">
                  <c:v>1303.2951542321002</c:v>
                </c:pt>
                <c:pt idx="372">
                  <c:v>1304.6437174900893</c:v>
                </c:pt>
                <c:pt idx="373">
                  <c:v>1305.9810974018008</c:v>
                </c:pt>
                <c:pt idx="374">
                  <c:v>1306.2873794215629</c:v>
                </c:pt>
                <c:pt idx="375">
                  <c:v>1313.2264247957589</c:v>
                </c:pt>
                <c:pt idx="376">
                  <c:v>1317.15498740003</c:v>
                </c:pt>
                <c:pt idx="377">
                  <c:v>1306.8276850811178</c:v>
                </c:pt>
                <c:pt idx="378">
                  <c:v>1307.7519934444829</c:v>
                </c:pt>
                <c:pt idx="379">
                  <c:v>1320.0249923047763</c:v>
                </c:pt>
                <c:pt idx="380">
                  <c:v>1320.3698442983382</c:v>
                </c:pt>
                <c:pt idx="381">
                  <c:v>1318.2794858278264</c:v>
                </c:pt>
                <c:pt idx="382">
                  <c:v>1316.2539385012121</c:v>
                </c:pt>
                <c:pt idx="383">
                  <c:v>1312.6466415727427</c:v>
                </c:pt>
                <c:pt idx="384">
                  <c:v>1300.1687644257756</c:v>
                </c:pt>
                <c:pt idx="385">
                  <c:v>1308.310833656197</c:v>
                </c:pt>
                <c:pt idx="386">
                  <c:v>1305.186392158955</c:v>
                </c:pt>
                <c:pt idx="387">
                  <c:v>1303.4499906606945</c:v>
                </c:pt>
                <c:pt idx="388">
                  <c:v>1306.2844376773037</c:v>
                </c:pt>
                <c:pt idx="389">
                  <c:v>1301.8624971203287</c:v>
                </c:pt>
                <c:pt idx="390">
                  <c:v>1302.2339290400248</c:v>
                </c:pt>
                <c:pt idx="391">
                  <c:v>1304.1639060912512</c:v>
                </c:pt>
              </c:numCache>
            </c:numRef>
          </c:val>
          <c:smooth val="0"/>
          <c:extLst>
            <c:ext xmlns:c16="http://schemas.microsoft.com/office/drawing/2014/chart" uri="{C3380CC4-5D6E-409C-BE32-E72D297353CC}">
              <c16:uniqueId val="{00000001-B149-4CE9-B990-9101CB33B7C2}"/>
            </c:ext>
          </c:extLst>
        </c:ser>
        <c:dLbls>
          <c:showLegendKey val="0"/>
          <c:showVal val="0"/>
          <c:showCatName val="0"/>
          <c:showSerName val="0"/>
          <c:showPercent val="0"/>
          <c:showBubbleSize val="0"/>
        </c:dLbls>
        <c:smooth val="0"/>
        <c:axId val="390324447"/>
        <c:axId val="390324927"/>
      </c:lineChart>
      <c:dateAx>
        <c:axId val="390324447"/>
        <c:scaling>
          <c:orientation val="minMax"/>
        </c:scaling>
        <c:delete val="0"/>
        <c:axPos val="b"/>
        <c:numFmt formatCode="mm/yy" sourceLinked="0"/>
        <c:majorTickMark val="none"/>
        <c:minorTickMark val="none"/>
        <c:tickLblPos val="nextTo"/>
        <c:spPr>
          <a:noFill/>
          <a:ln w="9525" cap="flat" cmpd="sng" algn="ctr">
            <a:solidFill>
              <a:schemeClr val="tx1">
                <a:lumMod val="15000"/>
                <a:lumOff val="85000"/>
              </a:schemeClr>
            </a:solidFill>
            <a:prstDash val="solid"/>
            <a:roun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n-US"/>
          </a:p>
        </c:txPr>
        <c:crossAx val="390324927"/>
        <c:crosses val="autoZero"/>
        <c:auto val="1"/>
        <c:lblOffset val="100"/>
        <c:baseTimeUnit val="days"/>
      </c:dateAx>
      <c:valAx>
        <c:axId val="390324927"/>
        <c:scaling>
          <c:orientation val="minMax"/>
          <c:min val="1100"/>
        </c:scaling>
        <c:delete val="0"/>
        <c:axPos val="l"/>
        <c:numFmt formatCode="#,##0" sourceLinked="0"/>
        <c:majorTickMark val="none"/>
        <c:minorTickMark val="none"/>
        <c:tickLblPos val="nextTo"/>
        <c:spPr>
          <a:noFill/>
          <a:ln>
            <a:noFill/>
            <a:prstDash val="soli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n-US"/>
          </a:p>
        </c:txPr>
        <c:crossAx val="390324447"/>
        <c:crosses val="autoZero"/>
        <c:crossBetween val="between"/>
      </c:valAx>
    </c:plotArea>
    <c:legend>
      <c:legendPos val="t"/>
      <c:overlay val="0"/>
    </c:legend>
    <c:plotVisOnly val="1"/>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94628D-3C0F-054D-8791-1E014C8126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a:extLst>
              <a:ext uri="{FF2B5EF4-FFF2-40B4-BE49-F238E27FC236}">
                <a16:creationId xmlns:a16="http://schemas.microsoft.com/office/drawing/2014/main" id="{38534F8D-CF95-4841-86AD-E6D3A29459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DB8269-38C2-7D4D-A383-B0DE858D0BF5}" type="datetimeFigureOut">
              <a:rPr lang="x-none" smtClean="0"/>
              <a:t>9/19/2026</a:t>
            </a:fld>
            <a:endParaRPr lang="x-none"/>
          </a:p>
        </p:txBody>
      </p:sp>
      <p:sp>
        <p:nvSpPr>
          <p:cNvPr id="4" name="Footer Placeholder 3">
            <a:extLst>
              <a:ext uri="{FF2B5EF4-FFF2-40B4-BE49-F238E27FC236}">
                <a16:creationId xmlns:a16="http://schemas.microsoft.com/office/drawing/2014/main" id="{CF80004C-873E-8F4F-9235-C7C87821E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E0BFA5B4-0FAA-3343-8A05-50FF71F8AB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9DF604-DC69-804E-BCB1-065D48F41682}" type="slidenum">
              <a:rPr lang="x-none" smtClean="0"/>
              <a:t>‹#›</a:t>
            </a:fld>
            <a:endParaRPr lang="x-none"/>
          </a:p>
        </p:txBody>
      </p:sp>
    </p:spTree>
    <p:extLst>
      <p:ext uri="{BB962C8B-B14F-4D97-AF65-F5344CB8AC3E}">
        <p14:creationId xmlns:p14="http://schemas.microsoft.com/office/powerpoint/2010/main" val="2280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E7D8-6C5D-4769-A7FE-A35B5E589012}" type="datetimeFigureOut">
              <a:rPr lang="en-US" smtClean="0"/>
              <a:t>9/18/2026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F6FFC7-E364-467E-B51E-FE8228D3C272}" type="slidenum">
              <a:rPr lang="en-US" smtClean="0"/>
              <a:t>‹#›</a:t>
            </a:fld>
            <a:endParaRPr lang="en-US"/>
          </a:p>
        </p:txBody>
      </p:sp>
    </p:spTree>
    <p:extLst>
      <p:ext uri="{BB962C8B-B14F-4D97-AF65-F5344CB8AC3E}">
        <p14:creationId xmlns:p14="http://schemas.microsoft.com/office/powerpoint/2010/main" val="4087852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xfrm>
            <a:off x="-223838" y="809625"/>
            <a:ext cx="7185026" cy="4041775"/>
          </a:xfrm>
          <a:noFill/>
          <a:ln>
            <a:solidFill>
              <a:srgbClr val="000000"/>
            </a:solidFill>
            <a:miter lim="800000"/>
            <a:headEnd/>
            <a:tailEnd/>
          </a:ln>
        </p:spPr>
      </p:sp>
      <p:sp>
        <p:nvSpPr>
          <p:cNvPr id="1351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p>
        </p:txBody>
      </p:sp>
      <p:sp>
        <p:nvSpPr>
          <p:cNvPr id="135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7B6B41B-6250-4DA8-B3C5-CA30F599117A}" type="slidenum">
              <a:rPr lang="en-GB">
                <a:solidFill>
                  <a:srgbClr val="000000"/>
                </a:solidFill>
              </a:rPr>
              <a:pPr fontAlgn="base">
                <a:spcBef>
                  <a:spcPct val="0"/>
                </a:spcBef>
                <a:spcAft>
                  <a:spcPct val="0"/>
                </a:spcAft>
              </a:pPr>
              <a:t>1</a:t>
            </a:fld>
            <a:endParaRPr lang="en-GB">
              <a:solidFill>
                <a:srgbClr val="000000"/>
              </a:solidFill>
            </a:endParaRPr>
          </a:p>
        </p:txBody>
      </p:sp>
    </p:spTree>
    <p:extLst>
      <p:ext uri="{BB962C8B-B14F-4D97-AF65-F5344CB8AC3E}">
        <p14:creationId xmlns:p14="http://schemas.microsoft.com/office/powerpoint/2010/main" val="259281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61: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53" name="Google Shape;115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ahoma" panose="020B0604030504040204" pitchFamily="34" charset="0"/>
              <a:ea typeface="Tahoma" panose="020B0604030504040204" pitchFamily="34" charset="0"/>
              <a:cs typeface="Tahoma" panose="020B0604030504040204" pitchFamily="34" charset="0"/>
            </a:endParaRPr>
          </a:p>
        </p:txBody>
      </p:sp>
      <p:sp>
        <p:nvSpPr>
          <p:cNvPr id="1154" name="Google Shape;1154;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pPr marL="0" lvl="0" indent="0" algn="r" rtl="0">
                <a:spcBef>
                  <a:spcPts val="0"/>
                </a:spcBef>
                <a:spcAft>
                  <a:spcPts val="0"/>
                </a:spcAft>
                <a:buNone/>
              </a:pPr>
              <a:t>2</a:t>
            </a:fld>
            <a:endParaRPr>
              <a:solidFill>
                <a:srgbClr val="000000"/>
              </a:solidFill>
            </a:endParaRPr>
          </a:p>
        </p:txBody>
      </p:sp>
    </p:spTree>
    <p:extLst>
      <p:ext uri="{BB962C8B-B14F-4D97-AF65-F5344CB8AC3E}">
        <p14:creationId xmlns:p14="http://schemas.microsoft.com/office/powerpoint/2010/main" val="399789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3</a:t>
            </a:fld>
            <a:endParaRPr lang="en-US"/>
          </a:p>
        </p:txBody>
      </p:sp>
    </p:spTree>
    <p:extLst>
      <p:ext uri="{BB962C8B-B14F-4D97-AF65-F5344CB8AC3E}">
        <p14:creationId xmlns:p14="http://schemas.microsoft.com/office/powerpoint/2010/main" val="334512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5</a:t>
            </a:fld>
            <a:endParaRPr lang="en-US"/>
          </a:p>
        </p:txBody>
      </p:sp>
    </p:spTree>
    <p:extLst>
      <p:ext uri="{BB962C8B-B14F-4D97-AF65-F5344CB8AC3E}">
        <p14:creationId xmlns:p14="http://schemas.microsoft.com/office/powerpoint/2010/main" val="1099799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197745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521973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D5E2-7F34-5282-6559-1ECB96B8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ACDFE-1497-52C4-51FE-79E9938C93C4}"/>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1D0D9E50-697A-1197-15C9-5F9544E2DEFE}"/>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E266EF2-6376-461F-8AC7-4CEF50AA0C3B}"/>
              </a:ext>
            </a:extLst>
          </p:cNvPr>
          <p:cNvSpPr>
            <a:spLocks noGrp="1"/>
          </p:cNvSpPr>
          <p:nvPr>
            <p:ph type="sldNum" sz="quarter" idx="10"/>
          </p:nvPr>
        </p:nvSpPr>
        <p:spPr/>
        <p:txBody>
          <a:bodyPr/>
          <a:lstStyle/>
          <a:p>
            <a:fld id="{C0F4A2C8-6C88-4E71-83EE-698B9D4FE22F}" type="slidenum">
              <a:rPr lang="en-GB" smtClean="0">
                <a:solidFill>
                  <a:prstClr val="black"/>
                </a:solidFill>
              </a:rPr>
              <a:pPr/>
              <a:t>9</a:t>
            </a:fld>
            <a:endParaRPr lang="en-GB">
              <a:solidFill>
                <a:prstClr val="black"/>
              </a:solidFill>
            </a:endParaRPr>
          </a:p>
        </p:txBody>
      </p:sp>
    </p:spTree>
    <p:extLst>
      <p:ext uri="{BB962C8B-B14F-4D97-AF65-F5344CB8AC3E}">
        <p14:creationId xmlns:p14="http://schemas.microsoft.com/office/powerpoint/2010/main" val="3792787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2254184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4426-FFF4-B44A-FA04-B77C7D987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BB6B-8716-E98D-0D09-DEC016C8464B}"/>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828F76C0-7D3F-0435-C09E-7B0269222DDB}"/>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3E9CDAF5-6C87-E27C-8840-F3B244A20AE1}"/>
              </a:ext>
            </a:extLst>
          </p:cNvPr>
          <p:cNvSpPr>
            <a:spLocks noGrp="1"/>
          </p:cNvSpPr>
          <p:nvPr>
            <p:ph type="sldNum" sz="quarter" idx="10"/>
          </p:nvPr>
        </p:nvSpPr>
        <p:spPr/>
        <p:txBody>
          <a:bodyPr/>
          <a:lstStyle/>
          <a:p>
            <a:fld id="{C0F4A2C8-6C88-4E71-83EE-698B9D4FE22F}" type="slidenum">
              <a:rPr lang="en-GB" smtClean="0">
                <a:solidFill>
                  <a:prstClr val="black"/>
                </a:solidFill>
              </a:rPr>
              <a:pPr/>
              <a:t>11</a:t>
            </a:fld>
            <a:endParaRPr lang="en-GB">
              <a:solidFill>
                <a:prstClr val="black"/>
              </a:solidFill>
            </a:endParaRPr>
          </a:p>
        </p:txBody>
      </p:sp>
    </p:spTree>
    <p:extLst>
      <p:ext uri="{BB962C8B-B14F-4D97-AF65-F5344CB8AC3E}">
        <p14:creationId xmlns:p14="http://schemas.microsoft.com/office/powerpoint/2010/main" val="214080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FE3-425C-42A1-AE9C-713B30FCD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025D80-0906-4C19-AC06-9A76AB6A7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F3C1B-D018-41EC-9DD8-35E5925341D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2D13718-5FC1-46E3-B40D-F64201D29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CA59-DEEA-4AF5-801B-CFEBB5216853}"/>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50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136D-F0E5-4FB0-A259-AF1615BE9F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EF5C46-DC0F-4FBC-AB77-DDA913A52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FFCD8-937C-4E51-916A-732F9D02D1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C4CC0-7ED2-4542-B745-AB8F970EE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CB079-703F-49FE-8D6D-195218E91B4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32167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DAE-A1AC-475C-8AC5-07279944F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1F99F5-2D96-45B7-8850-A7DA2985C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647F52-6459-47BE-933F-90EFB97291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D6588B8-AFDF-4E5A-A2B3-C521C97CD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E6209-CCC2-4ADB-93BA-9F97301A095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81793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6752-E32E-4BC1-94E9-319BA0919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7AC5A1-EF86-4A94-B13E-88FE4CAEB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BAC424-233F-4707-A9A3-929522B8B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88A4CF-8853-4052-9790-D4BF4F4C8BD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3FBABD7-38E1-41B2-9D10-38464EAB1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A3BA7-5191-4FB5-92F1-589212245432}"/>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0100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1F12C-2C78-4094-8663-B3E298066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A854BC-E799-481C-B4BE-C171195B5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09149-061E-4A65-B1F8-C97FF564E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EA436-8591-49CB-BB4E-E5CBB7CB9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B6BF6-4AF6-49C1-AFF7-6AE37265E8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76EBF-F919-49B4-8002-5E87F6C8B6E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9D3E8DC-C3E7-4CEF-86C5-0CA0AB27C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717F2-7AFC-4FED-8914-FF5716E92FE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719926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7812-7F36-4618-8CD6-7B412EE0AC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52E1C-8F86-4DE2-885F-E6E8D9FD99CC}"/>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36019F5-EEA6-46E9-BE03-694C83533B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A009F0-993E-4226-90F5-107C5E1C6859}"/>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37937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63E2D-020B-49D4-B656-C478EE3FE9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B1771F2-13AB-47E2-B4BF-E7AFA63BC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81DBCA-47AD-46FB-9033-0C38A3E42AD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05163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D464-3DE3-4E8B-B53F-4DA1750400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9520A3-E416-4CD8-8623-A7325A101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FCDF86-E1EE-4D6D-835B-D3B1B4C7D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EFA61-F0D4-4DCB-8E76-639EF5A48A6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79A2F2-C01F-4896-8633-2983D0CFE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4CFC5-BDFE-4D87-AE10-3BCCDBCF4CBA}"/>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84567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970-9460-4E10-8E98-5EA375BC0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5598D2-5974-4407-92C0-3A74B50C2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41C1B-5054-4D1E-8537-7EF09D6D20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B1C9C-90D2-4467-A13B-4F1C4431D66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DCFB0B2-7B8B-413D-8D91-5BB3EFEBD9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84AC2-9F95-4ACC-8F44-7EA0955447E5}"/>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121583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E74C-8A2E-4504-95D5-2D71303A66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FC900-DB26-401A-9BA4-6E5D8292A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8C0EE-4169-4AAA-BA44-A1CCB133AC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9CE93F-CCFF-4811-AAA5-EDF17F11E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2352F-13E5-4C33-A32D-D631932BFC0C}"/>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02770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74B45-594F-4B68-B4D6-0436FBCF63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62B570-CB02-4ACC-BE2E-FBC46954E2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DCCE57-58B7-4E1A-A687-EEB98D67D3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695271-FB2E-44A4-9272-646D01787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B3868-1496-4F1F-A048-FAAA02ED27DD}"/>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43504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95568" y="1828800"/>
            <a:ext cx="7142913" cy="828000"/>
          </a:xfrm>
        </p:spPr>
        <p:txBody>
          <a:bodyPr>
            <a:noAutofit/>
          </a:bodyPr>
          <a:lstStyle>
            <a:lvl1pPr>
              <a:defRPr sz="1875">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495568" y="4286257"/>
            <a:ext cx="7142913" cy="1500198"/>
          </a:xfrm>
        </p:spPr>
        <p:txBody>
          <a:bodyPr>
            <a:normAutofit/>
          </a:bodyPr>
          <a:lstStyle>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2" y="6408009"/>
            <a:ext cx="1056117" cy="252001"/>
          </a:xfrm>
          <a:prstGeom prst="rect">
            <a:avLst/>
          </a:prstGeom>
        </p:spPr>
        <p:txBody>
          <a:bodyPr vert="horz" lIns="0" tIns="0" rIns="0" bIns="0" rtlCol="0" anchor="ctr" anchorCtr="0"/>
          <a:lstStyle>
            <a:lvl1pPr algn="r">
              <a:defRPr sz="525" b="0">
                <a:solidFill>
                  <a:schemeClr val="tx2"/>
                </a:solidFill>
              </a:defRPr>
            </a:lvl1pPr>
          </a:lstStyle>
          <a:p>
            <a:fld id="{95CC1D26-A9BD-4BDE-BDD9-08EDBAE96860}" type="slidenum">
              <a:rPr lang="en-GB" smtClean="0">
                <a:solidFill>
                  <a:srgbClr val="313131"/>
                </a:solidFill>
              </a:rPr>
              <a:pPr/>
              <a:t>‹#›</a:t>
            </a:fld>
            <a:endParaRPr lang="en-GB">
              <a:solidFill>
                <a:srgbClr val="313131"/>
              </a:solidFill>
            </a:endParaRPr>
          </a:p>
        </p:txBody>
      </p:sp>
      <p:sp>
        <p:nvSpPr>
          <p:cNvPr id="8" name="Text Placeholder 5"/>
          <p:cNvSpPr>
            <a:spLocks noGrp="1"/>
          </p:cNvSpPr>
          <p:nvPr>
            <p:ph type="body" sz="quarter" idx="10"/>
          </p:nvPr>
        </p:nvSpPr>
        <p:spPr>
          <a:xfrm>
            <a:off x="495568" y="2663188"/>
            <a:ext cx="7142913" cy="1623070"/>
          </a:xfrm>
        </p:spPr>
        <p:txBody>
          <a:bodyPr>
            <a:noAutofit/>
          </a:bodyPr>
          <a:lstStyle>
            <a:lvl1pPr marL="0" indent="0">
              <a:buNone/>
              <a:defRPr sz="1875">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23103845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3AF56-BF11-4CA7-B503-D1FFEC1E5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1B6D12-3677-496D-A39F-DB5E2B46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D4FF2-8384-48B8-88EE-7D7DF329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C26BF04-42FB-45DF-8C3C-1E250DAF7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368EF0-3E78-4DBB-9DA0-2B1EED3E8F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C8EBE-3F66-4987-8598-90D38544136D}" type="slidenum">
              <a:rPr lang="en-US" smtClean="0"/>
              <a:t>‹#›</a:t>
            </a:fld>
            <a:endParaRPr lang="en-US"/>
          </a:p>
        </p:txBody>
      </p:sp>
      <p:pic>
        <p:nvPicPr>
          <p:cNvPr id="7" name="Picture 6">
            <a:extLst>
              <a:ext uri="{FF2B5EF4-FFF2-40B4-BE49-F238E27FC236}">
                <a16:creationId xmlns:a16="http://schemas.microsoft.com/office/drawing/2014/main" id="{BB4CC494-26F7-44C2-B49D-DC25A759A9B6}"/>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0296663" y="106860"/>
            <a:ext cx="1325339" cy="441780"/>
          </a:xfrm>
          <a:prstGeom prst="rect">
            <a:avLst/>
          </a:prstGeom>
        </p:spPr>
      </p:pic>
    </p:spTree>
    <p:extLst>
      <p:ext uri="{BB962C8B-B14F-4D97-AF65-F5344CB8AC3E}">
        <p14:creationId xmlns:p14="http://schemas.microsoft.com/office/powerpoint/2010/main" val="3291380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067;p107">
            <a:extLst>
              <a:ext uri="{FF2B5EF4-FFF2-40B4-BE49-F238E27FC236}">
                <a16:creationId xmlns:a16="http://schemas.microsoft.com/office/drawing/2014/main" id="{BD446205-A9C9-145C-FBBE-181C87632E0D}"/>
              </a:ext>
            </a:extLst>
          </p:cNvPr>
          <p:cNvPicPr preferRelativeResize="0"/>
          <p:nvPr/>
        </p:nvPicPr>
        <p:blipFill rotWithShape="1">
          <a:blip r:embed="rId3">
            <a:alphaModFix/>
          </a:blip>
          <a:srcRect/>
          <a:stretch/>
        </p:blipFill>
        <p:spPr>
          <a:xfrm>
            <a:off x="0" y="691115"/>
            <a:ext cx="12192000" cy="6133754"/>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0" name="Straight Connector 19"/>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A8882-DBA4-3986-D746-678C5CCE12AF}"/>
              </a:ext>
            </a:extLst>
          </p:cNvPr>
          <p:cNvSpPr txBox="1"/>
          <p:nvPr/>
        </p:nvSpPr>
        <p:spPr>
          <a:xfrm>
            <a:off x="914401" y="3868301"/>
            <a:ext cx="6006352" cy="1384995"/>
          </a:xfrm>
          <a:prstGeom prst="rect">
            <a:avLst/>
          </a:prstGeom>
          <a:noFill/>
          <a:ln w="15875">
            <a:solidFill>
              <a:srgbClr val="141ED2"/>
            </a:solidFill>
          </a:ln>
        </p:spPr>
        <p:txBody>
          <a:bodyPr wrap="square" rtlCol="0">
            <a:spAutoFit/>
          </a:bodyPr>
          <a:lstStyle/>
          <a:p>
            <a:r>
              <a:rPr lang="en-US" sz="2800" dirty="0">
                <a:solidFill>
                  <a:srgbClr val="141ED2"/>
                </a:solidFill>
                <a:latin typeface="Arial" panose="020B0604020202020204" pitchFamily="34" charset="0"/>
                <a:ea typeface="Tahoma" panose="020B0604030504040204" pitchFamily="34" charset="0"/>
                <a:cs typeface="Arial" panose="020B0604020202020204" pitchFamily="34" charset="0"/>
              </a:rPr>
              <a:t>BÁO CÁO TUẦN</a:t>
            </a:r>
          </a:p>
          <a:p>
            <a:r>
              <a:rPr lang="vi-VN" sz="2800" b="1">
                <a:solidFill>
                  <a:srgbClr val="141ED2"/>
                </a:solidFill>
                <a:latin typeface="Arial" panose="020B0604020202020204" pitchFamily="34" charset="0"/>
                <a:ea typeface="Tahoma" panose="020B0604030504040204" pitchFamily="34" charset="0"/>
                <a:cs typeface="Arial" panose="020B0604020202020204" pitchFamily="34" charset="0"/>
              </a:rPr>
              <a:t>NHẬN ĐỊNH THỊ TRƯỜNG TUẦN 21/09/2026 – 25/09/2026</a:t>
            </a:r>
            <a:endParaRPr lang="en-AU" sz="2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589A8FD-B872-9ACA-6333-0D02A69173C5}"/>
              </a:ext>
            </a:extLst>
          </p:cNvPr>
          <p:cNvSpPr>
            <a:spLocks noGrp="1"/>
          </p:cNvSpPr>
          <p:nvPr>
            <p:ph type="sldNum" sz="quarter" idx="4"/>
          </p:nvPr>
        </p:nvSpPr>
        <p:spPr/>
        <p:txBody>
          <a:bodyPr/>
          <a:lstStyle/>
          <a:p>
            <a:fld id="{95CC1D26-A9BD-4BDE-BDD9-08EDBAE96860}" type="slidenum">
              <a:rPr lang="en-GB" smtClean="0">
                <a:solidFill>
                  <a:srgbClr val="313131"/>
                </a:solidFill>
                <a:latin typeface="Arial" panose="020B0604020202020204" pitchFamily="34" charset="0"/>
                <a:cs typeface="Arial" panose="020B0604020202020204" pitchFamily="34" charset="0"/>
              </a:rPr>
              <a:pPr/>
              <a:t>1</a:t>
            </a:fld>
            <a:endParaRPr lang="en-GB">
              <a:solidFill>
                <a:srgbClr val="31313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99999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2" name="AutoShape 2"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4" name="AutoShape 4"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cxnSp>
        <p:nvCxnSpPr>
          <p:cNvPr id="3" name="Straight Connector 2">
            <a:extLst>
              <a:ext uri="{FF2B5EF4-FFF2-40B4-BE49-F238E27FC236}">
                <a16:creationId xmlns:a16="http://schemas.microsoft.com/office/drawing/2014/main" id="{BE378D81-16B3-BA0A-CD81-7E78B8D6F2C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5">
            <a:extLst>
              <a:ext uri="{FF2B5EF4-FFF2-40B4-BE49-F238E27FC236}">
                <a16:creationId xmlns:a16="http://schemas.microsoft.com/office/drawing/2014/main" id="{4A4D2A7D-D274-BA45-B498-25785F845D87}"/>
              </a:ext>
            </a:extLst>
          </p:cNvPr>
          <p:cNvSpPr txBox="1">
            <a:spLocks/>
          </p:cNvSpPr>
          <p:nvPr/>
        </p:nvSpPr>
        <p:spPr>
          <a:xfrm>
            <a:off x="261939" y="304973"/>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dirty="0">
                <a:solidFill>
                  <a:srgbClr val="141ED2"/>
                </a:solidFill>
                <a:latin typeface="Arial" panose="020B0604020202020204" pitchFamily="34" charset="0"/>
                <a:ea typeface="Tahoma" panose="020B0604030504040204" pitchFamily="34" charset="0"/>
                <a:cs typeface="Arial" panose="020B0604020202020204" pitchFamily="34" charset="0"/>
              </a:rPr>
              <a:t>MỤC LỤC</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6" name="TextBox 5">
            <a:extLst>
              <a:ext uri="{FF2B5EF4-FFF2-40B4-BE49-F238E27FC236}">
                <a16:creationId xmlns:a16="http://schemas.microsoft.com/office/drawing/2014/main" id="{4994612C-C222-90EB-0421-98AC31DBAA7B}"/>
              </a:ext>
            </a:extLst>
          </p:cNvPr>
          <p:cNvSpPr txBox="1"/>
          <p:nvPr/>
        </p:nvSpPr>
        <p:spPr>
          <a:xfrm>
            <a:off x="307974" y="957047"/>
            <a:ext cx="6570497" cy="3284041"/>
          </a:xfrm>
          <a:prstGeom prst="rect">
            <a:avLst/>
          </a:prstGeom>
          <a:noFill/>
        </p:spPr>
        <p:txBody>
          <a:bodyPr wrap="square" rtlCol="0">
            <a:spAutoFit/>
          </a:bodyPr>
          <a:lstStyle/>
          <a:p>
            <a:pPr>
              <a:lnSpc>
                <a:spcPct val="150000"/>
              </a:lnSpc>
            </a:pPr>
            <a:r>
              <a:rPr lang="vi-VN" sz="1400" b="1" dirty="0">
                <a:solidFill>
                  <a:srgbClr val="141ED2"/>
                </a:solidFill>
                <a:latin typeface="Arial" panose="020B0604020202020204" pitchFamily="34" charset="0"/>
                <a:cs typeface="Arial" panose="020B0604020202020204" pitchFamily="34" charset="0"/>
              </a:rPr>
              <a:t>DIỄN BIẾN THỊ TRƯỜNG TUẦN 14/09 – 18/09/2026</a:t>
            </a: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400" b="1" dirty="0">
                <a:solidFill>
                  <a:srgbClr val="141ED2"/>
                </a:solidFill>
                <a:latin typeface="Arial" panose="020B0604020202020204" pitchFamily="34" charset="0"/>
                <a:cs typeface="Arial" panose="020B0604020202020204" pitchFamily="34" charset="0"/>
              </a:rPr>
              <a:t>Xu h</a:t>
            </a:r>
            <a:r>
              <a:rPr lang="vi-VN" sz="1400" b="1" dirty="0">
                <a:solidFill>
                  <a:srgbClr val="141ED2"/>
                </a:solidFill>
                <a:latin typeface="Arial" panose="020B0604020202020204" pitchFamily="34" charset="0"/>
                <a:cs typeface="Arial" panose="020B0604020202020204" pitchFamily="34" charset="0"/>
              </a:rPr>
              <a:t>ư</a:t>
            </a:r>
            <a:r>
              <a:rPr lang="en-US" sz="1400" b="1" dirty="0" err="1">
                <a:solidFill>
                  <a:srgbClr val="141ED2"/>
                </a:solidFill>
                <a:latin typeface="Arial" panose="020B0604020202020204" pitchFamily="34" charset="0"/>
                <a:cs typeface="Arial" panose="020B0604020202020204" pitchFamily="34" charset="0"/>
              </a:rPr>
              <a:t>ớng</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và</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độ</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rộng</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thị</a:t>
            </a:r>
            <a:r>
              <a:rPr lang="en-US" sz="1400" b="1" dirty="0">
                <a:solidFill>
                  <a:srgbClr val="141ED2"/>
                </a:solidFill>
                <a:latin typeface="Arial" panose="020B0604020202020204" pitchFamily="34" charset="0"/>
                <a:cs typeface="Arial" panose="020B0604020202020204" pitchFamily="34" charset="0"/>
              </a:rPr>
              <a:t> tr</a:t>
            </a:r>
            <a:r>
              <a:rPr lang="vi-VN" sz="1400" b="1" dirty="0">
                <a:solidFill>
                  <a:srgbClr val="141ED2"/>
                </a:solidFill>
                <a:latin typeface="Arial" panose="020B0604020202020204" pitchFamily="34" charset="0"/>
                <a:cs typeface="Arial" panose="020B0604020202020204" pitchFamily="34" charset="0"/>
              </a:rPr>
              <a:t>ư</a:t>
            </a:r>
            <a:r>
              <a:rPr lang="en-US" sz="1400" b="1" dirty="0" err="1">
                <a:solidFill>
                  <a:srgbClr val="141ED2"/>
                </a:solidFill>
                <a:latin typeface="Arial" panose="020B0604020202020204" pitchFamily="34" charset="0"/>
                <a:cs typeface="Arial" panose="020B0604020202020204" pitchFamily="34" charset="0"/>
              </a:rPr>
              <a:t>ờng</a:t>
            </a:r>
            <a:endParaRPr lang="en-US" sz="1400" b="1" dirty="0">
              <a:solidFill>
                <a:srgbClr val="141ED2"/>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400" b="1" dirty="0" err="1">
                <a:solidFill>
                  <a:srgbClr val="141ED2"/>
                </a:solidFill>
                <a:latin typeface="Arial" panose="020B0604020202020204" pitchFamily="34" charset="0"/>
                <a:cs typeface="Arial" panose="020B0604020202020204" pitchFamily="34" charset="0"/>
              </a:rPr>
              <a:t>Biến</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động</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các</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nhóm</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ngành</a:t>
            </a:r>
            <a:endParaRPr lang="en-US" sz="1400" b="1" dirty="0">
              <a:solidFill>
                <a:srgbClr val="141ED2"/>
              </a:solidFill>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400" b="1" dirty="0" err="1">
                <a:solidFill>
                  <a:srgbClr val="141ED2"/>
                </a:solidFill>
                <a:latin typeface="Arial" panose="020B0604020202020204" pitchFamily="34" charset="0"/>
                <a:cs typeface="Arial" panose="020B0604020202020204" pitchFamily="34" charset="0"/>
              </a:rPr>
              <a:t>Giao</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dịch</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các</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nhóm</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nhà</a:t>
            </a:r>
            <a:r>
              <a:rPr lang="en-US" sz="1400" b="1" dirty="0">
                <a:solidFill>
                  <a:srgbClr val="141ED2"/>
                </a:solidFill>
                <a:latin typeface="Arial" panose="020B0604020202020204" pitchFamily="34" charset="0"/>
                <a:cs typeface="Arial" panose="020B0604020202020204" pitchFamily="34" charset="0"/>
              </a:rPr>
              <a:t> </a:t>
            </a:r>
            <a:r>
              <a:rPr lang="en-US" sz="1400" b="1" dirty="0" err="1">
                <a:solidFill>
                  <a:srgbClr val="141ED2"/>
                </a:solidFill>
                <a:latin typeface="Arial" panose="020B0604020202020204" pitchFamily="34" charset="0"/>
                <a:cs typeface="Arial" panose="020B0604020202020204" pitchFamily="34" charset="0"/>
              </a:rPr>
              <a:t>đầu</a:t>
            </a:r>
            <a:r>
              <a:rPr lang="en-US" sz="1400" b="1" dirty="0">
                <a:solidFill>
                  <a:srgbClr val="141ED2"/>
                </a:solidFill>
                <a:latin typeface="Arial" panose="020B0604020202020204" pitchFamily="34" charset="0"/>
                <a:cs typeface="Arial" panose="020B0604020202020204" pitchFamily="34" charset="0"/>
              </a:rPr>
              <a:t> t</a:t>
            </a:r>
            <a:r>
              <a:rPr lang="vi-VN" sz="1400" b="1" dirty="0">
                <a:solidFill>
                  <a:srgbClr val="141ED2"/>
                </a:solidFill>
                <a:latin typeface="Arial" panose="020B0604020202020204" pitchFamily="34" charset="0"/>
                <a:cs typeface="Arial" panose="020B0604020202020204" pitchFamily="34" charset="0"/>
              </a:rPr>
              <a:t>ư</a:t>
            </a: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r>
              <a:rPr lang="en-US" sz="1400" b="1" dirty="0">
                <a:solidFill>
                  <a:srgbClr val="141ED2"/>
                </a:solidFill>
                <a:latin typeface="Arial" panose="020B0604020202020204" pitchFamily="34" charset="0"/>
                <a:cs typeface="Arial" panose="020B0604020202020204" pitchFamily="34" charset="0"/>
              </a:rPr>
              <a:t>CÁC SỰ KIỆN DIỄN RA TRONG TUẦN 21/09/2026 – 25/09/2026</a:t>
            </a: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r>
              <a:rPr lang="vi-VN" sz="1400" b="1" dirty="0">
                <a:solidFill>
                  <a:srgbClr val="141ED2"/>
                </a:solidFill>
                <a:latin typeface="Arial" panose="020B0604020202020204" pitchFamily="34" charset="0"/>
                <a:cs typeface="Arial" panose="020B0604020202020204" pitchFamily="34" charset="0"/>
              </a:rPr>
              <a:t>NHẬN ĐỊNH XU HƯỚNG THỊ TRƯỜNG TUẦN 21/09/2026 – 25/09/2026</a:t>
            </a:r>
          </a:p>
          <a:p>
            <a:pPr>
              <a:lnSpc>
                <a:spcPct val="150000"/>
              </a:lnSpc>
            </a:pP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r>
              <a:rPr lang="en-US" sz="1400" b="1" dirty="0">
                <a:solidFill>
                  <a:srgbClr val="141ED2"/>
                </a:solidFill>
                <a:latin typeface="Arial" panose="020B0604020202020204" pitchFamily="34" charset="0"/>
                <a:cs typeface="Arial" panose="020B0604020202020204" pitchFamily="34" charset="0"/>
              </a:rPr>
              <a:t>DANH MỤC CỔ PHIẾU CẦN THEO DÕI</a:t>
            </a:r>
          </a:p>
        </p:txBody>
      </p:sp>
      <p:sp>
        <p:nvSpPr>
          <p:cNvPr id="5" name="Slide Number Placeholder 4">
            <a:extLst>
              <a:ext uri="{FF2B5EF4-FFF2-40B4-BE49-F238E27FC236}">
                <a16:creationId xmlns:a16="http://schemas.microsoft.com/office/drawing/2014/main" id="{F6C31D33-6EF9-2BF6-21CD-B166BC5D3156}"/>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2</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787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THỊ TRƯỜNG TUẦN 14/09 – 18/09/2026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61121" y="677863"/>
            <a:ext cx="7449864" cy="5941051"/>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150000"/>
              </a:lnSpc>
              <a:spcBef>
                <a:spcPct val="0"/>
              </a:spcBef>
            </a:pP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Xu h</a:t>
            </a: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ư</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ớng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và</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độ</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rộng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thị</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tr</a:t>
            </a: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ư</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ờng</a:t>
            </a: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150000"/>
              </a:lnSpc>
              <a:spcBef>
                <a:spcPct val="0"/>
              </a:spcBef>
            </a:pPr>
            <a:endParaRPr lang="en-US" sz="1100" dirty="0">
              <a:latin typeface="Arial" panose="020B0604020202020204" pitchFamily="34" charset="0"/>
              <a:cs typeface="Arial" panose="020B0604020202020204" pitchFamily="34" charset="0"/>
            </a:endParaRP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Trong </a:t>
            </a:r>
            <a:r>
              <a:rPr lang="vi-VN" sz="1100" dirty="0" err="1">
                <a:solidFill>
                  <a:schemeClr val="tx1"/>
                </a:solidFill>
                <a:latin typeface="Arial" panose="020B0604020202020204" pitchFamily="34" charset="0"/>
                <a:cs typeface="Arial" panose="020B0604020202020204" pitchFamily="34" charset="0"/>
              </a:rPr>
              <a:t>tuần</a:t>
            </a:r>
            <a:r>
              <a:rPr lang="vi-VN" sz="1100" dirty="0">
                <a:solidFill>
                  <a:schemeClr val="tx1"/>
                </a:solidFill>
                <a:latin typeface="Arial" panose="020B0604020202020204" pitchFamily="34" charset="0"/>
                <a:cs typeface="Arial" panose="020B0604020202020204" pitchFamily="34" charset="0"/>
              </a:rPr>
              <a:t> </a:t>
            </a:r>
            <a:r>
              <a:rPr lang="en-US" sz="1100" dirty="0">
                <a:solidFill>
                  <a:schemeClr val="tx1"/>
                </a:solidFill>
                <a:latin typeface="Arial" panose="020B0604020202020204" pitchFamily="34" charset="0"/>
                <a:cs typeface="Arial" panose="020B0604020202020204" pitchFamily="34" charset="0"/>
              </a:rPr>
              <a:t>14</a:t>
            </a:r>
            <a:r>
              <a:rPr lang="vi-VN" sz="1100" dirty="0">
                <a:solidFill>
                  <a:schemeClr val="tx1"/>
                </a:solidFill>
                <a:latin typeface="Arial" panose="020B0604020202020204" pitchFamily="34" charset="0"/>
                <a:cs typeface="Arial" panose="020B0604020202020204" pitchFamily="34" charset="0"/>
              </a:rPr>
              <a:t>/0</a:t>
            </a:r>
            <a:r>
              <a:rPr lang="en-US" sz="1100" dirty="0">
                <a:solidFill>
                  <a:schemeClr val="tx1"/>
                </a:solidFill>
                <a:latin typeface="Arial" panose="020B0604020202020204" pitchFamily="34" charset="0"/>
                <a:cs typeface="Arial" panose="020B0604020202020204" pitchFamily="34" charset="0"/>
              </a:rPr>
              <a:t>9</a:t>
            </a:r>
            <a:r>
              <a:rPr lang="vi-VN" sz="1100" dirty="0">
                <a:solidFill>
                  <a:schemeClr val="tx1"/>
                </a:solidFill>
                <a:latin typeface="Arial" panose="020B0604020202020204" pitchFamily="34" charset="0"/>
                <a:cs typeface="Arial" panose="020B0604020202020204" pitchFamily="34" charset="0"/>
              </a:rPr>
              <a:t>–</a:t>
            </a:r>
            <a:r>
              <a:rPr lang="en-US" sz="1100" dirty="0">
                <a:solidFill>
                  <a:schemeClr val="tx1"/>
                </a:solidFill>
                <a:latin typeface="Arial" panose="020B0604020202020204" pitchFamily="34" charset="0"/>
                <a:cs typeface="Arial" panose="020B0604020202020204" pitchFamily="34" charset="0"/>
              </a:rPr>
              <a:t>18</a:t>
            </a:r>
            <a:r>
              <a:rPr lang="vi-VN" sz="1100" dirty="0">
                <a:solidFill>
                  <a:schemeClr val="tx1"/>
                </a:solidFill>
                <a:latin typeface="Arial" panose="020B0604020202020204" pitchFamily="34" charset="0"/>
                <a:cs typeface="Arial" panose="020B0604020202020204" pitchFamily="34" charset="0"/>
              </a:rPr>
              <a:t>/0</a:t>
            </a:r>
            <a:r>
              <a:rPr lang="en-US" sz="1100" dirty="0">
                <a:solidFill>
                  <a:schemeClr val="tx1"/>
                </a:solidFill>
                <a:latin typeface="Arial" panose="020B0604020202020204" pitchFamily="34" charset="0"/>
                <a:cs typeface="Arial" panose="020B0604020202020204" pitchFamily="34" charset="0"/>
              </a:rPr>
              <a:t>9</a:t>
            </a:r>
            <a:r>
              <a:rPr lang="vi-VN" sz="1100" dirty="0">
                <a:solidFill>
                  <a:schemeClr val="tx1"/>
                </a:solidFill>
                <a:latin typeface="Arial" panose="020B0604020202020204" pitchFamily="34" charset="0"/>
                <a:cs typeface="Arial" panose="020B0604020202020204" pitchFamily="34" charset="0"/>
              </a:rPr>
              <a:t>/2026, VNINDEX tăng </a:t>
            </a:r>
            <a:r>
              <a:rPr lang="en-US" sz="1100" dirty="0">
                <a:solidFill>
                  <a:schemeClr val="tx1"/>
                </a:solidFill>
                <a:latin typeface="Arial" panose="020B0604020202020204" pitchFamily="34" charset="0"/>
                <a:cs typeface="Arial" panose="020B0604020202020204" pitchFamily="34" charset="0"/>
              </a:rPr>
              <a:t>2</a:t>
            </a:r>
            <a:r>
              <a:rPr lang="vi-VN" sz="1100" dirty="0">
                <a:solidFill>
                  <a:schemeClr val="tx1"/>
                </a:solidFill>
                <a:latin typeface="Arial" panose="020B0604020202020204" pitchFamily="34" charset="0"/>
                <a:cs typeface="Arial" panose="020B0604020202020204" pitchFamily="34" charset="0"/>
              </a:rPr>
              <a:t>0 </a:t>
            </a:r>
            <a:r>
              <a:rPr lang="vi-VN" sz="1100" dirty="0" err="1">
                <a:solidFill>
                  <a:schemeClr val="tx1"/>
                </a:solidFill>
                <a:latin typeface="Arial" panose="020B0604020202020204" pitchFamily="34" charset="0"/>
                <a:cs typeface="Arial" panose="020B0604020202020204" pitchFamily="34" charset="0"/>
              </a:rPr>
              <a:t>điểm</a:t>
            </a:r>
            <a:r>
              <a:rPr lang="vi-VN" sz="1100" dirty="0">
                <a:solidFill>
                  <a:schemeClr val="tx1"/>
                </a:solidFill>
                <a:latin typeface="Arial" panose="020B0604020202020204" pitchFamily="34" charset="0"/>
                <a:cs typeface="Arial" panose="020B0604020202020204" pitchFamily="34" charset="0"/>
              </a:rPr>
              <a:t> (</a:t>
            </a:r>
            <a:r>
              <a:rPr lang="en-US" sz="1100" dirty="0">
                <a:solidFill>
                  <a:schemeClr val="tx1"/>
                </a:solidFill>
                <a:latin typeface="Arial" panose="020B0604020202020204" pitchFamily="34" charset="0"/>
                <a:cs typeface="Arial" panose="020B0604020202020204" pitchFamily="34" charset="0"/>
              </a:rPr>
              <a:t>1</a:t>
            </a:r>
            <a:r>
              <a:rPr lang="vi-VN" sz="1100" dirty="0">
                <a:solidFill>
                  <a:schemeClr val="tx1"/>
                </a:solidFill>
                <a:latin typeface="Arial" panose="020B0604020202020204" pitchFamily="34" charset="0"/>
                <a:cs typeface="Arial" panose="020B0604020202020204" pitchFamily="34" charset="0"/>
              </a:rPr>
              <a:t>,</a:t>
            </a:r>
            <a:r>
              <a:rPr lang="en-US" sz="1100" dirty="0">
                <a:solidFill>
                  <a:schemeClr val="tx1"/>
                </a:solidFill>
                <a:latin typeface="Arial" panose="020B0604020202020204" pitchFamily="34" charset="0"/>
                <a:cs typeface="Arial" panose="020B0604020202020204" pitchFamily="34" charset="0"/>
              </a:rPr>
              <a:t>1</a:t>
            </a:r>
            <a:r>
              <a:rPr lang="vi-VN" sz="1100" dirty="0">
                <a:solidFill>
                  <a:schemeClr val="tx1"/>
                </a:solidFill>
                <a:latin typeface="Arial" panose="020B0604020202020204" pitchFamily="34" charset="0"/>
                <a:cs typeface="Arial" panose="020B0604020202020204" pitchFamily="34" charset="0"/>
              </a:rPr>
              <a:t>%) lên 1.</a:t>
            </a:r>
            <a:r>
              <a:rPr lang="en-US" sz="1100" dirty="0">
                <a:solidFill>
                  <a:schemeClr val="tx1"/>
                </a:solidFill>
                <a:latin typeface="Arial" panose="020B0604020202020204" pitchFamily="34" charset="0"/>
                <a:cs typeface="Arial" panose="020B0604020202020204" pitchFamily="34" charset="0"/>
              </a:rPr>
              <a:t>815</a:t>
            </a:r>
            <a:r>
              <a:rPr lang="vi-VN" sz="1100" dirty="0">
                <a:solidFill>
                  <a:schemeClr val="tx1"/>
                </a:solidFill>
                <a:latin typeface="Arial" panose="020B0604020202020204" pitchFamily="34" charset="0"/>
                <a:cs typeface="Arial" panose="020B0604020202020204" pitchFamily="34" charset="0"/>
              </a:rPr>
              <a:t> điểm, trong khi thanh khoản </a:t>
            </a:r>
            <a:r>
              <a:rPr lang="en-US" sz="1100" dirty="0" err="1">
                <a:solidFill>
                  <a:schemeClr val="tx1"/>
                </a:solidFill>
                <a:latin typeface="Arial" panose="020B0604020202020204" pitchFamily="34" charset="0"/>
                <a:cs typeface="Arial" panose="020B0604020202020204" pitchFamily="34" charset="0"/>
              </a:rPr>
              <a:t>tăng</a:t>
            </a:r>
            <a:r>
              <a:rPr lang="vi-VN" sz="1100" dirty="0">
                <a:solidFill>
                  <a:schemeClr val="tx1"/>
                </a:solidFill>
                <a:latin typeface="Arial" panose="020B0604020202020204" pitchFamily="34" charset="0"/>
                <a:cs typeface="Arial" panose="020B0604020202020204" pitchFamily="34" charset="0"/>
              </a:rPr>
              <a:t> </a:t>
            </a:r>
            <a:r>
              <a:rPr lang="en-US" sz="1100" dirty="0">
                <a:solidFill>
                  <a:schemeClr val="tx1"/>
                </a:solidFill>
                <a:latin typeface="Arial" panose="020B0604020202020204" pitchFamily="34" charset="0"/>
                <a:cs typeface="Arial" panose="020B0604020202020204" pitchFamily="34" charset="0"/>
              </a:rPr>
              <a:t>5</a:t>
            </a:r>
            <a:r>
              <a:rPr lang="vi-VN" sz="1100" dirty="0">
                <a:solidFill>
                  <a:schemeClr val="tx1"/>
                </a:solidFill>
                <a:latin typeface="Arial" panose="020B0604020202020204" pitchFamily="34" charset="0"/>
                <a:cs typeface="Arial" panose="020B0604020202020204" pitchFamily="34" charset="0"/>
              </a:rPr>
              <a:t>% so với tuần trước. VN30 tăng </a:t>
            </a:r>
            <a:r>
              <a:rPr lang="en-US" sz="1100" dirty="0">
                <a:solidFill>
                  <a:schemeClr val="tx1"/>
                </a:solidFill>
                <a:latin typeface="Arial" panose="020B0604020202020204" pitchFamily="34" charset="0"/>
                <a:cs typeface="Arial" panose="020B0604020202020204" pitchFamily="34" charset="0"/>
              </a:rPr>
              <a:t>27</a:t>
            </a:r>
            <a:r>
              <a:rPr lang="vi-VN" sz="1100" dirty="0">
                <a:solidFill>
                  <a:schemeClr val="tx1"/>
                </a:solidFill>
                <a:latin typeface="Arial" panose="020B0604020202020204" pitchFamily="34" charset="0"/>
                <a:cs typeface="Arial" panose="020B0604020202020204" pitchFamily="34" charset="0"/>
              </a:rPr>
              <a:t> </a:t>
            </a:r>
            <a:r>
              <a:rPr lang="vi-VN" sz="1100" dirty="0" err="1">
                <a:solidFill>
                  <a:schemeClr val="tx1"/>
                </a:solidFill>
                <a:latin typeface="Arial" panose="020B0604020202020204" pitchFamily="34" charset="0"/>
                <a:cs typeface="Arial" panose="020B0604020202020204" pitchFamily="34" charset="0"/>
              </a:rPr>
              <a:t>điểm</a:t>
            </a:r>
            <a:r>
              <a:rPr lang="vi-VN" sz="1100" dirty="0">
                <a:solidFill>
                  <a:schemeClr val="tx1"/>
                </a:solidFill>
                <a:latin typeface="Arial" panose="020B0604020202020204" pitchFamily="34" charset="0"/>
                <a:cs typeface="Arial" panose="020B0604020202020204" pitchFamily="34" charset="0"/>
              </a:rPr>
              <a:t> (</a:t>
            </a:r>
            <a:r>
              <a:rPr lang="en-US" sz="1100" dirty="0">
                <a:solidFill>
                  <a:schemeClr val="tx1"/>
                </a:solidFill>
                <a:latin typeface="Arial" panose="020B0604020202020204" pitchFamily="34" charset="0"/>
                <a:cs typeface="Arial" panose="020B0604020202020204" pitchFamily="34" charset="0"/>
              </a:rPr>
              <a:t>1</a:t>
            </a:r>
            <a:r>
              <a:rPr lang="vi-VN" sz="1100" dirty="0">
                <a:solidFill>
                  <a:schemeClr val="tx1"/>
                </a:solidFill>
                <a:latin typeface="Arial" panose="020B0604020202020204" pitchFamily="34" charset="0"/>
                <a:cs typeface="Arial" panose="020B0604020202020204" pitchFamily="34" charset="0"/>
              </a:rPr>
              <a:t>,3%) lên 1.</a:t>
            </a:r>
            <a:r>
              <a:rPr lang="en-US" sz="1100" dirty="0">
                <a:solidFill>
                  <a:schemeClr val="tx1"/>
                </a:solidFill>
                <a:latin typeface="Arial" panose="020B0604020202020204" pitchFamily="34" charset="0"/>
                <a:cs typeface="Arial" panose="020B0604020202020204" pitchFamily="34" charset="0"/>
              </a:rPr>
              <a:t>964</a:t>
            </a:r>
            <a:r>
              <a:rPr lang="vi-VN" sz="1100" dirty="0">
                <a:solidFill>
                  <a:schemeClr val="tx1"/>
                </a:solidFill>
                <a:latin typeface="Arial" panose="020B0604020202020204" pitchFamily="34" charset="0"/>
                <a:cs typeface="Arial" panose="020B0604020202020204" pitchFamily="34" charset="0"/>
              </a:rPr>
              <a:t> điểm với thanh khoản </a:t>
            </a:r>
            <a:r>
              <a:rPr lang="en-US" sz="1100" dirty="0" err="1">
                <a:solidFill>
                  <a:schemeClr val="tx1"/>
                </a:solidFill>
                <a:latin typeface="Arial" panose="020B0604020202020204" pitchFamily="34" charset="0"/>
                <a:cs typeface="Arial" panose="020B0604020202020204" pitchFamily="34" charset="0"/>
              </a:rPr>
              <a:t>tăng</a:t>
            </a:r>
            <a:r>
              <a:rPr lang="vi-VN" sz="1100" dirty="0">
                <a:solidFill>
                  <a:schemeClr val="tx1"/>
                </a:solidFill>
                <a:latin typeface="Arial" panose="020B0604020202020204" pitchFamily="34" charset="0"/>
                <a:cs typeface="Arial" panose="020B0604020202020204" pitchFamily="34" charset="0"/>
              </a:rPr>
              <a:t> </a:t>
            </a:r>
            <a:r>
              <a:rPr lang="en-US" sz="1100" dirty="0">
                <a:solidFill>
                  <a:schemeClr val="tx1"/>
                </a:solidFill>
                <a:latin typeface="Arial" panose="020B0604020202020204" pitchFamily="34" charset="0"/>
                <a:cs typeface="Arial" panose="020B0604020202020204" pitchFamily="34" charset="0"/>
              </a:rPr>
              <a:t>4</a:t>
            </a:r>
            <a:r>
              <a:rPr lang="vi-VN" sz="1100" dirty="0">
                <a:solidFill>
                  <a:schemeClr val="tx1"/>
                </a:solidFill>
                <a:latin typeface="Arial" panose="020B0604020202020204" pitchFamily="34" charset="0"/>
                <a:cs typeface="Arial" panose="020B0604020202020204" pitchFamily="34" charset="0"/>
              </a:rPr>
              <a:t>%. </a:t>
            </a:r>
            <a:r>
              <a:rPr lang="vi-VN" sz="1100" dirty="0" err="1">
                <a:solidFill>
                  <a:schemeClr val="tx1"/>
                </a:solidFill>
                <a:latin typeface="Arial" panose="020B0604020202020204" pitchFamily="34" charset="0"/>
                <a:cs typeface="Arial" panose="020B0604020202020204" pitchFamily="34" charset="0"/>
              </a:rPr>
              <a:t>Thị</a:t>
            </a:r>
            <a:r>
              <a:rPr lang="vi-VN" sz="1100" dirty="0">
                <a:solidFill>
                  <a:schemeClr val="tx1"/>
                </a:solidFill>
                <a:latin typeface="Arial" panose="020B0604020202020204" pitchFamily="34" charset="0"/>
                <a:cs typeface="Arial" panose="020B0604020202020204" pitchFamily="34" charset="0"/>
              </a:rPr>
              <a:t> trường </a:t>
            </a:r>
            <a:r>
              <a:rPr lang="vi-VN" sz="1100" dirty="0" err="1">
                <a:solidFill>
                  <a:schemeClr val="tx1"/>
                </a:solidFill>
                <a:latin typeface="Arial" panose="020B0604020202020204" pitchFamily="34" charset="0"/>
                <a:cs typeface="Arial" panose="020B0604020202020204" pitchFamily="34" charset="0"/>
              </a:rPr>
              <a:t>giảm</a:t>
            </a:r>
            <a:r>
              <a:rPr lang="vi-VN"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nhẹ</a:t>
            </a:r>
            <a:r>
              <a:rPr lang="en-US" sz="1100" dirty="0">
                <a:solidFill>
                  <a:schemeClr val="tx1"/>
                </a:solidFill>
                <a:latin typeface="Arial" panose="020B0604020202020204" pitchFamily="34" charset="0"/>
                <a:cs typeface="Arial" panose="020B0604020202020204" pitchFamily="34" charset="0"/>
              </a:rPr>
              <a:t> 0,4%</a:t>
            </a:r>
            <a:r>
              <a:rPr lang="vi-VN" sz="1100" dirty="0">
                <a:solidFill>
                  <a:schemeClr val="tx1"/>
                </a:solidFill>
                <a:latin typeface="Arial" panose="020B0604020202020204" pitchFamily="34" charset="0"/>
                <a:cs typeface="Arial" panose="020B0604020202020204" pitchFamily="34" charset="0"/>
              </a:rPr>
              <a:t> ngay trong phiên </a:t>
            </a:r>
            <a:r>
              <a:rPr lang="vi-VN" sz="1100" dirty="0" err="1">
                <a:solidFill>
                  <a:schemeClr val="tx1"/>
                </a:solidFill>
                <a:latin typeface="Arial" panose="020B0604020202020204" pitchFamily="34" charset="0"/>
                <a:cs typeface="Arial" panose="020B0604020202020204" pitchFamily="34" charset="0"/>
              </a:rPr>
              <a:t>đầu</a:t>
            </a:r>
            <a:r>
              <a:rPr lang="vi-VN" sz="1100" dirty="0">
                <a:solidFill>
                  <a:schemeClr val="tx1"/>
                </a:solidFill>
                <a:latin typeface="Arial" panose="020B0604020202020204" pitchFamily="34" charset="0"/>
                <a:cs typeface="Arial" panose="020B0604020202020204" pitchFamily="34" charset="0"/>
              </a:rPr>
              <a:t> </a:t>
            </a:r>
            <a:r>
              <a:rPr lang="vi-VN" sz="1100" dirty="0" err="1">
                <a:solidFill>
                  <a:schemeClr val="tx1"/>
                </a:solidFill>
                <a:latin typeface="Arial" panose="020B0604020202020204" pitchFamily="34" charset="0"/>
                <a:cs typeface="Arial" panose="020B0604020202020204" pitchFamily="34" charset="0"/>
              </a:rPr>
              <a:t>tuầ</a:t>
            </a:r>
            <a:r>
              <a:rPr lang="en-US" sz="1100" dirty="0">
                <a:solidFill>
                  <a:schemeClr val="tx1"/>
                </a:solidFill>
                <a:latin typeface="Arial" panose="020B0604020202020204" pitchFamily="34" charset="0"/>
                <a:cs typeface="Arial" panose="020B0604020202020204" pitchFamily="34" charset="0"/>
              </a:rPr>
              <a:t>n</a:t>
            </a:r>
            <a:r>
              <a:rPr lang="vi-VN" sz="1100" dirty="0">
                <a:solidFill>
                  <a:schemeClr val="tx1"/>
                </a:solidFill>
                <a:latin typeface="Arial" panose="020B0604020202020204" pitchFamily="34" charset="0"/>
                <a:cs typeface="Arial" panose="020B0604020202020204" pitchFamily="34" charset="0"/>
              </a:rPr>
              <a:t>, sau đó phục hồi liên </a:t>
            </a:r>
            <a:r>
              <a:rPr lang="en-US" sz="1100" dirty="0" err="1">
                <a:solidFill>
                  <a:schemeClr val="tx1"/>
                </a:solidFill>
                <a:latin typeface="Arial" panose="020B0604020202020204" pitchFamily="34" charset="0"/>
                <a:cs typeface="Arial" panose="020B0604020202020204" pitchFamily="34" charset="0"/>
              </a:rPr>
              <a:t>tiếp</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những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phiên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sau</a:t>
            </a:r>
            <a:r>
              <a:rPr lang="vi-VN" sz="1100" dirty="0">
                <a:solidFill>
                  <a:schemeClr val="tx1"/>
                </a:solidFill>
                <a:latin typeface="Arial" panose="020B0604020202020204" pitchFamily="34" charset="0"/>
                <a:cs typeface="Arial" panose="020B0604020202020204" pitchFamily="34" charset="0"/>
              </a:rPr>
              <a: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Phiên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cuối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duy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trì</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trạng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thái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tăng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hầu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hết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phiên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có</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lúc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tăng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lên</a:t>
            </a:r>
            <a:r>
              <a:rPr lang="en-US" sz="1100" dirty="0">
                <a:solidFill>
                  <a:schemeClr val="tx1"/>
                </a:solidFill>
                <a:latin typeface="Arial" panose="020B0604020202020204" pitchFamily="34" charset="0"/>
                <a:cs typeface="Arial" panose="020B0604020202020204" pitchFamily="34" charset="0"/>
              </a:rPr>
              <a:t> 1840 </a:t>
            </a:r>
            <a:r>
              <a:rPr lang="en-US" sz="1100" dirty="0" err="1">
                <a:solidFill>
                  <a:schemeClr val="tx1"/>
                </a:solidFill>
                <a:latin typeface="Arial" panose="020B0604020202020204" pitchFamily="34" charset="0"/>
                <a:cs typeface="Arial" panose="020B0604020202020204" pitchFamily="34" charset="0"/>
              </a:rPr>
              <a:t>điểm</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nhiên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thị</a:t>
            </a:r>
            <a:r>
              <a:rPr lang="en-US" sz="1100" dirty="0">
                <a:solidFill>
                  <a:schemeClr val="tx1"/>
                </a:solidFill>
                <a:latin typeface="Arial" panose="020B0604020202020204" pitchFamily="34" charset="0"/>
                <a:cs typeface="Arial" panose="020B0604020202020204" pitchFamily="34" charset="0"/>
              </a:rPr>
              <a:t> tr</a:t>
            </a:r>
            <a:r>
              <a:rPr lang="vi-VN" sz="1100" dirty="0">
                <a:solidFill>
                  <a:schemeClr val="tx1"/>
                </a:solidFill>
                <a:latin typeface="Arial" panose="020B0604020202020204" pitchFamily="34" charset="0"/>
                <a:cs typeface="Arial" panose="020B0604020202020204" pitchFamily="34" charset="0"/>
              </a:rPr>
              <a:t>ư</a:t>
            </a:r>
            <a:r>
              <a:rPr lang="en-US" sz="1100" dirty="0" err="1">
                <a:solidFill>
                  <a:schemeClr val="tx1"/>
                </a:solidFill>
                <a:latin typeface="Arial" panose="020B0604020202020204" pitchFamily="34" charset="0"/>
                <a:cs typeface="Arial" panose="020B0604020202020204" pitchFamily="34" charset="0"/>
              </a:rPr>
              <a:t>ờng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biến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động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mạnh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ATC </a:t>
            </a:r>
            <a:r>
              <a:rPr lang="en-US" sz="1100" dirty="0" err="1">
                <a:solidFill>
                  <a:schemeClr val="tx1"/>
                </a:solidFill>
                <a:latin typeface="Arial" panose="020B0604020202020204" pitchFamily="34" charset="0"/>
                <a:cs typeface="Arial" panose="020B0604020202020204" pitchFamily="34" charset="0"/>
              </a:rPr>
              <a:t>và</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đóng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cửa</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thấp</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nhất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phiên</a:t>
            </a:r>
            <a:r>
              <a:rPr lang="en-US" sz="1100" dirty="0">
                <a:solidFill>
                  <a:schemeClr val="tx1"/>
                </a:solidFill>
                <a:latin typeface="Arial" panose="020B0604020202020204" pitchFamily="34" charset="0"/>
                <a:cs typeface="Arial" panose="020B0604020202020204" pitchFamily="34" charset="0"/>
              </a:rPr>
              <a:t> do </a:t>
            </a:r>
            <a:r>
              <a:rPr lang="en-US" sz="1100" dirty="0" err="1">
                <a:solidFill>
                  <a:schemeClr val="tx1"/>
                </a:solidFill>
                <a:latin typeface="Arial" panose="020B0604020202020204" pitchFamily="34" charset="0"/>
                <a:cs typeface="Arial" panose="020B0604020202020204" pitchFamily="34" charset="0"/>
              </a:rPr>
              <a:t>động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thái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tái</a:t>
            </a:r>
            <a:r>
              <a:rPr lang="en-US" sz="1100" dirty="0">
                <a:solidFill>
                  <a:schemeClr val="tx1"/>
                </a:solidFill>
                <a:latin typeface="Arial" panose="020B0604020202020204" pitchFamily="34" charset="0"/>
                <a:cs typeface="Arial" panose="020B0604020202020204" pitchFamily="34" charset="0"/>
              </a:rPr>
              <a:t> c</a:t>
            </a:r>
            <a:r>
              <a:rPr lang="vi-VN" sz="1100" dirty="0">
                <a:solidFill>
                  <a:schemeClr val="tx1"/>
                </a:solidFill>
                <a:latin typeface="Arial" panose="020B0604020202020204" pitchFamily="34" charset="0"/>
                <a:cs typeface="Arial" panose="020B0604020202020204" pitchFamily="34" charset="0"/>
              </a:rPr>
              <a:t>ơ</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cấu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danh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mục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của</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các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quỹ</a:t>
            </a:r>
            <a:r>
              <a:rPr lang="en-US" sz="1100" dirty="0">
                <a:solidFill>
                  <a:schemeClr val="tx1"/>
                </a:solidFill>
                <a:latin typeface="Arial" panose="020B0604020202020204" pitchFamily="34" charset="0"/>
                <a:cs typeface="Arial" panose="020B0604020202020204" pitchFamily="34" charset="0"/>
              </a:rPr>
              <a:t> ETF.</a:t>
            </a:r>
            <a:r>
              <a:rPr lang="vi-VN" sz="1100" dirty="0">
                <a:solidFill>
                  <a:schemeClr val="tx1"/>
                </a:solidFill>
                <a:latin typeface="Arial" panose="020B0604020202020204" pitchFamily="34" charset="0"/>
                <a:cs typeface="Arial" panose="020B0604020202020204" pitchFamily="34" charset="0"/>
              </a:rPr>
              <a:t> Nhìn chung, </a:t>
            </a:r>
            <a:r>
              <a:rPr lang="en-US" sz="1100" dirty="0" err="1">
                <a:solidFill>
                  <a:schemeClr val="tx1"/>
                </a:solidFill>
                <a:latin typeface="Arial" panose="020B0604020202020204" pitchFamily="34" charset="0"/>
                <a:cs typeface="Arial" panose="020B0604020202020204" pitchFamily="34" charset="0"/>
              </a:rPr>
              <a:t>giao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dịch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này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đã</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tích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cực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tr</a:t>
            </a:r>
            <a:r>
              <a:rPr lang="vi-VN" sz="1100" dirty="0">
                <a:solidFill>
                  <a:schemeClr val="tx1"/>
                </a:solidFill>
                <a:latin typeface="Arial" panose="020B0604020202020204" pitchFamily="34" charset="0"/>
                <a:cs typeface="Arial" panose="020B0604020202020204" pitchFamily="34" charset="0"/>
              </a:rPr>
              <a:t>ư</a:t>
            </a:r>
            <a:r>
              <a:rPr lang="en-US" sz="1100" dirty="0" err="1">
                <a:solidFill>
                  <a:schemeClr val="tx1"/>
                </a:solidFill>
                <a:latin typeface="Arial" panose="020B0604020202020204" pitchFamily="34" charset="0"/>
                <a:cs typeface="Arial" panose="020B0604020202020204" pitchFamily="34" charset="0"/>
              </a:rPr>
              <a:t>ớc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nhưng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còn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yếu</a:t>
            </a:r>
            <a:r>
              <a:rPr lang="en-US" sz="1100" dirty="0">
                <a:solidFill>
                  <a:schemeClr val="tx1"/>
                </a:solidFill>
                <a:latin typeface="Arial" panose="020B0604020202020204" pitchFamily="34" charset="0"/>
                <a:cs typeface="Arial" panose="020B0604020202020204" pitchFamily="34" charset="0"/>
              </a:rPr>
              <a:t> do </a:t>
            </a:r>
            <a:r>
              <a:rPr lang="en-US" sz="1100" dirty="0" err="1">
                <a:solidFill>
                  <a:schemeClr val="tx1"/>
                </a:solidFill>
                <a:latin typeface="Arial" panose="020B0604020202020204" pitchFamily="34" charset="0"/>
                <a:cs typeface="Arial" panose="020B0604020202020204" pitchFamily="34" charset="0"/>
              </a:rPr>
              <a:t>tâm</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lý</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chung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là</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chờ</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đợi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dòng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vốn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nâng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hạng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vào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sau</a:t>
            </a:r>
            <a:r>
              <a:rPr lang="vi-VN" sz="1100" dirty="0">
                <a:solidFill>
                  <a:schemeClr val="tx1"/>
                </a:solidFill>
                <a:latin typeface="Arial" panose="020B0604020202020204" pitchFamily="34" charset="0"/>
                <a:cs typeface="Arial" panose="020B0604020202020204" pitchFamily="34" charset="0"/>
              </a:rPr>
              <a:t>. </a:t>
            </a: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Về vĩ mô </a:t>
            </a:r>
            <a:r>
              <a:rPr lang="en-US" sz="1100" dirty="0" err="1">
                <a:solidFill>
                  <a:schemeClr val="tx1"/>
                </a:solidFill>
                <a:latin typeface="Arial" panose="020B0604020202020204" pitchFamily="34" charset="0"/>
                <a:cs typeface="Arial" panose="020B0604020202020204" pitchFamily="34" charset="0"/>
              </a:rPr>
              <a:t>thế</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giới</a:t>
            </a:r>
            <a:r>
              <a:rPr lang="vi-VN" sz="1100" dirty="0">
                <a:solidFill>
                  <a:schemeClr val="tx1"/>
                </a:solidFill>
                <a:latin typeface="Arial" panose="020B0604020202020204" pitchFamily="34" charset="0"/>
                <a:cs typeface="Arial" panose="020B0604020202020204" pitchFamily="34" charset="0"/>
              </a:rPr>
              <a: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này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nhiều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thông</a:t>
            </a:r>
            <a:r>
              <a:rPr lang="en-US" sz="1100" dirty="0">
                <a:solidFill>
                  <a:schemeClr val="tx1"/>
                </a:solidFill>
                <a:latin typeface="Arial" panose="020B0604020202020204" pitchFamily="34" charset="0"/>
                <a:cs typeface="Arial" panose="020B0604020202020204" pitchFamily="34" charset="0"/>
              </a:rPr>
              <a:t> tin </a:t>
            </a:r>
            <a:r>
              <a:rPr lang="en-US" sz="1100" dirty="0" err="1">
                <a:solidFill>
                  <a:schemeClr val="tx1"/>
                </a:solidFill>
                <a:latin typeface="Arial" panose="020B0604020202020204" pitchFamily="34" charset="0"/>
                <a:cs typeface="Arial" panose="020B0604020202020204" pitchFamily="34" charset="0"/>
              </a:rPr>
              <a:t>quan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trọng</a:t>
            </a:r>
            <a:r>
              <a:rPr lang="en-US" sz="1100" dirty="0">
                <a:solidFill>
                  <a:schemeClr val="tx1"/>
                </a:solidFill>
                <a:latin typeface="Arial" panose="020B0604020202020204" pitchFamily="34" charset="0"/>
                <a:cs typeface="Arial" panose="020B0604020202020204" pitchFamily="34" charset="0"/>
              </a:rPr>
              <a:t> đ</a:t>
            </a:r>
            <a:r>
              <a:rPr lang="vi-VN" sz="1100" dirty="0">
                <a:solidFill>
                  <a:schemeClr val="tx1"/>
                </a:solidFill>
                <a:latin typeface="Arial" panose="020B0604020202020204" pitchFamily="34" charset="0"/>
                <a:cs typeface="Arial" panose="020B0604020202020204" pitchFamily="34" charset="0"/>
              </a:rPr>
              <a:t>ư</a:t>
            </a:r>
            <a:r>
              <a:rPr lang="en-US" sz="1100" dirty="0" err="1">
                <a:solidFill>
                  <a:schemeClr val="tx1"/>
                </a:solidFill>
                <a:latin typeface="Arial" panose="020B0604020202020204" pitchFamily="34" charset="0"/>
                <a:cs typeface="Arial" panose="020B0604020202020204" pitchFamily="34" charset="0"/>
              </a:rPr>
              <a:t>ợc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công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bố</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nh</a:t>
            </a:r>
            <a:r>
              <a:rPr lang="vi-VN" sz="1100" dirty="0">
                <a:solidFill>
                  <a:schemeClr val="tx1"/>
                </a:solidFill>
                <a:latin typeface="Arial" panose="020B0604020202020204" pitchFamily="34" charset="0"/>
                <a:cs typeface="Arial" panose="020B0604020202020204" pitchFamily="34" charset="0"/>
              </a:rPr>
              <a:t>ư</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số</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liệu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lạm</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phát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của</a:t>
            </a:r>
            <a:r>
              <a:rPr lang="en-US" sz="1100" dirty="0">
                <a:solidFill>
                  <a:schemeClr val="tx1"/>
                </a:solidFill>
                <a:latin typeface="Arial" panose="020B0604020202020204" pitchFamily="34" charset="0"/>
                <a:cs typeface="Arial" panose="020B0604020202020204" pitchFamily="34" charset="0"/>
              </a:rPr>
              <a:t> Canada, Anh, </a:t>
            </a:r>
            <a:r>
              <a:rPr lang="en-US" sz="1100" dirty="0" err="1">
                <a:solidFill>
                  <a:schemeClr val="tx1"/>
                </a:solidFill>
                <a:latin typeface="Arial" panose="020B0604020202020204" pitchFamily="34" charset="0"/>
                <a:cs typeface="Arial" panose="020B0604020202020204" pitchFamily="34" charset="0"/>
              </a:rPr>
              <a:t>Nhật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Bản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và</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quyết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định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lãi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suất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của</a:t>
            </a:r>
            <a:r>
              <a:rPr lang="en-US" sz="1100" dirty="0">
                <a:solidFill>
                  <a:schemeClr val="tx1"/>
                </a:solidFill>
                <a:latin typeface="Arial" panose="020B0604020202020204" pitchFamily="34" charset="0"/>
                <a:cs typeface="Arial" panose="020B0604020202020204" pitchFamily="34" charset="0"/>
              </a:rPr>
              <a:t> Fed, BoE, </a:t>
            </a:r>
            <a:r>
              <a:rPr lang="en-US" sz="1100" dirty="0" err="1">
                <a:solidFill>
                  <a:schemeClr val="tx1"/>
                </a:solidFill>
                <a:latin typeface="Arial" panose="020B0604020202020204" pitchFamily="34" charset="0"/>
                <a:cs typeface="Arial" panose="020B0604020202020204" pitchFamily="34" charset="0"/>
              </a:rPr>
              <a:t>BoJ</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Các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thông</a:t>
            </a:r>
            <a:r>
              <a:rPr lang="en-US" sz="1100" dirty="0">
                <a:solidFill>
                  <a:schemeClr val="tx1"/>
                </a:solidFill>
                <a:latin typeface="Arial" panose="020B0604020202020204" pitchFamily="34" charset="0"/>
                <a:cs typeface="Arial" panose="020B0604020202020204" pitchFamily="34" charset="0"/>
              </a:rPr>
              <a:t> tin </a:t>
            </a:r>
            <a:r>
              <a:rPr lang="en-US" sz="1100" dirty="0" err="1">
                <a:solidFill>
                  <a:schemeClr val="tx1"/>
                </a:solidFill>
                <a:latin typeface="Arial" panose="020B0604020202020204" pitchFamily="34" charset="0"/>
                <a:cs typeface="Arial" panose="020B0604020202020204" pitchFamily="34" charset="0"/>
              </a:rPr>
              <a:t>trên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đều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phù</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hợp</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với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dự</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báo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của</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thị</a:t>
            </a:r>
            <a:r>
              <a:rPr lang="en-US" sz="1100" dirty="0">
                <a:solidFill>
                  <a:schemeClr val="tx1"/>
                </a:solidFill>
                <a:latin typeface="Arial" panose="020B0604020202020204" pitchFamily="34" charset="0"/>
                <a:cs typeface="Arial" panose="020B0604020202020204" pitchFamily="34" charset="0"/>
              </a:rPr>
              <a:t> tr</a:t>
            </a:r>
            <a:r>
              <a:rPr lang="vi-VN" sz="1100" dirty="0">
                <a:solidFill>
                  <a:schemeClr val="tx1"/>
                </a:solidFill>
                <a:latin typeface="Arial" panose="020B0604020202020204" pitchFamily="34" charset="0"/>
                <a:cs typeface="Arial" panose="020B0604020202020204" pitchFamily="34" charset="0"/>
              </a:rPr>
              <a:t>ư</a:t>
            </a:r>
            <a:r>
              <a:rPr lang="en-US" sz="1100" dirty="0" err="1">
                <a:solidFill>
                  <a:schemeClr val="tx1"/>
                </a:solidFill>
                <a:latin typeface="Arial" panose="020B0604020202020204" pitchFamily="34" charset="0"/>
                <a:cs typeface="Arial" panose="020B0604020202020204" pitchFamily="34" charset="0"/>
              </a:rPr>
              <a:t>ờng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đó</a:t>
            </a:r>
            <a:r>
              <a:rPr lang="en-US" sz="1100" dirty="0">
                <a:solidFill>
                  <a:schemeClr val="tx1"/>
                </a:solidFill>
                <a:latin typeface="Arial" panose="020B0604020202020204" pitchFamily="34" charset="0"/>
                <a:cs typeface="Arial" panose="020B0604020202020204" pitchFamily="34" charset="0"/>
              </a:rPr>
              <a:t>, Fed </a:t>
            </a:r>
            <a:r>
              <a:rPr lang="en-US" sz="1100" dirty="0" err="1">
                <a:solidFill>
                  <a:schemeClr val="tx1"/>
                </a:solidFill>
                <a:latin typeface="Arial" panose="020B0604020202020204" pitchFamily="34" charset="0"/>
                <a:cs typeface="Arial" panose="020B0604020202020204" pitchFamily="34" charset="0"/>
              </a:rPr>
              <a:t>và</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BoJ</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cùng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tăng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lãi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suất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thêm</a:t>
            </a:r>
            <a:r>
              <a:rPr lang="en-US" sz="1100" dirty="0">
                <a:solidFill>
                  <a:schemeClr val="tx1"/>
                </a:solidFill>
                <a:latin typeface="Arial" panose="020B0604020202020204" pitchFamily="34" charset="0"/>
                <a:cs typeface="Arial" panose="020B0604020202020204" pitchFamily="34" charset="0"/>
              </a:rPr>
              <a:t> 25 </a:t>
            </a:r>
            <a:r>
              <a:rPr lang="en-US" sz="1100" dirty="0" err="1">
                <a:solidFill>
                  <a:schemeClr val="tx1"/>
                </a:solidFill>
                <a:latin typeface="Arial" panose="020B0604020202020204" pitchFamily="34" charset="0"/>
                <a:cs typeface="Arial" panose="020B0604020202020204" pitchFamily="34" charset="0"/>
              </a:rPr>
              <a:t>điểm</a:t>
            </a:r>
            <a:r>
              <a:rPr lang="en-US" sz="1100" dirty="0">
                <a:solidFill>
                  <a:schemeClr val="tx1"/>
                </a:solidFill>
                <a:latin typeface="Arial" panose="020B0604020202020204" pitchFamily="34" charset="0"/>
                <a:cs typeface="Arial" panose="020B0604020202020204" pitchFamily="34" charset="0"/>
              </a:rPr>
              <a:t> %.</a:t>
            </a:r>
            <a:r>
              <a:rPr lang="vi-VN" sz="1100" dirty="0">
                <a:solidFill>
                  <a:schemeClr val="tx1"/>
                </a:solidFill>
                <a:latin typeface="Arial" panose="020B0604020202020204" pitchFamily="34" charset="0"/>
                <a:cs typeface="Arial" panose="020B0604020202020204" pitchFamily="34" charset="0"/>
              </a:rPr>
              <a:t> </a:t>
            </a:r>
            <a:r>
              <a:rPr lang="vi-VN" sz="1100" dirty="0" err="1">
                <a:solidFill>
                  <a:schemeClr val="tx1"/>
                </a:solidFill>
                <a:cs typeface="Arial" panose="020B0604020202020204" pitchFamily="34" charset="0"/>
              </a:rPr>
              <a:t>Về</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diễn</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biến</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địa</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chính</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trị</a:t>
            </a:r>
            <a:r>
              <a:rPr lang="en-US" sz="1100" dirty="0">
                <a:solidFill>
                  <a:schemeClr val="tx1"/>
                </a:solidFill>
                <a:cs typeface="Arial" panose="020B0604020202020204" pitchFamily="34" charset="0"/>
              </a:rPr>
              <a:t>, g</a:t>
            </a:r>
            <a:r>
              <a:rPr lang="vi-VN" sz="1100" dirty="0" err="1">
                <a:solidFill>
                  <a:schemeClr val="tx1"/>
                </a:solidFill>
                <a:cs typeface="Arial" panose="020B0604020202020204" pitchFamily="34" charset="0"/>
              </a:rPr>
              <a:t>iá</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dầu</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Brent</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giảm</a:t>
            </a:r>
            <a:r>
              <a:rPr lang="vi-VN" sz="1100" dirty="0">
                <a:solidFill>
                  <a:schemeClr val="tx1"/>
                </a:solidFill>
                <a:cs typeface="Arial" panose="020B0604020202020204" pitchFamily="34" charset="0"/>
              </a:rPr>
              <a:t> phiên </a:t>
            </a:r>
            <a:r>
              <a:rPr lang="vi-VN" sz="1100" dirty="0" err="1">
                <a:solidFill>
                  <a:schemeClr val="tx1"/>
                </a:solidFill>
                <a:cs typeface="Arial" panose="020B0604020202020204" pitchFamily="34" charset="0"/>
              </a:rPr>
              <a:t>thứ</a:t>
            </a:r>
            <a:r>
              <a:rPr lang="vi-VN" sz="1100" dirty="0">
                <a:solidFill>
                  <a:schemeClr val="tx1"/>
                </a:solidFill>
                <a:cs typeface="Arial" panose="020B0604020202020204" pitchFamily="34" charset="0"/>
              </a:rPr>
              <a:t> ba liên </a:t>
            </a:r>
            <a:r>
              <a:rPr lang="vi-VN" sz="1100" dirty="0" err="1">
                <a:solidFill>
                  <a:schemeClr val="tx1"/>
                </a:solidFill>
                <a:cs typeface="Arial" panose="020B0604020202020204" pitchFamily="34" charset="0"/>
              </a:rPr>
              <a:t>tiếp</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về</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mức</a:t>
            </a:r>
            <a:r>
              <a:rPr lang="vi-VN" sz="1100" dirty="0">
                <a:solidFill>
                  <a:schemeClr val="tx1"/>
                </a:solidFill>
                <a:cs typeface="Arial" panose="020B0604020202020204" pitchFamily="34" charset="0"/>
              </a:rPr>
              <a:t> 102 USD/</a:t>
            </a:r>
            <a:r>
              <a:rPr lang="vi-VN" sz="1100" dirty="0" err="1">
                <a:solidFill>
                  <a:schemeClr val="tx1"/>
                </a:solidFill>
                <a:cs typeface="Arial" panose="020B0604020202020204" pitchFamily="34" charset="0"/>
              </a:rPr>
              <a:t>thùng</a:t>
            </a:r>
            <a:r>
              <a:rPr lang="vi-VN" sz="1100" dirty="0">
                <a:solidFill>
                  <a:schemeClr val="tx1"/>
                </a:solidFill>
                <a:cs typeface="Arial" panose="020B0604020202020204" pitchFamily="34" charset="0"/>
              </a:rPr>
              <a:t> khi lo </a:t>
            </a:r>
            <a:r>
              <a:rPr lang="vi-VN" sz="1100" dirty="0" err="1">
                <a:solidFill>
                  <a:schemeClr val="tx1"/>
                </a:solidFill>
                <a:cs typeface="Arial" panose="020B0604020202020204" pitchFamily="34" charset="0"/>
              </a:rPr>
              <a:t>ngại</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gián</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đoạn</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nguồn</a:t>
            </a:r>
            <a:r>
              <a:rPr lang="vi-VN" sz="1100" dirty="0">
                <a:solidFill>
                  <a:schemeClr val="tx1"/>
                </a:solidFill>
                <a:cs typeface="Arial" panose="020B0604020202020204" pitchFamily="34" charset="0"/>
              </a:rPr>
              <a:t> cung </a:t>
            </a:r>
            <a:r>
              <a:rPr lang="vi-VN" sz="1100" dirty="0" err="1">
                <a:solidFill>
                  <a:schemeClr val="tx1"/>
                </a:solidFill>
                <a:cs typeface="Arial" panose="020B0604020202020204" pitchFamily="34" charset="0"/>
              </a:rPr>
              <a:t>hạ</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nhiệt</a:t>
            </a:r>
            <a:r>
              <a:rPr lang="vi-VN" sz="1100" dirty="0">
                <a:solidFill>
                  <a:schemeClr val="tx1"/>
                </a:solidFill>
                <a:cs typeface="Arial" panose="020B0604020202020204" pitchFamily="34" charset="0"/>
              </a:rPr>
              <a:t>. Ả </a:t>
            </a:r>
            <a:r>
              <a:rPr lang="vi-VN" sz="1100" dirty="0" err="1">
                <a:solidFill>
                  <a:schemeClr val="tx1"/>
                </a:solidFill>
                <a:cs typeface="Arial" panose="020B0604020202020204" pitchFamily="34" charset="0"/>
              </a:rPr>
              <a:t>Rập</a:t>
            </a:r>
            <a:r>
              <a:rPr lang="vi-VN" sz="1100" dirty="0">
                <a:solidFill>
                  <a:schemeClr val="tx1"/>
                </a:solidFill>
                <a:cs typeface="Arial" panose="020B0604020202020204" pitchFamily="34" charset="0"/>
              </a:rPr>
              <a:t> Xê-</a:t>
            </a:r>
            <a:r>
              <a:rPr lang="vi-VN" sz="1100" dirty="0" err="1">
                <a:solidFill>
                  <a:schemeClr val="tx1"/>
                </a:solidFill>
                <a:cs typeface="Arial" panose="020B0604020202020204" pitchFamily="34" charset="0"/>
              </a:rPr>
              <a:t>út</a:t>
            </a:r>
            <a:r>
              <a:rPr lang="vi-VN" sz="1100" dirty="0">
                <a:solidFill>
                  <a:schemeClr val="tx1"/>
                </a:solidFill>
                <a:cs typeface="Arial" panose="020B0604020202020204" pitchFamily="34" charset="0"/>
              </a:rPr>
              <a:t> đang </a:t>
            </a:r>
            <a:r>
              <a:rPr lang="vi-VN" sz="1100" dirty="0" err="1">
                <a:solidFill>
                  <a:schemeClr val="tx1"/>
                </a:solidFill>
                <a:cs typeface="Arial" panose="020B0604020202020204" pitchFamily="34" charset="0"/>
              </a:rPr>
              <a:t>gấp</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rút</a:t>
            </a:r>
            <a:r>
              <a:rPr lang="vi-VN" sz="1100" dirty="0">
                <a:solidFill>
                  <a:schemeClr val="tx1"/>
                </a:solidFill>
                <a:cs typeface="Arial" panose="020B0604020202020204" pitchFamily="34" charset="0"/>
              </a:rPr>
              <a:t> khôi </a:t>
            </a:r>
            <a:r>
              <a:rPr lang="vi-VN" sz="1100" dirty="0" err="1">
                <a:solidFill>
                  <a:schemeClr val="tx1"/>
                </a:solidFill>
                <a:cs typeface="Arial" panose="020B0604020202020204" pitchFamily="34" charset="0"/>
              </a:rPr>
              <a:t>phục</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đường</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ống</a:t>
            </a:r>
            <a:r>
              <a:rPr lang="vi-VN" sz="1100" dirty="0">
                <a:solidFill>
                  <a:schemeClr val="tx1"/>
                </a:solidFill>
                <a:cs typeface="Arial" panose="020B0604020202020204" pitchFamily="34" charset="0"/>
              </a:rPr>
              <a:t> Đông - Tây </a:t>
            </a:r>
            <a:r>
              <a:rPr lang="vi-VN" sz="1100" dirty="0" err="1">
                <a:solidFill>
                  <a:schemeClr val="tx1"/>
                </a:solidFill>
                <a:cs typeface="Arial" panose="020B0604020202020204" pitchFamily="34" charset="0"/>
              </a:rPr>
              <a:t>và</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tạm</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thời</a:t>
            </a:r>
            <a:r>
              <a:rPr lang="vi-VN"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chuyển</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dịch</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một</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phần</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sản</a:t>
            </a:r>
            <a:r>
              <a:rPr lang="en-US" sz="1100" dirty="0">
                <a:solidFill>
                  <a:schemeClr val="tx1"/>
                </a:solidFill>
                <a:cs typeface="Arial" panose="020B0604020202020204" pitchFamily="34" charset="0"/>
              </a:rPr>
              <a:t> l</a:t>
            </a:r>
            <a:r>
              <a:rPr lang="vi-VN" sz="1100" dirty="0">
                <a:solidFill>
                  <a:schemeClr val="tx1"/>
                </a:solidFill>
                <a:cs typeface="Arial" panose="020B0604020202020204" pitchFamily="34" charset="0"/>
              </a:rPr>
              <a:t>ư</a:t>
            </a:r>
            <a:r>
              <a:rPr lang="en-US" sz="1100" dirty="0" err="1">
                <a:solidFill>
                  <a:schemeClr val="tx1"/>
                </a:solidFill>
                <a:cs typeface="Arial" panose="020B0604020202020204" pitchFamily="34" charset="0"/>
              </a:rPr>
              <a:t>ợng</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xuất</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khẩu</a:t>
            </a:r>
            <a:r>
              <a:rPr lang="vi-VN" sz="1100" dirty="0">
                <a:solidFill>
                  <a:schemeClr val="tx1"/>
                </a:solidFill>
                <a:cs typeface="Arial" panose="020B0604020202020204" pitchFamily="34" charset="0"/>
              </a:rPr>
              <a:t> </a:t>
            </a:r>
            <a:r>
              <a:rPr lang="en-US" sz="1100" dirty="0">
                <a:solidFill>
                  <a:schemeClr val="tx1"/>
                </a:solidFill>
                <a:cs typeface="Arial" panose="020B0604020202020204" pitchFamily="34" charset="0"/>
              </a:rPr>
              <a:t>quay </a:t>
            </a:r>
            <a:r>
              <a:rPr lang="en-US" sz="1100" dirty="0" err="1">
                <a:solidFill>
                  <a:schemeClr val="tx1"/>
                </a:solidFill>
                <a:cs typeface="Arial" panose="020B0604020202020204" pitchFamily="34" charset="0"/>
              </a:rPr>
              <a:t>lại</a:t>
            </a:r>
            <a:r>
              <a:rPr lang="vi-VN" sz="1100" dirty="0">
                <a:solidFill>
                  <a:schemeClr val="tx1"/>
                </a:solidFill>
                <a:cs typeface="Arial" panose="020B0604020202020204" pitchFamily="34" charset="0"/>
              </a:rPr>
              <a:t> eo </a:t>
            </a:r>
            <a:r>
              <a:rPr lang="vi-VN" sz="1100" dirty="0" err="1">
                <a:solidFill>
                  <a:schemeClr val="tx1"/>
                </a:solidFill>
                <a:cs typeface="Arial" panose="020B0604020202020204" pitchFamily="34" charset="0"/>
              </a:rPr>
              <a:t>biển</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Hormuz</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để</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phòng</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ngừa</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rủi</a:t>
            </a:r>
            <a:r>
              <a:rPr lang="vi-VN" sz="1100" dirty="0">
                <a:solidFill>
                  <a:schemeClr val="tx1"/>
                </a:solidFill>
                <a:cs typeface="Arial" panose="020B0604020202020204" pitchFamily="34" charset="0"/>
              </a:rPr>
              <a:t> ro. </a:t>
            </a:r>
            <a:r>
              <a:rPr lang="vi-VN" sz="1100" dirty="0" err="1">
                <a:solidFill>
                  <a:schemeClr val="tx1"/>
                </a:solidFill>
                <a:cs typeface="Arial" panose="020B0604020202020204" pitchFamily="34" charset="0"/>
              </a:rPr>
              <a:t>Cùng</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lúc</a:t>
            </a:r>
            <a:r>
              <a:rPr lang="vi-VN" sz="1100" dirty="0">
                <a:solidFill>
                  <a:schemeClr val="tx1"/>
                </a:solidFill>
                <a:cs typeface="Arial" panose="020B0604020202020204" pitchFamily="34" charset="0"/>
              </a:rPr>
              <a:t>, Trung </a:t>
            </a:r>
            <a:r>
              <a:rPr lang="vi-VN" sz="1100" dirty="0" err="1">
                <a:solidFill>
                  <a:schemeClr val="tx1"/>
                </a:solidFill>
                <a:cs typeface="Arial" panose="020B0604020202020204" pitchFamily="34" charset="0"/>
              </a:rPr>
              <a:t>Quốc</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thúc</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ép</a:t>
            </a:r>
            <a:r>
              <a:rPr lang="vi-VN" sz="1100" dirty="0">
                <a:solidFill>
                  <a:schemeClr val="tx1"/>
                </a:solidFill>
                <a:cs typeface="Arial" panose="020B0604020202020204" pitchFamily="34" charset="0"/>
              </a:rPr>
              <a:t> Iran </a:t>
            </a:r>
            <a:r>
              <a:rPr lang="vi-VN" sz="1100" dirty="0" err="1">
                <a:solidFill>
                  <a:schemeClr val="tx1"/>
                </a:solidFill>
                <a:cs typeface="Arial" panose="020B0604020202020204" pitchFamily="34" charset="0"/>
              </a:rPr>
              <a:t>kiềm</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chế</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Houthi</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còn</a:t>
            </a:r>
            <a:r>
              <a:rPr lang="vi-VN"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Tổng</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thống</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Trump</a:t>
            </a:r>
            <a:r>
              <a:rPr lang="vi-VN" sz="1100" dirty="0">
                <a:solidFill>
                  <a:schemeClr val="tx1"/>
                </a:solidFill>
                <a:cs typeface="Arial" panose="020B0604020202020204" pitchFamily="34" charset="0"/>
              </a:rPr>
              <a:t> đang cân </a:t>
            </a:r>
            <a:r>
              <a:rPr lang="vi-VN" sz="1100" dirty="0" err="1">
                <a:solidFill>
                  <a:schemeClr val="tx1"/>
                </a:solidFill>
                <a:cs typeface="Arial" panose="020B0604020202020204" pitchFamily="34" charset="0"/>
              </a:rPr>
              <a:t>nhắc</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khả</a:t>
            </a:r>
            <a:r>
              <a:rPr lang="vi-VN" sz="1100" dirty="0">
                <a:solidFill>
                  <a:schemeClr val="tx1"/>
                </a:solidFill>
                <a:cs typeface="Arial" panose="020B0604020202020204" pitchFamily="34" charset="0"/>
              </a:rPr>
              <a:t> năng </a:t>
            </a:r>
            <a:r>
              <a:rPr lang="vi-VN" sz="1100" dirty="0" err="1">
                <a:solidFill>
                  <a:schemeClr val="tx1"/>
                </a:solidFill>
                <a:cs typeface="Arial" panose="020B0604020202020204" pitchFamily="34" charset="0"/>
              </a:rPr>
              <a:t>tái</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tấn</a:t>
            </a:r>
            <a:r>
              <a:rPr lang="vi-VN" sz="1100" dirty="0">
                <a:solidFill>
                  <a:schemeClr val="tx1"/>
                </a:solidFill>
                <a:cs typeface="Arial" panose="020B0604020202020204" pitchFamily="34" charset="0"/>
              </a:rPr>
              <a:t> công Iran </a:t>
            </a:r>
            <a:r>
              <a:rPr lang="vi-VN" sz="1100" dirty="0" err="1">
                <a:solidFill>
                  <a:schemeClr val="tx1"/>
                </a:solidFill>
                <a:cs typeface="Arial" panose="020B0604020202020204" pitchFamily="34" charset="0"/>
              </a:rPr>
              <a:t>trước</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cuộc</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gặp</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các</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lãnh</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đạo</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vùng</a:t>
            </a:r>
            <a:r>
              <a:rPr lang="vi-VN" sz="1100" dirty="0">
                <a:solidFill>
                  <a:schemeClr val="tx1"/>
                </a:solidFill>
                <a:cs typeface="Arial" panose="020B0604020202020204" pitchFamily="34" charset="0"/>
              </a:rPr>
              <a:t> </a:t>
            </a:r>
            <a:r>
              <a:rPr lang="vi-VN" sz="1100" dirty="0" err="1">
                <a:solidFill>
                  <a:schemeClr val="tx1"/>
                </a:solidFill>
                <a:cs typeface="Arial" panose="020B0604020202020204" pitchFamily="34" charset="0"/>
              </a:rPr>
              <a:t>Vịnh</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trong</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tuần</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sau</a:t>
            </a:r>
            <a:r>
              <a:rPr lang="en-US" sz="1100" dirty="0">
                <a:solidFill>
                  <a:schemeClr val="tx1"/>
                </a:solidFill>
                <a:cs typeface="Arial" panose="020B0604020202020204" pitchFamily="34" charset="0"/>
              </a:rPr>
              <a:t>.</a:t>
            </a:r>
            <a:r>
              <a:rPr lang="vi-VN"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Phản</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ứng</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của</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thị</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trường</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trước</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dòng</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vốn</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nâng</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hạng</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trong</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tuần</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tới</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là</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yếu</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tố</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quyết</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định</a:t>
            </a:r>
            <a:r>
              <a:rPr lang="en-US" sz="1100" dirty="0">
                <a:solidFill>
                  <a:schemeClr val="tx1"/>
                </a:solidFill>
                <a:cs typeface="Arial" panose="020B0604020202020204" pitchFamily="34" charset="0"/>
              </a:rPr>
              <a:t> xu </a:t>
            </a:r>
            <a:r>
              <a:rPr lang="en-US" sz="1100" dirty="0" err="1">
                <a:solidFill>
                  <a:schemeClr val="tx1"/>
                </a:solidFill>
                <a:cs typeface="Arial" panose="020B0604020202020204" pitchFamily="34" charset="0"/>
              </a:rPr>
              <a:t>hướng</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ngắn</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hạn</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của</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chỉ</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số</a:t>
            </a:r>
            <a:r>
              <a:rPr lang="en-US" sz="1100" dirty="0">
                <a:solidFill>
                  <a:schemeClr val="tx1"/>
                </a:solidFill>
                <a:cs typeface="Arial" panose="020B0604020202020204" pitchFamily="34" charset="0"/>
              </a:rPr>
              <a:t>. </a:t>
            </a:r>
            <a:r>
              <a:rPr lang="vi-VN" sz="1100" dirty="0">
                <a:solidFill>
                  <a:schemeClr val="tx1"/>
                </a:solidFill>
                <a:cs typeface="Arial" panose="020B0604020202020204" pitchFamily="34" charset="0"/>
              </a:rPr>
              <a:t>Dự bá</a:t>
            </a:r>
            <a:r>
              <a:rPr lang="en-US" sz="1100" dirty="0">
                <a:solidFill>
                  <a:schemeClr val="tx1"/>
                </a:solidFill>
                <a:cs typeface="Arial" panose="020B0604020202020204" pitchFamily="34" charset="0"/>
              </a:rPr>
              <a:t>o </a:t>
            </a:r>
            <a:r>
              <a:rPr lang="en-US" sz="1100" dirty="0" err="1">
                <a:solidFill>
                  <a:schemeClr val="tx1"/>
                </a:solidFill>
                <a:cs typeface="Arial" panose="020B0604020202020204" pitchFamily="34" charset="0"/>
              </a:rPr>
              <a:t>dòng</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vốn</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ngoại</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sẽ</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giúp</a:t>
            </a:r>
            <a:r>
              <a:rPr lang="en-US" sz="1100" dirty="0">
                <a:solidFill>
                  <a:schemeClr val="tx1"/>
                </a:solidFill>
                <a:cs typeface="Arial" panose="020B0604020202020204" pitchFamily="34" charset="0"/>
              </a:rPr>
              <a:t> VNINDEX </a:t>
            </a:r>
            <a:r>
              <a:rPr lang="en-US" sz="1100" dirty="0" err="1">
                <a:solidFill>
                  <a:schemeClr val="tx1"/>
                </a:solidFill>
                <a:cs typeface="Arial" panose="020B0604020202020204" pitchFamily="34" charset="0"/>
              </a:rPr>
              <a:t>tăng</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trong</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tuần</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sau</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nhưng</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với</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xung</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lực</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yếu</a:t>
            </a:r>
            <a:r>
              <a:rPr lang="en-US" sz="1100" dirty="0">
                <a:solidFill>
                  <a:schemeClr val="tx1"/>
                </a:solidFill>
                <a:cs typeface="Arial" panose="020B0604020202020204" pitchFamily="34" charset="0"/>
              </a:rPr>
              <a:t>, dao </a:t>
            </a:r>
            <a:r>
              <a:rPr lang="en-US" sz="1100" dirty="0" err="1">
                <a:solidFill>
                  <a:schemeClr val="tx1"/>
                </a:solidFill>
                <a:cs typeface="Arial" panose="020B0604020202020204" pitchFamily="34" charset="0"/>
              </a:rPr>
              <a:t>động</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trong</a:t>
            </a:r>
            <a:r>
              <a:rPr lang="en-US" sz="1100" dirty="0">
                <a:solidFill>
                  <a:schemeClr val="tx1"/>
                </a:solidFill>
                <a:cs typeface="Arial" panose="020B0604020202020204" pitchFamily="34" charset="0"/>
              </a:rPr>
              <a:t> </a:t>
            </a:r>
            <a:r>
              <a:rPr lang="en-US" sz="1100" dirty="0" err="1">
                <a:solidFill>
                  <a:schemeClr val="tx1"/>
                </a:solidFill>
                <a:cs typeface="Arial" panose="020B0604020202020204" pitchFamily="34" charset="0"/>
              </a:rPr>
              <a:t>khoảng</a:t>
            </a:r>
            <a:r>
              <a:rPr lang="en-US" sz="1100" dirty="0">
                <a:solidFill>
                  <a:schemeClr val="tx1"/>
                </a:solidFill>
                <a:cs typeface="Arial" panose="020B0604020202020204" pitchFamily="34" charset="0"/>
              </a:rPr>
              <a:t> 1815 – 1870 </a:t>
            </a:r>
            <a:r>
              <a:rPr lang="en-US" sz="1100" dirty="0" err="1">
                <a:solidFill>
                  <a:schemeClr val="tx1"/>
                </a:solidFill>
                <a:cs typeface="Arial" panose="020B0604020202020204" pitchFamily="34" charset="0"/>
              </a:rPr>
              <a:t>điểm</a:t>
            </a:r>
            <a:r>
              <a:rPr lang="en-US" sz="1100" dirty="0">
                <a:solidFill>
                  <a:schemeClr val="tx1"/>
                </a:solidFill>
                <a:cs typeface="Arial" panose="020B0604020202020204" pitchFamily="34" charset="0"/>
              </a:rPr>
              <a:t>. </a:t>
            </a:r>
            <a:endParaRPr lang="vi-VN" sz="1100" dirty="0">
              <a:solidFill>
                <a:schemeClr val="tx1"/>
              </a:solidFill>
              <a:cs typeface="Arial" panose="020B0604020202020204" pitchFamily="34" charset="0"/>
            </a:endParaRPr>
          </a:p>
          <a:p>
            <a:pPr marL="171450" indent="-171450" algn="just">
              <a:lnSpc>
                <a:spcPct val="150000"/>
              </a:lnSpc>
              <a:buFont typeface="Arial" panose="020B0604020202020204" pitchFamily="34" charset="0"/>
              <a:buChar char="•"/>
            </a:pPr>
            <a:r>
              <a:rPr lang="en-US" sz="1100" dirty="0">
                <a:solidFill>
                  <a:schemeClr val="tx1"/>
                </a:solidFill>
                <a:cs typeface="Arial" panose="020B0604020202020204" pitchFamily="34" charset="0"/>
              </a:rPr>
              <a:t>X</a:t>
            </a:r>
            <a:r>
              <a:rPr lang="vi-VN" sz="1100" dirty="0">
                <a:solidFill>
                  <a:schemeClr val="tx1"/>
                </a:solidFill>
                <a:cs typeface="Arial" panose="020B0604020202020204" pitchFamily="34" charset="0"/>
              </a:rPr>
              <a:t>ét về đóng góp của nhóm Vingroup, từ đầu năm nhóm VIC, VHM, VRE và VPL đóng góp tăng 12</a:t>
            </a:r>
            <a:r>
              <a:rPr lang="en-US" sz="1100" dirty="0">
                <a:solidFill>
                  <a:schemeClr val="tx1"/>
                </a:solidFill>
                <a:cs typeface="Arial" panose="020B0604020202020204" pitchFamily="34" charset="0"/>
              </a:rPr>
              <a:t>2</a:t>
            </a:r>
            <a:r>
              <a:rPr lang="vi-VN" sz="1100" dirty="0">
                <a:solidFill>
                  <a:schemeClr val="tx1"/>
                </a:solidFill>
                <a:cs typeface="Arial" panose="020B0604020202020204" pitchFamily="34" charset="0"/>
              </a:rPr>
              <a:t> điểm trong khi</a:t>
            </a:r>
            <a:r>
              <a:rPr lang="en-US" sz="1100" dirty="0">
                <a:solidFill>
                  <a:schemeClr val="tx1"/>
                </a:solidFill>
                <a:cs typeface="Arial" panose="020B0604020202020204" pitchFamily="34" charset="0"/>
              </a:rPr>
              <a:t> </a:t>
            </a:r>
            <a:r>
              <a:rPr lang="vi-VN" sz="1100" dirty="0">
                <a:solidFill>
                  <a:schemeClr val="tx1"/>
                </a:solidFill>
                <a:cs typeface="Arial" panose="020B0604020202020204" pitchFamily="34" charset="0"/>
              </a:rPr>
              <a:t>VNINDEX tăng </a:t>
            </a:r>
            <a:r>
              <a:rPr lang="en-US" sz="1100" dirty="0">
                <a:solidFill>
                  <a:schemeClr val="tx1"/>
                </a:solidFill>
                <a:cs typeface="Arial" panose="020B0604020202020204" pitchFamily="34" charset="0"/>
              </a:rPr>
              <a:t>3</a:t>
            </a:r>
            <a:r>
              <a:rPr lang="vi-VN" sz="1100" dirty="0">
                <a:solidFill>
                  <a:schemeClr val="tx1"/>
                </a:solidFill>
                <a:cs typeface="Arial" panose="020B0604020202020204" pitchFamily="34" charset="0"/>
              </a:rPr>
              <a:t>1 điểm. Từ đầu tháng, nhóm đóng góp tăng </a:t>
            </a:r>
            <a:r>
              <a:rPr lang="en-US" sz="1100" dirty="0">
                <a:solidFill>
                  <a:schemeClr val="tx1"/>
                </a:solidFill>
                <a:cs typeface="Arial" panose="020B0604020202020204" pitchFamily="34" charset="0"/>
              </a:rPr>
              <a:t>6</a:t>
            </a:r>
            <a:r>
              <a:rPr lang="vi-VN" sz="1100" dirty="0">
                <a:solidFill>
                  <a:schemeClr val="tx1"/>
                </a:solidFill>
                <a:cs typeface="Arial" panose="020B0604020202020204" pitchFamily="34" charset="0"/>
              </a:rPr>
              <a:t> điểm, so với mức giảm </a:t>
            </a:r>
            <a:r>
              <a:rPr lang="en-US" sz="1100" dirty="0">
                <a:solidFill>
                  <a:schemeClr val="tx1"/>
                </a:solidFill>
                <a:cs typeface="Arial" panose="020B0604020202020204" pitchFamily="34" charset="0"/>
              </a:rPr>
              <a:t>16</a:t>
            </a:r>
            <a:r>
              <a:rPr lang="vi-VN" sz="1100" dirty="0">
                <a:solidFill>
                  <a:schemeClr val="tx1"/>
                </a:solidFill>
                <a:cs typeface="Arial" panose="020B0604020202020204" pitchFamily="34" charset="0"/>
              </a:rPr>
              <a:t> điểm của VNINDEX.</a:t>
            </a:r>
            <a:r>
              <a:rPr lang="en-US" sz="1100" dirty="0">
                <a:solidFill>
                  <a:schemeClr val="tx1"/>
                </a:solidFill>
                <a:cs typeface="Arial" panose="020B0604020202020204" pitchFamily="34" charset="0"/>
              </a:rPr>
              <a:t> </a:t>
            </a:r>
            <a:r>
              <a:rPr lang="vi-VN" sz="1100" dirty="0">
                <a:solidFill>
                  <a:schemeClr val="tx1"/>
                </a:solidFill>
                <a:cs typeface="Arial" panose="020B0604020202020204" pitchFamily="34" charset="0"/>
              </a:rPr>
              <a:t>Nếu loại trừ nhóm Vingroup, điểm số của VNINDEX hiện tại là 1.3</a:t>
            </a:r>
            <a:r>
              <a:rPr lang="en-US" sz="1100" dirty="0">
                <a:solidFill>
                  <a:schemeClr val="tx1"/>
                </a:solidFill>
                <a:cs typeface="Arial" panose="020B0604020202020204" pitchFamily="34" charset="0"/>
              </a:rPr>
              <a:t>39</a:t>
            </a:r>
            <a:r>
              <a:rPr lang="vi-VN" sz="1100" dirty="0">
                <a:solidFill>
                  <a:schemeClr val="tx1"/>
                </a:solidFill>
                <a:cs typeface="Arial" panose="020B0604020202020204" pitchFamily="34" charset="0"/>
              </a:rPr>
              <a:t> điểm</a:t>
            </a:r>
            <a:r>
              <a:rPr lang="en-US" sz="1100" dirty="0">
                <a:solidFill>
                  <a:schemeClr val="tx1"/>
                </a:solidFill>
                <a:cs typeface="Arial" panose="020B0604020202020204" pitchFamily="34" charset="0"/>
              </a:rPr>
              <a:t>.</a:t>
            </a:r>
            <a:endParaRPr lang="en-US" sz="1100" dirty="0">
              <a:solidFill>
                <a:schemeClr val="tx1"/>
              </a:solidFill>
              <a:latin typeface="Arial" panose="020B0604020202020204" pitchFamily="34" charset="0"/>
              <a:cs typeface="Arial" panose="020B0604020202020204" pitchFamily="34" charset="0"/>
            </a:endParaRPr>
          </a:p>
        </p:txBody>
      </p:sp>
      <p:sp>
        <p:nvSpPr>
          <p:cNvPr id="13" name="Slide Number Placeholder 12">
            <a:extLst>
              <a:ext uri="{FF2B5EF4-FFF2-40B4-BE49-F238E27FC236}">
                <a16:creationId xmlns:a16="http://schemas.microsoft.com/office/drawing/2014/main" id="{846BBBE7-79B2-883E-C577-2EC6A3256FAB}"/>
              </a:ext>
            </a:extLst>
          </p:cNvPr>
          <p:cNvSpPr>
            <a:spLocks noGrp="1"/>
          </p:cNvSpPr>
          <p:nvPr>
            <p:ph type="sldNum" sz="quarter" idx="4"/>
          </p:nvPr>
        </p:nvSpPr>
        <p:spPr/>
        <p:txBody>
          <a:bodyPr/>
          <a:lstStyle/>
          <a:p>
            <a:fld id="{95CC1D26-A9BD-4BDE-BDD9-08EDBAE96860}" type="slidenum">
              <a:rPr lang="en-GB" smtClean="0">
                <a:solidFill>
                  <a:srgbClr val="313131"/>
                </a:solidFill>
                <a:latin typeface="Arial" panose="020B0604020202020204" pitchFamily="34" charset="0"/>
                <a:cs typeface="Arial" panose="020B0604020202020204" pitchFamily="34" charset="0"/>
              </a:rPr>
              <a:pPr/>
              <a:t>3</a:t>
            </a:fld>
            <a:endParaRPr lang="en-GB">
              <a:solidFill>
                <a:srgbClr val="313131"/>
              </a:solidFill>
              <a:latin typeface="Arial" panose="020B0604020202020204" pitchFamily="34" charset="0"/>
              <a:cs typeface="Arial" panose="020B0604020202020204" pitchFamily="34" charset="0"/>
            </a:endParaRPr>
          </a:p>
        </p:txBody>
      </p:sp>
      <p:pic>
        <p:nvPicPr>
          <p:cNvPr id="7" name="Picture 1">
            <a:extLst>
              <a:ext uri="{FF2B5EF4-FFF2-40B4-BE49-F238E27FC236}">
                <a16:creationId xmlns:a16="http://schemas.microsoft.com/office/drawing/2014/main" id="{CBF6CF0A-2698-414C-9F68-6C39CE4791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757281" y="763728"/>
            <a:ext cx="4248525" cy="2913765"/>
          </a:xfrm>
          <a:prstGeom prst="rect">
            <a:avLst/>
          </a:prstGeom>
        </p:spPr>
      </p:pic>
      <p:graphicFrame>
        <p:nvGraphicFramePr>
          <p:cNvPr id="2" name="Chart 1">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1340476448"/>
              </p:ext>
            </p:extLst>
          </p:nvPr>
        </p:nvGraphicFramePr>
        <p:xfrm>
          <a:off x="7757281" y="3677493"/>
          <a:ext cx="4248525" cy="294142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457659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THỊ TRƯỜNG TUẦN 14/09 – 18/09/2026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75870" y="872464"/>
            <a:ext cx="6773859" cy="5746449"/>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Biến động các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nhóm</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ngành</a:t>
            </a: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160000"/>
              </a:lnSpc>
            </a:pPr>
            <a:endParaRPr lang="en-US" sz="1100" dirty="0">
              <a:latin typeface="Arial" panose="020B0604020202020204" pitchFamily="34" charset="0"/>
              <a:cs typeface="Arial" panose="020B0604020202020204" pitchFamily="34" charset="0"/>
            </a:endParaRP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Xét về các nhóm ngành, sắc xanh chiếm ưu thế trong tuần với 14/18 nhóm ngành cấp 2 tăng giá và 4/18 nhóm ngành giảm giá. </a:t>
            </a:r>
            <a:r>
              <a:rPr lang="en-US" sz="1100" dirty="0" err="1">
                <a:solidFill>
                  <a:schemeClr val="tx1"/>
                </a:solidFill>
                <a:latin typeface="Arial" panose="020B0604020202020204" pitchFamily="34" charset="0"/>
                <a:cs typeface="Arial" panose="020B0604020202020204" pitchFamily="34" charset="0"/>
              </a:rPr>
              <a:t>Dầu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khí</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và</a:t>
            </a:r>
            <a:r>
              <a:rPr lang="en-US" sz="1100" dirty="0">
                <a:solidFill>
                  <a:schemeClr val="tx1"/>
                </a:solidFill>
                <a:latin typeface="Arial" panose="020B0604020202020204" pitchFamily="34" charset="0"/>
                <a:cs typeface="Arial" panose="020B0604020202020204" pitchFamily="34" charset="0"/>
              </a:rPr>
              <a:t> Bảo </a:t>
            </a:r>
            <a:r>
              <a:rPr lang="en-US" sz="1100" dirty="0" err="1">
                <a:solidFill>
                  <a:schemeClr val="tx1"/>
                </a:solidFill>
                <a:latin typeface="Arial" panose="020B0604020202020204" pitchFamily="34" charset="0"/>
                <a:cs typeface="Arial" panose="020B0604020202020204" pitchFamily="34" charset="0"/>
              </a:rPr>
              <a:t>hiểm</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dẫn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đầu</a:t>
            </a:r>
            <a:r>
              <a:rPr lang="vi-VN" sz="1100" dirty="0">
                <a:solidFill>
                  <a:schemeClr val="tx1"/>
                </a:solidFill>
                <a:latin typeface="Arial" panose="020B0604020202020204" pitchFamily="34" charset="0"/>
                <a:cs typeface="Arial" panose="020B0604020202020204" pitchFamily="34" charset="0"/>
              </a:rPr>
              <a:t>, tăng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lượt</a:t>
            </a:r>
            <a:r>
              <a:rPr lang="en-US" sz="1100" dirty="0">
                <a:solidFill>
                  <a:schemeClr val="tx1"/>
                </a:solidFill>
                <a:latin typeface="Arial" panose="020B0604020202020204" pitchFamily="34" charset="0"/>
                <a:cs typeface="Arial" panose="020B0604020202020204" pitchFamily="34" charset="0"/>
              </a:rPr>
              <a:t> 8,4% </a:t>
            </a:r>
            <a:r>
              <a:rPr lang="en-US" sz="1100" dirty="0" err="1">
                <a:solidFill>
                  <a:schemeClr val="tx1"/>
                </a:solidFill>
                <a:latin typeface="Arial" panose="020B0604020202020204" pitchFamily="34" charset="0"/>
                <a:cs typeface="Arial" panose="020B0604020202020204" pitchFamily="34" charset="0"/>
              </a:rPr>
              <a:t>và</a:t>
            </a:r>
            <a:r>
              <a:rPr lang="en-US" sz="1100" dirty="0">
                <a:solidFill>
                  <a:schemeClr val="tx1"/>
                </a:solidFill>
                <a:latin typeface="Arial" panose="020B0604020202020204" pitchFamily="34" charset="0"/>
                <a:cs typeface="Arial" panose="020B0604020202020204" pitchFamily="34" charset="0"/>
              </a:rPr>
              <a:t> 5,9%</a:t>
            </a:r>
            <a:r>
              <a:rPr lang="vi-VN" sz="1100" dirty="0">
                <a:solidFill>
                  <a:schemeClr val="tx1"/>
                </a:solidFill>
                <a:latin typeface="Arial" panose="020B0604020202020204" pitchFamily="34" charset="0"/>
                <a:cs typeface="Arial" panose="020B0604020202020204" pitchFamily="34" charset="0"/>
              </a:rPr>
              <a:t>. Ở chiều ngược lại, </a:t>
            </a:r>
            <a:r>
              <a:rPr lang="en-US" sz="1100" dirty="0">
                <a:solidFill>
                  <a:schemeClr val="tx1"/>
                </a:solidFill>
                <a:latin typeface="Arial" panose="020B0604020202020204" pitchFamily="34" charset="0"/>
                <a:cs typeface="Arial" panose="020B0604020202020204" pitchFamily="34" charset="0"/>
              </a:rPr>
              <a:t>Công </a:t>
            </a:r>
            <a:r>
              <a:rPr lang="en-US" sz="1100" dirty="0" err="1">
                <a:solidFill>
                  <a:schemeClr val="tx1"/>
                </a:solidFill>
                <a:latin typeface="Arial" panose="020B0604020202020204" pitchFamily="34" charset="0"/>
                <a:cs typeface="Arial" panose="020B0604020202020204" pitchFamily="34" charset="0"/>
              </a:rPr>
              <a:t>nghệ</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thông</a:t>
            </a:r>
            <a:r>
              <a:rPr lang="en-US" sz="1100" dirty="0">
                <a:solidFill>
                  <a:schemeClr val="tx1"/>
                </a:solidFill>
                <a:latin typeface="Arial" panose="020B0604020202020204" pitchFamily="34" charset="0"/>
                <a:cs typeface="Arial" panose="020B0604020202020204" pitchFamily="34" charset="0"/>
              </a:rPr>
              <a:t> tin </a:t>
            </a:r>
            <a:r>
              <a:rPr lang="en-US" sz="1100" dirty="0" err="1">
                <a:solidFill>
                  <a:schemeClr val="tx1"/>
                </a:solidFill>
                <a:latin typeface="Arial" panose="020B0604020202020204" pitchFamily="34" charset="0"/>
                <a:cs typeface="Arial" panose="020B0604020202020204" pitchFamily="34" charset="0"/>
              </a:rPr>
              <a:t>và</a:t>
            </a:r>
            <a:r>
              <a:rPr lang="en-US" sz="1100" dirty="0">
                <a:solidFill>
                  <a:schemeClr val="tx1"/>
                </a:solidFill>
                <a:latin typeface="Arial" panose="020B0604020202020204" pitchFamily="34" charset="0"/>
                <a:cs typeface="Arial" panose="020B0604020202020204" pitchFamily="34" charset="0"/>
              </a:rPr>
              <a:t> </a:t>
            </a:r>
            <a:r>
              <a:rPr lang="vi-VN" sz="1100" dirty="0">
                <a:solidFill>
                  <a:schemeClr val="tx1"/>
                </a:solidFill>
                <a:latin typeface="Arial" panose="020B0604020202020204" pitchFamily="34" charset="0"/>
                <a:cs typeface="Arial" panose="020B0604020202020204" pitchFamily="34" charset="0"/>
              </a:rPr>
              <a:t>Truyền thông là hai nhóm diễn biến kém tích cực nhất, lần lượt giảm </a:t>
            </a:r>
            <a:r>
              <a:rPr lang="en-US" sz="1100" dirty="0">
                <a:solidFill>
                  <a:schemeClr val="tx1"/>
                </a:solidFill>
                <a:latin typeface="Arial" panose="020B0604020202020204" pitchFamily="34" charset="0"/>
                <a:cs typeface="Arial" panose="020B0604020202020204" pitchFamily="34" charset="0"/>
              </a:rPr>
              <a:t>1</a:t>
            </a:r>
            <a:r>
              <a:rPr lang="vi-VN" sz="1100" dirty="0">
                <a:solidFill>
                  <a:schemeClr val="tx1"/>
                </a:solidFill>
                <a:latin typeface="Arial" panose="020B0604020202020204" pitchFamily="34" charset="0"/>
                <a:cs typeface="Arial" panose="020B0604020202020204" pitchFamily="34" charset="0"/>
              </a:rPr>
              <a:t>,2% và </a:t>
            </a:r>
            <a:r>
              <a:rPr lang="en-US" sz="1100" dirty="0">
                <a:solidFill>
                  <a:schemeClr val="tx1"/>
                </a:solidFill>
                <a:latin typeface="Arial" panose="020B0604020202020204" pitchFamily="34" charset="0"/>
                <a:cs typeface="Arial" panose="020B0604020202020204" pitchFamily="34" charset="0"/>
              </a:rPr>
              <a:t>0</a:t>
            </a:r>
            <a:r>
              <a:rPr lang="vi-VN" sz="1100" dirty="0">
                <a:solidFill>
                  <a:schemeClr val="tx1"/>
                </a:solidFill>
                <a:latin typeface="Arial" panose="020B0604020202020204" pitchFamily="34" charset="0"/>
                <a:cs typeface="Arial" panose="020B0604020202020204" pitchFamily="34" charset="0"/>
              </a:rPr>
              <a:t>,</a:t>
            </a:r>
            <a:r>
              <a:rPr lang="en-US" sz="1100" dirty="0">
                <a:solidFill>
                  <a:schemeClr val="tx1"/>
                </a:solidFill>
                <a:latin typeface="Arial" panose="020B0604020202020204" pitchFamily="34" charset="0"/>
                <a:cs typeface="Arial" panose="020B0604020202020204" pitchFamily="34" charset="0"/>
              </a:rPr>
              <a:t>8</a:t>
            </a:r>
            <a:r>
              <a:rPr lang="vi-VN" sz="1100" dirty="0">
                <a:solidFill>
                  <a:schemeClr val="tx1"/>
                </a:solidFill>
                <a:latin typeface="Arial" panose="020B0604020202020204" pitchFamily="34" charset="0"/>
                <a:cs typeface="Arial" panose="020B0604020202020204" pitchFamily="34" charset="0"/>
              </a:rPr>
              <a:t>%.</a:t>
            </a:r>
          </a:p>
          <a:p>
            <a:pPr marL="171450" indent="-171450" algn="just">
              <a:lnSpc>
                <a:spcPct val="150000"/>
              </a:lnSpc>
              <a:buFont typeface="Arial" panose="020B0604020202020204" pitchFamily="34" charset="0"/>
              <a:buChar char="•"/>
            </a:pPr>
            <a:r>
              <a:rPr lang="vi-VN" sz="1100" dirty="0">
                <a:solidFill>
                  <a:schemeClr val="tx1"/>
                </a:solidFill>
                <a:latin typeface="Arial" panose="020B0604020202020204" pitchFamily="34" charset="0"/>
                <a:cs typeface="Arial" panose="020B0604020202020204" pitchFamily="34" charset="0"/>
              </a:rPr>
              <a:t>Đà phục hồi lan tỏa tương đối rộng giữa các nhóm ngành, trong đó</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nổi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bật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nhất</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là</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nhóm</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Dầu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khí</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với</a:t>
            </a:r>
            <a:r>
              <a:rPr lang="en-US" sz="1100" dirty="0">
                <a:solidFill>
                  <a:schemeClr val="tx1"/>
                </a:solidFill>
                <a:latin typeface="Arial" panose="020B0604020202020204" pitchFamily="34" charset="0"/>
                <a:cs typeface="Arial" panose="020B0604020202020204" pitchFamily="34" charset="0"/>
              </a:rPr>
              <a:t> BSR </a:t>
            </a:r>
            <a:r>
              <a:rPr lang="en-US" sz="1100" dirty="0" err="1">
                <a:solidFill>
                  <a:schemeClr val="tx1"/>
                </a:solidFill>
                <a:latin typeface="Arial" panose="020B0604020202020204" pitchFamily="34" charset="0"/>
                <a:cs typeface="Arial" panose="020B0604020202020204" pitchFamily="34" charset="0"/>
              </a:rPr>
              <a:t>tăng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gần</a:t>
            </a:r>
            <a:r>
              <a:rPr lang="en-US" sz="1100" dirty="0">
                <a:solidFill>
                  <a:schemeClr val="tx1"/>
                </a:solidFill>
                <a:latin typeface="Arial" panose="020B0604020202020204" pitchFamily="34" charset="0"/>
                <a:cs typeface="Arial" panose="020B0604020202020204" pitchFamily="34" charset="0"/>
              </a:rPr>
              <a:t> 10%</a:t>
            </a:r>
            <a:r>
              <a:rPr lang="vi-VN" sz="1100" dirty="0">
                <a:solidFill>
                  <a:schemeClr val="tx1"/>
                </a:solidFill>
                <a:latin typeface="Arial" panose="020B0604020202020204" pitchFamily="34" charset="0"/>
                <a:cs typeface="Arial" panose="020B0604020202020204" pitchFamily="34" charset="0"/>
              </a:rPr>
              <a:t>.</a:t>
            </a:r>
            <a:r>
              <a:rPr lang="en-US" sz="1100" dirty="0">
                <a:solidFill>
                  <a:schemeClr val="tx1"/>
                </a:solidFill>
                <a:latin typeface="Arial" panose="020B0604020202020204" pitchFamily="34" charset="0"/>
                <a:cs typeface="Arial" panose="020B0604020202020204" pitchFamily="34" charset="0"/>
              </a:rPr>
              <a:t> Tuy </a:t>
            </a:r>
            <a:r>
              <a:rPr lang="en-US" sz="1100" dirty="0" err="1">
                <a:solidFill>
                  <a:schemeClr val="tx1"/>
                </a:solidFill>
                <a:latin typeface="Arial" panose="020B0604020202020204" pitchFamily="34" charset="0"/>
                <a:cs typeface="Arial" panose="020B0604020202020204" pitchFamily="34" charset="0"/>
              </a:rPr>
              <a:t>nhiên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xung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lực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tăng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yếu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lúc</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thị</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trường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chờ</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ngày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giải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ngân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của</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dòng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vốn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nâng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hạng</a:t>
            </a:r>
            <a:r>
              <a:rPr lang="en-US" sz="1100" dirty="0">
                <a:solidFill>
                  <a:schemeClr val="tx1"/>
                </a:solidFill>
                <a:latin typeface="Arial" panose="020B0604020202020204" pitchFamily="34" charset="0"/>
                <a:cs typeface="Arial" panose="020B0604020202020204" pitchFamily="34" charset="0"/>
              </a:rPr>
              <a:t>. </a:t>
            </a:r>
            <a:endParaRPr lang="vi-VN" sz="1100" dirty="0">
              <a:solidFill>
                <a:schemeClr val="tx1"/>
              </a:solidFill>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B7B309FE-C3BB-4440-9EE1-CF5913798C99}"/>
              </a:ext>
            </a:extLst>
          </p:cNvPr>
          <p:cNvGraphicFramePr>
            <a:graphicFrameLocks noGrp="1"/>
          </p:cNvGraphicFramePr>
          <p:nvPr>
            <p:extLst>
              <p:ext uri="{D42A27DB-BD31-4B8C-83A1-F6EECF244321}">
                <p14:modId xmlns:p14="http://schemas.microsoft.com/office/powerpoint/2010/main" val="425463643"/>
              </p:ext>
            </p:extLst>
          </p:nvPr>
        </p:nvGraphicFramePr>
        <p:xfrm>
          <a:off x="7264866" y="1482010"/>
          <a:ext cx="4666012" cy="4123013"/>
        </p:xfrm>
        <a:graphic>
          <a:graphicData uri="http://schemas.openxmlformats.org/drawingml/2006/table">
            <a:tbl>
              <a:tblPr firstRow="1" bandRow="1">
                <a:tableStyleId>{B301B821-A1FF-4177-AEE7-76D212191A09}</a:tableStyleId>
              </a:tblPr>
              <a:tblGrid>
                <a:gridCol w="2070863">
                  <a:extLst>
                    <a:ext uri="{9D8B030D-6E8A-4147-A177-3AD203B41FA5}">
                      <a16:colId xmlns:a16="http://schemas.microsoft.com/office/drawing/2014/main" val="1939264631"/>
                    </a:ext>
                  </a:extLst>
                </a:gridCol>
                <a:gridCol w="796107">
                  <a:extLst>
                    <a:ext uri="{9D8B030D-6E8A-4147-A177-3AD203B41FA5}">
                      <a16:colId xmlns:a16="http://schemas.microsoft.com/office/drawing/2014/main" val="3494045"/>
                    </a:ext>
                  </a:extLst>
                </a:gridCol>
                <a:gridCol w="908078">
                  <a:extLst>
                    <a:ext uri="{9D8B030D-6E8A-4147-A177-3AD203B41FA5}">
                      <a16:colId xmlns:a16="http://schemas.microsoft.com/office/drawing/2014/main" val="1423265677"/>
                    </a:ext>
                  </a:extLst>
                </a:gridCol>
                <a:gridCol w="890964">
                  <a:extLst>
                    <a:ext uri="{9D8B030D-6E8A-4147-A177-3AD203B41FA5}">
                      <a16:colId xmlns:a16="http://schemas.microsoft.com/office/drawing/2014/main" val="3340808993"/>
                    </a:ext>
                  </a:extLst>
                </a:gridCol>
              </a:tblGrid>
              <a:tr h="162859">
                <a:tc rowSpan="2">
                  <a:txBody>
                    <a:bodyPr/>
                    <a:lstStyle/>
                    <a:p>
                      <a:pPr algn="l" fontAlgn="ctr"/>
                      <a:r>
                        <a:rPr lang="en-US" sz="1000" b="1" u="none" strike="noStrike" dirty="0" err="1">
                          <a:solidFill>
                            <a:srgbClr val="FFFFFF"/>
                          </a:solidFill>
                          <a:effectLst/>
                          <a:latin typeface="Arial" panose="020B0604020202020204" pitchFamily="34" charset="0"/>
                          <a:cs typeface="Arial" panose="020B0604020202020204" pitchFamily="34" charset="0"/>
                        </a:rPr>
                        <a:t>Ngành</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gridSpan="3">
                  <a:txBody>
                    <a:bodyPr/>
                    <a:lstStyle/>
                    <a:p>
                      <a:pPr algn="ctr" fontAlgn="ctr"/>
                      <a:r>
                        <a:rPr lang="en-US" sz="1000" b="1" u="none" strike="noStrike" dirty="0">
                          <a:solidFill>
                            <a:srgbClr val="FFFFFF"/>
                          </a:solidFill>
                          <a:effectLst/>
                          <a:latin typeface="Arial" panose="020B0604020202020204" pitchFamily="34" charset="0"/>
                          <a:cs typeface="Arial" panose="020B0604020202020204" pitchFamily="34" charset="0"/>
                        </a:rPr>
                        <a:t>% Thay </a:t>
                      </a:r>
                      <a:r>
                        <a:rPr lang="en-US" sz="1000" b="1" u="none" strike="noStrike" dirty="0" err="1">
                          <a:solidFill>
                            <a:srgbClr val="FFFFFF"/>
                          </a:solidFill>
                          <a:effectLst/>
                          <a:latin typeface="Arial" panose="020B0604020202020204" pitchFamily="34" charset="0"/>
                          <a:cs typeface="Arial" panose="020B0604020202020204" pitchFamily="34" charset="0"/>
                        </a:rPr>
                        <a:t>đổi</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1326659"/>
                  </a:ext>
                </a:extLst>
              </a:tr>
              <a:tr h="199952">
                <a:tc vMerge="1">
                  <a:txBody>
                    <a:bodyPr/>
                    <a:lstStyle/>
                    <a:p>
                      <a:endParaRPr lang="en-US"/>
                    </a:p>
                  </a:txBody>
                  <a:tcPr/>
                </a:tc>
                <a:tc>
                  <a:txBody>
                    <a:bodyPr/>
                    <a:lstStyle/>
                    <a:p>
                      <a:pPr algn="ctr" fontAlgn="ctr"/>
                      <a:r>
                        <a:rPr lang="en-US" sz="1000" b="1" u="none" strike="noStrike" dirty="0">
                          <a:solidFill>
                            <a:schemeClr val="bg1"/>
                          </a:solidFill>
                          <a:effectLst/>
                          <a:latin typeface="Arial" panose="020B0604020202020204" pitchFamily="34" charset="0"/>
                          <a:cs typeface="Arial" panose="020B0604020202020204" pitchFamily="34" charset="0"/>
                        </a:rPr>
                        <a:t>1 </a:t>
                      </a:r>
                      <a:r>
                        <a:rPr lang="en-US" sz="1000" b="1" u="none" strike="noStrike" dirty="0" err="1">
                          <a:solidFill>
                            <a:schemeClr val="bg1"/>
                          </a:solidFill>
                          <a:effectLst/>
                          <a:latin typeface="Arial" panose="020B0604020202020204" pitchFamily="34" charset="0"/>
                          <a:cs typeface="Arial" panose="020B0604020202020204" pitchFamily="34" charset="0"/>
                        </a:rPr>
                        <a:t>ngày</a:t>
                      </a:r>
                      <a:endParaRPr lang="en-US" sz="1000" b="1" i="0" u="none" strike="noStrike" dirty="0">
                        <a:solidFill>
                          <a:schemeClr val="bg1"/>
                        </a:solidFill>
                        <a:effectLst/>
                        <a:latin typeface="Arial" panose="020B0604020202020204" pitchFamily="34" charset="0"/>
                        <a:cs typeface="Arial" panose="020B0604020202020204" pitchFamily="34" charset="0"/>
                      </a:endParaRPr>
                    </a:p>
                  </a:txBody>
                  <a:tcPr marL="18000" marR="9525" marT="18000" marB="0" anchor="ctr">
                    <a:solidFill>
                      <a:schemeClr val="accent1"/>
                    </a:solidFill>
                  </a:tcPr>
                </a:tc>
                <a:tc>
                  <a:txBody>
                    <a:bodyPr/>
                    <a:lstStyle/>
                    <a:p>
                      <a:pPr algn="ctr" fontAlgn="ctr"/>
                      <a:r>
                        <a:rPr lang="en-US" sz="1000" b="1" u="none" strike="noStrike" dirty="0">
                          <a:solidFill>
                            <a:schemeClr val="bg1"/>
                          </a:solidFill>
                          <a:effectLst/>
                          <a:latin typeface="Arial" panose="020B0604020202020204" pitchFamily="34" charset="0"/>
                          <a:cs typeface="Arial" panose="020B0604020202020204" pitchFamily="34" charset="0"/>
                        </a:rPr>
                        <a:t>1 </a:t>
                      </a:r>
                      <a:r>
                        <a:rPr lang="en-US" sz="1000" b="1" u="none" strike="noStrike" dirty="0" err="1">
                          <a:solidFill>
                            <a:schemeClr val="bg1"/>
                          </a:solidFill>
                          <a:effectLst/>
                          <a:latin typeface="Arial" panose="020B0604020202020204" pitchFamily="34" charset="0"/>
                          <a:cs typeface="Arial" panose="020B0604020202020204" pitchFamily="34" charset="0"/>
                        </a:rPr>
                        <a:t>tuần</a:t>
                      </a:r>
                      <a:endParaRPr lang="en-US" sz="1000" b="1" i="0" u="none" strike="noStrike" dirty="0">
                        <a:solidFill>
                          <a:schemeClr val="bg1"/>
                        </a:solidFill>
                        <a:effectLst/>
                        <a:latin typeface="Arial" panose="020B0604020202020204" pitchFamily="34" charset="0"/>
                        <a:cs typeface="Arial" panose="020B0604020202020204" pitchFamily="34" charset="0"/>
                      </a:endParaRPr>
                    </a:p>
                  </a:txBody>
                  <a:tcPr marL="18000" marR="9525" marT="18000" marB="0" anchor="ctr">
                    <a:solidFill>
                      <a:schemeClr val="accent1"/>
                    </a:solidFill>
                  </a:tcPr>
                </a:tc>
                <a:tc>
                  <a:txBody>
                    <a:bodyPr/>
                    <a:lstStyle/>
                    <a:p>
                      <a:pPr algn="ctr" fontAlgn="ctr"/>
                      <a:r>
                        <a:rPr lang="en-US" sz="1000" b="1" i="0" u="none" strike="noStrike" dirty="0">
                          <a:solidFill>
                            <a:schemeClr val="bg1"/>
                          </a:solidFill>
                          <a:effectLst/>
                          <a:latin typeface="Arial" panose="020B0604020202020204" pitchFamily="34" charset="0"/>
                          <a:cs typeface="Arial" panose="020B0604020202020204" pitchFamily="34" charset="0"/>
                        </a:rPr>
                        <a:t>1 </a:t>
                      </a:r>
                      <a:r>
                        <a:rPr lang="en-US" sz="1000" b="1" i="0" u="none" strike="noStrike" dirty="0" err="1">
                          <a:solidFill>
                            <a:schemeClr val="bg1"/>
                          </a:solidFill>
                          <a:effectLst/>
                          <a:latin typeface="Arial" panose="020B0604020202020204" pitchFamily="34" charset="0"/>
                          <a:cs typeface="Arial" panose="020B0604020202020204" pitchFamily="34" charset="0"/>
                        </a:rPr>
                        <a:t>tháng</a:t>
                      </a:r>
                      <a:endParaRPr lang="en-US" sz="1000" b="1" i="0" u="none" strike="noStrike" dirty="0">
                        <a:solidFill>
                          <a:schemeClr val="bg1"/>
                        </a:solidFill>
                        <a:effectLst/>
                        <a:latin typeface="Arial" panose="020B0604020202020204" pitchFamily="34" charset="0"/>
                        <a:cs typeface="Arial" panose="020B0604020202020204" pitchFamily="34" charset="0"/>
                      </a:endParaRPr>
                    </a:p>
                  </a:txBody>
                  <a:tcPr marL="18000" marR="9525" marT="18000" marB="0" anchor="ctr">
                    <a:solidFill>
                      <a:schemeClr val="accent1"/>
                    </a:solidFill>
                  </a:tcPr>
                </a:tc>
                <a:extLst>
                  <a:ext uri="{0D108BD9-81ED-4DB2-BD59-A6C34878D82A}">
                    <a16:rowId xmlns:a16="http://schemas.microsoft.com/office/drawing/2014/main" val="768512050"/>
                  </a:ext>
                </a:extLst>
              </a:tr>
              <a:tr h="209950">
                <a:tc>
                  <a:txBody>
                    <a:bodyPr/>
                    <a:lstStyle/>
                    <a:p>
                      <a:pPr algn="l" fontAlgn="ctr">
                        <a:buNone/>
                      </a:pPr>
                      <a:r>
                        <a:rPr lang="en-US" sz="1100" b="0" i="0" u="none" strike="noStrike">
                          <a:solidFill>
                            <a:srgbClr val="000000"/>
                          </a:solidFill>
                          <a:effectLst/>
                          <a:latin typeface="Arial" panose="020B0604020202020204" pitchFamily="34" charset="0"/>
                        </a:rPr>
                        <a:t>Dầu khí</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-1,39%</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8,38%</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7,53%</a:t>
                      </a:r>
                    </a:p>
                  </a:txBody>
                  <a:tcPr marL="9525" marR="9525" marT="9525" marB="0" anchor="ctr"/>
                </a:tc>
                <a:extLst>
                  <a:ext uri="{0D108BD9-81ED-4DB2-BD59-A6C34878D82A}">
                    <a16:rowId xmlns:a16="http://schemas.microsoft.com/office/drawing/2014/main" val="3015288796"/>
                  </a:ext>
                </a:extLst>
              </a:tr>
              <a:tr h="209950">
                <a:tc>
                  <a:txBody>
                    <a:bodyPr/>
                    <a:lstStyle/>
                    <a:p>
                      <a:pPr algn="l" fontAlgn="ctr">
                        <a:buNone/>
                      </a:pPr>
                      <a:r>
                        <a:rPr lang="en-US" sz="1100" b="0" i="0" u="none" strike="noStrike" dirty="0">
                          <a:solidFill>
                            <a:srgbClr val="000000"/>
                          </a:solidFill>
                          <a:effectLst/>
                          <a:latin typeface="Arial" panose="020B0604020202020204" pitchFamily="34" charset="0"/>
                        </a:rPr>
                        <a:t>Bảo </a:t>
                      </a:r>
                      <a:r>
                        <a:rPr lang="en-US" sz="1100" b="0" i="0" u="none" strike="noStrike" dirty="0" err="1">
                          <a:solidFill>
                            <a:srgbClr val="000000"/>
                          </a:solidFill>
                          <a:effectLst/>
                          <a:latin typeface="Arial" panose="020B0604020202020204" pitchFamily="34" charset="0"/>
                        </a:rPr>
                        <a:t>hiểm</a:t>
                      </a:r>
                      <a:endParaRPr lang="en-US" sz="1100" b="0" i="0" u="none" strike="noStrike" dirty="0">
                        <a:solidFill>
                          <a:srgbClr val="000000"/>
                        </a:solidFill>
                        <a:effectLst/>
                        <a:latin typeface="Arial" panose="020B0604020202020204" pitchFamily="34" charset="0"/>
                      </a:endParaRP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-0,79%</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5,91%</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1,61%</a:t>
                      </a:r>
                    </a:p>
                  </a:txBody>
                  <a:tcPr marL="9525" marR="9525" marT="9525" marB="0" anchor="ctr"/>
                </a:tc>
                <a:extLst>
                  <a:ext uri="{0D108BD9-81ED-4DB2-BD59-A6C34878D82A}">
                    <a16:rowId xmlns:a16="http://schemas.microsoft.com/office/drawing/2014/main" val="3895598061"/>
                  </a:ext>
                </a:extLst>
              </a:tr>
              <a:tr h="183511">
                <a:tc>
                  <a:txBody>
                    <a:bodyPr/>
                    <a:lstStyle/>
                    <a:p>
                      <a:pPr algn="l" fontAlgn="ctr">
                        <a:buNone/>
                      </a:pPr>
                      <a:r>
                        <a:rPr lang="en-US" sz="1100" b="0" i="0" u="none" strike="noStrike">
                          <a:solidFill>
                            <a:srgbClr val="000000"/>
                          </a:solidFill>
                          <a:effectLst/>
                          <a:latin typeface="Arial" panose="020B0604020202020204" pitchFamily="34" charset="0"/>
                        </a:rPr>
                        <a:t>Điện, nước &amp; xăng dầu khí đốt</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-0,03%</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3,98%</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2,76%</a:t>
                      </a:r>
                    </a:p>
                  </a:txBody>
                  <a:tcPr marL="9525" marR="9525" marT="9525" marB="0" anchor="ctr"/>
                </a:tc>
                <a:extLst>
                  <a:ext uri="{0D108BD9-81ED-4DB2-BD59-A6C34878D82A}">
                    <a16:rowId xmlns:a16="http://schemas.microsoft.com/office/drawing/2014/main" val="3893026902"/>
                  </a:ext>
                </a:extLst>
              </a:tr>
              <a:tr h="209950">
                <a:tc>
                  <a:txBody>
                    <a:bodyPr/>
                    <a:lstStyle/>
                    <a:p>
                      <a:pPr algn="l" fontAlgn="ctr">
                        <a:buNone/>
                      </a:pPr>
                      <a:r>
                        <a:rPr lang="en-US" sz="1100" b="0" i="0" u="none" strike="noStrike">
                          <a:solidFill>
                            <a:srgbClr val="000000"/>
                          </a:solidFill>
                          <a:effectLst/>
                          <a:latin typeface="Arial" panose="020B0604020202020204" pitchFamily="34" charset="0"/>
                        </a:rPr>
                        <a:t>Hóa chất</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-0,45%</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3,76%</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1,68%</a:t>
                      </a:r>
                    </a:p>
                  </a:txBody>
                  <a:tcPr marL="9525" marR="9525" marT="9525" marB="0" anchor="ctr"/>
                </a:tc>
                <a:extLst>
                  <a:ext uri="{0D108BD9-81ED-4DB2-BD59-A6C34878D82A}">
                    <a16:rowId xmlns:a16="http://schemas.microsoft.com/office/drawing/2014/main" val="2445266804"/>
                  </a:ext>
                </a:extLst>
              </a:tr>
              <a:tr h="209950">
                <a:tc>
                  <a:txBody>
                    <a:bodyPr/>
                    <a:lstStyle/>
                    <a:p>
                      <a:pPr algn="l" fontAlgn="ctr">
                        <a:buNone/>
                      </a:pPr>
                      <a:r>
                        <a:rPr lang="en-US" sz="1100" b="0" i="0" u="none" strike="noStrike">
                          <a:solidFill>
                            <a:srgbClr val="000000"/>
                          </a:solidFill>
                          <a:effectLst/>
                          <a:latin typeface="Arial" panose="020B0604020202020204" pitchFamily="34" charset="0"/>
                        </a:rPr>
                        <a:t>Hàng &amp; Dịch vụ Công nghiệp</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0,66%</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2,87%</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-1,17%</a:t>
                      </a:r>
                    </a:p>
                  </a:txBody>
                  <a:tcPr marL="9525" marR="9525" marT="9525" marB="0" anchor="ctr"/>
                </a:tc>
                <a:extLst>
                  <a:ext uri="{0D108BD9-81ED-4DB2-BD59-A6C34878D82A}">
                    <a16:rowId xmlns:a16="http://schemas.microsoft.com/office/drawing/2014/main" val="553390970"/>
                  </a:ext>
                </a:extLst>
              </a:tr>
              <a:tr h="209950">
                <a:tc>
                  <a:txBody>
                    <a:bodyPr/>
                    <a:lstStyle/>
                    <a:p>
                      <a:pPr algn="l" fontAlgn="ctr">
                        <a:buNone/>
                      </a:pPr>
                      <a:r>
                        <a:rPr lang="en-US" sz="1100" b="0" i="0" u="none" strike="noStrike">
                          <a:solidFill>
                            <a:srgbClr val="000000"/>
                          </a:solidFill>
                          <a:effectLst/>
                          <a:latin typeface="Arial" panose="020B0604020202020204" pitchFamily="34" charset="0"/>
                        </a:rPr>
                        <a:t>Bán lẻ</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-0,17%</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2,34%</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-3,87%</a:t>
                      </a:r>
                    </a:p>
                  </a:txBody>
                  <a:tcPr marL="9525" marR="9525" marT="9525" marB="0" anchor="ctr"/>
                </a:tc>
                <a:extLst>
                  <a:ext uri="{0D108BD9-81ED-4DB2-BD59-A6C34878D82A}">
                    <a16:rowId xmlns:a16="http://schemas.microsoft.com/office/drawing/2014/main" val="1105675849"/>
                  </a:ext>
                </a:extLst>
              </a:tr>
              <a:tr h="209950">
                <a:tc>
                  <a:txBody>
                    <a:bodyPr/>
                    <a:lstStyle/>
                    <a:p>
                      <a:pPr algn="l" fontAlgn="ctr">
                        <a:buNone/>
                      </a:pPr>
                      <a:r>
                        <a:rPr lang="en-US" sz="1100" b="0" i="0" u="none" strike="noStrike">
                          <a:solidFill>
                            <a:srgbClr val="000000"/>
                          </a:solidFill>
                          <a:effectLst/>
                          <a:latin typeface="Arial" panose="020B0604020202020204" pitchFamily="34" charset="0"/>
                        </a:rPr>
                        <a:t>Ngân hàng</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-1,09%</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2,34%</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2,74%</a:t>
                      </a:r>
                    </a:p>
                  </a:txBody>
                  <a:tcPr marL="9525" marR="9525" marT="9525" marB="0" anchor="ctr"/>
                </a:tc>
                <a:extLst>
                  <a:ext uri="{0D108BD9-81ED-4DB2-BD59-A6C34878D82A}">
                    <a16:rowId xmlns:a16="http://schemas.microsoft.com/office/drawing/2014/main" val="591055151"/>
                  </a:ext>
                </a:extLst>
              </a:tr>
              <a:tr h="209950">
                <a:tc>
                  <a:txBody>
                    <a:bodyPr/>
                    <a:lstStyle/>
                    <a:p>
                      <a:pPr algn="l" fontAlgn="ctr">
                        <a:buNone/>
                      </a:pPr>
                      <a:r>
                        <a:rPr lang="en-US" sz="1100" b="0" i="0" u="none" strike="noStrike">
                          <a:solidFill>
                            <a:srgbClr val="000000"/>
                          </a:solidFill>
                          <a:effectLst/>
                          <a:latin typeface="Arial" panose="020B0604020202020204" pitchFamily="34" charset="0"/>
                        </a:rPr>
                        <a:t>Thực phẩm và đồ uống</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-0,03%</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1,42%</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0,98%</a:t>
                      </a:r>
                    </a:p>
                  </a:txBody>
                  <a:tcPr marL="9525" marR="9525" marT="9525" marB="0" anchor="ctr"/>
                </a:tc>
                <a:extLst>
                  <a:ext uri="{0D108BD9-81ED-4DB2-BD59-A6C34878D82A}">
                    <a16:rowId xmlns:a16="http://schemas.microsoft.com/office/drawing/2014/main" val="1380095949"/>
                  </a:ext>
                </a:extLst>
              </a:tr>
              <a:tr h="209950">
                <a:tc>
                  <a:txBody>
                    <a:bodyPr/>
                    <a:lstStyle/>
                    <a:p>
                      <a:pPr algn="l" fontAlgn="ctr">
                        <a:buNone/>
                      </a:pPr>
                      <a:r>
                        <a:rPr lang="en-US" sz="1100" b="0" i="0" u="none" strike="noStrike">
                          <a:solidFill>
                            <a:srgbClr val="000000"/>
                          </a:solidFill>
                          <a:effectLst/>
                          <a:latin typeface="Arial" panose="020B0604020202020204" pitchFamily="34" charset="0"/>
                        </a:rPr>
                        <a:t>Dịch vụ tài chính</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1,00%</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1,41%</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-2,23%</a:t>
                      </a:r>
                    </a:p>
                  </a:txBody>
                  <a:tcPr marL="9525" marR="9525" marT="9525" marB="0" anchor="ctr"/>
                </a:tc>
                <a:extLst>
                  <a:ext uri="{0D108BD9-81ED-4DB2-BD59-A6C34878D82A}">
                    <a16:rowId xmlns:a16="http://schemas.microsoft.com/office/drawing/2014/main" val="2773460031"/>
                  </a:ext>
                </a:extLst>
              </a:tr>
              <a:tr h="209950">
                <a:tc>
                  <a:txBody>
                    <a:bodyPr/>
                    <a:lstStyle/>
                    <a:p>
                      <a:pPr algn="l" fontAlgn="ctr">
                        <a:buNone/>
                      </a:pPr>
                      <a:r>
                        <a:rPr lang="en-US" sz="1100" b="0" i="0" u="none" strike="noStrike">
                          <a:solidFill>
                            <a:srgbClr val="000000"/>
                          </a:solidFill>
                          <a:effectLst/>
                          <a:latin typeface="Arial" panose="020B0604020202020204" pitchFamily="34" charset="0"/>
                        </a:rPr>
                        <a:t>Y tế</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0,83%</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1,04%</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0,08%</a:t>
                      </a:r>
                    </a:p>
                  </a:txBody>
                  <a:tcPr marL="9525" marR="9525" marT="9525" marB="0" anchor="ctr"/>
                </a:tc>
                <a:extLst>
                  <a:ext uri="{0D108BD9-81ED-4DB2-BD59-A6C34878D82A}">
                    <a16:rowId xmlns:a16="http://schemas.microsoft.com/office/drawing/2014/main" val="1622140904"/>
                  </a:ext>
                </a:extLst>
              </a:tr>
              <a:tr h="209950">
                <a:tc>
                  <a:txBody>
                    <a:bodyPr/>
                    <a:lstStyle/>
                    <a:p>
                      <a:pPr algn="l" fontAlgn="ctr">
                        <a:buNone/>
                      </a:pPr>
                      <a:r>
                        <a:rPr lang="en-US" sz="1100" b="0" i="0" u="none" strike="noStrike">
                          <a:solidFill>
                            <a:srgbClr val="000000"/>
                          </a:solidFill>
                          <a:effectLst/>
                          <a:latin typeface="Arial" panose="020B0604020202020204" pitchFamily="34" charset="0"/>
                        </a:rPr>
                        <a:t>Tài nguyên Cơ bản</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1,41%</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0,88%</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2,07%</a:t>
                      </a:r>
                    </a:p>
                  </a:txBody>
                  <a:tcPr marL="9525" marR="9525" marT="9525" marB="0" anchor="ctr"/>
                </a:tc>
                <a:extLst>
                  <a:ext uri="{0D108BD9-81ED-4DB2-BD59-A6C34878D82A}">
                    <a16:rowId xmlns:a16="http://schemas.microsoft.com/office/drawing/2014/main" val="3496151128"/>
                  </a:ext>
                </a:extLst>
              </a:tr>
              <a:tr h="209950">
                <a:tc>
                  <a:txBody>
                    <a:bodyPr/>
                    <a:lstStyle/>
                    <a:p>
                      <a:pPr algn="l" fontAlgn="ctr">
                        <a:buNone/>
                      </a:pPr>
                      <a:r>
                        <a:rPr lang="en-US" sz="1100" b="0" i="0" u="none" strike="noStrike">
                          <a:solidFill>
                            <a:srgbClr val="000000"/>
                          </a:solidFill>
                          <a:effectLst/>
                          <a:latin typeface="Arial" panose="020B0604020202020204" pitchFamily="34" charset="0"/>
                        </a:rPr>
                        <a:t>Xây dựng và Vật liệu</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0,20%</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0,63%</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-2,14%</a:t>
                      </a:r>
                    </a:p>
                  </a:txBody>
                  <a:tcPr marL="9525" marR="9525" marT="9525" marB="0" anchor="ctr"/>
                </a:tc>
                <a:extLst>
                  <a:ext uri="{0D108BD9-81ED-4DB2-BD59-A6C34878D82A}">
                    <a16:rowId xmlns:a16="http://schemas.microsoft.com/office/drawing/2014/main" val="3553183893"/>
                  </a:ext>
                </a:extLst>
              </a:tr>
              <a:tr h="209950">
                <a:tc>
                  <a:txBody>
                    <a:bodyPr/>
                    <a:lstStyle/>
                    <a:p>
                      <a:pPr algn="l" fontAlgn="ctr">
                        <a:buNone/>
                      </a:pPr>
                      <a:r>
                        <a:rPr lang="en-US" sz="1100" b="0" i="0" u="none" strike="noStrike">
                          <a:solidFill>
                            <a:srgbClr val="000000"/>
                          </a:solidFill>
                          <a:effectLst/>
                          <a:latin typeface="Arial" panose="020B0604020202020204" pitchFamily="34" charset="0"/>
                        </a:rPr>
                        <a:t>Hàng cá nhân &amp; Gia dụng</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0,48%</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0,51%</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2,71%</a:t>
                      </a:r>
                    </a:p>
                  </a:txBody>
                  <a:tcPr marL="9525" marR="9525" marT="9525" marB="0" anchor="ctr"/>
                </a:tc>
                <a:extLst>
                  <a:ext uri="{0D108BD9-81ED-4DB2-BD59-A6C34878D82A}">
                    <a16:rowId xmlns:a16="http://schemas.microsoft.com/office/drawing/2014/main" val="3975693035"/>
                  </a:ext>
                </a:extLst>
              </a:tr>
              <a:tr h="209950">
                <a:tc>
                  <a:txBody>
                    <a:bodyPr/>
                    <a:lstStyle/>
                    <a:p>
                      <a:pPr algn="l" fontAlgn="ctr">
                        <a:buNone/>
                      </a:pPr>
                      <a:r>
                        <a:rPr lang="en-US" sz="1100" b="0" i="0" u="none" strike="noStrike">
                          <a:solidFill>
                            <a:srgbClr val="000000"/>
                          </a:solidFill>
                          <a:effectLst/>
                          <a:latin typeface="Arial" panose="020B0604020202020204" pitchFamily="34" charset="0"/>
                        </a:rPr>
                        <a:t>Du lịch và Giải trí</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-1,20%</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0,27%</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3,42%</a:t>
                      </a:r>
                    </a:p>
                  </a:txBody>
                  <a:tcPr marL="9525" marR="9525" marT="9525" marB="0" anchor="ctr"/>
                </a:tc>
                <a:extLst>
                  <a:ext uri="{0D108BD9-81ED-4DB2-BD59-A6C34878D82A}">
                    <a16:rowId xmlns:a16="http://schemas.microsoft.com/office/drawing/2014/main" val="1653198948"/>
                  </a:ext>
                </a:extLst>
              </a:tr>
              <a:tr h="209950">
                <a:tc>
                  <a:txBody>
                    <a:bodyPr/>
                    <a:lstStyle/>
                    <a:p>
                      <a:pPr algn="l" fontAlgn="ctr">
                        <a:buNone/>
                      </a:pPr>
                      <a:r>
                        <a:rPr lang="en-US" sz="1100" b="0" i="0" u="none" strike="noStrike">
                          <a:solidFill>
                            <a:srgbClr val="000000"/>
                          </a:solidFill>
                          <a:effectLst/>
                          <a:latin typeface="Arial" panose="020B0604020202020204" pitchFamily="34" charset="0"/>
                        </a:rPr>
                        <a:t>Ô tô và phụ tùng</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0,85%</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-0,68%</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-2,99%</a:t>
                      </a:r>
                    </a:p>
                  </a:txBody>
                  <a:tcPr marL="9525" marR="9525" marT="9525" marB="0" anchor="ctr"/>
                </a:tc>
                <a:extLst>
                  <a:ext uri="{0D108BD9-81ED-4DB2-BD59-A6C34878D82A}">
                    <a16:rowId xmlns:a16="http://schemas.microsoft.com/office/drawing/2014/main" val="1201709414"/>
                  </a:ext>
                </a:extLst>
              </a:tr>
              <a:tr h="209950">
                <a:tc>
                  <a:txBody>
                    <a:bodyPr/>
                    <a:lstStyle/>
                    <a:p>
                      <a:pPr algn="l" fontAlgn="ctr">
                        <a:buNone/>
                      </a:pPr>
                      <a:r>
                        <a:rPr lang="en-US" sz="1100" b="0" i="0" u="none" strike="noStrike">
                          <a:solidFill>
                            <a:srgbClr val="000000"/>
                          </a:solidFill>
                          <a:effectLst/>
                          <a:latin typeface="Arial" panose="020B0604020202020204" pitchFamily="34" charset="0"/>
                        </a:rPr>
                        <a:t>Bất động sản</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-0,07%</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-0,79%</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13,51%</a:t>
                      </a:r>
                    </a:p>
                  </a:txBody>
                  <a:tcPr marL="9525" marR="9525" marT="9525" marB="0" anchor="ctr"/>
                </a:tc>
                <a:extLst>
                  <a:ext uri="{0D108BD9-81ED-4DB2-BD59-A6C34878D82A}">
                    <a16:rowId xmlns:a16="http://schemas.microsoft.com/office/drawing/2014/main" val="3701904298"/>
                  </a:ext>
                </a:extLst>
              </a:tr>
              <a:tr h="209950">
                <a:tc>
                  <a:txBody>
                    <a:bodyPr/>
                    <a:lstStyle/>
                    <a:p>
                      <a:pPr algn="l" fontAlgn="ctr">
                        <a:buNone/>
                      </a:pPr>
                      <a:r>
                        <a:rPr lang="en-US" sz="1100" b="0" i="0" u="none" strike="noStrike">
                          <a:solidFill>
                            <a:srgbClr val="000000"/>
                          </a:solidFill>
                          <a:effectLst/>
                          <a:latin typeface="Arial" panose="020B0604020202020204" pitchFamily="34" charset="0"/>
                        </a:rPr>
                        <a:t>Truyền thông</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0,07%</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-0,85%</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-6,61%</a:t>
                      </a:r>
                    </a:p>
                  </a:txBody>
                  <a:tcPr marL="9525" marR="9525" marT="9525" marB="0" anchor="ctr"/>
                </a:tc>
                <a:extLst>
                  <a:ext uri="{0D108BD9-81ED-4DB2-BD59-A6C34878D82A}">
                    <a16:rowId xmlns:a16="http://schemas.microsoft.com/office/drawing/2014/main" val="549587826"/>
                  </a:ext>
                </a:extLst>
              </a:tr>
              <a:tr h="209950">
                <a:tc>
                  <a:txBody>
                    <a:bodyPr/>
                    <a:lstStyle/>
                    <a:p>
                      <a:pPr algn="l" fontAlgn="ctr">
                        <a:buNone/>
                      </a:pPr>
                      <a:r>
                        <a:rPr lang="en-US" sz="1100" b="0" i="0" u="none" strike="noStrike">
                          <a:solidFill>
                            <a:srgbClr val="000000"/>
                          </a:solidFill>
                          <a:effectLst/>
                          <a:latin typeface="Arial" panose="020B0604020202020204" pitchFamily="34" charset="0"/>
                        </a:rPr>
                        <a:t>Công nghệ Thông tin</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-3,17%</a:t>
                      </a:r>
                    </a:p>
                  </a:txBody>
                  <a:tcPr marL="9525" marR="9525" marT="9525" marB="0" anchor="ctr"/>
                </a:tc>
                <a:tc>
                  <a:txBody>
                    <a:bodyPr/>
                    <a:lstStyle/>
                    <a:p>
                      <a:pPr algn="r" fontAlgn="ctr">
                        <a:buNone/>
                      </a:pPr>
                      <a:r>
                        <a:rPr lang="en-US" sz="1100" b="0" i="0" u="none" strike="noStrike">
                          <a:solidFill>
                            <a:srgbClr val="000000"/>
                          </a:solidFill>
                          <a:effectLst/>
                          <a:latin typeface="Arial" panose="020B0604020202020204" pitchFamily="34" charset="0"/>
                        </a:rPr>
                        <a:t>-1,19%</a:t>
                      </a:r>
                    </a:p>
                  </a:txBody>
                  <a:tcPr marL="9525" marR="9525" marT="9525" marB="0" anchor="ctr"/>
                </a:tc>
                <a:tc>
                  <a:txBody>
                    <a:bodyPr/>
                    <a:lstStyle/>
                    <a:p>
                      <a:pPr algn="r" fontAlgn="ctr">
                        <a:buNone/>
                      </a:pPr>
                      <a:r>
                        <a:rPr lang="en-US" sz="1100" b="0" i="0" u="none" strike="noStrike" dirty="0">
                          <a:solidFill>
                            <a:srgbClr val="000000"/>
                          </a:solidFill>
                          <a:effectLst/>
                          <a:latin typeface="Arial" panose="020B0604020202020204" pitchFamily="34" charset="0"/>
                        </a:rPr>
                        <a:t>3,56%</a:t>
                      </a:r>
                    </a:p>
                  </a:txBody>
                  <a:tcPr marL="9525" marR="9525" marT="9525" marB="0" anchor="ctr"/>
                </a:tc>
                <a:extLst>
                  <a:ext uri="{0D108BD9-81ED-4DB2-BD59-A6C34878D82A}">
                    <a16:rowId xmlns:a16="http://schemas.microsoft.com/office/drawing/2014/main" val="208716273"/>
                  </a:ext>
                </a:extLst>
              </a:tr>
            </a:tbl>
          </a:graphicData>
        </a:graphic>
      </p:graphicFrame>
      <p:sp>
        <p:nvSpPr>
          <p:cNvPr id="4" name="Slide Number Placeholder 3">
            <a:extLst>
              <a:ext uri="{FF2B5EF4-FFF2-40B4-BE49-F238E27FC236}">
                <a16:creationId xmlns:a16="http://schemas.microsoft.com/office/drawing/2014/main" id="{DA2F8204-603B-9BA4-6DCB-6299323F0CDB}"/>
              </a:ext>
            </a:extLst>
          </p:cNvPr>
          <p:cNvSpPr>
            <a:spLocks noGrp="1"/>
          </p:cNvSpPr>
          <p:nvPr>
            <p:ph type="sldNum" sz="quarter" idx="4"/>
          </p:nvPr>
        </p:nvSpPr>
        <p:spPr/>
        <p:txBody>
          <a:bodyPr/>
          <a:lstStyle/>
          <a:p>
            <a:fld id="{95CC1D26-A9BD-4BDE-BDD9-08EDBAE96860}" type="slidenum">
              <a:rPr lang="en-GB" smtClean="0">
                <a:solidFill>
                  <a:srgbClr val="313131"/>
                </a:solidFill>
                <a:latin typeface="Arial" panose="020B0604020202020204" pitchFamily="34" charset="0"/>
                <a:cs typeface="Arial" panose="020B0604020202020204" pitchFamily="34" charset="0"/>
              </a:rPr>
              <a:pPr/>
              <a:t>4</a:t>
            </a:fld>
            <a:endParaRPr lang="en-GB">
              <a:solidFill>
                <a:srgbClr val="31313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28725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C7B400DF-E852-3B21-5B29-27FBDA5499ED}"/>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THỊ TRƯỜNG TUẦN 14/09 – 18/09/2026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D2477056-2295-443A-AA08-60DBDA6FCCAD}"/>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Giao</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dịch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các</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nhóm</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nhà</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đầu</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t</a:t>
            </a: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ư</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tuần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khối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ngoại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mua</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2.640 </a:t>
            </a:r>
            <a:r>
              <a:rPr lang="en-US" sz="1100" dirty="0" err="1">
                <a:solidFill>
                  <a:schemeClr val="tx1"/>
                </a:solidFill>
                <a:latin typeface="Arial" panose="020B0604020202020204" pitchFamily="34" charset="0"/>
                <a:cs typeface="Arial" panose="020B0604020202020204" pitchFamily="34" charset="0"/>
              </a:rPr>
              <a:t>tỷ</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Tự</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doanh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mua</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1.100 </a:t>
            </a:r>
            <a:r>
              <a:rPr lang="en-US" sz="1100" dirty="0" err="1">
                <a:solidFill>
                  <a:schemeClr val="tx1"/>
                </a:solidFill>
                <a:latin typeface="Arial" panose="020B0604020202020204" pitchFamily="34" charset="0"/>
                <a:cs typeface="Arial" panose="020B0604020202020204" pitchFamily="34" charset="0"/>
              </a:rPr>
              <a:t>tỷ</a:t>
            </a:r>
            <a:r>
              <a:rPr lang="en-US" sz="1100" dirty="0">
                <a:solidFill>
                  <a:schemeClr val="tx1"/>
                </a:solidFill>
                <a:latin typeface="Arial" panose="020B0604020202020204" pitchFamily="34" charset="0"/>
                <a:cs typeface="Arial" panose="020B0604020202020204" pitchFamily="34" charset="0"/>
              </a:rPr>
              <a:t>.  </a:t>
            </a:r>
          </a:p>
          <a:p>
            <a:pPr>
              <a:lnSpc>
                <a:spcPct val="160000"/>
              </a:lnSpc>
            </a:pP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GD </a:t>
            </a:r>
            <a:r>
              <a:rPr lang="en-US" sz="1100" dirty="0" err="1">
                <a:solidFill>
                  <a:schemeClr val="tx1"/>
                </a:solidFill>
                <a:latin typeface="Arial" panose="020B0604020202020204" pitchFamily="34" charset="0"/>
                <a:cs typeface="Arial" panose="020B0604020202020204" pitchFamily="34" charset="0"/>
              </a:rPr>
              <a:t>Tự</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doanh</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solidFill>
                <a:schemeClr val="tx1"/>
              </a:solidFill>
              <a:latin typeface="Arial" panose="020B0604020202020204" pitchFamily="34" charset="0"/>
              <a:cs typeface="Arial" panose="020B0604020202020204" pitchFamily="34" charset="0"/>
            </a:endParaRPr>
          </a:p>
          <a:p>
            <a:pPr>
              <a:lnSpc>
                <a:spcPct val="160000"/>
              </a:lnSpc>
            </a:pPr>
            <a:endParaRPr lang="en-US" sz="1800" dirty="0">
              <a:latin typeface="Arial" panose="020B0604020202020204" pitchFamily="34" charset="0"/>
              <a:cs typeface="Arial" panose="020B0604020202020204" pitchFamily="34" charset="0"/>
            </a:endParaRPr>
          </a:p>
          <a:p>
            <a:pPr>
              <a:lnSpc>
                <a:spcPct val="160000"/>
              </a:lnSpc>
            </a:pPr>
            <a:endParaRPr lang="en-US" sz="1100" dirty="0">
              <a:latin typeface="Arial" panose="020B0604020202020204" pitchFamily="34" charset="0"/>
              <a:cs typeface="Arial" panose="020B0604020202020204" pitchFamily="34" charset="0"/>
            </a:endParaRPr>
          </a:p>
          <a:p>
            <a:pPr>
              <a:lnSpc>
                <a:spcPct val="160000"/>
              </a:lnSpc>
            </a:pPr>
            <a:endParaRPr lang="en-US" sz="1100" dirty="0">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endParaRPr lang="en-US" sz="1100" dirty="0">
              <a:latin typeface="Arial" panose="020B0604020202020204" pitchFamily="34" charset="0"/>
              <a:cs typeface="Arial" panose="020B0604020202020204" pitchFamily="34" charset="0"/>
            </a:endParaRPr>
          </a:p>
          <a:p>
            <a:pPr>
              <a:lnSpc>
                <a:spcPct val="160000"/>
              </a:lnSpc>
            </a:pPr>
            <a:endParaRPr lang="en-US" sz="1400" dirty="0">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GD </a:t>
            </a:r>
            <a:r>
              <a:rPr lang="en-US" sz="1100" dirty="0" err="1">
                <a:solidFill>
                  <a:schemeClr val="tx1"/>
                </a:solidFill>
                <a:latin typeface="Arial" panose="020B0604020202020204" pitchFamily="34" charset="0"/>
                <a:cs typeface="Arial" panose="020B0604020202020204" pitchFamily="34" charset="0"/>
              </a:rPr>
              <a:t>Khối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ngoại</a:t>
            </a:r>
            <a:endParaRPr lang="en-US" sz="1100" dirty="0">
              <a:solidFill>
                <a:schemeClr val="tx1"/>
              </a:solidFill>
              <a:latin typeface="Arial" panose="020B0604020202020204" pitchFamily="34" charset="0"/>
              <a:cs typeface="Arial" panose="020B0604020202020204" pitchFamily="34" charset="0"/>
            </a:endParaRPr>
          </a:p>
        </p:txBody>
      </p:sp>
      <p:graphicFrame>
        <p:nvGraphicFramePr>
          <p:cNvPr id="17" name="Table 16">
            <a:extLst>
              <a:ext uri="{FF2B5EF4-FFF2-40B4-BE49-F238E27FC236}">
                <a16:creationId xmlns:a16="http://schemas.microsoft.com/office/drawing/2014/main" id="{5A8BC4CC-9D0A-423C-A157-B4DF37B19036}"/>
              </a:ext>
            </a:extLst>
          </p:cNvPr>
          <p:cNvGraphicFramePr>
            <a:graphicFrameLocks noGrp="1"/>
          </p:cNvGraphicFramePr>
          <p:nvPr>
            <p:extLst>
              <p:ext uri="{D42A27DB-BD31-4B8C-83A1-F6EECF244321}">
                <p14:modId xmlns:p14="http://schemas.microsoft.com/office/powerpoint/2010/main" val="773367807"/>
              </p:ext>
            </p:extLst>
          </p:nvPr>
        </p:nvGraphicFramePr>
        <p:xfrm>
          <a:off x="517525" y="1935413"/>
          <a:ext cx="4729594" cy="2214465"/>
        </p:xfrm>
        <a:graphic>
          <a:graphicData uri="http://schemas.openxmlformats.org/drawingml/2006/table">
            <a:tbl>
              <a:tblPr firstRow="1" bandRow="1">
                <a:tableStyleId>{B301B821-A1FF-4177-AEE7-76D212191A09}</a:tableStyleId>
              </a:tblPr>
              <a:tblGrid>
                <a:gridCol w="840220">
                  <a:extLst>
                    <a:ext uri="{9D8B030D-6E8A-4147-A177-3AD203B41FA5}">
                      <a16:colId xmlns:a16="http://schemas.microsoft.com/office/drawing/2014/main" val="476193012"/>
                    </a:ext>
                  </a:extLst>
                </a:gridCol>
                <a:gridCol w="941075">
                  <a:extLst>
                    <a:ext uri="{9D8B030D-6E8A-4147-A177-3AD203B41FA5}">
                      <a16:colId xmlns:a16="http://schemas.microsoft.com/office/drawing/2014/main" val="3541350674"/>
                    </a:ext>
                  </a:extLst>
                </a:gridCol>
                <a:gridCol w="1375873">
                  <a:extLst>
                    <a:ext uri="{9D8B030D-6E8A-4147-A177-3AD203B41FA5}">
                      <a16:colId xmlns:a16="http://schemas.microsoft.com/office/drawing/2014/main" val="373586832"/>
                    </a:ext>
                  </a:extLst>
                </a:gridCol>
                <a:gridCol w="1572426">
                  <a:extLst>
                    <a:ext uri="{9D8B030D-6E8A-4147-A177-3AD203B41FA5}">
                      <a16:colId xmlns:a16="http://schemas.microsoft.com/office/drawing/2014/main" val="1492205293"/>
                    </a:ext>
                  </a:extLst>
                </a:gridCol>
              </a:tblGrid>
              <a:tr h="190500">
                <a:tc>
                  <a:txBody>
                    <a:bodyPr/>
                    <a:lstStyle/>
                    <a:p>
                      <a:pPr algn="l" fontAlgn="ctr"/>
                      <a:r>
                        <a:rPr lang="en-US" sz="1000" b="1" u="none" strike="noStrike" dirty="0" err="1">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Bán ròng (GT)</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tc>
                  <a:txBody>
                    <a:bodyPr/>
                    <a:lstStyle/>
                    <a:p>
                      <a:pPr algn="r" fontAlgn="ctr"/>
                      <a:r>
                        <a:rPr lang="en-US" sz="1000" b="1" u="none" strike="noStrike" dirty="0" err="1">
                          <a:solidFill>
                            <a:srgbClr val="FFFFFF"/>
                          </a:solidFill>
                          <a:effectLst/>
                          <a:latin typeface="Arial" panose="020B0604020202020204" pitchFamily="34" charset="0"/>
                          <a:cs typeface="Arial" panose="020B0604020202020204" pitchFamily="34" charset="0"/>
                        </a:rPr>
                        <a:t>Tỷ</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trọng</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bán</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của</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Khối</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Tự</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doanh</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9525" marT="18000" marB="0" anchor="ctr"/>
                </a:tc>
                <a:extLst>
                  <a:ext uri="{0D108BD9-81ED-4DB2-BD59-A6C34878D82A}">
                    <a16:rowId xmlns:a16="http://schemas.microsoft.com/office/drawing/2014/main" val="4153642203"/>
                  </a:ext>
                </a:extLst>
              </a:tr>
              <a:tr h="158628">
                <a:tc>
                  <a:txBody>
                    <a:bodyPr/>
                    <a:lstStyle/>
                    <a:p>
                      <a:pPr algn="l" fontAlgn="ctr">
                        <a:buNone/>
                      </a:pPr>
                      <a:r>
                        <a:rPr lang="en-US" sz="1100" b="0" i="0" u="none" strike="noStrike" dirty="0">
                          <a:solidFill>
                            <a:srgbClr val="000000"/>
                          </a:solidFill>
                          <a:effectLst/>
                          <a:latin typeface="+mj-lt"/>
                        </a:rPr>
                        <a:t>MCH</a:t>
                      </a:r>
                    </a:p>
                  </a:txBody>
                  <a:tcPr marL="9525" marR="9525" marT="9525" marB="0" anchor="ctr"/>
                </a:tc>
                <a:tc>
                  <a:txBody>
                    <a:bodyPr/>
                    <a:lstStyle/>
                    <a:p>
                      <a:pPr algn="r" fontAlgn="ctr">
                        <a:buNone/>
                      </a:pPr>
                      <a:r>
                        <a:rPr lang="en-US" sz="1100" b="0" i="0" u="none" strike="noStrike">
                          <a:solidFill>
                            <a:srgbClr val="000000"/>
                          </a:solidFill>
                          <a:effectLst/>
                          <a:latin typeface="+mj-lt"/>
                        </a:rPr>
                        <a:t>143.000</a:t>
                      </a:r>
                    </a:p>
                  </a:txBody>
                  <a:tcPr marL="9525" marR="9525" marT="9525" marB="0" anchor="ctr"/>
                </a:tc>
                <a:tc>
                  <a:txBody>
                    <a:bodyPr/>
                    <a:lstStyle/>
                    <a:p>
                      <a:pPr algn="r" fontAlgn="ctr">
                        <a:buNone/>
                      </a:pPr>
                      <a:r>
                        <a:rPr lang="en-US" sz="1100" b="0" i="0" u="none" strike="noStrike">
                          <a:solidFill>
                            <a:srgbClr val="000000"/>
                          </a:solidFill>
                          <a:effectLst/>
                          <a:latin typeface="+mj-lt"/>
                        </a:rPr>
                        <a:t>-349.822.770.000</a:t>
                      </a:r>
                    </a:p>
                  </a:txBody>
                  <a:tcPr marL="9525" marR="9525" marT="9525" marB="0" anchor="ctr"/>
                </a:tc>
                <a:tc>
                  <a:txBody>
                    <a:bodyPr/>
                    <a:lstStyle/>
                    <a:p>
                      <a:pPr algn="r" fontAlgn="ctr">
                        <a:buNone/>
                      </a:pPr>
                      <a:r>
                        <a:rPr lang="en-US" sz="1100" b="0" i="0" u="none" strike="noStrike">
                          <a:solidFill>
                            <a:srgbClr val="000000"/>
                          </a:solidFill>
                          <a:effectLst/>
                          <a:latin typeface="+mj-lt"/>
                        </a:rPr>
                        <a:t>23,37%</a:t>
                      </a:r>
                    </a:p>
                  </a:txBody>
                  <a:tcPr marL="9525" marR="9525" marT="9525" marB="0" anchor="ctr"/>
                </a:tc>
                <a:extLst>
                  <a:ext uri="{0D108BD9-81ED-4DB2-BD59-A6C34878D82A}">
                    <a16:rowId xmlns:a16="http://schemas.microsoft.com/office/drawing/2014/main" val="1830539495"/>
                  </a:ext>
                </a:extLst>
              </a:tr>
              <a:tr h="190500">
                <a:tc>
                  <a:txBody>
                    <a:bodyPr/>
                    <a:lstStyle/>
                    <a:p>
                      <a:pPr algn="l" fontAlgn="ctr">
                        <a:buNone/>
                      </a:pPr>
                      <a:r>
                        <a:rPr lang="en-US" sz="1100" b="0" i="0" u="none" strike="noStrike">
                          <a:solidFill>
                            <a:srgbClr val="000000"/>
                          </a:solidFill>
                          <a:effectLst/>
                          <a:latin typeface="+mj-lt"/>
                        </a:rPr>
                        <a:t>FPT</a:t>
                      </a:r>
                    </a:p>
                  </a:txBody>
                  <a:tcPr marL="9525" marR="9525" marT="9525" marB="0" anchor="ctr"/>
                </a:tc>
                <a:tc>
                  <a:txBody>
                    <a:bodyPr/>
                    <a:lstStyle/>
                    <a:p>
                      <a:pPr algn="r" fontAlgn="ctr">
                        <a:buNone/>
                      </a:pPr>
                      <a:r>
                        <a:rPr lang="en-US" sz="1100" b="0" i="0" u="none" strike="noStrike">
                          <a:solidFill>
                            <a:srgbClr val="000000"/>
                          </a:solidFill>
                          <a:effectLst/>
                          <a:latin typeface="+mj-lt"/>
                        </a:rPr>
                        <a:t>71.700</a:t>
                      </a:r>
                    </a:p>
                  </a:txBody>
                  <a:tcPr marL="9525" marR="9525" marT="9525" marB="0" anchor="ctr"/>
                </a:tc>
                <a:tc>
                  <a:txBody>
                    <a:bodyPr/>
                    <a:lstStyle/>
                    <a:p>
                      <a:pPr algn="r" fontAlgn="ctr">
                        <a:buNone/>
                      </a:pPr>
                      <a:r>
                        <a:rPr lang="en-US" sz="1100" b="0" i="0" u="none" strike="noStrike" dirty="0">
                          <a:solidFill>
                            <a:srgbClr val="000000"/>
                          </a:solidFill>
                          <a:effectLst/>
                          <a:latin typeface="+mj-lt"/>
                        </a:rPr>
                        <a:t>-177.974.910.000</a:t>
                      </a:r>
                    </a:p>
                  </a:txBody>
                  <a:tcPr marL="9525" marR="9525" marT="9525" marB="0" anchor="ctr"/>
                </a:tc>
                <a:tc>
                  <a:txBody>
                    <a:bodyPr/>
                    <a:lstStyle/>
                    <a:p>
                      <a:pPr algn="r" fontAlgn="ctr">
                        <a:buNone/>
                      </a:pPr>
                      <a:r>
                        <a:rPr lang="en-US" sz="1100" b="0" i="0" u="none" strike="noStrike" dirty="0">
                          <a:solidFill>
                            <a:srgbClr val="000000"/>
                          </a:solidFill>
                          <a:effectLst/>
                          <a:latin typeface="+mj-lt"/>
                        </a:rPr>
                        <a:t>7,13%</a:t>
                      </a:r>
                    </a:p>
                  </a:txBody>
                  <a:tcPr marL="9525" marR="9525" marT="9525" marB="0" anchor="ctr"/>
                </a:tc>
                <a:extLst>
                  <a:ext uri="{0D108BD9-81ED-4DB2-BD59-A6C34878D82A}">
                    <a16:rowId xmlns:a16="http://schemas.microsoft.com/office/drawing/2014/main" val="3252662491"/>
                  </a:ext>
                </a:extLst>
              </a:tr>
              <a:tr h="190500">
                <a:tc>
                  <a:txBody>
                    <a:bodyPr/>
                    <a:lstStyle/>
                    <a:p>
                      <a:pPr algn="l" fontAlgn="ctr">
                        <a:buNone/>
                      </a:pPr>
                      <a:r>
                        <a:rPr lang="en-US" sz="1100" b="0" i="0" u="none" strike="noStrike">
                          <a:solidFill>
                            <a:srgbClr val="000000"/>
                          </a:solidFill>
                          <a:effectLst/>
                          <a:latin typeface="+mj-lt"/>
                        </a:rPr>
                        <a:t>VCB</a:t>
                      </a:r>
                    </a:p>
                  </a:txBody>
                  <a:tcPr marL="9525" marR="9525" marT="9525" marB="0" anchor="ctr"/>
                </a:tc>
                <a:tc>
                  <a:txBody>
                    <a:bodyPr/>
                    <a:lstStyle/>
                    <a:p>
                      <a:pPr algn="r" fontAlgn="ctr">
                        <a:buNone/>
                      </a:pPr>
                      <a:r>
                        <a:rPr lang="en-US" sz="1100" b="0" i="0" u="none" strike="noStrike" dirty="0">
                          <a:solidFill>
                            <a:srgbClr val="000000"/>
                          </a:solidFill>
                          <a:effectLst/>
                          <a:latin typeface="+mj-lt"/>
                        </a:rPr>
                        <a:t>59.900</a:t>
                      </a:r>
                    </a:p>
                  </a:txBody>
                  <a:tcPr marL="9525" marR="9525" marT="9525" marB="0" anchor="ctr"/>
                </a:tc>
                <a:tc>
                  <a:txBody>
                    <a:bodyPr/>
                    <a:lstStyle/>
                    <a:p>
                      <a:pPr algn="r" fontAlgn="ctr">
                        <a:buNone/>
                      </a:pPr>
                      <a:r>
                        <a:rPr lang="en-US" sz="1100" b="0" i="0" u="none" strike="noStrike">
                          <a:solidFill>
                            <a:srgbClr val="000000"/>
                          </a:solidFill>
                          <a:effectLst/>
                          <a:latin typeface="+mj-lt"/>
                        </a:rPr>
                        <a:t>-53.971.650.000</a:t>
                      </a:r>
                    </a:p>
                  </a:txBody>
                  <a:tcPr marL="9525" marR="9525" marT="9525" marB="0" anchor="ctr"/>
                </a:tc>
                <a:tc>
                  <a:txBody>
                    <a:bodyPr/>
                    <a:lstStyle/>
                    <a:p>
                      <a:pPr algn="r" fontAlgn="ctr">
                        <a:buNone/>
                      </a:pPr>
                      <a:r>
                        <a:rPr lang="en-US" sz="1100" b="0" i="0" u="none" strike="noStrike">
                          <a:solidFill>
                            <a:srgbClr val="000000"/>
                          </a:solidFill>
                          <a:effectLst/>
                          <a:latin typeface="+mj-lt"/>
                        </a:rPr>
                        <a:t>11,50%</a:t>
                      </a:r>
                    </a:p>
                  </a:txBody>
                  <a:tcPr marL="9525" marR="9525" marT="9525" marB="0" anchor="ctr"/>
                </a:tc>
                <a:extLst>
                  <a:ext uri="{0D108BD9-81ED-4DB2-BD59-A6C34878D82A}">
                    <a16:rowId xmlns:a16="http://schemas.microsoft.com/office/drawing/2014/main" val="3933181617"/>
                  </a:ext>
                </a:extLst>
              </a:tr>
              <a:tr h="190500">
                <a:tc>
                  <a:txBody>
                    <a:bodyPr/>
                    <a:lstStyle/>
                    <a:p>
                      <a:pPr algn="l" fontAlgn="ctr">
                        <a:buNone/>
                      </a:pPr>
                      <a:r>
                        <a:rPr lang="en-US" sz="1100" b="0" i="0" u="none" strike="noStrike">
                          <a:solidFill>
                            <a:srgbClr val="000000"/>
                          </a:solidFill>
                          <a:effectLst/>
                          <a:latin typeface="+mj-lt"/>
                        </a:rPr>
                        <a:t>ACB</a:t>
                      </a:r>
                    </a:p>
                  </a:txBody>
                  <a:tcPr marL="9525" marR="9525" marT="9525" marB="0" anchor="ctr"/>
                </a:tc>
                <a:tc>
                  <a:txBody>
                    <a:bodyPr/>
                    <a:lstStyle/>
                    <a:p>
                      <a:pPr algn="r" fontAlgn="ctr">
                        <a:buNone/>
                      </a:pPr>
                      <a:r>
                        <a:rPr lang="en-US" sz="1100" b="0" i="0" u="none" strike="noStrike">
                          <a:solidFill>
                            <a:srgbClr val="000000"/>
                          </a:solidFill>
                          <a:effectLst/>
                          <a:latin typeface="+mj-lt"/>
                        </a:rPr>
                        <a:t>21.900</a:t>
                      </a:r>
                    </a:p>
                  </a:txBody>
                  <a:tcPr marL="9525" marR="9525" marT="9525" marB="0" anchor="ctr"/>
                </a:tc>
                <a:tc>
                  <a:txBody>
                    <a:bodyPr/>
                    <a:lstStyle/>
                    <a:p>
                      <a:pPr algn="r" fontAlgn="ctr">
                        <a:buNone/>
                      </a:pPr>
                      <a:r>
                        <a:rPr lang="en-US" sz="1100" b="0" i="0" u="none" strike="noStrike" dirty="0">
                          <a:solidFill>
                            <a:srgbClr val="000000"/>
                          </a:solidFill>
                          <a:effectLst/>
                          <a:latin typeface="+mj-lt"/>
                        </a:rPr>
                        <a:t>-25.776.645.000</a:t>
                      </a:r>
                    </a:p>
                  </a:txBody>
                  <a:tcPr marL="9525" marR="9525" marT="9525" marB="0" anchor="ctr"/>
                </a:tc>
                <a:tc>
                  <a:txBody>
                    <a:bodyPr/>
                    <a:lstStyle/>
                    <a:p>
                      <a:pPr algn="r" fontAlgn="ctr">
                        <a:buNone/>
                      </a:pPr>
                      <a:r>
                        <a:rPr lang="en-US" sz="1100" b="0" i="0" u="none" strike="noStrike">
                          <a:solidFill>
                            <a:srgbClr val="000000"/>
                          </a:solidFill>
                          <a:effectLst/>
                          <a:latin typeface="+mj-lt"/>
                        </a:rPr>
                        <a:t>13,12%</a:t>
                      </a:r>
                    </a:p>
                  </a:txBody>
                  <a:tcPr marL="9525" marR="9525" marT="9525" marB="0" anchor="ctr"/>
                </a:tc>
                <a:extLst>
                  <a:ext uri="{0D108BD9-81ED-4DB2-BD59-A6C34878D82A}">
                    <a16:rowId xmlns:a16="http://schemas.microsoft.com/office/drawing/2014/main" val="244560680"/>
                  </a:ext>
                </a:extLst>
              </a:tr>
              <a:tr h="190500">
                <a:tc>
                  <a:txBody>
                    <a:bodyPr/>
                    <a:lstStyle/>
                    <a:p>
                      <a:pPr algn="l" fontAlgn="ctr">
                        <a:buNone/>
                      </a:pPr>
                      <a:r>
                        <a:rPr lang="en-US" sz="1100" b="0" i="0" u="none" strike="noStrike">
                          <a:solidFill>
                            <a:srgbClr val="000000"/>
                          </a:solidFill>
                          <a:effectLst/>
                          <a:latin typeface="+mj-lt"/>
                        </a:rPr>
                        <a:t>BID</a:t>
                      </a:r>
                    </a:p>
                  </a:txBody>
                  <a:tcPr marL="9525" marR="9525" marT="9525" marB="0" anchor="ctr"/>
                </a:tc>
                <a:tc>
                  <a:txBody>
                    <a:bodyPr/>
                    <a:lstStyle/>
                    <a:p>
                      <a:pPr algn="r" fontAlgn="ctr">
                        <a:buNone/>
                      </a:pPr>
                      <a:r>
                        <a:rPr lang="en-US" sz="1100" b="0" i="0" u="none" strike="noStrike">
                          <a:solidFill>
                            <a:srgbClr val="000000"/>
                          </a:solidFill>
                          <a:effectLst/>
                          <a:latin typeface="+mj-lt"/>
                        </a:rPr>
                        <a:t>35.750</a:t>
                      </a:r>
                    </a:p>
                  </a:txBody>
                  <a:tcPr marL="9525" marR="9525" marT="9525" marB="0" anchor="ctr"/>
                </a:tc>
                <a:tc>
                  <a:txBody>
                    <a:bodyPr/>
                    <a:lstStyle/>
                    <a:p>
                      <a:pPr algn="r" fontAlgn="ctr">
                        <a:buNone/>
                      </a:pPr>
                      <a:r>
                        <a:rPr lang="en-US" sz="1100" b="0" i="0" u="none" strike="noStrike">
                          <a:solidFill>
                            <a:srgbClr val="000000"/>
                          </a:solidFill>
                          <a:effectLst/>
                          <a:latin typeface="+mj-lt"/>
                        </a:rPr>
                        <a:t>-21.615.800.000</a:t>
                      </a:r>
                    </a:p>
                  </a:txBody>
                  <a:tcPr marL="9525" marR="9525" marT="9525" marB="0" anchor="ctr"/>
                </a:tc>
                <a:tc>
                  <a:txBody>
                    <a:bodyPr/>
                    <a:lstStyle/>
                    <a:p>
                      <a:pPr algn="r" fontAlgn="ctr">
                        <a:buNone/>
                      </a:pPr>
                      <a:r>
                        <a:rPr lang="en-US" sz="1100" b="0" i="0" u="none" strike="noStrike">
                          <a:solidFill>
                            <a:srgbClr val="000000"/>
                          </a:solidFill>
                          <a:effectLst/>
                          <a:latin typeface="+mj-lt"/>
                        </a:rPr>
                        <a:t>4,22%</a:t>
                      </a:r>
                    </a:p>
                  </a:txBody>
                  <a:tcPr marL="9525" marR="9525" marT="9525" marB="0" anchor="ctr"/>
                </a:tc>
                <a:extLst>
                  <a:ext uri="{0D108BD9-81ED-4DB2-BD59-A6C34878D82A}">
                    <a16:rowId xmlns:a16="http://schemas.microsoft.com/office/drawing/2014/main" val="2635700921"/>
                  </a:ext>
                </a:extLst>
              </a:tr>
              <a:tr h="190500">
                <a:tc>
                  <a:txBody>
                    <a:bodyPr/>
                    <a:lstStyle/>
                    <a:p>
                      <a:pPr algn="l" fontAlgn="ctr">
                        <a:buNone/>
                      </a:pPr>
                      <a:r>
                        <a:rPr lang="en-US" sz="1100" b="0" i="0" u="none" strike="noStrike">
                          <a:solidFill>
                            <a:srgbClr val="000000"/>
                          </a:solidFill>
                          <a:effectLst/>
                          <a:latin typeface="+mj-lt"/>
                        </a:rPr>
                        <a:t>FUEPHVNS</a:t>
                      </a:r>
                    </a:p>
                  </a:txBody>
                  <a:tcPr marL="9525" marR="9525" marT="9525" marB="0" anchor="ctr"/>
                </a:tc>
                <a:tc>
                  <a:txBody>
                    <a:bodyPr/>
                    <a:lstStyle/>
                    <a:p>
                      <a:pPr algn="r" fontAlgn="ctr">
                        <a:buNone/>
                      </a:pPr>
                      <a:r>
                        <a:rPr lang="en-US" sz="1100" b="0" i="0" u="none" strike="noStrike">
                          <a:solidFill>
                            <a:srgbClr val="000000"/>
                          </a:solidFill>
                          <a:effectLst/>
                          <a:latin typeface="+mj-lt"/>
                        </a:rPr>
                        <a:t>9.750</a:t>
                      </a:r>
                    </a:p>
                  </a:txBody>
                  <a:tcPr marL="9525" marR="9525" marT="9525" marB="0" anchor="ctr"/>
                </a:tc>
                <a:tc>
                  <a:txBody>
                    <a:bodyPr/>
                    <a:lstStyle/>
                    <a:p>
                      <a:pPr algn="r" fontAlgn="ctr">
                        <a:buNone/>
                      </a:pPr>
                      <a:r>
                        <a:rPr lang="en-US" sz="1100" b="0" i="0" u="none" strike="noStrike" dirty="0">
                          <a:solidFill>
                            <a:srgbClr val="000000"/>
                          </a:solidFill>
                          <a:effectLst/>
                          <a:latin typeface="+mj-lt"/>
                        </a:rPr>
                        <a:t>-16.429.930.000</a:t>
                      </a:r>
                    </a:p>
                  </a:txBody>
                  <a:tcPr marL="9525" marR="9525" marT="9525" marB="0" anchor="ctr"/>
                </a:tc>
                <a:tc>
                  <a:txBody>
                    <a:bodyPr/>
                    <a:lstStyle/>
                    <a:p>
                      <a:pPr algn="r" fontAlgn="ctr">
                        <a:buNone/>
                      </a:pPr>
                      <a:r>
                        <a:rPr lang="en-US" sz="1100" b="0" i="0" u="none" strike="noStrike">
                          <a:solidFill>
                            <a:srgbClr val="000000"/>
                          </a:solidFill>
                          <a:effectLst/>
                          <a:latin typeface="+mj-lt"/>
                        </a:rPr>
                        <a:t>52,15%</a:t>
                      </a:r>
                    </a:p>
                  </a:txBody>
                  <a:tcPr marL="9525" marR="9525" marT="9525" marB="0" anchor="ctr"/>
                </a:tc>
                <a:extLst>
                  <a:ext uri="{0D108BD9-81ED-4DB2-BD59-A6C34878D82A}">
                    <a16:rowId xmlns:a16="http://schemas.microsoft.com/office/drawing/2014/main" val="3348839886"/>
                  </a:ext>
                </a:extLst>
              </a:tr>
              <a:tr h="190500">
                <a:tc>
                  <a:txBody>
                    <a:bodyPr/>
                    <a:lstStyle/>
                    <a:p>
                      <a:pPr algn="l" fontAlgn="ctr">
                        <a:buNone/>
                      </a:pPr>
                      <a:r>
                        <a:rPr lang="en-US" sz="1100" b="0" i="0" u="none" strike="noStrike">
                          <a:solidFill>
                            <a:srgbClr val="000000"/>
                          </a:solidFill>
                          <a:effectLst/>
                          <a:latin typeface="+mj-lt"/>
                        </a:rPr>
                        <a:t>NLG</a:t>
                      </a:r>
                    </a:p>
                  </a:txBody>
                  <a:tcPr marL="9525" marR="9525" marT="9525" marB="0" anchor="ctr"/>
                </a:tc>
                <a:tc>
                  <a:txBody>
                    <a:bodyPr/>
                    <a:lstStyle/>
                    <a:p>
                      <a:pPr algn="r" fontAlgn="ctr">
                        <a:buNone/>
                      </a:pPr>
                      <a:r>
                        <a:rPr lang="en-US" sz="1100" b="0" i="0" u="none" strike="noStrike">
                          <a:solidFill>
                            <a:srgbClr val="000000"/>
                          </a:solidFill>
                          <a:effectLst/>
                          <a:latin typeface="+mj-lt"/>
                        </a:rPr>
                        <a:t>24.100</a:t>
                      </a:r>
                    </a:p>
                  </a:txBody>
                  <a:tcPr marL="9525" marR="9525" marT="9525" marB="0" anchor="ctr"/>
                </a:tc>
                <a:tc>
                  <a:txBody>
                    <a:bodyPr/>
                    <a:lstStyle/>
                    <a:p>
                      <a:pPr algn="r" fontAlgn="ctr">
                        <a:buNone/>
                      </a:pPr>
                      <a:r>
                        <a:rPr lang="en-US" sz="1100" b="0" i="0" u="none" strike="noStrike">
                          <a:solidFill>
                            <a:srgbClr val="000000"/>
                          </a:solidFill>
                          <a:effectLst/>
                          <a:latin typeface="+mj-lt"/>
                        </a:rPr>
                        <a:t>-14.662.870.000</a:t>
                      </a:r>
                    </a:p>
                  </a:txBody>
                  <a:tcPr marL="9525" marR="9525" marT="9525" marB="0" anchor="ctr"/>
                </a:tc>
                <a:tc>
                  <a:txBody>
                    <a:bodyPr/>
                    <a:lstStyle/>
                    <a:p>
                      <a:pPr algn="r" fontAlgn="ctr">
                        <a:buNone/>
                      </a:pPr>
                      <a:r>
                        <a:rPr lang="en-US" sz="1100" b="0" i="0" u="none" strike="noStrike">
                          <a:solidFill>
                            <a:srgbClr val="000000"/>
                          </a:solidFill>
                          <a:effectLst/>
                          <a:latin typeface="+mj-lt"/>
                        </a:rPr>
                        <a:t>3,33%</a:t>
                      </a:r>
                    </a:p>
                  </a:txBody>
                  <a:tcPr marL="9525" marR="9525" marT="9525" marB="0" anchor="ctr"/>
                </a:tc>
                <a:extLst>
                  <a:ext uri="{0D108BD9-81ED-4DB2-BD59-A6C34878D82A}">
                    <a16:rowId xmlns:a16="http://schemas.microsoft.com/office/drawing/2014/main" val="2648804254"/>
                  </a:ext>
                </a:extLst>
              </a:tr>
              <a:tr h="190500">
                <a:tc>
                  <a:txBody>
                    <a:bodyPr/>
                    <a:lstStyle/>
                    <a:p>
                      <a:pPr algn="l" fontAlgn="ctr">
                        <a:buNone/>
                      </a:pPr>
                      <a:r>
                        <a:rPr lang="en-US" sz="1100" b="0" i="0" u="none" strike="noStrike">
                          <a:solidFill>
                            <a:srgbClr val="000000"/>
                          </a:solidFill>
                          <a:effectLst/>
                          <a:latin typeface="+mj-lt"/>
                        </a:rPr>
                        <a:t>FUESSVFL</a:t>
                      </a:r>
                    </a:p>
                  </a:txBody>
                  <a:tcPr marL="9525" marR="9525" marT="9525" marB="0" anchor="ctr"/>
                </a:tc>
                <a:tc>
                  <a:txBody>
                    <a:bodyPr/>
                    <a:lstStyle/>
                    <a:p>
                      <a:pPr algn="r" fontAlgn="ctr">
                        <a:buNone/>
                      </a:pPr>
                      <a:r>
                        <a:rPr lang="en-US" sz="1100" b="0" i="0" u="none" strike="noStrike">
                          <a:solidFill>
                            <a:srgbClr val="000000"/>
                          </a:solidFill>
                          <a:effectLst/>
                          <a:latin typeface="+mj-lt"/>
                        </a:rPr>
                        <a:t>29.110</a:t>
                      </a:r>
                    </a:p>
                  </a:txBody>
                  <a:tcPr marL="9525" marR="9525" marT="9525" marB="0" anchor="ctr"/>
                </a:tc>
                <a:tc>
                  <a:txBody>
                    <a:bodyPr/>
                    <a:lstStyle/>
                    <a:p>
                      <a:pPr algn="r" fontAlgn="ctr">
                        <a:buNone/>
                      </a:pPr>
                      <a:r>
                        <a:rPr lang="en-US" sz="1100" b="0" i="0" u="none" strike="noStrike" dirty="0">
                          <a:solidFill>
                            <a:srgbClr val="000000"/>
                          </a:solidFill>
                          <a:effectLst/>
                          <a:latin typeface="+mj-lt"/>
                        </a:rPr>
                        <a:t>-12.605.690.000</a:t>
                      </a:r>
                    </a:p>
                  </a:txBody>
                  <a:tcPr marL="9525" marR="9525" marT="9525" marB="0" anchor="ctr"/>
                </a:tc>
                <a:tc>
                  <a:txBody>
                    <a:bodyPr/>
                    <a:lstStyle/>
                    <a:p>
                      <a:pPr algn="r" fontAlgn="ctr">
                        <a:buNone/>
                      </a:pPr>
                      <a:r>
                        <a:rPr lang="en-US" sz="1100" b="0" i="0" u="none" strike="noStrike">
                          <a:solidFill>
                            <a:srgbClr val="000000"/>
                          </a:solidFill>
                          <a:effectLst/>
                          <a:latin typeface="+mj-lt"/>
                        </a:rPr>
                        <a:t>49,49%</a:t>
                      </a:r>
                    </a:p>
                  </a:txBody>
                  <a:tcPr marL="9525" marR="9525" marT="9525" marB="0" anchor="ctr"/>
                </a:tc>
                <a:extLst>
                  <a:ext uri="{0D108BD9-81ED-4DB2-BD59-A6C34878D82A}">
                    <a16:rowId xmlns:a16="http://schemas.microsoft.com/office/drawing/2014/main" val="1898481737"/>
                  </a:ext>
                </a:extLst>
              </a:tr>
              <a:tr h="190500">
                <a:tc>
                  <a:txBody>
                    <a:bodyPr/>
                    <a:lstStyle/>
                    <a:p>
                      <a:pPr algn="l" fontAlgn="ctr">
                        <a:buNone/>
                      </a:pPr>
                      <a:r>
                        <a:rPr lang="en-US" sz="1100" b="0" i="0" u="none" strike="noStrike">
                          <a:solidFill>
                            <a:srgbClr val="000000"/>
                          </a:solidFill>
                          <a:effectLst/>
                          <a:latin typeface="+mj-lt"/>
                        </a:rPr>
                        <a:t>SSB</a:t>
                      </a:r>
                    </a:p>
                  </a:txBody>
                  <a:tcPr marL="9525" marR="9525" marT="9525" marB="0" anchor="ctr"/>
                </a:tc>
                <a:tc>
                  <a:txBody>
                    <a:bodyPr/>
                    <a:lstStyle/>
                    <a:p>
                      <a:pPr algn="r" fontAlgn="ctr">
                        <a:buNone/>
                      </a:pPr>
                      <a:r>
                        <a:rPr lang="en-US" sz="1100" b="0" i="0" u="none" strike="noStrike">
                          <a:solidFill>
                            <a:srgbClr val="000000"/>
                          </a:solidFill>
                          <a:effectLst/>
                          <a:latin typeface="+mj-lt"/>
                        </a:rPr>
                        <a:t>24.100</a:t>
                      </a:r>
                    </a:p>
                  </a:txBody>
                  <a:tcPr marL="9525" marR="9525" marT="9525" marB="0" anchor="ctr"/>
                </a:tc>
                <a:tc>
                  <a:txBody>
                    <a:bodyPr/>
                    <a:lstStyle/>
                    <a:p>
                      <a:pPr algn="r" fontAlgn="ctr">
                        <a:buNone/>
                      </a:pPr>
                      <a:r>
                        <a:rPr lang="en-US" sz="1100" b="0" i="0" u="none" strike="noStrike">
                          <a:solidFill>
                            <a:srgbClr val="000000"/>
                          </a:solidFill>
                          <a:effectLst/>
                          <a:latin typeface="+mj-lt"/>
                        </a:rPr>
                        <a:t>-11.559.336.000</a:t>
                      </a:r>
                    </a:p>
                  </a:txBody>
                  <a:tcPr marL="9525" marR="9525" marT="9525" marB="0" anchor="ctr"/>
                </a:tc>
                <a:tc>
                  <a:txBody>
                    <a:bodyPr/>
                    <a:lstStyle/>
                    <a:p>
                      <a:pPr algn="r" fontAlgn="ctr">
                        <a:buNone/>
                      </a:pPr>
                      <a:r>
                        <a:rPr lang="en-US" sz="1100" b="0" i="0" u="none" strike="noStrike" dirty="0">
                          <a:solidFill>
                            <a:srgbClr val="000000"/>
                          </a:solidFill>
                          <a:effectLst/>
                          <a:latin typeface="+mj-lt"/>
                        </a:rPr>
                        <a:t>2,06%</a:t>
                      </a:r>
                    </a:p>
                  </a:txBody>
                  <a:tcPr marL="9525" marR="9525" marT="9525" marB="0" anchor="ctr"/>
                </a:tc>
                <a:extLst>
                  <a:ext uri="{0D108BD9-81ED-4DB2-BD59-A6C34878D82A}">
                    <a16:rowId xmlns:a16="http://schemas.microsoft.com/office/drawing/2014/main" val="2496103962"/>
                  </a:ext>
                </a:extLst>
              </a:tr>
              <a:tr h="190500">
                <a:tc>
                  <a:txBody>
                    <a:bodyPr/>
                    <a:lstStyle/>
                    <a:p>
                      <a:pPr algn="l" fontAlgn="ctr">
                        <a:buNone/>
                      </a:pPr>
                      <a:r>
                        <a:rPr lang="en-US" sz="1100" b="0" i="0" u="none" strike="noStrike">
                          <a:solidFill>
                            <a:srgbClr val="000000"/>
                          </a:solidFill>
                          <a:effectLst/>
                          <a:latin typeface="+mj-lt"/>
                        </a:rPr>
                        <a:t>CTG</a:t>
                      </a:r>
                    </a:p>
                  </a:txBody>
                  <a:tcPr marL="9525" marR="9525" marT="9525" marB="0" anchor="ctr"/>
                </a:tc>
                <a:tc>
                  <a:txBody>
                    <a:bodyPr/>
                    <a:lstStyle/>
                    <a:p>
                      <a:pPr algn="r" fontAlgn="ctr">
                        <a:buNone/>
                      </a:pPr>
                      <a:r>
                        <a:rPr lang="en-US" sz="1100" b="0" i="0" u="none" strike="noStrike" dirty="0">
                          <a:solidFill>
                            <a:srgbClr val="000000"/>
                          </a:solidFill>
                          <a:effectLst/>
                          <a:latin typeface="+mj-lt"/>
                        </a:rPr>
                        <a:t>30.250</a:t>
                      </a:r>
                    </a:p>
                  </a:txBody>
                  <a:tcPr marL="9525" marR="9525" marT="9525" marB="0" anchor="ctr"/>
                </a:tc>
                <a:tc>
                  <a:txBody>
                    <a:bodyPr/>
                    <a:lstStyle/>
                    <a:p>
                      <a:pPr algn="r" fontAlgn="ctr">
                        <a:buNone/>
                      </a:pPr>
                      <a:r>
                        <a:rPr lang="en-US" sz="1100" b="0" i="0" u="none" strike="noStrike">
                          <a:solidFill>
                            <a:srgbClr val="000000"/>
                          </a:solidFill>
                          <a:effectLst/>
                          <a:latin typeface="+mj-lt"/>
                        </a:rPr>
                        <a:t>-11.012.342.000</a:t>
                      </a:r>
                    </a:p>
                  </a:txBody>
                  <a:tcPr marL="9525" marR="9525" marT="9525" marB="0" anchor="ctr"/>
                </a:tc>
                <a:tc>
                  <a:txBody>
                    <a:bodyPr/>
                    <a:lstStyle/>
                    <a:p>
                      <a:pPr algn="r" fontAlgn="ctr">
                        <a:buNone/>
                      </a:pPr>
                      <a:r>
                        <a:rPr lang="en-US" sz="1100" b="0" i="0" u="none" strike="noStrike" dirty="0">
                          <a:solidFill>
                            <a:srgbClr val="000000"/>
                          </a:solidFill>
                          <a:effectLst/>
                          <a:latin typeface="+mj-lt"/>
                        </a:rPr>
                        <a:t>11,94%</a:t>
                      </a:r>
                    </a:p>
                  </a:txBody>
                  <a:tcPr marL="9525" marR="9525" marT="9525" marB="0" anchor="ctr"/>
                </a:tc>
                <a:extLst>
                  <a:ext uri="{0D108BD9-81ED-4DB2-BD59-A6C34878D82A}">
                    <a16:rowId xmlns:a16="http://schemas.microsoft.com/office/drawing/2014/main" val="2974253128"/>
                  </a:ext>
                </a:extLst>
              </a:tr>
            </a:tbl>
          </a:graphicData>
        </a:graphic>
      </p:graphicFrame>
      <p:graphicFrame>
        <p:nvGraphicFramePr>
          <p:cNvPr id="24" name="Table 23">
            <a:extLst>
              <a:ext uri="{FF2B5EF4-FFF2-40B4-BE49-F238E27FC236}">
                <a16:creationId xmlns:a16="http://schemas.microsoft.com/office/drawing/2014/main" id="{35F517E2-A8B1-49E1-9B1E-1D5C00CE0778}"/>
              </a:ext>
            </a:extLst>
          </p:cNvPr>
          <p:cNvGraphicFramePr>
            <a:graphicFrameLocks noGrp="1"/>
          </p:cNvGraphicFramePr>
          <p:nvPr>
            <p:extLst>
              <p:ext uri="{D42A27DB-BD31-4B8C-83A1-F6EECF244321}">
                <p14:modId xmlns:p14="http://schemas.microsoft.com/office/powerpoint/2010/main" val="4014084064"/>
              </p:ext>
            </p:extLst>
          </p:nvPr>
        </p:nvGraphicFramePr>
        <p:xfrm>
          <a:off x="6082353" y="1929390"/>
          <a:ext cx="4729594" cy="2247470"/>
        </p:xfrm>
        <a:graphic>
          <a:graphicData uri="http://schemas.openxmlformats.org/drawingml/2006/table">
            <a:tbl>
              <a:tblPr firstRow="1" bandRow="1">
                <a:tableStyleId>{B301B821-A1FF-4177-AEE7-76D212191A09}</a:tableStyleId>
              </a:tblPr>
              <a:tblGrid>
                <a:gridCol w="937189">
                  <a:extLst>
                    <a:ext uri="{9D8B030D-6E8A-4147-A177-3AD203B41FA5}">
                      <a16:colId xmlns:a16="http://schemas.microsoft.com/office/drawing/2014/main" val="682583455"/>
                    </a:ext>
                  </a:extLst>
                </a:gridCol>
                <a:gridCol w="880217">
                  <a:extLst>
                    <a:ext uri="{9D8B030D-6E8A-4147-A177-3AD203B41FA5}">
                      <a16:colId xmlns:a16="http://schemas.microsoft.com/office/drawing/2014/main" val="1140088890"/>
                    </a:ext>
                  </a:extLst>
                </a:gridCol>
                <a:gridCol w="1418601">
                  <a:extLst>
                    <a:ext uri="{9D8B030D-6E8A-4147-A177-3AD203B41FA5}">
                      <a16:colId xmlns:a16="http://schemas.microsoft.com/office/drawing/2014/main" val="3285455083"/>
                    </a:ext>
                  </a:extLst>
                </a:gridCol>
                <a:gridCol w="1493587">
                  <a:extLst>
                    <a:ext uri="{9D8B030D-6E8A-4147-A177-3AD203B41FA5}">
                      <a16:colId xmlns:a16="http://schemas.microsoft.com/office/drawing/2014/main" val="2755322544"/>
                    </a:ext>
                  </a:extLst>
                </a:gridCol>
              </a:tblGrid>
              <a:tr h="317571">
                <a:tc>
                  <a:txBody>
                    <a:bodyPr/>
                    <a:lstStyle/>
                    <a:p>
                      <a:pPr algn="l" fontAlgn="ctr"/>
                      <a:r>
                        <a:rPr lang="en-US" sz="1000" b="1" u="none" strike="noStrike">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Mua ròng (GT)</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tc>
                  <a:txBody>
                    <a:bodyPr/>
                    <a:lstStyle/>
                    <a:p>
                      <a:pPr algn="r" fontAlgn="ctr"/>
                      <a:r>
                        <a:rPr lang="en-US" sz="1000" b="1" u="none" strike="noStrike">
                          <a:solidFill>
                            <a:srgbClr val="FFFFFF"/>
                          </a:solidFill>
                          <a:effectLst/>
                          <a:latin typeface="Arial" panose="020B0604020202020204" pitchFamily="34" charset="0"/>
                          <a:cs typeface="Arial" panose="020B0604020202020204" pitchFamily="34" charset="0"/>
                        </a:rPr>
                        <a:t>Tỷ trọng mua của Khối Tự doanh</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18000" marR="0" marT="18000" marB="0" anchor="ctr"/>
                </a:tc>
                <a:extLst>
                  <a:ext uri="{0D108BD9-81ED-4DB2-BD59-A6C34878D82A}">
                    <a16:rowId xmlns:a16="http://schemas.microsoft.com/office/drawing/2014/main" val="901127028"/>
                  </a:ext>
                </a:extLst>
              </a:tr>
              <a:tr h="192467">
                <a:tc>
                  <a:txBody>
                    <a:bodyPr/>
                    <a:lstStyle/>
                    <a:p>
                      <a:pPr algn="l" fontAlgn="ctr">
                        <a:buNone/>
                      </a:pPr>
                      <a:r>
                        <a:rPr lang="en-US" sz="1100" b="0" i="0" u="none" strike="noStrike" dirty="0">
                          <a:solidFill>
                            <a:srgbClr val="000000"/>
                          </a:solidFill>
                          <a:effectLst/>
                          <a:latin typeface="+mj-lt"/>
                        </a:rPr>
                        <a:t>VPB</a:t>
                      </a:r>
                    </a:p>
                  </a:txBody>
                  <a:tcPr marL="9525" marR="9525" marT="9525" marB="0" anchor="ctr"/>
                </a:tc>
                <a:tc>
                  <a:txBody>
                    <a:bodyPr/>
                    <a:lstStyle/>
                    <a:p>
                      <a:pPr algn="r" fontAlgn="ctr">
                        <a:buNone/>
                      </a:pPr>
                      <a:r>
                        <a:rPr lang="en-US" sz="1100" b="0" i="0" u="none" strike="noStrike">
                          <a:solidFill>
                            <a:srgbClr val="000000"/>
                          </a:solidFill>
                          <a:effectLst/>
                          <a:latin typeface="+mj-lt"/>
                        </a:rPr>
                        <a:t>27.450</a:t>
                      </a:r>
                    </a:p>
                  </a:txBody>
                  <a:tcPr marL="9525" marR="9525" marT="9525" marB="0" anchor="ctr"/>
                </a:tc>
                <a:tc>
                  <a:txBody>
                    <a:bodyPr/>
                    <a:lstStyle/>
                    <a:p>
                      <a:pPr algn="r" fontAlgn="ctr">
                        <a:buNone/>
                      </a:pPr>
                      <a:r>
                        <a:rPr lang="en-US" sz="1100" b="0" i="0" u="none" strike="noStrike">
                          <a:solidFill>
                            <a:srgbClr val="000000"/>
                          </a:solidFill>
                          <a:effectLst/>
                          <a:latin typeface="+mj-lt"/>
                        </a:rPr>
                        <a:t>804.080.078.000</a:t>
                      </a:r>
                    </a:p>
                  </a:txBody>
                  <a:tcPr marL="9525" marR="9525" marT="9525" marB="0" anchor="ctr"/>
                </a:tc>
                <a:tc>
                  <a:txBody>
                    <a:bodyPr/>
                    <a:lstStyle/>
                    <a:p>
                      <a:pPr algn="r" fontAlgn="ctr">
                        <a:buNone/>
                      </a:pPr>
                      <a:r>
                        <a:rPr lang="en-US" sz="1100" b="0" i="0" u="none" strike="noStrike">
                          <a:solidFill>
                            <a:srgbClr val="000000"/>
                          </a:solidFill>
                          <a:effectLst/>
                          <a:latin typeface="+mj-lt"/>
                        </a:rPr>
                        <a:t>12,11%</a:t>
                      </a:r>
                    </a:p>
                  </a:txBody>
                  <a:tcPr marL="9525" marR="9525" marT="9525" marB="0" anchor="ctr"/>
                </a:tc>
                <a:extLst>
                  <a:ext uri="{0D108BD9-81ED-4DB2-BD59-A6C34878D82A}">
                    <a16:rowId xmlns:a16="http://schemas.microsoft.com/office/drawing/2014/main" val="2098757191"/>
                  </a:ext>
                </a:extLst>
              </a:tr>
              <a:tr h="192467">
                <a:tc>
                  <a:txBody>
                    <a:bodyPr/>
                    <a:lstStyle/>
                    <a:p>
                      <a:pPr algn="l" fontAlgn="ctr">
                        <a:buNone/>
                      </a:pPr>
                      <a:r>
                        <a:rPr lang="en-US" sz="1100" b="0" i="0" u="none" strike="noStrike" dirty="0">
                          <a:solidFill>
                            <a:srgbClr val="000000"/>
                          </a:solidFill>
                          <a:effectLst/>
                          <a:latin typeface="+mj-lt"/>
                        </a:rPr>
                        <a:t>VIC</a:t>
                      </a:r>
                    </a:p>
                  </a:txBody>
                  <a:tcPr marL="9525" marR="9525" marT="9525" marB="0" anchor="ctr"/>
                </a:tc>
                <a:tc>
                  <a:txBody>
                    <a:bodyPr/>
                    <a:lstStyle/>
                    <a:p>
                      <a:pPr algn="r" fontAlgn="ctr">
                        <a:buNone/>
                      </a:pPr>
                      <a:r>
                        <a:rPr lang="en-US" sz="1100" b="0" i="0" u="none" strike="noStrike">
                          <a:solidFill>
                            <a:srgbClr val="000000"/>
                          </a:solidFill>
                          <a:effectLst/>
                          <a:latin typeface="+mj-lt"/>
                        </a:rPr>
                        <a:t>241.200</a:t>
                      </a:r>
                    </a:p>
                  </a:txBody>
                  <a:tcPr marL="9525" marR="9525" marT="9525" marB="0" anchor="ctr"/>
                </a:tc>
                <a:tc>
                  <a:txBody>
                    <a:bodyPr/>
                    <a:lstStyle/>
                    <a:p>
                      <a:pPr algn="r" fontAlgn="ctr">
                        <a:buNone/>
                      </a:pPr>
                      <a:r>
                        <a:rPr lang="en-US" sz="1100" b="0" i="0" u="none" strike="noStrike">
                          <a:solidFill>
                            <a:srgbClr val="000000"/>
                          </a:solidFill>
                          <a:effectLst/>
                          <a:latin typeface="+mj-lt"/>
                        </a:rPr>
                        <a:t>138.279.970.000</a:t>
                      </a:r>
                    </a:p>
                  </a:txBody>
                  <a:tcPr marL="9525" marR="9525" marT="9525" marB="0" anchor="ctr"/>
                </a:tc>
                <a:tc>
                  <a:txBody>
                    <a:bodyPr/>
                    <a:lstStyle/>
                    <a:p>
                      <a:pPr algn="r" fontAlgn="ctr">
                        <a:buNone/>
                      </a:pPr>
                      <a:r>
                        <a:rPr lang="en-US" sz="1100" b="0" i="0" u="none" strike="noStrike">
                          <a:solidFill>
                            <a:srgbClr val="000000"/>
                          </a:solidFill>
                          <a:effectLst/>
                          <a:latin typeface="+mj-lt"/>
                        </a:rPr>
                        <a:t>2,20%</a:t>
                      </a:r>
                    </a:p>
                  </a:txBody>
                  <a:tcPr marL="9525" marR="9525" marT="9525" marB="0" anchor="ctr"/>
                </a:tc>
                <a:extLst>
                  <a:ext uri="{0D108BD9-81ED-4DB2-BD59-A6C34878D82A}">
                    <a16:rowId xmlns:a16="http://schemas.microsoft.com/office/drawing/2014/main" val="2688216377"/>
                  </a:ext>
                </a:extLst>
              </a:tr>
              <a:tr h="192467">
                <a:tc>
                  <a:txBody>
                    <a:bodyPr/>
                    <a:lstStyle/>
                    <a:p>
                      <a:pPr algn="l" fontAlgn="ctr">
                        <a:buNone/>
                      </a:pPr>
                      <a:r>
                        <a:rPr lang="en-US" sz="1100" b="0" i="0" u="none" strike="noStrike">
                          <a:solidFill>
                            <a:srgbClr val="000000"/>
                          </a:solidFill>
                          <a:effectLst/>
                          <a:latin typeface="+mj-lt"/>
                        </a:rPr>
                        <a:t>DMX</a:t>
                      </a:r>
                    </a:p>
                  </a:txBody>
                  <a:tcPr marL="9525" marR="9525" marT="9525" marB="0" anchor="ctr"/>
                </a:tc>
                <a:tc>
                  <a:txBody>
                    <a:bodyPr/>
                    <a:lstStyle/>
                    <a:p>
                      <a:pPr algn="r" fontAlgn="ctr">
                        <a:buNone/>
                      </a:pPr>
                      <a:r>
                        <a:rPr lang="en-US" sz="1100" b="0" i="0" u="none" strike="noStrike">
                          <a:solidFill>
                            <a:srgbClr val="000000"/>
                          </a:solidFill>
                          <a:effectLst/>
                          <a:latin typeface="+mj-lt"/>
                        </a:rPr>
                        <a:t>76.000</a:t>
                      </a:r>
                    </a:p>
                  </a:txBody>
                  <a:tcPr marL="9525" marR="9525" marT="9525" marB="0" anchor="ctr"/>
                </a:tc>
                <a:tc>
                  <a:txBody>
                    <a:bodyPr/>
                    <a:lstStyle/>
                    <a:p>
                      <a:pPr algn="r" fontAlgn="ctr">
                        <a:buNone/>
                      </a:pPr>
                      <a:r>
                        <a:rPr lang="en-US" sz="1100" b="0" i="0" u="none" strike="noStrike">
                          <a:solidFill>
                            <a:srgbClr val="000000"/>
                          </a:solidFill>
                          <a:effectLst/>
                          <a:latin typeface="+mj-lt"/>
                        </a:rPr>
                        <a:t>98.251.950.000</a:t>
                      </a:r>
                    </a:p>
                  </a:txBody>
                  <a:tcPr marL="9525" marR="9525" marT="9525" marB="0" anchor="ctr"/>
                </a:tc>
                <a:tc>
                  <a:txBody>
                    <a:bodyPr/>
                    <a:lstStyle/>
                    <a:p>
                      <a:pPr algn="r" fontAlgn="ctr">
                        <a:buNone/>
                      </a:pPr>
                      <a:r>
                        <a:rPr lang="en-US" sz="1100" b="0" i="0" u="none" strike="noStrike">
                          <a:solidFill>
                            <a:srgbClr val="000000"/>
                          </a:solidFill>
                          <a:effectLst/>
                          <a:latin typeface="+mj-lt"/>
                        </a:rPr>
                        <a:t>27,38%</a:t>
                      </a:r>
                    </a:p>
                  </a:txBody>
                  <a:tcPr marL="9525" marR="9525" marT="9525" marB="0" anchor="ctr"/>
                </a:tc>
                <a:extLst>
                  <a:ext uri="{0D108BD9-81ED-4DB2-BD59-A6C34878D82A}">
                    <a16:rowId xmlns:a16="http://schemas.microsoft.com/office/drawing/2014/main" val="370757996"/>
                  </a:ext>
                </a:extLst>
              </a:tr>
              <a:tr h="192467">
                <a:tc>
                  <a:txBody>
                    <a:bodyPr/>
                    <a:lstStyle/>
                    <a:p>
                      <a:pPr algn="l" fontAlgn="ctr">
                        <a:buNone/>
                      </a:pPr>
                      <a:r>
                        <a:rPr lang="en-US" sz="1100" b="0" i="0" u="none" strike="noStrike">
                          <a:solidFill>
                            <a:srgbClr val="000000"/>
                          </a:solidFill>
                          <a:effectLst/>
                          <a:latin typeface="+mj-lt"/>
                        </a:rPr>
                        <a:t>MWG</a:t>
                      </a:r>
                    </a:p>
                  </a:txBody>
                  <a:tcPr marL="9525" marR="9525" marT="9525" marB="0" anchor="ctr"/>
                </a:tc>
                <a:tc>
                  <a:txBody>
                    <a:bodyPr/>
                    <a:lstStyle/>
                    <a:p>
                      <a:pPr algn="r" fontAlgn="ctr">
                        <a:buNone/>
                      </a:pPr>
                      <a:r>
                        <a:rPr lang="en-US" sz="1100" b="0" i="0" u="none" strike="noStrike" dirty="0">
                          <a:solidFill>
                            <a:srgbClr val="000000"/>
                          </a:solidFill>
                          <a:effectLst/>
                          <a:latin typeface="+mj-lt"/>
                        </a:rPr>
                        <a:t>72.500</a:t>
                      </a:r>
                    </a:p>
                  </a:txBody>
                  <a:tcPr marL="9525" marR="9525" marT="9525" marB="0" anchor="ctr"/>
                </a:tc>
                <a:tc>
                  <a:txBody>
                    <a:bodyPr/>
                    <a:lstStyle/>
                    <a:p>
                      <a:pPr algn="r" fontAlgn="ctr">
                        <a:buNone/>
                      </a:pPr>
                      <a:r>
                        <a:rPr lang="en-US" sz="1100" b="0" i="0" u="none" strike="noStrike">
                          <a:solidFill>
                            <a:srgbClr val="000000"/>
                          </a:solidFill>
                          <a:effectLst/>
                          <a:latin typeface="+mj-lt"/>
                        </a:rPr>
                        <a:t>97.710.277.000</a:t>
                      </a:r>
                    </a:p>
                  </a:txBody>
                  <a:tcPr marL="9525" marR="9525" marT="9525" marB="0" anchor="ctr"/>
                </a:tc>
                <a:tc>
                  <a:txBody>
                    <a:bodyPr/>
                    <a:lstStyle/>
                    <a:p>
                      <a:pPr algn="r" fontAlgn="ctr">
                        <a:buNone/>
                      </a:pPr>
                      <a:r>
                        <a:rPr lang="en-US" sz="1100" b="0" i="0" u="none" strike="noStrike">
                          <a:solidFill>
                            <a:srgbClr val="000000"/>
                          </a:solidFill>
                          <a:effectLst/>
                          <a:latin typeface="+mj-lt"/>
                        </a:rPr>
                        <a:t>15,59%</a:t>
                      </a:r>
                    </a:p>
                  </a:txBody>
                  <a:tcPr marL="9525" marR="9525" marT="9525" marB="0" anchor="ctr"/>
                </a:tc>
                <a:extLst>
                  <a:ext uri="{0D108BD9-81ED-4DB2-BD59-A6C34878D82A}">
                    <a16:rowId xmlns:a16="http://schemas.microsoft.com/office/drawing/2014/main" val="1912016339"/>
                  </a:ext>
                </a:extLst>
              </a:tr>
              <a:tr h="192467">
                <a:tc>
                  <a:txBody>
                    <a:bodyPr/>
                    <a:lstStyle/>
                    <a:p>
                      <a:pPr algn="l" fontAlgn="ctr">
                        <a:buNone/>
                      </a:pPr>
                      <a:r>
                        <a:rPr lang="en-US" sz="1100" b="0" i="0" u="none" strike="noStrike">
                          <a:solidFill>
                            <a:srgbClr val="000000"/>
                          </a:solidFill>
                          <a:effectLst/>
                          <a:latin typeface="+mj-lt"/>
                        </a:rPr>
                        <a:t>TCB</a:t>
                      </a:r>
                    </a:p>
                  </a:txBody>
                  <a:tcPr marL="9525" marR="9525" marT="9525" marB="0" anchor="ctr"/>
                </a:tc>
                <a:tc>
                  <a:txBody>
                    <a:bodyPr/>
                    <a:lstStyle/>
                    <a:p>
                      <a:pPr algn="r" fontAlgn="ctr">
                        <a:buNone/>
                      </a:pPr>
                      <a:r>
                        <a:rPr lang="en-US" sz="1100" b="0" i="0" u="none" strike="noStrike">
                          <a:solidFill>
                            <a:srgbClr val="000000"/>
                          </a:solidFill>
                          <a:effectLst/>
                          <a:latin typeface="+mj-lt"/>
                        </a:rPr>
                        <a:t>31.600</a:t>
                      </a:r>
                    </a:p>
                  </a:txBody>
                  <a:tcPr marL="9525" marR="9525" marT="9525" marB="0" anchor="ctr"/>
                </a:tc>
                <a:tc>
                  <a:txBody>
                    <a:bodyPr/>
                    <a:lstStyle/>
                    <a:p>
                      <a:pPr algn="r" fontAlgn="ctr">
                        <a:buNone/>
                      </a:pPr>
                      <a:r>
                        <a:rPr lang="en-US" sz="1100" b="0" i="0" u="none" strike="noStrike">
                          <a:solidFill>
                            <a:srgbClr val="000000"/>
                          </a:solidFill>
                          <a:effectLst/>
                          <a:latin typeface="+mj-lt"/>
                        </a:rPr>
                        <a:t>88.651.885.000</a:t>
                      </a:r>
                    </a:p>
                  </a:txBody>
                  <a:tcPr marL="9525" marR="9525" marT="9525" marB="0" anchor="ctr"/>
                </a:tc>
                <a:tc>
                  <a:txBody>
                    <a:bodyPr/>
                    <a:lstStyle/>
                    <a:p>
                      <a:pPr algn="r" fontAlgn="ctr">
                        <a:buNone/>
                      </a:pPr>
                      <a:r>
                        <a:rPr lang="en-US" sz="1100" b="0" i="0" u="none" strike="noStrike">
                          <a:solidFill>
                            <a:srgbClr val="000000"/>
                          </a:solidFill>
                          <a:effectLst/>
                          <a:latin typeface="+mj-lt"/>
                        </a:rPr>
                        <a:t>13,48%</a:t>
                      </a:r>
                    </a:p>
                  </a:txBody>
                  <a:tcPr marL="9525" marR="9525" marT="9525" marB="0" anchor="ctr"/>
                </a:tc>
                <a:extLst>
                  <a:ext uri="{0D108BD9-81ED-4DB2-BD59-A6C34878D82A}">
                    <a16:rowId xmlns:a16="http://schemas.microsoft.com/office/drawing/2014/main" val="1871833493"/>
                  </a:ext>
                </a:extLst>
              </a:tr>
              <a:tr h="192467">
                <a:tc>
                  <a:txBody>
                    <a:bodyPr/>
                    <a:lstStyle/>
                    <a:p>
                      <a:pPr algn="l" fontAlgn="ctr">
                        <a:buNone/>
                      </a:pPr>
                      <a:r>
                        <a:rPr lang="en-US" sz="1100" b="0" i="0" u="none" strike="noStrike">
                          <a:solidFill>
                            <a:srgbClr val="000000"/>
                          </a:solidFill>
                          <a:effectLst/>
                          <a:latin typeface="+mj-lt"/>
                        </a:rPr>
                        <a:t>STB</a:t>
                      </a:r>
                    </a:p>
                  </a:txBody>
                  <a:tcPr marL="9525" marR="9525" marT="9525" marB="0" anchor="ctr"/>
                </a:tc>
                <a:tc>
                  <a:txBody>
                    <a:bodyPr/>
                    <a:lstStyle/>
                    <a:p>
                      <a:pPr algn="r" fontAlgn="ctr">
                        <a:buNone/>
                      </a:pPr>
                      <a:r>
                        <a:rPr lang="en-US" sz="1100" b="0" i="0" u="none" strike="noStrike">
                          <a:solidFill>
                            <a:srgbClr val="000000"/>
                          </a:solidFill>
                          <a:effectLst/>
                          <a:latin typeface="+mj-lt"/>
                        </a:rPr>
                        <a:t>78.200</a:t>
                      </a:r>
                    </a:p>
                  </a:txBody>
                  <a:tcPr marL="9525" marR="9525" marT="9525" marB="0" anchor="ctr"/>
                </a:tc>
                <a:tc>
                  <a:txBody>
                    <a:bodyPr/>
                    <a:lstStyle/>
                    <a:p>
                      <a:pPr algn="r" fontAlgn="ctr">
                        <a:buNone/>
                      </a:pPr>
                      <a:r>
                        <a:rPr lang="en-US" sz="1100" b="0" i="0" u="none" strike="noStrike" dirty="0">
                          <a:solidFill>
                            <a:srgbClr val="000000"/>
                          </a:solidFill>
                          <a:effectLst/>
                          <a:latin typeface="+mj-lt"/>
                        </a:rPr>
                        <a:t>87.741.080.000</a:t>
                      </a:r>
                    </a:p>
                  </a:txBody>
                  <a:tcPr marL="9525" marR="9525" marT="9525" marB="0" anchor="ctr"/>
                </a:tc>
                <a:tc>
                  <a:txBody>
                    <a:bodyPr/>
                    <a:lstStyle/>
                    <a:p>
                      <a:pPr algn="r" fontAlgn="ctr">
                        <a:buNone/>
                      </a:pPr>
                      <a:r>
                        <a:rPr lang="en-US" sz="1100" b="0" i="0" u="none" strike="noStrike">
                          <a:solidFill>
                            <a:srgbClr val="000000"/>
                          </a:solidFill>
                          <a:effectLst/>
                          <a:latin typeface="+mj-lt"/>
                        </a:rPr>
                        <a:t>4,50%</a:t>
                      </a:r>
                    </a:p>
                  </a:txBody>
                  <a:tcPr marL="9525" marR="9525" marT="9525" marB="0" anchor="ctr"/>
                </a:tc>
                <a:extLst>
                  <a:ext uri="{0D108BD9-81ED-4DB2-BD59-A6C34878D82A}">
                    <a16:rowId xmlns:a16="http://schemas.microsoft.com/office/drawing/2014/main" val="83566206"/>
                  </a:ext>
                </a:extLst>
              </a:tr>
              <a:tr h="192467">
                <a:tc>
                  <a:txBody>
                    <a:bodyPr/>
                    <a:lstStyle/>
                    <a:p>
                      <a:pPr algn="l" fontAlgn="ctr">
                        <a:buNone/>
                      </a:pPr>
                      <a:r>
                        <a:rPr lang="en-US" sz="1100" b="0" i="0" u="none" strike="noStrike">
                          <a:solidFill>
                            <a:srgbClr val="000000"/>
                          </a:solidFill>
                          <a:effectLst/>
                          <a:latin typeface="+mj-lt"/>
                        </a:rPr>
                        <a:t>PNJ</a:t>
                      </a:r>
                    </a:p>
                  </a:txBody>
                  <a:tcPr marL="9525" marR="9525" marT="9525" marB="0" anchor="ctr"/>
                </a:tc>
                <a:tc>
                  <a:txBody>
                    <a:bodyPr/>
                    <a:lstStyle/>
                    <a:p>
                      <a:pPr algn="r" fontAlgn="ctr">
                        <a:buNone/>
                      </a:pPr>
                      <a:r>
                        <a:rPr lang="en-US" sz="1100" b="0" i="0" u="none" strike="noStrike">
                          <a:solidFill>
                            <a:srgbClr val="000000"/>
                          </a:solidFill>
                          <a:effectLst/>
                          <a:latin typeface="+mj-lt"/>
                        </a:rPr>
                        <a:t>36.750</a:t>
                      </a:r>
                    </a:p>
                  </a:txBody>
                  <a:tcPr marL="9525" marR="9525" marT="9525" marB="0" anchor="ctr"/>
                </a:tc>
                <a:tc>
                  <a:txBody>
                    <a:bodyPr/>
                    <a:lstStyle/>
                    <a:p>
                      <a:pPr algn="r" fontAlgn="ctr">
                        <a:buNone/>
                      </a:pPr>
                      <a:r>
                        <a:rPr lang="en-US" sz="1100" b="0" i="0" u="none" strike="noStrike">
                          <a:solidFill>
                            <a:srgbClr val="000000"/>
                          </a:solidFill>
                          <a:effectLst/>
                          <a:latin typeface="+mj-lt"/>
                        </a:rPr>
                        <a:t>63.395.430.000</a:t>
                      </a:r>
                    </a:p>
                  </a:txBody>
                  <a:tcPr marL="9525" marR="9525" marT="9525" marB="0" anchor="ctr"/>
                </a:tc>
                <a:tc>
                  <a:txBody>
                    <a:bodyPr/>
                    <a:lstStyle/>
                    <a:p>
                      <a:pPr algn="r" fontAlgn="ctr">
                        <a:buNone/>
                      </a:pPr>
                      <a:r>
                        <a:rPr lang="en-US" sz="1100" b="0" i="0" u="none" strike="noStrike" dirty="0">
                          <a:solidFill>
                            <a:srgbClr val="000000"/>
                          </a:solidFill>
                          <a:effectLst/>
                          <a:latin typeface="+mj-lt"/>
                        </a:rPr>
                        <a:t>2,76%</a:t>
                      </a:r>
                    </a:p>
                  </a:txBody>
                  <a:tcPr marL="9525" marR="9525" marT="9525" marB="0" anchor="ctr"/>
                </a:tc>
                <a:extLst>
                  <a:ext uri="{0D108BD9-81ED-4DB2-BD59-A6C34878D82A}">
                    <a16:rowId xmlns:a16="http://schemas.microsoft.com/office/drawing/2014/main" val="3372218016"/>
                  </a:ext>
                </a:extLst>
              </a:tr>
              <a:tr h="192467">
                <a:tc>
                  <a:txBody>
                    <a:bodyPr/>
                    <a:lstStyle/>
                    <a:p>
                      <a:pPr algn="l" fontAlgn="ctr">
                        <a:buNone/>
                      </a:pPr>
                      <a:r>
                        <a:rPr lang="en-US" sz="1100" b="0" i="0" u="none" strike="noStrike">
                          <a:solidFill>
                            <a:srgbClr val="000000"/>
                          </a:solidFill>
                          <a:effectLst/>
                          <a:latin typeface="+mj-lt"/>
                        </a:rPr>
                        <a:t>MSN</a:t>
                      </a:r>
                    </a:p>
                  </a:txBody>
                  <a:tcPr marL="9525" marR="9525" marT="9525" marB="0" anchor="ctr"/>
                </a:tc>
                <a:tc>
                  <a:txBody>
                    <a:bodyPr/>
                    <a:lstStyle/>
                    <a:p>
                      <a:pPr algn="r" fontAlgn="ctr">
                        <a:buNone/>
                      </a:pPr>
                      <a:r>
                        <a:rPr lang="en-US" sz="1100" b="0" i="0" u="none" strike="noStrike">
                          <a:solidFill>
                            <a:srgbClr val="000000"/>
                          </a:solidFill>
                          <a:effectLst/>
                          <a:latin typeface="+mj-lt"/>
                        </a:rPr>
                        <a:t>68.400</a:t>
                      </a:r>
                    </a:p>
                  </a:txBody>
                  <a:tcPr marL="9525" marR="9525" marT="9525" marB="0" anchor="ctr"/>
                </a:tc>
                <a:tc>
                  <a:txBody>
                    <a:bodyPr/>
                    <a:lstStyle/>
                    <a:p>
                      <a:pPr algn="r" fontAlgn="ctr">
                        <a:buNone/>
                      </a:pPr>
                      <a:r>
                        <a:rPr lang="en-US" sz="1100" b="0" i="0" u="none" strike="noStrike">
                          <a:solidFill>
                            <a:srgbClr val="000000"/>
                          </a:solidFill>
                          <a:effectLst/>
                          <a:latin typeface="+mj-lt"/>
                        </a:rPr>
                        <a:t>59.246.260.000</a:t>
                      </a:r>
                    </a:p>
                  </a:txBody>
                  <a:tcPr marL="9525" marR="9525" marT="9525" marB="0" anchor="ctr"/>
                </a:tc>
                <a:tc>
                  <a:txBody>
                    <a:bodyPr/>
                    <a:lstStyle/>
                    <a:p>
                      <a:pPr algn="r" fontAlgn="ctr">
                        <a:buNone/>
                      </a:pPr>
                      <a:r>
                        <a:rPr lang="en-US" sz="1100" b="0" i="0" u="none" strike="noStrike" dirty="0">
                          <a:solidFill>
                            <a:srgbClr val="000000"/>
                          </a:solidFill>
                          <a:effectLst/>
                          <a:latin typeface="+mj-lt"/>
                        </a:rPr>
                        <a:t>5,95%</a:t>
                      </a:r>
                    </a:p>
                  </a:txBody>
                  <a:tcPr marL="9525" marR="9525" marT="9525" marB="0" anchor="ctr"/>
                </a:tc>
                <a:extLst>
                  <a:ext uri="{0D108BD9-81ED-4DB2-BD59-A6C34878D82A}">
                    <a16:rowId xmlns:a16="http://schemas.microsoft.com/office/drawing/2014/main" val="2628515178"/>
                  </a:ext>
                </a:extLst>
              </a:tr>
              <a:tr h="192467">
                <a:tc>
                  <a:txBody>
                    <a:bodyPr/>
                    <a:lstStyle/>
                    <a:p>
                      <a:pPr algn="l" fontAlgn="ctr">
                        <a:buNone/>
                      </a:pPr>
                      <a:r>
                        <a:rPr lang="en-US" sz="1100" b="0" i="0" u="none" strike="noStrike">
                          <a:solidFill>
                            <a:srgbClr val="000000"/>
                          </a:solidFill>
                          <a:effectLst/>
                          <a:latin typeface="+mj-lt"/>
                        </a:rPr>
                        <a:t>HPG</a:t>
                      </a:r>
                    </a:p>
                  </a:txBody>
                  <a:tcPr marL="9525" marR="9525" marT="9525" marB="0" anchor="ctr"/>
                </a:tc>
                <a:tc>
                  <a:txBody>
                    <a:bodyPr/>
                    <a:lstStyle/>
                    <a:p>
                      <a:pPr algn="r" fontAlgn="ctr">
                        <a:buNone/>
                      </a:pPr>
                      <a:r>
                        <a:rPr lang="en-US" sz="1100" b="0" i="0" u="none" strike="noStrike">
                          <a:solidFill>
                            <a:srgbClr val="000000"/>
                          </a:solidFill>
                          <a:effectLst/>
                          <a:latin typeface="+mj-lt"/>
                        </a:rPr>
                        <a:t>21.550</a:t>
                      </a:r>
                    </a:p>
                  </a:txBody>
                  <a:tcPr marL="9525" marR="9525" marT="9525" marB="0" anchor="ctr"/>
                </a:tc>
                <a:tc>
                  <a:txBody>
                    <a:bodyPr/>
                    <a:lstStyle/>
                    <a:p>
                      <a:pPr algn="r" fontAlgn="ctr">
                        <a:buNone/>
                      </a:pPr>
                      <a:r>
                        <a:rPr lang="en-US" sz="1100" b="0" i="0" u="none" strike="noStrike">
                          <a:solidFill>
                            <a:srgbClr val="000000"/>
                          </a:solidFill>
                          <a:effectLst/>
                          <a:latin typeface="+mj-lt"/>
                        </a:rPr>
                        <a:t>56.187.905.000</a:t>
                      </a:r>
                    </a:p>
                  </a:txBody>
                  <a:tcPr marL="9525" marR="9525" marT="9525" marB="0" anchor="ctr"/>
                </a:tc>
                <a:tc>
                  <a:txBody>
                    <a:bodyPr/>
                    <a:lstStyle/>
                    <a:p>
                      <a:pPr algn="r" fontAlgn="ctr">
                        <a:buNone/>
                      </a:pPr>
                      <a:r>
                        <a:rPr lang="en-US" sz="1100" b="0" i="0" u="none" strike="noStrike" dirty="0">
                          <a:solidFill>
                            <a:srgbClr val="000000"/>
                          </a:solidFill>
                          <a:effectLst/>
                          <a:latin typeface="+mj-lt"/>
                        </a:rPr>
                        <a:t>10,63%</a:t>
                      </a:r>
                    </a:p>
                  </a:txBody>
                  <a:tcPr marL="9525" marR="9525" marT="9525" marB="0" anchor="ctr"/>
                </a:tc>
                <a:extLst>
                  <a:ext uri="{0D108BD9-81ED-4DB2-BD59-A6C34878D82A}">
                    <a16:rowId xmlns:a16="http://schemas.microsoft.com/office/drawing/2014/main" val="686965531"/>
                  </a:ext>
                </a:extLst>
              </a:tr>
              <a:tr h="192467">
                <a:tc>
                  <a:txBody>
                    <a:bodyPr/>
                    <a:lstStyle/>
                    <a:p>
                      <a:pPr algn="l" fontAlgn="ctr">
                        <a:buNone/>
                      </a:pPr>
                      <a:r>
                        <a:rPr lang="en-US" sz="1100" b="0" i="0" u="none" strike="noStrike">
                          <a:solidFill>
                            <a:srgbClr val="000000"/>
                          </a:solidFill>
                          <a:effectLst/>
                          <a:latin typeface="+mj-lt"/>
                        </a:rPr>
                        <a:t>LPB</a:t>
                      </a:r>
                    </a:p>
                  </a:txBody>
                  <a:tcPr marL="9525" marR="9525" marT="9525" marB="0" anchor="ctr"/>
                </a:tc>
                <a:tc>
                  <a:txBody>
                    <a:bodyPr/>
                    <a:lstStyle/>
                    <a:p>
                      <a:pPr algn="r" fontAlgn="ctr">
                        <a:buNone/>
                      </a:pPr>
                      <a:r>
                        <a:rPr lang="en-US" sz="1100" b="0" i="0" u="none" strike="noStrike" dirty="0">
                          <a:solidFill>
                            <a:srgbClr val="000000"/>
                          </a:solidFill>
                          <a:effectLst/>
                          <a:latin typeface="+mj-lt"/>
                        </a:rPr>
                        <a:t>48.000</a:t>
                      </a:r>
                    </a:p>
                  </a:txBody>
                  <a:tcPr marL="9525" marR="9525" marT="9525" marB="0" anchor="ctr"/>
                </a:tc>
                <a:tc>
                  <a:txBody>
                    <a:bodyPr/>
                    <a:lstStyle/>
                    <a:p>
                      <a:pPr algn="r" fontAlgn="ctr">
                        <a:buNone/>
                      </a:pPr>
                      <a:r>
                        <a:rPr lang="en-US" sz="1100" b="0" i="0" u="none" strike="noStrike">
                          <a:solidFill>
                            <a:srgbClr val="000000"/>
                          </a:solidFill>
                          <a:effectLst/>
                          <a:latin typeface="+mj-lt"/>
                        </a:rPr>
                        <a:t>48.584.499.000</a:t>
                      </a:r>
                    </a:p>
                  </a:txBody>
                  <a:tcPr marL="9525" marR="9525" marT="9525" marB="0" anchor="ctr"/>
                </a:tc>
                <a:tc>
                  <a:txBody>
                    <a:bodyPr/>
                    <a:lstStyle/>
                    <a:p>
                      <a:pPr algn="r" fontAlgn="ctr">
                        <a:buNone/>
                      </a:pPr>
                      <a:r>
                        <a:rPr lang="en-US" sz="1100" b="0" i="0" u="none" strike="noStrike" dirty="0">
                          <a:solidFill>
                            <a:srgbClr val="000000"/>
                          </a:solidFill>
                          <a:effectLst/>
                          <a:latin typeface="+mj-lt"/>
                        </a:rPr>
                        <a:t>10,07%</a:t>
                      </a:r>
                    </a:p>
                  </a:txBody>
                  <a:tcPr marL="9525" marR="9525" marT="9525" marB="0" anchor="ctr"/>
                </a:tc>
                <a:extLst>
                  <a:ext uri="{0D108BD9-81ED-4DB2-BD59-A6C34878D82A}">
                    <a16:rowId xmlns:a16="http://schemas.microsoft.com/office/drawing/2014/main" val="3140895381"/>
                  </a:ext>
                </a:extLst>
              </a:tr>
            </a:tbl>
          </a:graphicData>
        </a:graphic>
      </p:graphicFrame>
      <p:graphicFrame>
        <p:nvGraphicFramePr>
          <p:cNvPr id="25" name="Table 24">
            <a:extLst>
              <a:ext uri="{FF2B5EF4-FFF2-40B4-BE49-F238E27FC236}">
                <a16:creationId xmlns:a16="http://schemas.microsoft.com/office/drawing/2014/main" id="{F8EC5B45-3871-449D-AA94-FF528E886F38}"/>
              </a:ext>
            </a:extLst>
          </p:cNvPr>
          <p:cNvGraphicFramePr>
            <a:graphicFrameLocks noGrp="1"/>
          </p:cNvGraphicFramePr>
          <p:nvPr>
            <p:extLst>
              <p:ext uri="{D42A27DB-BD31-4B8C-83A1-F6EECF244321}">
                <p14:modId xmlns:p14="http://schemas.microsoft.com/office/powerpoint/2010/main" val="2889309432"/>
              </p:ext>
            </p:extLst>
          </p:nvPr>
        </p:nvGraphicFramePr>
        <p:xfrm>
          <a:off x="6096000" y="4625975"/>
          <a:ext cx="4729594" cy="2095500"/>
        </p:xfrm>
        <a:graphic>
          <a:graphicData uri="http://schemas.openxmlformats.org/drawingml/2006/table">
            <a:tbl>
              <a:tblPr firstRow="1" bandRow="1">
                <a:tableStyleId>{B301B821-A1FF-4177-AEE7-76D212191A09}</a:tableStyleId>
              </a:tblPr>
              <a:tblGrid>
                <a:gridCol w="791322">
                  <a:extLst>
                    <a:ext uri="{9D8B030D-6E8A-4147-A177-3AD203B41FA5}">
                      <a16:colId xmlns:a16="http://schemas.microsoft.com/office/drawing/2014/main" val="263410430"/>
                    </a:ext>
                  </a:extLst>
                </a:gridCol>
                <a:gridCol w="968188">
                  <a:extLst>
                    <a:ext uri="{9D8B030D-6E8A-4147-A177-3AD203B41FA5}">
                      <a16:colId xmlns:a16="http://schemas.microsoft.com/office/drawing/2014/main" val="1620157925"/>
                    </a:ext>
                  </a:extLst>
                </a:gridCol>
                <a:gridCol w="1457302">
                  <a:extLst>
                    <a:ext uri="{9D8B030D-6E8A-4147-A177-3AD203B41FA5}">
                      <a16:colId xmlns:a16="http://schemas.microsoft.com/office/drawing/2014/main" val="4010576076"/>
                    </a:ext>
                  </a:extLst>
                </a:gridCol>
                <a:gridCol w="1512782">
                  <a:extLst>
                    <a:ext uri="{9D8B030D-6E8A-4147-A177-3AD203B41FA5}">
                      <a16:colId xmlns:a16="http://schemas.microsoft.com/office/drawing/2014/main" val="2122668605"/>
                    </a:ext>
                  </a:extLst>
                </a:gridCol>
              </a:tblGrid>
              <a:tr h="190500">
                <a:tc>
                  <a:txBody>
                    <a:bodyPr/>
                    <a:lstStyle/>
                    <a:p>
                      <a:pPr algn="l" fontAlgn="ctr"/>
                      <a:r>
                        <a:rPr lang="en-US" sz="1000" b="1" u="none" strike="noStrike" dirty="0" err="1">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err="1">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i="0" u="none" strike="noStrike" dirty="0">
                          <a:solidFill>
                            <a:srgbClr val="FFFFFF"/>
                          </a:solidFill>
                          <a:effectLst/>
                          <a:latin typeface="Arial" panose="020B0604020202020204" pitchFamily="34" charset="0"/>
                          <a:cs typeface="Arial" panose="020B0604020202020204" pitchFamily="34" charset="0"/>
                        </a:rPr>
                        <a:t>Mua </a:t>
                      </a:r>
                      <a:r>
                        <a:rPr lang="en-US" sz="1000" b="1" i="0" u="none" strike="noStrike" dirty="0" err="1">
                          <a:solidFill>
                            <a:srgbClr val="FFFFFF"/>
                          </a:solidFill>
                          <a:effectLst/>
                          <a:latin typeface="Arial" panose="020B0604020202020204" pitchFamily="34" charset="0"/>
                          <a:cs typeface="Arial" panose="020B0604020202020204" pitchFamily="34" charset="0"/>
                        </a:rPr>
                        <a:t>ròng</a:t>
                      </a:r>
                      <a:r>
                        <a:rPr lang="en-US" sz="1000" b="1" i="0" u="none" strike="noStrike" dirty="0">
                          <a:solidFill>
                            <a:srgbClr val="FFFFFF"/>
                          </a:solidFill>
                          <a:effectLst/>
                          <a:latin typeface="Arial" panose="020B0604020202020204" pitchFamily="34" charset="0"/>
                          <a:cs typeface="Arial" panose="020B0604020202020204" pitchFamily="34" charset="0"/>
                        </a:rPr>
                        <a:t> (GT)</a:t>
                      </a:r>
                    </a:p>
                  </a:txBody>
                  <a:tcPr marL="9525" marR="9525" marT="9525" marB="0" anchor="ctr"/>
                </a:tc>
                <a:tc>
                  <a:txBody>
                    <a:bodyPr/>
                    <a:lstStyle/>
                    <a:p>
                      <a:pPr algn="r" fontAlgn="ctr"/>
                      <a:r>
                        <a:rPr lang="en-US" sz="1000" b="1" u="none" strike="noStrike" dirty="0">
                          <a:solidFill>
                            <a:srgbClr val="FFFFFF"/>
                          </a:solidFill>
                          <a:effectLst/>
                          <a:latin typeface="Arial" panose="020B0604020202020204" pitchFamily="34" charset="0"/>
                          <a:cs typeface="Arial" panose="020B0604020202020204" pitchFamily="34" charset="0"/>
                        </a:rPr>
                        <a:t>% NN </a:t>
                      </a:r>
                      <a:r>
                        <a:rPr lang="en-US" sz="1000" b="1" u="none" strike="noStrike" dirty="0" err="1">
                          <a:solidFill>
                            <a:srgbClr val="FFFFFF"/>
                          </a:solidFill>
                          <a:effectLst/>
                          <a:latin typeface="Arial" panose="020B0604020202020204" pitchFamily="34" charset="0"/>
                          <a:cs typeface="Arial" panose="020B0604020202020204" pitchFamily="34" charset="0"/>
                        </a:rPr>
                        <a:t>Sở</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hữu</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791457121"/>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71.700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571.236.058.200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27,52%</a:t>
                      </a:r>
                    </a:p>
                  </a:txBody>
                  <a:tcPr marL="9525" marR="9525" marT="9525" marB="0" anchor="ctr"/>
                </a:tc>
                <a:extLst>
                  <a:ext uri="{0D108BD9-81ED-4DB2-BD59-A6C34878D82A}">
                    <a16:rowId xmlns:a16="http://schemas.microsoft.com/office/drawing/2014/main" val="355010146"/>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27.500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461.975.436.750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21,64%</a:t>
                      </a:r>
                    </a:p>
                  </a:txBody>
                  <a:tcPr marL="9525" marR="9525" marT="9525" marB="0" anchor="ctr"/>
                </a:tc>
                <a:extLst>
                  <a:ext uri="{0D108BD9-81ED-4DB2-BD59-A6C34878D82A}">
                    <a16:rowId xmlns:a16="http://schemas.microsoft.com/office/drawing/2014/main" val="3773070796"/>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BSR</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30.200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423.016.834.500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1,09%</a:t>
                      </a:r>
                    </a:p>
                  </a:txBody>
                  <a:tcPr marL="9525" marR="9525" marT="9525" marB="0" anchor="ctr"/>
                </a:tc>
                <a:extLst>
                  <a:ext uri="{0D108BD9-81ED-4DB2-BD59-A6C34878D82A}">
                    <a16:rowId xmlns:a16="http://schemas.microsoft.com/office/drawing/2014/main" val="1137231984"/>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MCH</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143.000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405.814.515.500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15,60%</a:t>
                      </a:r>
                    </a:p>
                  </a:txBody>
                  <a:tcPr marL="9525" marR="9525" marT="9525" marB="0" anchor="ctr"/>
                </a:tc>
                <a:extLst>
                  <a:ext uri="{0D108BD9-81ED-4DB2-BD59-A6C34878D82A}">
                    <a16:rowId xmlns:a16="http://schemas.microsoft.com/office/drawing/2014/main" val="2616671248"/>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SSB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24.100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357.221.985.900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0,19%</a:t>
                      </a:r>
                    </a:p>
                  </a:txBody>
                  <a:tcPr marL="9525" marR="9525" marT="9525" marB="0" anchor="ctr"/>
                </a:tc>
                <a:extLst>
                  <a:ext uri="{0D108BD9-81ED-4DB2-BD59-A6C34878D82A}">
                    <a16:rowId xmlns:a16="http://schemas.microsoft.com/office/drawing/2014/main" val="4049652463"/>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MBB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346.171.500.850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22,17%</a:t>
                      </a:r>
                    </a:p>
                  </a:txBody>
                  <a:tcPr marL="9525" marR="9525" marT="9525" marB="0" anchor="ctr"/>
                </a:tc>
                <a:extLst>
                  <a:ext uri="{0D108BD9-81ED-4DB2-BD59-A6C34878D82A}">
                    <a16:rowId xmlns:a16="http://schemas.microsoft.com/office/drawing/2014/main" val="2745756713"/>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59.900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339.906.259.600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20,05%</a:t>
                      </a:r>
                    </a:p>
                  </a:txBody>
                  <a:tcPr marL="9525" marR="9525" marT="9525" marB="0" anchor="ctr"/>
                </a:tc>
                <a:extLst>
                  <a:ext uri="{0D108BD9-81ED-4DB2-BD59-A6C34878D82A}">
                    <a16:rowId xmlns:a16="http://schemas.microsoft.com/office/drawing/2014/main" val="244329882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PNJ</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36.750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314.094.744.400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45,34%</a:t>
                      </a:r>
                    </a:p>
                  </a:txBody>
                  <a:tcPr marL="9525" marR="9525" marT="9525" marB="0" anchor="ctr"/>
                </a:tc>
                <a:extLst>
                  <a:ext uri="{0D108BD9-81ED-4DB2-BD59-A6C34878D82A}">
                    <a16:rowId xmlns:a16="http://schemas.microsoft.com/office/drawing/2014/main" val="271832876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SHB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11.800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255.059.398.950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3,76%</a:t>
                      </a:r>
                    </a:p>
                  </a:txBody>
                  <a:tcPr marL="9525" marR="9525" marT="9525" marB="0" anchor="ctr"/>
                </a:tc>
                <a:extLst>
                  <a:ext uri="{0D108BD9-81ED-4DB2-BD59-A6C34878D82A}">
                    <a16:rowId xmlns:a16="http://schemas.microsoft.com/office/drawing/2014/main" val="4080730015"/>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SBT</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23.200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246.340.359.700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19,72%</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578613862"/>
                  </a:ext>
                </a:extLst>
              </a:tr>
            </a:tbl>
          </a:graphicData>
        </a:graphic>
      </p:graphicFrame>
      <p:graphicFrame>
        <p:nvGraphicFramePr>
          <p:cNvPr id="26" name="Table 25">
            <a:extLst>
              <a:ext uri="{FF2B5EF4-FFF2-40B4-BE49-F238E27FC236}">
                <a16:creationId xmlns:a16="http://schemas.microsoft.com/office/drawing/2014/main" id="{38D254E8-9BE5-4B20-AD2E-FE0C3AEEAAE0}"/>
              </a:ext>
            </a:extLst>
          </p:cNvPr>
          <p:cNvGraphicFramePr>
            <a:graphicFrameLocks noGrp="1"/>
          </p:cNvGraphicFramePr>
          <p:nvPr>
            <p:extLst>
              <p:ext uri="{D42A27DB-BD31-4B8C-83A1-F6EECF244321}">
                <p14:modId xmlns:p14="http://schemas.microsoft.com/office/powerpoint/2010/main" val="2119906732"/>
              </p:ext>
            </p:extLst>
          </p:nvPr>
        </p:nvGraphicFramePr>
        <p:xfrm>
          <a:off x="531172" y="4599948"/>
          <a:ext cx="4729594" cy="2121527"/>
        </p:xfrm>
        <a:graphic>
          <a:graphicData uri="http://schemas.openxmlformats.org/drawingml/2006/table">
            <a:tbl>
              <a:tblPr firstRow="1" bandRow="1">
                <a:tableStyleId>{B301B821-A1FF-4177-AEE7-76D212191A09}</a:tableStyleId>
              </a:tblPr>
              <a:tblGrid>
                <a:gridCol w="851647">
                  <a:extLst>
                    <a:ext uri="{9D8B030D-6E8A-4147-A177-3AD203B41FA5}">
                      <a16:colId xmlns:a16="http://schemas.microsoft.com/office/drawing/2014/main" val="1197368528"/>
                    </a:ext>
                  </a:extLst>
                </a:gridCol>
                <a:gridCol w="968188">
                  <a:extLst>
                    <a:ext uri="{9D8B030D-6E8A-4147-A177-3AD203B41FA5}">
                      <a16:colId xmlns:a16="http://schemas.microsoft.com/office/drawing/2014/main" val="3730308002"/>
                    </a:ext>
                  </a:extLst>
                </a:gridCol>
                <a:gridCol w="1395083">
                  <a:extLst>
                    <a:ext uri="{9D8B030D-6E8A-4147-A177-3AD203B41FA5}">
                      <a16:colId xmlns:a16="http://schemas.microsoft.com/office/drawing/2014/main" val="62363021"/>
                    </a:ext>
                  </a:extLst>
                </a:gridCol>
                <a:gridCol w="1514676">
                  <a:extLst>
                    <a:ext uri="{9D8B030D-6E8A-4147-A177-3AD203B41FA5}">
                      <a16:colId xmlns:a16="http://schemas.microsoft.com/office/drawing/2014/main" val="4121892183"/>
                    </a:ext>
                  </a:extLst>
                </a:gridCol>
              </a:tblGrid>
              <a:tr h="190500">
                <a:tc>
                  <a:txBody>
                    <a:bodyPr/>
                    <a:lstStyle/>
                    <a:p>
                      <a:pPr algn="l" fontAlgn="ctr"/>
                      <a:r>
                        <a:rPr lang="en-US" sz="1000" b="1" u="none" strike="noStrike" dirty="0" err="1">
                          <a:solidFill>
                            <a:srgbClr val="FFFFFF"/>
                          </a:solidFill>
                          <a:effectLst/>
                          <a:latin typeface="Arial" panose="020B0604020202020204" pitchFamily="34" charset="0"/>
                          <a:cs typeface="Arial" panose="020B0604020202020204" pitchFamily="34" charset="0"/>
                        </a:rPr>
                        <a:t>Mã</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err="1">
                          <a:solidFill>
                            <a:srgbClr val="FFFFFF"/>
                          </a:solidFill>
                          <a:effectLst/>
                          <a:latin typeface="Arial" panose="020B0604020202020204" pitchFamily="34" charset="0"/>
                          <a:cs typeface="Arial" panose="020B0604020202020204" pitchFamily="34" charset="0"/>
                        </a:rPr>
                        <a:t>Giá</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a:solidFill>
                            <a:srgbClr val="FFFFFF"/>
                          </a:solidFill>
                          <a:effectLst/>
                          <a:latin typeface="Arial" panose="020B0604020202020204" pitchFamily="34" charset="0"/>
                          <a:cs typeface="Arial" panose="020B0604020202020204" pitchFamily="34" charset="0"/>
                        </a:rPr>
                        <a:t>Bán </a:t>
                      </a:r>
                      <a:r>
                        <a:rPr lang="en-US" sz="1000" b="1" u="none" strike="noStrike" dirty="0" err="1">
                          <a:solidFill>
                            <a:srgbClr val="FFFFFF"/>
                          </a:solidFill>
                          <a:effectLst/>
                          <a:latin typeface="Arial" panose="020B0604020202020204" pitchFamily="34" charset="0"/>
                          <a:cs typeface="Arial" panose="020B0604020202020204" pitchFamily="34" charset="0"/>
                        </a:rPr>
                        <a:t>ròng</a:t>
                      </a:r>
                      <a:r>
                        <a:rPr lang="en-US" sz="1000" b="1" u="none" strike="noStrike" dirty="0">
                          <a:solidFill>
                            <a:srgbClr val="FFFFFF"/>
                          </a:solidFill>
                          <a:effectLst/>
                          <a:latin typeface="Arial" panose="020B0604020202020204" pitchFamily="34" charset="0"/>
                          <a:cs typeface="Arial" panose="020B0604020202020204" pitchFamily="34" charset="0"/>
                        </a:rPr>
                        <a:t> (GT)</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US" sz="1000" b="1" u="none" strike="noStrike" dirty="0">
                          <a:solidFill>
                            <a:srgbClr val="FFFFFF"/>
                          </a:solidFill>
                          <a:effectLst/>
                          <a:latin typeface="Arial" panose="020B0604020202020204" pitchFamily="34" charset="0"/>
                          <a:cs typeface="Arial" panose="020B0604020202020204" pitchFamily="34" charset="0"/>
                        </a:rPr>
                        <a:t>% NN </a:t>
                      </a:r>
                      <a:r>
                        <a:rPr lang="en-US" sz="1000" b="1" u="none" strike="noStrike" dirty="0" err="1">
                          <a:solidFill>
                            <a:srgbClr val="FFFFFF"/>
                          </a:solidFill>
                          <a:effectLst/>
                          <a:latin typeface="Arial" panose="020B0604020202020204" pitchFamily="34" charset="0"/>
                          <a:cs typeface="Arial" panose="020B0604020202020204" pitchFamily="34" charset="0"/>
                        </a:rPr>
                        <a:t>Sở</a:t>
                      </a:r>
                      <a:r>
                        <a:rPr lang="en-US" sz="1000" b="1" u="none" strike="noStrike" dirty="0">
                          <a:solidFill>
                            <a:srgbClr val="FFFFFF"/>
                          </a:solidFill>
                          <a:effectLst/>
                          <a:latin typeface="Arial" panose="020B0604020202020204" pitchFamily="34" charset="0"/>
                          <a:cs typeface="Arial" panose="020B0604020202020204" pitchFamily="34" charset="0"/>
                        </a:rPr>
                        <a:t> </a:t>
                      </a:r>
                      <a:r>
                        <a:rPr lang="en-US" sz="1000" b="1" u="none" strike="noStrike" dirty="0" err="1">
                          <a:solidFill>
                            <a:srgbClr val="FFFFFF"/>
                          </a:solidFill>
                          <a:effectLst/>
                          <a:latin typeface="Arial" panose="020B0604020202020204" pitchFamily="34" charset="0"/>
                          <a:cs typeface="Arial" panose="020B0604020202020204" pitchFamily="34" charset="0"/>
                        </a:rPr>
                        <a:t>hữu</a:t>
                      </a:r>
                      <a:endParaRPr lang="en-US" sz="1000" b="1" i="0" u="none" strike="noStrike" dirty="0">
                        <a:solidFill>
                          <a:srgbClr val="FFFFFF"/>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648978472"/>
                  </a:ext>
                </a:extLst>
              </a:tr>
              <a:tr h="216527">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241.200</a:t>
                      </a:r>
                    </a:p>
                  </a:txBody>
                  <a:tcPr marL="9525" marR="9525" marT="9525" marB="0" anchor="ctr"/>
                </a:tc>
                <a:tc>
                  <a:txBody>
                    <a:bodyPr/>
                    <a:lstStyle/>
                    <a:p>
                      <a:pPr algn="r" fontAlgn="ctr"/>
                      <a:r>
                        <a:rPr lang="en-VN" sz="1100" b="0" i="0" u="none" strike="noStrike" dirty="0">
                          <a:solidFill>
                            <a:srgbClr val="000000"/>
                          </a:solidFill>
                          <a:effectLst/>
                          <a:latin typeface="Arial" panose="020B0604020202020204" pitchFamily="34" charset="0"/>
                          <a:cs typeface="Arial" panose="020B0604020202020204" pitchFamily="34" charset="0"/>
                        </a:rPr>
                        <a:t>-1.072.925.900.900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3,15%</a:t>
                      </a:r>
                    </a:p>
                  </a:txBody>
                  <a:tcPr marL="9525" marR="9525" marT="9525" marB="0" anchor="ctr"/>
                </a:tc>
                <a:extLst>
                  <a:ext uri="{0D108BD9-81ED-4DB2-BD59-A6C34878D82A}">
                    <a16:rowId xmlns:a16="http://schemas.microsoft.com/office/drawing/2014/main" val="2742479542"/>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71.000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-709.177.697.500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6,81%</a:t>
                      </a:r>
                    </a:p>
                  </a:txBody>
                  <a:tcPr marL="9525" marR="9525" marT="9525" marB="0" anchor="ctr"/>
                </a:tc>
                <a:extLst>
                  <a:ext uri="{0D108BD9-81ED-4DB2-BD59-A6C34878D82A}">
                    <a16:rowId xmlns:a16="http://schemas.microsoft.com/office/drawing/2014/main" val="275984378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VIX</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13.150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-198.097.844.900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7,48%</a:t>
                      </a:r>
                    </a:p>
                  </a:txBody>
                  <a:tcPr marL="9525" marR="9525" marT="9525" marB="0" anchor="ctr"/>
                </a:tc>
                <a:extLst>
                  <a:ext uri="{0D108BD9-81ED-4DB2-BD59-A6C34878D82A}">
                    <a16:rowId xmlns:a16="http://schemas.microsoft.com/office/drawing/2014/main" val="638375612"/>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DMX</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76.000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-172.586.004.000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9,23%</a:t>
                      </a:r>
                    </a:p>
                  </a:txBody>
                  <a:tcPr marL="9525" marR="9525" marT="9525" marB="0" anchor="ctr"/>
                </a:tc>
                <a:extLst>
                  <a:ext uri="{0D108BD9-81ED-4DB2-BD59-A6C34878D82A}">
                    <a16:rowId xmlns:a16="http://schemas.microsoft.com/office/drawing/2014/main" val="2595544499"/>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VND</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15.200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-130.813.948.250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8,67%</a:t>
                      </a:r>
                    </a:p>
                  </a:txBody>
                  <a:tcPr marL="9525" marR="9525" marT="9525" marB="0" anchor="ctr"/>
                </a:tc>
                <a:extLst>
                  <a:ext uri="{0D108BD9-81ED-4DB2-BD59-A6C34878D82A}">
                    <a16:rowId xmlns:a16="http://schemas.microsoft.com/office/drawing/2014/main" val="1042191813"/>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VCI</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20.650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-106.907.385.700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17,15%</a:t>
                      </a:r>
                    </a:p>
                  </a:txBody>
                  <a:tcPr marL="9525" marR="9525" marT="9525" marB="0" anchor="ctr"/>
                </a:tc>
                <a:extLst>
                  <a:ext uri="{0D108BD9-81ED-4DB2-BD59-A6C34878D82A}">
                    <a16:rowId xmlns:a16="http://schemas.microsoft.com/office/drawing/2014/main" val="3326198427"/>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VPI</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62.900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-96.856.020.000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10,00%</a:t>
                      </a:r>
                    </a:p>
                  </a:txBody>
                  <a:tcPr marL="9525" marR="9525" marT="9525" marB="0" anchor="ctr"/>
                </a:tc>
                <a:extLst>
                  <a:ext uri="{0D108BD9-81ED-4DB2-BD59-A6C34878D82A}">
                    <a16:rowId xmlns:a16="http://schemas.microsoft.com/office/drawing/2014/main" val="3017137515"/>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KBC</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26.000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-85.436.106.550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7,01%</a:t>
                      </a:r>
                    </a:p>
                  </a:txBody>
                  <a:tcPr marL="9525" marR="9525" marT="9525" marB="0" anchor="ctr"/>
                </a:tc>
                <a:extLst>
                  <a:ext uri="{0D108BD9-81ED-4DB2-BD59-A6C34878D82A}">
                    <a16:rowId xmlns:a16="http://schemas.microsoft.com/office/drawing/2014/main" val="1367150368"/>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TPB</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14.100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-77.920.039.300</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21,90%</a:t>
                      </a:r>
                    </a:p>
                  </a:txBody>
                  <a:tcPr marL="9525" marR="9525" marT="9525" marB="0" anchor="ctr"/>
                </a:tc>
                <a:extLst>
                  <a:ext uri="{0D108BD9-81ED-4DB2-BD59-A6C34878D82A}">
                    <a16:rowId xmlns:a16="http://schemas.microsoft.com/office/drawing/2014/main" val="612648100"/>
                  </a:ext>
                </a:extLst>
              </a:tr>
              <a:tr h="190500">
                <a:tc>
                  <a:txBody>
                    <a:bodyPr/>
                    <a:lstStyle/>
                    <a:p>
                      <a:pPr algn="l" fontAlgn="ctr"/>
                      <a:r>
                        <a:rPr lang="en-US" sz="1100" b="0" i="0" u="none" strike="noStrike">
                          <a:solidFill>
                            <a:srgbClr val="000000"/>
                          </a:solidFill>
                          <a:effectLst/>
                          <a:latin typeface="Arial" panose="020B0604020202020204" pitchFamily="34" charset="0"/>
                          <a:cs typeface="Arial" panose="020B0604020202020204" pitchFamily="34" charset="0"/>
                        </a:rPr>
                        <a:t>KDH</a:t>
                      </a: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15.800</a:t>
                      </a:r>
                      <a:endParaRPr lang="en-VN" sz="11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fontAlgn="ctr"/>
                      <a:r>
                        <a:rPr lang="en-VN" sz="1100" b="0" i="0" u="none" strike="noStrike">
                          <a:solidFill>
                            <a:srgbClr val="000000"/>
                          </a:solidFill>
                          <a:effectLst/>
                          <a:latin typeface="Arial" panose="020B0604020202020204" pitchFamily="34" charset="0"/>
                          <a:cs typeface="Arial" panose="020B0604020202020204" pitchFamily="34" charset="0"/>
                        </a:rPr>
                        <a:t>-64.330.908.700</a:t>
                      </a:r>
                    </a:p>
                  </a:txBody>
                  <a:tcPr marL="9525" marR="9525" marT="9525" marB="0" anchor="ctr"/>
                </a:tc>
                <a:tc>
                  <a:txBody>
                    <a:bodyPr/>
                    <a:lstStyle/>
                    <a:p>
                      <a:pPr algn="r" fontAlgn="ctr"/>
                      <a:r>
                        <a:rPr lang="en-VN" sz="1100" b="0" i="0" u="none" strike="noStrike" dirty="0">
                          <a:solidFill>
                            <a:srgbClr val="000000"/>
                          </a:solidFill>
                          <a:effectLst/>
                          <a:latin typeface="Arial" panose="020B0604020202020204" pitchFamily="34" charset="0"/>
                          <a:cs typeface="Arial" panose="020B0604020202020204" pitchFamily="34" charset="0"/>
                        </a:rPr>
                        <a:t>24,35%</a:t>
                      </a:r>
                    </a:p>
                  </a:txBody>
                  <a:tcPr marL="9525" marR="9525" marT="9525" marB="0" anchor="ctr"/>
                </a:tc>
                <a:extLst>
                  <a:ext uri="{0D108BD9-81ED-4DB2-BD59-A6C34878D82A}">
                    <a16:rowId xmlns:a16="http://schemas.microsoft.com/office/drawing/2014/main" val="2563434553"/>
                  </a:ext>
                </a:extLst>
              </a:tr>
            </a:tbl>
          </a:graphicData>
        </a:graphic>
      </p:graphicFrame>
      <p:sp>
        <p:nvSpPr>
          <p:cNvPr id="2" name="Slide Number Placeholder 1">
            <a:extLst>
              <a:ext uri="{FF2B5EF4-FFF2-40B4-BE49-F238E27FC236}">
                <a16:creationId xmlns:a16="http://schemas.microsoft.com/office/drawing/2014/main" id="{C278591D-EBD3-4A78-A389-694F47B20B9A}"/>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5</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820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C5E1-222D-5D88-9964-4A8FF259A951}"/>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D5383B4-C0C0-C437-0842-ECBE904CDC74}"/>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BB5C97C4-862A-269F-A388-3BA6E6A2B487}"/>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DANH MỤC THEO DÕI TUẦN 14/09 – 18/09/2026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EC378252-A32A-9839-7495-0D5F68F1E791}"/>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Sự</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kiện</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doanh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nghiệp</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trong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tuần</a:t>
            </a: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Diễn biến giao dịch NDTNN </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err="1">
                <a:solidFill>
                  <a:schemeClr val="tx1"/>
                </a:solidFill>
                <a:latin typeface="Arial" panose="020B0604020202020204" pitchFamily="34" charset="0"/>
                <a:cs typeface="Arial" panose="020B0604020202020204" pitchFamily="34" charset="0"/>
              </a:rPr>
              <a:t>Trong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tháng</a:t>
            </a:r>
            <a:r>
              <a:rPr lang="en-US" sz="1100" dirty="0">
                <a:solidFill>
                  <a:schemeClr val="tx1"/>
                </a:solidFill>
                <a:latin typeface="Arial" panose="020B0604020202020204" pitchFamily="34" charset="0"/>
                <a:cs typeface="Arial" panose="020B0604020202020204" pitchFamily="34" charset="0"/>
              </a:rPr>
              <a:t> 9, NDTNN </a:t>
            </a:r>
            <a:r>
              <a:rPr lang="en-US" sz="1100" dirty="0" err="1">
                <a:solidFill>
                  <a:schemeClr val="tx1"/>
                </a:solidFill>
                <a:latin typeface="Arial" panose="020B0604020202020204" pitchFamily="34" charset="0"/>
                <a:cs typeface="Arial" panose="020B0604020202020204" pitchFamily="34" charset="0"/>
              </a:rPr>
              <a:t>mua</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0,6 </a:t>
            </a:r>
            <a:r>
              <a:rPr lang="en-US" sz="1100" dirty="0" err="1">
                <a:solidFill>
                  <a:schemeClr val="tx1"/>
                </a:solidFill>
                <a:latin typeface="Arial" panose="020B0604020202020204" pitchFamily="34" charset="0"/>
                <a:cs typeface="Arial" panose="020B0604020202020204" pitchFamily="34" charset="0"/>
              </a:rPr>
              <a:t>triệu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cổ</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phiếu</a:t>
            </a:r>
            <a:r>
              <a:rPr lang="en-US" sz="1100" dirty="0">
                <a:solidFill>
                  <a:schemeClr val="tx1"/>
                </a:solidFill>
                <a:latin typeface="Arial" panose="020B0604020202020204" pitchFamily="34" charset="0"/>
                <a:cs typeface="Arial" panose="020B0604020202020204" pitchFamily="34" charset="0"/>
              </a:rPr>
              <a:t> ở 4 </a:t>
            </a:r>
            <a:r>
              <a:rPr lang="en-US" sz="1100" dirty="0" err="1">
                <a:solidFill>
                  <a:schemeClr val="tx1"/>
                </a:solidFill>
                <a:latin typeface="Arial" panose="020B0604020202020204" pitchFamily="34" charset="0"/>
                <a:cs typeface="Arial" panose="020B0604020202020204" pitchFamily="34" charset="0"/>
              </a:rPr>
              <a:t>cổ</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phiếu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theo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dõi</a:t>
            </a:r>
            <a:r>
              <a:rPr lang="en-US" sz="1100" dirty="0">
                <a:solidFill>
                  <a:schemeClr val="tx1"/>
                </a:solidFill>
                <a:latin typeface="Arial" panose="020B0604020202020204" pitchFamily="34" charset="0"/>
                <a:cs typeface="Arial" panose="020B0604020202020204" pitchFamily="34" charset="0"/>
              </a:rPr>
              <a:t>. </a:t>
            </a:r>
          </a:p>
        </p:txBody>
      </p:sp>
      <p:sp>
        <p:nvSpPr>
          <p:cNvPr id="2" name="Slide Number Placeholder 1">
            <a:extLst>
              <a:ext uri="{FF2B5EF4-FFF2-40B4-BE49-F238E27FC236}">
                <a16:creationId xmlns:a16="http://schemas.microsoft.com/office/drawing/2014/main" id="{4DF5E438-760F-A277-DDDD-CB26F7549F77}"/>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6</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AB2CB95-BB19-5CE2-096D-C942A23B07EF}"/>
              </a:ext>
            </a:extLst>
          </p:cNvPr>
          <p:cNvGraphicFramePr>
            <a:graphicFrameLocks noGrp="1"/>
          </p:cNvGraphicFramePr>
          <p:nvPr>
            <p:extLst>
              <p:ext uri="{D42A27DB-BD31-4B8C-83A1-F6EECF244321}">
                <p14:modId xmlns:p14="http://schemas.microsoft.com/office/powerpoint/2010/main" val="465481215"/>
              </p:ext>
            </p:extLst>
          </p:nvPr>
        </p:nvGraphicFramePr>
        <p:xfrm>
          <a:off x="364321" y="1265121"/>
          <a:ext cx="11463359" cy="1532892"/>
        </p:xfrm>
        <a:graphic>
          <a:graphicData uri="http://schemas.openxmlformats.org/drawingml/2006/table">
            <a:tbl>
              <a:tblPr bandRow="1">
                <a:tableStyleId>{3B4B98B0-60AC-42C2-AFA5-B58CD77FA1E5}</a:tableStyleId>
              </a:tblPr>
              <a:tblGrid>
                <a:gridCol w="1399339">
                  <a:extLst>
                    <a:ext uri="{9D8B030D-6E8A-4147-A177-3AD203B41FA5}">
                      <a16:colId xmlns:a16="http://schemas.microsoft.com/office/drawing/2014/main" val="20000"/>
                    </a:ext>
                  </a:extLst>
                </a:gridCol>
                <a:gridCol w="809858">
                  <a:extLst>
                    <a:ext uri="{9D8B030D-6E8A-4147-A177-3AD203B41FA5}">
                      <a16:colId xmlns:a16="http://schemas.microsoft.com/office/drawing/2014/main" val="3086632694"/>
                    </a:ext>
                  </a:extLst>
                </a:gridCol>
                <a:gridCol w="9254162">
                  <a:extLst>
                    <a:ext uri="{9D8B030D-6E8A-4147-A177-3AD203B41FA5}">
                      <a16:colId xmlns:a16="http://schemas.microsoft.com/office/drawing/2014/main" val="20001"/>
                    </a:ext>
                  </a:extLst>
                </a:gridCol>
              </a:tblGrid>
              <a:tr h="174337">
                <a:tc>
                  <a:txBody>
                    <a:bodyPr/>
                    <a:lstStyle/>
                    <a:p>
                      <a:pPr algn="l" fontAlgn="b"/>
                      <a:r>
                        <a:rPr lang="en-US" sz="1200" b="1" u="none" strike="noStrike" dirty="0" err="1">
                          <a:solidFill>
                            <a:schemeClr val="tx1"/>
                          </a:solidFill>
                          <a:effectLst/>
                          <a:latin typeface="Arial" panose="020B0604020202020204" pitchFamily="34" charset="0"/>
                          <a:cs typeface="Arial" panose="020B0604020202020204" pitchFamily="34" charset="0"/>
                        </a:rPr>
                        <a:t>Ngày</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l" fontAlgn="b"/>
                      <a:r>
                        <a:rPr lang="en-US" sz="1200" b="1" i="0" u="none" strike="noStrike" dirty="0" err="1">
                          <a:solidFill>
                            <a:schemeClr val="tx1"/>
                          </a:solidFill>
                          <a:effectLst/>
                          <a:latin typeface="Arial" panose="020B0604020202020204" pitchFamily="34" charset="0"/>
                          <a:cs typeface="Arial" panose="020B0604020202020204" pitchFamily="34" charset="0"/>
                        </a:rPr>
                        <a:t>Mã</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200" b="1" u="none" strike="noStrike" dirty="0" err="1">
                          <a:solidFill>
                            <a:schemeClr val="tx1"/>
                          </a:solidFill>
                          <a:effectLst/>
                          <a:latin typeface="Arial" panose="020B0604020202020204" pitchFamily="34" charset="0"/>
                          <a:cs typeface="Arial" panose="020B0604020202020204" pitchFamily="34" charset="0"/>
                        </a:rPr>
                        <a:t>Sự</a:t>
                      </a:r>
                      <a:r>
                        <a:rPr lang="en-US" sz="1200" b="1" u="none" strike="noStrike" dirty="0">
                          <a:solidFill>
                            <a:schemeClr val="tx1"/>
                          </a:solidFill>
                          <a:effectLst/>
                          <a:latin typeface="Arial" panose="020B0604020202020204" pitchFamily="34" charset="0"/>
                          <a:cs typeface="Arial" panose="020B0604020202020204" pitchFamily="34" charset="0"/>
                        </a:rPr>
                        <a:t> </a:t>
                      </a:r>
                      <a:r>
                        <a:rPr lang="en-US" sz="1200" b="1" u="none" strike="noStrike" dirty="0" err="1">
                          <a:solidFill>
                            <a:schemeClr val="tx1"/>
                          </a:solidFill>
                          <a:effectLst/>
                          <a:latin typeface="Arial" panose="020B0604020202020204" pitchFamily="34" charset="0"/>
                          <a:cs typeface="Arial" panose="020B0604020202020204" pitchFamily="34" charset="0"/>
                        </a:rPr>
                        <a:t>kiện</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17/09/2026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VIB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vi-VN" sz="1200" b="0" u="none" strike="noStrike" kern="1200">
                          <a:solidFill>
                            <a:srgbClr val="000000"/>
                          </a:solidFill>
                          <a:effectLst/>
                          <a:latin typeface="Arial" panose="020B0604020202020204" pitchFamily="34" charset="0"/>
                          <a:ea typeface="+mn-ea"/>
                          <a:cs typeface="Arial" panose="020B0604020202020204" pitchFamily="34" charset="0"/>
                        </a:rPr>
                        <a:t>VIB: Báo cáo kết quả giao dịch cổ phiếu của người có liên quan đến Người nội bộ Đỗ Xuân Thụ</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17/09/2026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VPB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VPB: Thông báo ngày ĐKCC thực hiện chi trả cổ tức bằng cổ phiếu</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16/09/2026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VPB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VPB: Thông báo về ngày đăng ký cuối cùng phát hành cổ phiếu để trả cổ tức</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400684122"/>
                  </a:ext>
                </a:extLst>
              </a:tr>
            </a:tbl>
          </a:graphicData>
        </a:graphic>
      </p:graphicFrame>
      <p:graphicFrame>
        <p:nvGraphicFramePr>
          <p:cNvPr id="7" name="Table 6">
            <a:extLst>
              <a:ext uri="{FF2B5EF4-FFF2-40B4-BE49-F238E27FC236}">
                <a16:creationId xmlns:a16="http://schemas.microsoft.com/office/drawing/2014/main" id="{BF3DB183-A5CC-8AA9-CAC4-E0699E1A76A9}"/>
              </a:ext>
            </a:extLst>
          </p:cNvPr>
          <p:cNvGraphicFramePr>
            <a:graphicFrameLocks noGrp="1"/>
          </p:cNvGraphicFramePr>
          <p:nvPr>
            <p:extLst>
              <p:ext uri="{D42A27DB-BD31-4B8C-83A1-F6EECF244321}">
                <p14:modId xmlns:p14="http://schemas.microsoft.com/office/powerpoint/2010/main" val="1794831600"/>
              </p:ext>
            </p:extLst>
          </p:nvPr>
        </p:nvGraphicFramePr>
        <p:xfrm>
          <a:off x="364321" y="4048812"/>
          <a:ext cx="7733305" cy="1625298"/>
        </p:xfrm>
        <a:graphic>
          <a:graphicData uri="http://schemas.openxmlformats.org/drawingml/2006/table">
            <a:tbl>
              <a:tblPr firstRow="1" bandRow="1">
                <a:tableStyleId>{B301B821-A1FF-4177-AEE7-76D212191A09}</a:tableStyleId>
              </a:tblPr>
              <a:tblGrid>
                <a:gridCol w="1546661">
                  <a:extLst>
                    <a:ext uri="{9D8B030D-6E8A-4147-A177-3AD203B41FA5}">
                      <a16:colId xmlns:a16="http://schemas.microsoft.com/office/drawing/2014/main" val="476193012"/>
                    </a:ext>
                  </a:extLst>
                </a:gridCol>
                <a:gridCol w="1546661">
                  <a:extLst>
                    <a:ext uri="{9D8B030D-6E8A-4147-A177-3AD203B41FA5}">
                      <a16:colId xmlns:a16="http://schemas.microsoft.com/office/drawing/2014/main" val="3541350674"/>
                    </a:ext>
                  </a:extLst>
                </a:gridCol>
                <a:gridCol w="1546661">
                  <a:extLst>
                    <a:ext uri="{9D8B030D-6E8A-4147-A177-3AD203B41FA5}">
                      <a16:colId xmlns:a16="http://schemas.microsoft.com/office/drawing/2014/main" val="373586832"/>
                    </a:ext>
                  </a:extLst>
                </a:gridCol>
                <a:gridCol w="1546661">
                  <a:extLst>
                    <a:ext uri="{9D8B030D-6E8A-4147-A177-3AD203B41FA5}">
                      <a16:colId xmlns:a16="http://schemas.microsoft.com/office/drawing/2014/main" val="1492205293"/>
                    </a:ext>
                  </a:extLst>
                </a:gridCol>
                <a:gridCol w="1546661">
                  <a:extLst>
                    <a:ext uri="{9D8B030D-6E8A-4147-A177-3AD203B41FA5}">
                      <a16:colId xmlns:a16="http://schemas.microsoft.com/office/drawing/2014/main" val="3276923108"/>
                    </a:ext>
                  </a:extLst>
                </a:gridCol>
              </a:tblGrid>
              <a:tr h="270883">
                <a:tc>
                  <a:txBody>
                    <a:bodyPr/>
                    <a:lstStyle/>
                    <a:p>
                      <a:pPr algn="l" fontAlgn="b"/>
                      <a:r>
                        <a:rPr lang="en-VN" sz="1200" b="1" i="0" u="none" strike="noStrike" dirty="0">
                          <a:solidFill>
                            <a:schemeClr val="bg1"/>
                          </a:solidFill>
                          <a:effectLst/>
                          <a:latin typeface="Arial" panose="020B0604020202020204" pitchFamily="34" charset="0"/>
                          <a:cs typeface="Arial" panose="020B0604020202020204" pitchFamily="34" charset="0"/>
                        </a:rPr>
                        <a:t>KLGD NDTNN</a:t>
                      </a:r>
                    </a:p>
                  </a:txBody>
                  <a:tcPr marL="9525" marR="9525" marT="9525" marB="0" anchor="b"/>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VIB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TCB</a:t>
                      </a:r>
                    </a:p>
                  </a:txBody>
                  <a:tcPr marL="9525" marR="9525" marT="9525" marB="0" anchor="ctr"/>
                </a:tc>
                <a:extLst>
                  <a:ext uri="{0D108BD9-81ED-4DB2-BD59-A6C34878D82A}">
                    <a16:rowId xmlns:a16="http://schemas.microsoft.com/office/drawing/2014/main" val="4153642203"/>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7</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-20.044.268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-25.052.808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-39.496.132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-43.747.657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30539495"/>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8</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-26.925.294</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-6.326.504</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-33.422.661</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-12.545.859</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2662491"/>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9</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-711.269</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7.027.241</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-7.578.798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1.868.234</a:t>
                      </a:r>
                    </a:p>
                  </a:txBody>
                  <a:tcPr marL="9525" marR="9525" marT="9525" marB="0" anchor="b"/>
                </a:tc>
                <a:extLst>
                  <a:ext uri="{0D108BD9-81ED-4DB2-BD59-A6C34878D82A}">
                    <a16:rowId xmlns:a16="http://schemas.microsoft.com/office/drawing/2014/main" val="3933181617"/>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Từ đầu năm</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-255.731.929</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-52.450.772</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-146.649.611</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-119.420.518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560680"/>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Room NN còn lại</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7,0%</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7,2%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1,6%</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27387990"/>
                  </a:ext>
                </a:extLst>
              </a:tr>
            </a:tbl>
          </a:graphicData>
        </a:graphic>
      </p:graphicFrame>
    </p:spTree>
    <p:extLst>
      <p:ext uri="{BB962C8B-B14F-4D97-AF65-F5344CB8AC3E}">
        <p14:creationId xmlns:p14="http://schemas.microsoft.com/office/powerpoint/2010/main" val="12460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CÁC SỰ KIỆN DIỄN RA TRONG TUẦN 21/09/2026 – 25/09/2026</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2A5735BD-8F3E-4D76-B4E3-A85529B82324}"/>
              </a:ext>
            </a:extLst>
          </p:cNvPr>
          <p:cNvSpPr txBox="1"/>
          <p:nvPr/>
        </p:nvSpPr>
        <p:spPr>
          <a:xfrm>
            <a:off x="306595" y="922013"/>
            <a:ext cx="11493675" cy="375552"/>
          </a:xfrm>
          <a:prstGeom prst="rect">
            <a:avLst/>
          </a:prstGeom>
          <a:noFill/>
        </p:spPr>
        <p:txBody>
          <a:bodyPr wrap="square" rtlCol="0">
            <a:spAutoFit/>
          </a:bodyPr>
          <a:lstStyle/>
          <a:p>
            <a:pPr>
              <a:lnSpc>
                <a:spcPct val="150000"/>
              </a:lnSpc>
            </a:pPr>
            <a:r>
              <a:rPr lang="en-US" sz="1400" b="1" dirty="0" err="1">
                <a:solidFill>
                  <a:srgbClr val="141ED2"/>
                </a:solidFill>
                <a:latin typeface="Arial" panose="020B0604020202020204" pitchFamily="34" charset="0"/>
                <a:cs typeface="Arial" panose="020B0604020202020204" pitchFamily="34" charset="0"/>
              </a:rPr>
              <a:t>Trong</a:t>
            </a:r>
            <a:r>
              <a:rPr lang="en-US" sz="1400" b="1" dirty="0">
                <a:solidFill>
                  <a:srgbClr val="141ED2"/>
                </a:solidFill>
                <a:latin typeface="Arial" panose="020B0604020202020204" pitchFamily="34" charset="0"/>
                <a:cs typeface="Arial" panose="020B0604020202020204" pitchFamily="34" charset="0"/>
              </a:rPr>
              <a:t> n</a:t>
            </a:r>
            <a:r>
              <a:rPr lang="vi-VN" sz="1400" b="1">
                <a:solidFill>
                  <a:srgbClr val="141ED2"/>
                </a:solidFill>
                <a:latin typeface="Arial" panose="020B0604020202020204" pitchFamily="34" charset="0"/>
                <a:cs typeface="Arial" panose="020B0604020202020204" pitchFamily="34" charset="0"/>
              </a:rPr>
              <a:t>ư</a:t>
            </a:r>
            <a:r>
              <a:rPr lang="en-US" sz="1400" b="1">
                <a:solidFill>
                  <a:srgbClr val="141ED2"/>
                </a:solidFill>
                <a:latin typeface="Arial" panose="020B0604020202020204" pitchFamily="34" charset="0"/>
                <a:cs typeface="Arial" panose="020B0604020202020204" pitchFamily="34" charset="0"/>
              </a:rPr>
              <a:t>ớc</a:t>
            </a:r>
          </a:p>
        </p:txBody>
      </p:sp>
      <p:sp>
        <p:nvSpPr>
          <p:cNvPr id="9" name="TextBox 8">
            <a:extLst>
              <a:ext uri="{FF2B5EF4-FFF2-40B4-BE49-F238E27FC236}">
                <a16:creationId xmlns:a16="http://schemas.microsoft.com/office/drawing/2014/main" id="{CF780BA3-FEDF-45F2-A2CF-3F69BACA285D}"/>
              </a:ext>
            </a:extLst>
          </p:cNvPr>
          <p:cNvSpPr txBox="1"/>
          <p:nvPr/>
        </p:nvSpPr>
        <p:spPr>
          <a:xfrm>
            <a:off x="306595" y="3124233"/>
            <a:ext cx="11493675" cy="698717"/>
          </a:xfrm>
          <a:prstGeom prst="rect">
            <a:avLst/>
          </a:prstGeom>
          <a:noFill/>
        </p:spPr>
        <p:txBody>
          <a:bodyPr wrap="square" rtlCol="0">
            <a:spAutoFit/>
          </a:bodyPr>
          <a:lstStyle/>
          <a:p>
            <a:pPr>
              <a:lnSpc>
                <a:spcPct val="150000"/>
              </a:lnSpc>
            </a:pPr>
            <a:r>
              <a:rPr lang="en-US" sz="1400" b="1" dirty="0">
                <a:solidFill>
                  <a:srgbClr val="141ED2"/>
                </a:solidFill>
                <a:latin typeface="Arial" panose="020B0604020202020204" pitchFamily="34" charset="0"/>
                <a:cs typeface="Arial" panose="020B0604020202020204" pitchFamily="34" charset="0"/>
              </a:rPr>
              <a:t>Quốc </a:t>
            </a:r>
            <a:r>
              <a:rPr lang="en-US" sz="1400" b="1" dirty="0" err="1">
                <a:solidFill>
                  <a:srgbClr val="141ED2"/>
                </a:solidFill>
                <a:latin typeface="Arial" panose="020B0604020202020204" pitchFamily="34" charset="0"/>
                <a:cs typeface="Arial" panose="020B0604020202020204" pitchFamily="34" charset="0"/>
              </a:rPr>
              <a:t>tế</a:t>
            </a:r>
            <a:endParaRPr lang="en-US" sz="1400" b="1" dirty="0">
              <a:solidFill>
                <a:srgbClr val="141ED2"/>
              </a:solidFill>
              <a:latin typeface="Arial" panose="020B0604020202020204" pitchFamily="34" charset="0"/>
              <a:cs typeface="Arial" panose="020B0604020202020204" pitchFamily="34" charset="0"/>
            </a:endParaRPr>
          </a:p>
          <a:p>
            <a:pPr>
              <a:lnSpc>
                <a:spcPct val="150000"/>
              </a:lnSpc>
            </a:pPr>
            <a:endParaRPr lang="en-US" sz="14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D6E5AEA-65D3-A6C9-7C6A-63F9481C9DA8}"/>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7</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E543C129-FA9E-58D6-50EA-AE21A11F02DA}"/>
              </a:ext>
            </a:extLst>
          </p:cNvPr>
          <p:cNvGraphicFramePr>
            <a:graphicFrameLocks noGrp="1"/>
          </p:cNvGraphicFramePr>
          <p:nvPr>
            <p:extLst>
              <p:ext uri="{D42A27DB-BD31-4B8C-83A1-F6EECF244321}">
                <p14:modId xmlns:p14="http://schemas.microsoft.com/office/powerpoint/2010/main" val="1350347069"/>
              </p:ext>
            </p:extLst>
          </p:nvPr>
        </p:nvGraphicFramePr>
        <p:xfrm>
          <a:off x="364321" y="3577080"/>
          <a:ext cx="11463358" cy="206375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latin typeface="Arial" panose="020B0604020202020204" pitchFamily="34" charset="0"/>
                          <a:cs typeface="Arial" panose="020B0604020202020204" pitchFamily="34" charset="0"/>
                        </a:rPr>
                        <a:t>Ngày</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400" b="1" u="none" strike="noStrike" dirty="0" err="1">
                          <a:solidFill>
                            <a:schemeClr val="tx1"/>
                          </a:solidFill>
                          <a:effectLst/>
                          <a:latin typeface="Arial" panose="020B0604020202020204" pitchFamily="34" charset="0"/>
                          <a:cs typeface="Arial" panose="020B0604020202020204" pitchFamily="34" charset="0"/>
                        </a:rPr>
                        <a:t>Sự</a:t>
                      </a:r>
                      <a:r>
                        <a:rPr lang="en-US" sz="1400" b="1" u="none" strike="noStrike" dirty="0">
                          <a:solidFill>
                            <a:schemeClr val="tx1"/>
                          </a:solidFill>
                          <a:effectLst/>
                          <a:latin typeface="Arial" panose="020B0604020202020204" pitchFamily="34" charset="0"/>
                          <a:cs typeface="Arial" panose="020B0604020202020204" pitchFamily="34" charset="0"/>
                        </a:rPr>
                        <a:t> </a:t>
                      </a:r>
                      <a:r>
                        <a:rPr lang="en-US" sz="1400" b="1" u="none" strike="noStrike" dirty="0" err="1">
                          <a:solidFill>
                            <a:schemeClr val="tx1"/>
                          </a:solidFill>
                          <a:effectLst/>
                          <a:latin typeface="Arial" panose="020B0604020202020204" pitchFamily="34" charset="0"/>
                          <a:cs typeface="Arial" panose="020B0604020202020204" pitchFamily="34" charset="0"/>
                        </a:rPr>
                        <a:t>kiện</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568331513"/>
                  </a:ext>
                </a:extLst>
              </a:tr>
              <a:tr h="169612">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2703509514"/>
                  </a:ext>
                </a:extLst>
              </a:tr>
              <a:tr h="169612">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bl>
          </a:graphicData>
        </a:graphic>
      </p:graphicFrame>
      <p:graphicFrame>
        <p:nvGraphicFramePr>
          <p:cNvPr id="2" name="Table 1">
            <a:extLst>
              <a:ext uri="{FF2B5EF4-FFF2-40B4-BE49-F238E27FC236}">
                <a16:creationId xmlns:a16="http://schemas.microsoft.com/office/drawing/2014/main" id="{1AD4413C-9908-D492-D53F-AD247402BDE3}"/>
              </a:ext>
            </a:extLst>
          </p:cNvPr>
          <p:cNvGraphicFramePr>
            <a:graphicFrameLocks noGrp="1"/>
          </p:cNvGraphicFramePr>
          <p:nvPr>
            <p:extLst>
              <p:ext uri="{D42A27DB-BD31-4B8C-83A1-F6EECF244321}">
                <p14:modId xmlns:p14="http://schemas.microsoft.com/office/powerpoint/2010/main" val="825807175"/>
              </p:ext>
            </p:extLst>
          </p:nvPr>
        </p:nvGraphicFramePr>
        <p:xfrm>
          <a:off x="364321" y="1385240"/>
          <a:ext cx="11463358" cy="30480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latin typeface="Arial" panose="020B0604020202020204" pitchFamily="34" charset="0"/>
                          <a:cs typeface="Arial" panose="020B0604020202020204" pitchFamily="34" charset="0"/>
                        </a:rPr>
                        <a:t>Ngày</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400" b="1" u="none" strike="noStrike" dirty="0" err="1">
                          <a:solidFill>
                            <a:schemeClr val="tx1"/>
                          </a:solidFill>
                          <a:effectLst/>
                          <a:latin typeface="Arial" panose="020B0604020202020204" pitchFamily="34" charset="0"/>
                          <a:cs typeface="Arial" panose="020B0604020202020204" pitchFamily="34" charset="0"/>
                        </a:rPr>
                        <a:t>Sự</a:t>
                      </a:r>
                      <a:r>
                        <a:rPr lang="en-US" sz="1400" b="1" u="none" strike="noStrike" dirty="0">
                          <a:solidFill>
                            <a:schemeClr val="tx1"/>
                          </a:solidFill>
                          <a:effectLst/>
                          <a:latin typeface="Arial" panose="020B0604020202020204" pitchFamily="34" charset="0"/>
                          <a:cs typeface="Arial" panose="020B0604020202020204" pitchFamily="34" charset="0"/>
                        </a:rPr>
                        <a:t> </a:t>
                      </a:r>
                      <a:r>
                        <a:rPr lang="en-US" sz="1400" b="1" u="none" strike="noStrike" dirty="0" err="1">
                          <a:solidFill>
                            <a:schemeClr val="tx1"/>
                          </a:solidFill>
                          <a:effectLst/>
                          <a:latin typeface="Arial" panose="020B0604020202020204" pitchFamily="34" charset="0"/>
                          <a:cs typeface="Arial" panose="020B0604020202020204" pitchFamily="34" charset="0"/>
                        </a:rPr>
                        <a:t>kiện</a:t>
                      </a:r>
                      <a:endParaRPr lang="en-US" sz="14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5043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D1C2EF0C-B614-16E0-B17F-10D8DAD097F5}"/>
              </a:ext>
            </a:extLst>
          </p:cNvPr>
          <p:cNvSpPr>
            <a:spLocks noGrp="1"/>
          </p:cNvSpPr>
          <p:nvPr>
            <p:ph type="body" idx="1"/>
          </p:nvPr>
        </p:nvSpPr>
        <p:spPr>
          <a:xfrm>
            <a:off x="257561" y="914400"/>
            <a:ext cx="11676878" cy="5807075"/>
          </a:xfrm>
        </p:spPr>
        <p:txBody>
          <a:bodyPr anchor="t">
            <a:noAutofit/>
          </a:bodyPr>
          <a:lstStyle/>
          <a:p>
            <a:pPr marL="171450" indent="-171450" algn="just">
              <a:lnSpc>
                <a:spcPct val="150000"/>
              </a:lnSpc>
              <a:buFont typeface="Arial" panose="020B0604020202020204" pitchFamily="34" charset="0"/>
              <a:buChar char="•"/>
            </a:pPr>
            <a:r>
              <a:rPr lang="vi-VN" sz="1100" b="0" dirty="0">
                <a:latin typeface="Arial" panose="020B0604020202020204" pitchFamily="34" charset="0"/>
                <a:cs typeface="Arial" panose="020B0604020202020204" pitchFamily="34" charset="0"/>
              </a:rPr>
              <a:t>Trong tuần 14/09–18/09/2026, VNINDEX tăng 20 điểm (1,1%) lên 1.815 điểm, trong khi thanh khoản tăng 5% so với tuần trước. VN30 tăng 27 điểm (1,3%) lên 1.964 điểm với thanh khoản tăng 4%. Thị trường giảm nhẹ 0,4% ngay trong phiên đầu tuần, sau đó phục hồi liên tiếp trong những phiên sau. Phiên cuối tuần duy trì trạng thái tăng trong hầu hết phiên, có lúc tăng lên 1840 điểm. Tuy nhiên, thị trường biến động mạnh trong ATC và đóng cửa thấp nhất phiên do động thái tái cơ cấu danh mục của các quỹ ETF. Nhìn chung, giao dịch trong tuần này đã tích cực hơn tuần trước nhưng còn yếu do tâm lý chung là chờ đợi dòng vốn nâng hạng vào tuần sau. </a:t>
            </a:r>
          </a:p>
          <a:p>
            <a:pPr marL="171450" indent="-171450" algn="just">
              <a:lnSpc>
                <a:spcPct val="150000"/>
              </a:lnSpc>
              <a:buFont typeface="Arial" panose="020B0604020202020204" pitchFamily="34" charset="0"/>
              <a:buChar char="•"/>
            </a:pPr>
            <a:r>
              <a:rPr lang="vi-VN" sz="1100" b="0" dirty="0">
                <a:latin typeface="Arial" panose="020B0604020202020204" pitchFamily="34" charset="0"/>
                <a:cs typeface="Arial" panose="020B0604020202020204" pitchFamily="34" charset="0"/>
              </a:rPr>
              <a:t>Về vĩ mô thế giới, tuần này nhiều thông tin quan trọng được công bố như số liệu lạm phát của Canada, Anh, Nhật Bản và quyết định lãi suất của Fed, BoE, BoJ. Các thông tin trên đều phù hợp với dự báo của thị trường. Trong đó, Fed và BoJ cùng tăng lãi suất thêm 25 điểm %. Về diễn biến địa chính trị, giá dầu Brent giảm phiên thứ ba liên tiếp về mức 102 USD/thùng khi lo ngại gián đoạn nguồn cung hạ nhiệt. Ả Rập Xê-út đang gấp rút khôi phục đường ống Đông - Tây và tạm thời chuyển dịch một phần sản lượng xuất khẩu quay lại eo biển Hormuz để phòng ngừa rủi ro. Cùng lúc, Trung Quốc thúc ép Iran kiềm chế Houthi, còn Tổng thống Trump đang cân nhắc khả năng tái tấn công Iran trước cuộc gặp các lãnh đạo vùng Vịnh trong tuần sau. Phản ứng của thị trường trước dòng vốn nâng hạng trong tuần tới là yếu tố quyết định xu hướng ngắn hạn của chỉ số. </a:t>
            </a:r>
            <a:endParaRPr lang="en-US" sz="1100" b="0" dirty="0">
              <a:latin typeface="Arial" panose="020B0604020202020204" pitchFamily="34" charset="0"/>
              <a:cs typeface="Arial" panose="020B0604020202020204" pitchFamily="34" charset="0"/>
            </a:endParaRPr>
          </a:p>
          <a:p>
            <a:pPr marL="171450" indent="-171450" algn="just">
              <a:lnSpc>
                <a:spcPct val="150000"/>
              </a:lnSpc>
              <a:buFont typeface="Arial" panose="020B0604020202020204" pitchFamily="34" charset="0"/>
              <a:buChar char="•"/>
            </a:pPr>
            <a:r>
              <a:rPr lang="vi-VN" sz="1100" b="0" dirty="0">
                <a:latin typeface="Arial" panose="020B0604020202020204" pitchFamily="34" charset="0"/>
                <a:cs typeface="Arial" panose="020B0604020202020204" pitchFamily="34" charset="0"/>
              </a:rPr>
              <a:t>Dự báo dòng vốn ngoại sẽ giúp VNINDEX tăng trong tuần sau nhưng với xung lực yếu, dao động trong khoảng 1815 – 1870 điểm. </a:t>
            </a:r>
          </a:p>
          <a:p>
            <a:pPr marL="171450" indent="-171450" algn="just">
              <a:lnSpc>
                <a:spcPct val="150000"/>
              </a:lnSpc>
              <a:buFont typeface="Arial" panose="020B0604020202020204" pitchFamily="34" charset="0"/>
              <a:buChar char="•"/>
            </a:pPr>
            <a:endParaRPr lang="vi-VN" sz="1100" b="0" dirty="0">
              <a:latin typeface="Arial" panose="020B0604020202020204" pitchFamily="34" charset="0"/>
              <a:cs typeface="Arial" panose="020B0604020202020204" pitchFamily="34" charset="0"/>
            </a:endParaRPr>
          </a:p>
        </p:txBody>
      </p: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a:solidFill>
                  <a:srgbClr val="141ED2"/>
                </a:solidFill>
                <a:latin typeface="Arial" panose="020B0604020202020204" pitchFamily="34" charset="0"/>
                <a:ea typeface="Tahoma" panose="020B0604030504040204" pitchFamily="34" charset="0"/>
                <a:cs typeface="Arial" panose="020B0604020202020204" pitchFamily="34" charset="0"/>
              </a:rPr>
              <a:t>NHẬN ĐỊNH THỊ TRƯỜNG TUẦN 21/09/2026 – 25/09/2026</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1599392C-D4F1-51F2-AE95-76854FE8196C}"/>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8</a:t>
            </a:fld>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668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CF2F-2891-B675-F483-98B3FC69F0BA}"/>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DC42DA8-CC49-FACB-ED37-68E72B51C25C}"/>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623AE942-9D6D-ED13-84E7-98B768A2EFD3}"/>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rPr>
              <a:t>DANH MỤC CỔ PHIẾU THEO DÕI</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Text Placeholder 7">
            <a:extLst>
              <a:ext uri="{FF2B5EF4-FFF2-40B4-BE49-F238E27FC236}">
                <a16:creationId xmlns:a16="http://schemas.microsoft.com/office/drawing/2014/main" id="{24FC048D-159C-5638-DF97-BF8F03F2A6E9}"/>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A32486F2-7BBA-4111-65B4-16D1244439B6}"/>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9</a:t>
            </a:fld>
            <a:endParaRPr lang="en-US" dirty="0">
              <a:latin typeface="Arial" panose="020B0604020202020204" pitchFamily="34" charset="0"/>
              <a:cs typeface="Arial" panose="020B0604020202020204" pitchFamily="34" charset="0"/>
            </a:endParaRPr>
          </a:p>
        </p:txBody>
      </p:sp>
      <p:graphicFrame>
        <p:nvGraphicFramePr>
          <p:cNvPr id="4" name="Table 3">
            <a:extLst>
              <a:ext uri="{FF2B5EF4-FFF2-40B4-BE49-F238E27FC236}">
                <a16:creationId xmlns:a16="http://schemas.microsoft.com/office/drawing/2014/main" id="{84DA4063-CA1C-ACAF-5ED4-A58412D18276}"/>
              </a:ext>
            </a:extLst>
          </p:cNvPr>
          <p:cNvGraphicFramePr>
            <a:graphicFrameLocks noGrp="1"/>
          </p:cNvGraphicFramePr>
          <p:nvPr>
            <p:extLst>
              <p:ext uri="{D42A27DB-BD31-4B8C-83A1-F6EECF244321}">
                <p14:modId xmlns:p14="http://schemas.microsoft.com/office/powerpoint/2010/main" val="1973975439"/>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Mã</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Giá</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đóng</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cửa</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 Thay </a:t>
                      </a:r>
                      <a:r>
                        <a:rPr lang="en-US" sz="1200" b="1" i="0" u="none" strike="noStrike" dirty="0" err="1">
                          <a:solidFill>
                            <a:srgbClr val="FFFFFF"/>
                          </a:solidFill>
                          <a:effectLst/>
                          <a:latin typeface="Arial" panose="020B0604020202020204" pitchFamily="34" charset="0"/>
                          <a:cs typeface="Arial" panose="020B0604020202020204" pitchFamily="34" charset="0"/>
                        </a:rPr>
                        <a:t>đổi</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giá</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P/E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P/B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18/09/2026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tuần</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tháng</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Cao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Thấp</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cs typeface="Arial" panose="020B0604020202020204" pitchFamily="34" charset="0"/>
                        </a:rPr>
                        <a:t>Lần</a:t>
                      </a:r>
                      <a:endParaRPr lang="en-US" sz="1200" b="0" i="1"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dirty="0">
                          <a:solidFill>
                            <a:srgbClr val="002060"/>
                          </a:solidFill>
                          <a:effectLst/>
                          <a:latin typeface="Arial" panose="020B0604020202020204" pitchFamily="34" charset="0"/>
                          <a:cs typeface="Arial" panose="020B0604020202020204" pitchFamily="34" charset="0"/>
                        </a:rPr>
                        <a:t>BSR</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30.200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89,70%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126,24%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63,71%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dirty="0">
                          <a:solidFill>
                            <a:srgbClr val="002060"/>
                          </a:solidFill>
                          <a:effectLst/>
                          <a:latin typeface="Arial" panose="020B0604020202020204" pitchFamily="34" charset="0"/>
                          <a:cs typeface="Arial" panose="020B0604020202020204" pitchFamily="34" charset="0"/>
                        </a:rPr>
                        <a:t>IDC</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32.200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-38,01%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dirty="0">
                          <a:solidFill>
                            <a:srgbClr val="002060"/>
                          </a:solidFill>
                          <a:effectLst/>
                          <a:latin typeface="Arial" panose="020B0604020202020204" pitchFamily="34" charset="0"/>
                          <a:cs typeface="Arial" panose="020B0604020202020204" pitchFamily="34" charset="0"/>
                        </a:rPr>
                        <a:t>GVR</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31.900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21,76%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28,14%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-0,94%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PLX</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37.400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GAS</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88.000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21,55%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57,14%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7,29%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SSI</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21,70%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-24,04%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NVL</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31,05%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-19,23%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REE</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47.050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-19,64%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HAH</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47.950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PVS</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33.300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51,62%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9,09%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GMD</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77.300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30,40%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38,58%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3,39%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BCM</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40.250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-48,82%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-49,20%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PVD</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19.200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69,54%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11,96%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PVT</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22.800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36,30%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4,20%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BVB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11.750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-55,55%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VCI</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20.650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-37,95%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OCB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10.500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VCB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59.900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-29,72%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MSN</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68.400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-22,45%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-66,89%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-33,51%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VIB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13.600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-26,39%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HDB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27.500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4,58%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DGW</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45.500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37,25%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-16,77%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ANV</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16.000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-71,83%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-31,68%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IJC</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6.920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-48,57%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-46,08%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25</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VNM</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61.200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2,17%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3,27%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-13,89%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14,92%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-24,17%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C00000"/>
                          </a:solidFill>
                          <a:effectLst/>
                          <a:latin typeface="Arial" panose="020B0604020202020204" pitchFamily="34" charset="0"/>
                          <a:cs typeface="Arial" panose="020B0604020202020204" pitchFamily="34" charset="0"/>
                        </a:rPr>
                        <a:t>-10,09%</a:t>
                      </a: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144600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rPr>
              <a:t>DANH MỤC CỔ PHIẾU THEO DÕI</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Text Placeholder 7">
            <a:extLst>
              <a:ext uri="{FF2B5EF4-FFF2-40B4-BE49-F238E27FC236}">
                <a16:creationId xmlns:a16="http://schemas.microsoft.com/office/drawing/2014/main" id="{E33D6793-C142-1267-CD98-44105357C7FC}"/>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76F05E8C-AEDB-2F83-7F33-0859E3AE1D72}"/>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10</a:t>
            </a:fld>
            <a:endParaRPr lang="en-US" dirty="0">
              <a:latin typeface="Arial" panose="020B0604020202020204" pitchFamily="34" charset="0"/>
              <a:cs typeface="Arial" panose="020B0604020202020204" pitchFamily="34" charset="0"/>
            </a:endParaRPr>
          </a:p>
        </p:txBody>
      </p:sp>
      <p:graphicFrame>
        <p:nvGraphicFramePr>
          <p:cNvPr id="9" name="Table 8">
            <a:extLst>
              <a:ext uri="{FF2B5EF4-FFF2-40B4-BE49-F238E27FC236}">
                <a16:creationId xmlns:a16="http://schemas.microsoft.com/office/drawing/2014/main" id="{FBBA8233-D1FC-43BF-8E94-2CA691EC02E6}"/>
              </a:ext>
            </a:extLst>
          </p:cNvPr>
          <p:cNvGraphicFramePr>
            <a:graphicFrameLocks noGrp="1"/>
          </p:cNvGraphicFramePr>
          <p:nvPr>
            <p:extLst>
              <p:ext uri="{D42A27DB-BD31-4B8C-83A1-F6EECF244321}">
                <p14:modId xmlns:p14="http://schemas.microsoft.com/office/powerpoint/2010/main" val="3645440114"/>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Mã</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Giá</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đóng</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cửa</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 Thay </a:t>
                      </a:r>
                      <a:r>
                        <a:rPr lang="en-US" sz="1200" b="1" i="0" u="none" strike="noStrike" dirty="0" err="1">
                          <a:solidFill>
                            <a:srgbClr val="FFFFFF"/>
                          </a:solidFill>
                          <a:effectLst/>
                          <a:latin typeface="Arial" panose="020B0604020202020204" pitchFamily="34" charset="0"/>
                          <a:cs typeface="Arial" panose="020B0604020202020204" pitchFamily="34" charset="0"/>
                        </a:rPr>
                        <a:t>đổi</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giá</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P/E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P/B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18/09/2026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tuần</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tháng</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Cao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Thấp</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cs typeface="Arial" panose="020B0604020202020204" pitchFamily="34" charset="0"/>
                        </a:rPr>
                        <a:t>Lần</a:t>
                      </a:r>
                      <a:endParaRPr lang="en-US" sz="1200" b="0" i="1"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DPM</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22.850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GEX</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-45,91%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VPB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27.450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-6,87%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CTD</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59.000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-61,02%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-12,82%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DCM</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33.050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-15,00%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MWG</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72.500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-12,02%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DIG</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-56,05%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-80,31%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-53,26%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TCH</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11.850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95,37%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-12,07%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HPG</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-43,31%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STB</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78.200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34,83%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430,71%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76,69%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ACV</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39.740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-49,74%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SAB</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44.300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-6,15%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CTG</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30.250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-14,49%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HDG</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16.100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-33,94%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-49,48%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-45,66%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-38,96%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MCH</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143.000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39,36%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87,08%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95,89%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BID</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35.750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-29,76%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VND</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15.200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9,37%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DBC</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16.050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POW</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12.600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-68,48%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TCB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31.600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HCM</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54,85%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18,32%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VHC</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50.100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-34,88%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TPB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VRE</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-24,84%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HSG</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10.150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-0,49%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-16,22%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-31,98%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-11,95%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C00000"/>
                          </a:solidFill>
                          <a:effectLst/>
                          <a:latin typeface="Arial" panose="020B0604020202020204" pitchFamily="34" charset="0"/>
                          <a:cs typeface="Arial" panose="020B0604020202020204" pitchFamily="34" charset="0"/>
                        </a:rPr>
                        <a:t>-31,00%</a:t>
                      </a: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259033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B6B6-4C21-BB2C-0DCA-53F6BA9DC7E5}"/>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F08F11E-ED6A-DABE-4118-1E1609DB07F7}"/>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0C06C6F-9E47-2E51-CCE2-125829A70D57}"/>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rPr>
              <a:t>DANH MỤC CỔ PHIẾU THEO DÕI</a:t>
            </a:r>
            <a:endParaRPr lang="en-AU"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 name="Text Placeholder 7">
            <a:extLst>
              <a:ext uri="{FF2B5EF4-FFF2-40B4-BE49-F238E27FC236}">
                <a16:creationId xmlns:a16="http://schemas.microsoft.com/office/drawing/2014/main" id="{BE555233-330D-C30B-8BEA-B65C630650DB}"/>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0E23904C-FBE6-E09A-DD1A-2006ECC4D97B}"/>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11</a:t>
            </a:fld>
            <a:endParaRPr lang="en-US">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D6A6A812-72CB-162F-0BBD-281F70701BD7}"/>
              </a:ext>
            </a:extLst>
          </p:cNvPr>
          <p:cNvGraphicFramePr>
            <a:graphicFrameLocks noGrp="1"/>
          </p:cNvGraphicFramePr>
          <p:nvPr>
            <p:extLst>
              <p:ext uri="{D42A27DB-BD31-4B8C-83A1-F6EECF244321}">
                <p14:modId xmlns:p14="http://schemas.microsoft.com/office/powerpoint/2010/main" val="1234891218"/>
              </p:ext>
            </p:extLst>
          </p:nvPr>
        </p:nvGraphicFramePr>
        <p:xfrm>
          <a:off x="254000" y="800222"/>
          <a:ext cx="11649965" cy="479461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Mã</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Giá</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đóng</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cửa</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 Thay </a:t>
                      </a:r>
                      <a:r>
                        <a:rPr lang="en-US" sz="1200" b="1" i="0" u="none" strike="noStrike" dirty="0" err="1">
                          <a:solidFill>
                            <a:srgbClr val="FFFFFF"/>
                          </a:solidFill>
                          <a:effectLst/>
                          <a:latin typeface="Arial" panose="020B0604020202020204" pitchFamily="34" charset="0"/>
                          <a:cs typeface="Arial" panose="020B0604020202020204" pitchFamily="34" charset="0"/>
                        </a:rPr>
                        <a:t>đổi</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giá</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P/E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So </a:t>
                      </a:r>
                      <a:r>
                        <a:rPr lang="en-US" sz="1200" b="1" i="0" u="none" strike="noStrike" dirty="0" err="1">
                          <a:solidFill>
                            <a:srgbClr val="FFFFFF"/>
                          </a:solidFill>
                          <a:effectLst/>
                          <a:latin typeface="Arial" panose="020B0604020202020204" pitchFamily="34" charset="0"/>
                          <a:cs typeface="Arial" panose="020B0604020202020204" pitchFamily="34" charset="0"/>
                        </a:rPr>
                        <a:t>với</a:t>
                      </a:r>
                      <a:r>
                        <a:rPr lang="en-US" sz="1200" b="1" i="0" u="none" strike="noStrike" dirty="0">
                          <a:solidFill>
                            <a:srgbClr val="FFFFFF"/>
                          </a:solidFill>
                          <a:effectLst/>
                          <a:latin typeface="Arial" panose="020B0604020202020204" pitchFamily="34" charset="0"/>
                          <a:cs typeface="Arial" panose="020B0604020202020204" pitchFamily="34" charset="0"/>
                        </a:rPr>
                        <a:t> P/B Trung </a:t>
                      </a:r>
                      <a:r>
                        <a:rPr lang="en-US" sz="1200" b="1" i="0" u="none" strike="noStrike" dirty="0" err="1">
                          <a:solidFill>
                            <a:srgbClr val="FFFFFF"/>
                          </a:solidFill>
                          <a:effectLst/>
                          <a:latin typeface="Arial" panose="020B0604020202020204" pitchFamily="34" charset="0"/>
                          <a:cs typeface="Arial" panose="020B0604020202020204" pitchFamily="34" charset="0"/>
                        </a:rPr>
                        <a:t>vị</a:t>
                      </a:r>
                      <a:r>
                        <a:rPr lang="en-US" sz="1200" b="1" i="0" u="none" strike="noStrike" dirty="0">
                          <a:solidFill>
                            <a:srgbClr val="FFFFFF"/>
                          </a:solidFill>
                          <a:effectLst/>
                          <a:latin typeface="Arial" panose="020B0604020202020204" pitchFamily="34" charset="0"/>
                          <a:cs typeface="Arial" panose="020B0604020202020204" pitchFamily="34" charset="0"/>
                        </a:rPr>
                        <a:t> 5 </a:t>
                      </a:r>
                      <a:r>
                        <a:rPr lang="en-US" sz="1200" b="1" i="0" u="none" strike="noStrike" dirty="0" err="1">
                          <a:solidFill>
                            <a:srgbClr val="FFFFFF"/>
                          </a:solidFill>
                          <a:effectLst/>
                          <a:latin typeface="Arial" panose="020B0604020202020204" pitchFamily="34" charset="0"/>
                          <a:cs typeface="Arial" panose="020B0604020202020204" pitchFamily="34" charset="0"/>
                        </a:rPr>
                        <a:t>năm</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18/09/2026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tuần</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1 </a:t>
                      </a:r>
                      <a:r>
                        <a:rPr lang="en-US" sz="1200" b="1" i="0" u="none" strike="noStrike" dirty="0" err="1">
                          <a:solidFill>
                            <a:srgbClr val="FFFFFF"/>
                          </a:solidFill>
                          <a:effectLst/>
                          <a:latin typeface="Arial" panose="020B0604020202020204" pitchFamily="34" charset="0"/>
                          <a:cs typeface="Arial" panose="020B0604020202020204" pitchFamily="34" charset="0"/>
                        </a:rPr>
                        <a:t>tháng</a:t>
                      </a:r>
                      <a:endParaRPr lang="en-US" sz="1200" b="1" i="0"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cs typeface="Arial" panose="020B0604020202020204" pitchFamily="34" charset="0"/>
                        </a:rPr>
                        <a:t>Cao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cs typeface="Arial" panose="020B0604020202020204" pitchFamily="34" charset="0"/>
                        </a:rPr>
                        <a:t>Thấp</a:t>
                      </a:r>
                      <a:r>
                        <a:rPr lang="en-US" sz="1200" b="1" i="0" u="none" strike="noStrike" dirty="0">
                          <a:solidFill>
                            <a:srgbClr val="FFFFFF"/>
                          </a:solidFill>
                          <a:effectLst/>
                          <a:latin typeface="Arial" panose="020B0604020202020204" pitchFamily="34" charset="0"/>
                          <a:cs typeface="Arial" panose="020B0604020202020204" pitchFamily="34" charset="0"/>
                        </a:rPr>
                        <a:t> </a:t>
                      </a:r>
                      <a:r>
                        <a:rPr lang="en-US" sz="1200" b="1" i="0" u="none" strike="noStrike" dirty="0" err="1">
                          <a:solidFill>
                            <a:srgbClr val="FFFFFF"/>
                          </a:solidFill>
                          <a:effectLst/>
                          <a:latin typeface="Arial" panose="020B0604020202020204" pitchFamily="34" charset="0"/>
                          <a:cs typeface="Arial" panose="020B0604020202020204" pitchFamily="34" charset="0"/>
                        </a:rPr>
                        <a:t>nhất</a:t>
                      </a:r>
                      <a:r>
                        <a:rPr lang="en-US" sz="1200" b="1" i="0" u="none" strike="noStrike" dirty="0">
                          <a:solidFill>
                            <a:srgbClr val="FFFFFF"/>
                          </a:solidFill>
                          <a:effectLst/>
                          <a:latin typeface="Arial" panose="020B0604020202020204" pitchFamily="34" charset="0"/>
                          <a:cs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cs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cs typeface="Arial" panose="020B0604020202020204" pitchFamily="34" charset="0"/>
                        </a:rPr>
                        <a:t>Lần</a:t>
                      </a:r>
                      <a:endParaRPr lang="en-US" sz="1200" b="0" i="1" u="none" strike="noStrike" dirty="0">
                        <a:solidFill>
                          <a:srgbClr val="FFFFFF"/>
                        </a:solidFill>
                        <a:effectLst/>
                        <a:latin typeface="Arial" panose="020B0604020202020204" pitchFamily="34" charset="0"/>
                        <a:cs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cs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ACB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21.900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-9,22%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VIX</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13.150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-27,34%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-58,71%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17,51%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-20,77%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VIC</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241.200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42,22%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224,19%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106,82%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405,53%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VGC</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40.500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-25,64%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16,05%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-14,96%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HHV</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9.410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-39,38%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-45,98%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FPT</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71.700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15,27%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-37,53%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VHM</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71.000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18,92%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69,68%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39,87%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DXG</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-48,36%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6,32%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73,49%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59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PNJ</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36.750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4,85%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-56,60%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-48,46%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-53,33%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PC1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-58,94%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-21,66%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KBC</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26.000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cs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13,68%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-24,62%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PDR</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11.500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-56,27%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-32,18%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-47,70%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EIB</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16.400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312,14%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-24,34%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NLG</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24.100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-19,65%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-40,13%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CII</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12.900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-38,28%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94,5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126,43%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-7,22%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NKG</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9.890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-26,74%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-0,90%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197,05%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-31,91%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KDH</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15.800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-10,73%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-49,84%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-55,93%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10,1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-63,82%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-52,02%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VCG</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-28,29%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-42,63%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0,35%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-82,22%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-43,59%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FRT</a:t>
                      </a:r>
                    </a:p>
                  </a:txBody>
                  <a:tcPr marL="9525" marR="9525" marT="9525" marB="0" anchor="ctr">
                    <a:lnL>
                      <a:noFill/>
                    </a:lnL>
                    <a:lnR>
                      <a:noFill/>
                    </a:lnR>
                    <a:lnT>
                      <a:noFill/>
                    </a:lnT>
                    <a:lnB>
                      <a:noFill/>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130.900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-8,07%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-21,69%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24,67%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20,6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-9,74%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-29,28%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70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cs typeface="Arial" panose="020B0604020202020204" pitchFamily="34" charset="0"/>
                        </a:rPr>
                        <a:t>DGC</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002060"/>
                          </a:solidFill>
                          <a:effectLst/>
                          <a:latin typeface="Arial" panose="020B0604020202020204" pitchFamily="34" charset="0"/>
                          <a:cs typeface="Arial" panose="020B0604020202020204" pitchFamily="34" charset="0"/>
                        </a:rPr>
                        <a:t>35.950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-7,23%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3,76%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-36,69%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-54,73%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cs typeface="Arial" panose="020B0604020202020204" pitchFamily="34" charset="0"/>
                        </a:rPr>
                        <a:t>20,47%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6,4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cs typeface="Arial" panose="020B0604020202020204" pitchFamily="34" charset="0"/>
                        </a:rPr>
                        <a:t>0,9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C00000"/>
                          </a:solidFill>
                          <a:effectLst/>
                          <a:latin typeface="Arial" panose="020B0604020202020204" pitchFamily="34" charset="0"/>
                          <a:cs typeface="Arial" panose="020B0604020202020204" pitchFamily="34" charset="0"/>
                        </a:rPr>
                        <a:t>-40,99%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C00000"/>
                          </a:solidFill>
                          <a:effectLst/>
                          <a:latin typeface="Arial" panose="020B0604020202020204" pitchFamily="34" charset="0"/>
                          <a:cs typeface="Arial" panose="020B0604020202020204" pitchFamily="34" charset="0"/>
                        </a:rPr>
                        <a:t>-70,65%</a:t>
                      </a: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65309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87674</TotalTime>
  <Words>3598</Words>
  <Application>Microsoft Office PowerPoint</Application>
  <PresentationFormat>Widescreen</PresentationFormat>
  <Paragraphs>1303</Paragraphs>
  <Slides>11</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Dương Thiện Chí</dc:creator>
  <cp:lastModifiedBy>Administrator</cp:lastModifiedBy>
  <cp:revision>3873</cp:revision>
  <dcterms:created xsi:type="dcterms:W3CDTF">2020-03-18T03:42:50Z</dcterms:created>
  <dcterms:modified xsi:type="dcterms:W3CDTF">2026-09-18T17:56:03Z</dcterms:modified>
</cp:coreProperties>
</file>