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authors.xml" ContentType="application/vnd.ms-powerpoint.author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ed2feb47654770" /><Relationship Type="http://schemas.openxmlformats.org/officeDocument/2006/relationships/extended-properties" Target="/docProps/app.xml" Id="R481add6bdb03433f" /><Relationship Type="http://schemas.openxmlformats.org/officeDocument/2006/relationships/officeDocument" Target="/ppt/presentation.xml" Id="R6a5288b291a74227" /></Relationships>
</file>

<file path=ppt/presentation.xml><?xml version="1.0" encoding="utf-8"?>
<p:presentation xmlns:p="http://schemas.openxmlformats.org/presentationml/2006/main">
  <p:sldMasterIdLst>
    <p:sldMasterId xmlns:r="http://schemas.openxmlformats.org/officeDocument/2006/relationships" id="2147483648" r:id="R51b6d098a6674013"/>
  </p:sldMasterIdLst>
  <p:notesMasterIdLst>
    <p:notesMasterId xmlns:r="http://schemas.openxmlformats.org/officeDocument/2006/relationships" r:id="Raa9309f5d1064b2c"/>
  </p:notesMasterIdLst>
  <p:sldIdLst>
    <p:sldId xmlns:r="http://schemas.openxmlformats.org/officeDocument/2006/relationships" id="256" r:id="R4c2e7839075b4343"/>
    <p:sldId xmlns:r="http://schemas.openxmlformats.org/officeDocument/2006/relationships" id="257" r:id="R03ccc78f04704a08"/>
    <p:sldId xmlns:r="http://schemas.openxmlformats.org/officeDocument/2006/relationships" id="258" r:id="R9d6f51a178944508"/>
    <p:sldId xmlns:r="http://schemas.openxmlformats.org/officeDocument/2006/relationships" id="259" r:id="Rd5ca09358ae84d7f"/>
    <p:sldId xmlns:r="http://schemas.openxmlformats.org/officeDocument/2006/relationships" id="260" r:id="R1877990418df4ca8"/>
    <p:sldId xmlns:r="http://schemas.openxmlformats.org/officeDocument/2006/relationships" id="261" r:id="Reaf9fadbc83542eb"/>
    <p:sldId xmlns:r="http://schemas.openxmlformats.org/officeDocument/2006/relationships" id="262" r:id="Rb3f1d167fd9e47be"/>
    <p:sldId xmlns:r="http://schemas.openxmlformats.org/officeDocument/2006/relationships" id="263" r:id="R9a0ddc8c564e42cf"/>
    <p:sldId xmlns:r="http://schemas.openxmlformats.org/officeDocument/2006/relationships" id="264" r:id="R2b2624c6f5474db3"/>
    <p:sldId xmlns:r="http://schemas.openxmlformats.org/officeDocument/2006/relationships" id="265" r:id="R20ca744f95fe4fad"/>
    <p:sldId xmlns:r="http://schemas.openxmlformats.org/officeDocument/2006/relationships" id="266" r:id="R122e4caa79944a21"/>
  </p:sldIdLst>
  <p:sldSz cx="12192000" cy="6858000"/>
  <p:notesSz cx="6858000" cy="9144000"/>
</p:presentation>
</file>

<file path=ppt/authors.xml><?xml version="1.0" encoding="utf-8"?>
<p188:authorLst xmlns:p188="http://schemas.microsoft.com/office/powerpoint/2018/8/main">
  <p188:author id="{FC099133-360E-B7FA-5670-27D0F42E245D}" name="Tran Khanh Hien" initials="TKH" userId="4f6d85d472746b13" providerId="Windows Live"/>
</p188:authorLst>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f40861119e148ff" /><Relationship Type="http://schemas.openxmlformats.org/officeDocument/2006/relationships/slideMaster" Target="/ppt/slideMasters/slideMaster1.xml" Id="R51b6d098a6674013" /><Relationship Type="http://schemas.openxmlformats.org/officeDocument/2006/relationships/notesMaster" Target="/ppt/notesMasters/notesMaster1.xml" Id="Raa9309f5d1064b2c" /><Relationship Type="http://schemas.openxmlformats.org/officeDocument/2006/relationships/presProps" Target="/ppt/presProps.xml" Id="R50a174550d614c64" /><Relationship Type="http://schemas.openxmlformats.org/officeDocument/2006/relationships/viewProps" Target="/ppt/viewProps.xml" Id="R3be68a3cf3004145" /><Relationship Type="http://schemas.openxmlformats.org/officeDocument/2006/relationships/tableStyles" Target="/ppt/tableStyles.xml" Id="Re72700d18fa24502" /><Relationship Type="http://schemas.microsoft.com/office/2018/10/relationships/authors" Target="/ppt/authors.xml" Id="R0646d439a9934ce7" /><Relationship Type="http://schemas.openxmlformats.org/officeDocument/2006/relationships/slide" Target="/ppt/slides/slide1.xml" Id="R4c2e7839075b4343" /><Relationship Type="http://schemas.openxmlformats.org/officeDocument/2006/relationships/slide" Target="/ppt/slides/slide2.xml" Id="R03ccc78f04704a08" /><Relationship Type="http://schemas.openxmlformats.org/officeDocument/2006/relationships/slide" Target="/ppt/slides/slide3.xml" Id="R9d6f51a178944508" /><Relationship Type="http://schemas.openxmlformats.org/officeDocument/2006/relationships/slide" Target="/ppt/slides/slide4.xml" Id="Rd5ca09358ae84d7f" /><Relationship Type="http://schemas.openxmlformats.org/officeDocument/2006/relationships/slide" Target="/ppt/slides/slide5.xml" Id="R1877990418df4ca8" /><Relationship Type="http://schemas.openxmlformats.org/officeDocument/2006/relationships/slide" Target="/ppt/slides/slide6.xml" Id="Reaf9fadbc83542eb" /><Relationship Type="http://schemas.openxmlformats.org/officeDocument/2006/relationships/slide" Target="/ppt/slides/slide7.xml" Id="Rb3f1d167fd9e47be" /><Relationship Type="http://schemas.openxmlformats.org/officeDocument/2006/relationships/slide" Target="/ppt/slides/slide8.xml" Id="R9a0ddc8c564e42cf" /><Relationship Type="http://schemas.openxmlformats.org/officeDocument/2006/relationships/slide" Target="/ppt/slides/slide9.xml" Id="R2b2624c6f5474db3" /><Relationship Type="http://schemas.openxmlformats.org/officeDocument/2006/relationships/slide" Target="/ppt/slides/slide10.xml" Id="R20ca744f95fe4fad" /><Relationship Type="http://schemas.openxmlformats.org/officeDocument/2006/relationships/slide" Target="/ppt/slides/slide11.xml" Id="R122e4caa79944a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32d53d57694d4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35ead65fe74654" /><Relationship Type="http://schemas.openxmlformats.org/officeDocument/2006/relationships/notesMaster" Target="/ppt/notesMasters/notesMaster1.xml" Id="Rd713a010a01943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83edc92b254c06" /><Relationship Type="http://schemas.openxmlformats.org/officeDocument/2006/relationships/notesMaster" Target="/ppt/notesMasters/notesMaster1.xml" Id="Rcdf49b9f946640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c7f1c68c604213" /><Relationship Type="http://schemas.openxmlformats.org/officeDocument/2006/relationships/notesMaster" Target="/ppt/notesMasters/notesMaster1.xml" Id="R06227783616b42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498bf262d84215" /><Relationship Type="http://schemas.openxmlformats.org/officeDocument/2006/relationships/notesMaster" Target="/ppt/notesMasters/notesMaster1.xml" Id="Rbcb4bc72e8cb43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77cbc768134dee" /><Relationship Type="http://schemas.openxmlformats.org/officeDocument/2006/relationships/notesMaster" Target="/ppt/notesMasters/notesMaster1.xml" Id="R1e12d88a83c04f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bd1d70bfac46dc" /><Relationship Type="http://schemas.openxmlformats.org/officeDocument/2006/relationships/notesMaster" Target="/ppt/notesMasters/notesMaster1.xml" Id="R9dae026a873d41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bff0d14a3e4b7e" /><Relationship Type="http://schemas.openxmlformats.org/officeDocument/2006/relationships/notesMaster" Target="/ppt/notesMasters/notesMaster1.xml" Id="R0e26763e4daf47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0edd9cd33d47ea" /><Relationship Type="http://schemas.openxmlformats.org/officeDocument/2006/relationships/notesMaster" Target="/ppt/notesMasters/notesMaster1.xml" Id="R70f8c169487c45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532122e833435b" /><Relationship Type="http://schemas.openxmlformats.org/officeDocument/2006/relationships/notesMaster" Target="/ppt/notesMasters/notesMaster1.xml" Id="R79b6fc82f42540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0249545e5845c3" /><Relationship Type="http://schemas.openxmlformats.org/officeDocument/2006/relationships/notesMaster" Target="/ppt/notesMasters/notesMaster1.xml" Id="Rc7dc8c965fda49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44725453ec4505" /><Relationship Type="http://schemas.openxmlformats.org/officeDocument/2006/relationships/notesMaster" Target="/ppt/notesMasters/notesMaster1.xml" Id="R5bc7cea819e94f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[Sources]</a:t>
            </a:r>
          </a:p>
          <a:p xmlns:a="http://schemas.openxmlformats.org/drawingml/2006/main">
            <a:pPr>
              <a:spcBef>
                <a:spcPct val="0"/>
              </a:spcBef>
              <a:buNone/>
            </a:pPr>
            <a:r>
              <a:t>User-provided MBS weekly report template and embedded charts/images.</a:t>
            </a:r>
          </a:p>
          <a:p xmlns:a="http://schemas.openxmlformats.org/drawingml/2006/main">
            <a:pPr>
              <a:spcBef>
                <a:spcPct val="0"/>
              </a:spcBef>
              <a:buNone/>
            </a:pPr>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ed7174768747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89833213d54e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849c4c0ae1460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34c6c93ed648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cfe780c7b348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52e2e88afe4ad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4321ef60f784af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7e6a3e4af0e4fe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33f591f3eaa465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f86c9228275421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4add1856f94431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9a7be851780478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067FE3-425C-42A1-AE9C-713B30FCD9BC}"/>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37025D80-0906-4C19-AC06-9A76AB6A7904}"/>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E7AF3C1B-D018-41EC-9DD8-35E5925341D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E2D13718-5FC1-46E3-B40D-F64201D2924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81CCA59-DEEA-4AF5-801B-CFEBB52168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9BC8EBE-3F66-4987-8598-90D38544136D}"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0C136D-F0E5-4FB0-A259-AF1615BE9F4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4EF5C46-DC0F-4FBC-AB77-DDA913A52E5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D6FFCD8-937C-4E51-916A-732F9D02D1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EC6C4CC0-7ED2-4542-B745-AB8F970EE8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BBCB079-703F-49FE-8D6D-195218E91B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9BC8EBE-3F66-4987-8598-90D38544136D}"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39EDAE-A1AC-475C-8AC5-07279944F358}"/>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91F99F5-2D96-45B7-8850-A7DA2985C03A}"/>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F7647F52-6459-47BE-933F-90EFB972915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9D6588B8-AFDF-4E5A-A2B3-C521C97CDE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AA0E6209-CCC2-4ADB-93BA-9F97301A09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9BC8EBE-3F66-4987-8598-90D38544136D}"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D676752-E32E-4BC1-94E9-319BA09191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77AC5A1-EF86-4A94-B13E-88FE4CAEB268}"/>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4BAC424-233F-4707-A9A3-929522B8B4C3}"/>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5488A4CF-8853-4052-9790-D4BF4F4C8B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33FBABD7-38E1-41B2-9D10-38464EAB11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862A3BA7-5191-4FB5-92F1-5892122454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9BC8EBE-3F66-4987-8598-90D38544136D}"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C1F12C-2C78-4094-8663-B3E2980663DA}"/>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8A854BC-E799-481C-B4BE-C171195B569E}"/>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A09149-061E-4A65-B1F8-C97FF564E1D8}"/>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DEEA436-8591-49CB-BB4E-E5CBB7CB9AE2}"/>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5E4B6BF6-4AF6-49C1-AFF7-6AE37265E889}"/>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6C676EBF-F919-49B4-8002-5E87F6C8B6E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8" name="Footer Placeholder 7">
            <a:extLst xmlns:a="http://schemas.openxmlformats.org/drawingml/2006/main">
              <a:ext uri="{FF2B5EF4-FFF2-40B4-BE49-F238E27FC236}">
                <a16:creationId xmlns:a16="http://schemas.microsoft.com/office/drawing/2014/main" id="{49D3E8DC-C3E7-4CEF-86C5-0CA0AB27CFB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842717F2-7AFC-4FED-8914-FF5716E92FE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9BC8EBE-3F66-4987-8598-90D38544136D}"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D997812-7F36-4618-8CD6-7B412EE0AC2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1BC52E1C-8F86-4DE2-885F-E6E8D9FD99C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B36019F5-EEA6-46E9-BE03-694C83533B4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C9A009F0-993E-4226-90F5-107C5E1C685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9BC8EBE-3F66-4987-8598-90D38544136D}"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5C63E2D-020B-49D4-B656-C478EE3FE99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4B1771F2-13AB-47E2-B4BF-E7AFA63BC3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6F81DBCA-47AD-46FB-9033-0C38A3E42A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9BC8EBE-3F66-4987-8598-90D38544136D}"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73AD464-3DE3-4E8B-B53F-4DA17504006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E9520A3-E416-4CD8-8623-A7325A10135A}"/>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CFCDF86-E1EE-4D6D-835B-D3B1B4C7DF6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A3EFA61-F0D4-4DCB-8E76-639EF5A48A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3979A2F2-C01F-4896-8633-2983D0CFE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E4F4CFC5-BDFE-4D87-AE10-3BCCDBCF4C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9BC8EBE-3F66-4987-8598-90D38544136D}"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0394970-9460-4E10-8E98-5EA375BC0AA1}"/>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C5598D2-5974-4407-92C0-3A74B50C2F22}"/>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C4541C1B-5054-4D1E-8537-7EF09D6D20B9}"/>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D3B1C9C-90D2-4467-A13B-4F1C4431D6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1DCFB0B2-7B8B-413D-8D91-5BB3EFEBD9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BCA84AC2-9F95-4ACC-8F44-7EA0955447E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9BC8EBE-3F66-4987-8598-90D38544136D}"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07E74C-8A2E-4504-95D5-2D71303A66B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97FC900-DB26-401A-9BA4-6E5D8292AA7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0D8C0EE-4169-4AAA-BA44-A1CCB133AC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A89CE93F-CCFF-4811-AAA5-EDF17F11E8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842352F-13E5-4C33-A32D-D631932BFC0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9BC8EBE-3F66-4987-8598-90D38544136D}"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4F74B45-594F-4B68-B4D6-0436FBCF6335}"/>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062B570-CB02-4ACC-BE2E-FBC46954E287}"/>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9DCCE57-58B7-4E1A-A687-EEB98D67D3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A9695271-FB2E-44A4-9272-646D017871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65B3868-1496-4F1F-A048-FAAA02ED27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09BC8EBE-3F66-4987-8598-90D38544136D}" type="slidenum">
              <a:t>‹#›</a:t>
            </a:fld>
          </a:p>
        </p:txBody>
      </p:sp>
    </p:spTree>
  </p:cSld>
</p:sldLayout>
</file>

<file path=ppt/slideLayouts/slideLayout12.xml><?xml version="1.0" encoding="utf-8"?>
<p:sldLayout xmlns:p="http://schemas.openxmlformats.org/presentationml/2006/main" userDrawn="1">
  <p:cSld name="Title Slide 1">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CCEFE7-E86B-4C05-A627-C0902980C7B7}"/>
              </a:ext>
            </a:extLst>
          </p:cNvPr>
          <p:cNvSpPr>
            <a:spLocks xmlns:a="http://schemas.openxmlformats.org/drawingml/2006/main" noGrp="1"/>
          </p:cNvSpPr>
          <p:nvPr>
            <p:ph type="ctrTitle" idx="0"/>
          </p:nvPr>
        </p:nvSpPr>
        <p:spPr>
          <a:xfrm xmlns:a="http://schemas.openxmlformats.org/drawingml/2006/main">
            <a:off x="495568" y="1828800"/>
            <a:ext cx="7142913" cy="828000"/>
          </a:xfrm>
        </p:spPr>
        <p:txBody>
          <a:bodyPr xmlns:a="http://schemas.openxmlformats.org/drawingml/2006/main">
            <a:noAutofit/>
          </a:bodyPr>
          <a:lstStyle xmlns:a="http://schemas.openxmlformats.org/drawingml/2006/main">
            <a:lvl1pPr>
              <a:buNone/>
              <a:defRPr sz="1875">
                <a:solidFill>
                  <a:schemeClr val="accent1"/>
                </a:solidFill>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59D20CC-9AAA-48E4-92BA-FFD603BF28CF}"/>
              </a:ext>
            </a:extLst>
          </p:cNvPr>
          <p:cNvSpPr>
            <a:spLocks xmlns:a="http://schemas.openxmlformats.org/drawingml/2006/main" noGrp="1"/>
          </p:cNvSpPr>
          <p:nvPr>
            <p:ph type="subTitle" idx="1"/>
          </p:nvPr>
        </p:nvSpPr>
        <p:spPr>
          <a:xfrm xmlns:a="http://schemas.openxmlformats.org/drawingml/2006/main">
            <a:off x="495568" y="4286257"/>
            <a:ext cx="7142913" cy="1500198"/>
          </a:xfrm>
        </p:spPr>
        <p:txBody>
          <a:bodyPr xmlns:a="http://schemas.openxmlformats.org/drawingml/2006/main">
            <a:normAutofit/>
          </a:bodyPr>
          <a:lstStyle xmlns:a="http://schemas.openxmlformats.org/drawingml/2006/main">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xmlns:a="http://schemas.openxmlformats.org/drawingml/2006/main">
            <a:r>
              <a:t>Click to edit Master subtitle style</a:t>
            </a:r>
          </a:p>
        </p:txBody>
      </p:sp>
      <p:sp>
        <p:nvSpPr>
          <p:cNvPr id="14" name="Slide Number Placeholder 7">
            <a:extLst xmlns:a="http://schemas.openxmlformats.org/drawingml/2006/main">
              <a:ext uri="{FF2B5EF4-FFF2-40B4-BE49-F238E27FC236}">
                <a16:creationId xmlns:a16="http://schemas.microsoft.com/office/drawing/2014/main" id="{FE1EE6BA-B433-4A0B-B73B-B071F1CAB169}"/>
              </a:ext>
            </a:extLst>
          </p:cNvPr>
          <p:cNvSpPr>
            <a:spLocks xmlns:a="http://schemas.openxmlformats.org/drawingml/2006/main" noGrp="1"/>
          </p:cNvSpPr>
          <p:nvPr>
            <p:ph type="sldNum" idx="4"/>
          </p:nvPr>
        </p:nvSpPr>
        <p:spPr>
          <a:xfrm xmlns:a="http://schemas.openxmlformats.org/drawingml/2006/main">
            <a:off x="10629332" y="6408009"/>
            <a:ext cx="1056117" cy="252001"/>
          </a:xfrm>
          <a:prstGeom xmlns:a="http://schemas.openxmlformats.org/drawingml/2006/main" prst="rect">
            <a:avLst/>
          </a:prstGeom>
        </p:spPr>
        <p:txBody>
          <a:bodyPr xmlns:a="http://schemas.openxmlformats.org/drawingml/2006/main" vert="horz" lIns="0" tIns="0" rIns="0" bIns="0" anchor="ctr"/>
          <a:lstStyle xmlns:a="http://schemas.openxmlformats.org/drawingml/2006/main">
            <a:lvl1pPr algn="r">
              <a:buNone/>
              <a:defRPr sz="525" b="0">
                <a:solidFill>
                  <a:schemeClr val="tx2"/>
                </a:solidFill>
              </a:defRPr>
            </a:lvl1pPr>
          </a:lstStyle>
          <a:p xmlns:a="http://schemas.openxmlformats.org/drawingml/2006/main">
            <a:fld id="{95CC1D26-A9BD-4BDE-BDD9-08EDBAE96860}" type="slidenum">
              <a:rPr>
                <a:solidFill>
                  <a:srgbClr val="313131"/>
                </a:solidFill>
              </a:rPr>
              <a:t>‹#›</a:t>
            </a:fld>
          </a:p>
        </p:txBody>
      </p:sp>
      <p:sp>
        <p:nvSpPr>
          <p:cNvPr id="8" name="Text Placeholder 5">
            <a:extLst xmlns:a="http://schemas.openxmlformats.org/drawingml/2006/main">
              <a:ext uri="{FF2B5EF4-FFF2-40B4-BE49-F238E27FC236}">
                <a16:creationId xmlns:a16="http://schemas.microsoft.com/office/drawing/2014/main" id="{BCA83865-9DAB-4F9A-BA06-93CDFFA5DDBC}"/>
              </a:ext>
            </a:extLst>
          </p:cNvPr>
          <p:cNvSpPr>
            <a:spLocks xmlns:a="http://schemas.openxmlformats.org/drawingml/2006/main" noGrp="1"/>
          </p:cNvSpPr>
          <p:nvPr>
            <p:ph type="body" idx="10"/>
          </p:nvPr>
        </p:nvSpPr>
        <p:spPr>
          <a:xfrm xmlns:a="http://schemas.openxmlformats.org/drawingml/2006/main">
            <a:off x="495568" y="2663188"/>
            <a:ext cx="7142913" cy="1623070"/>
          </a:xfrm>
        </p:spPr>
        <p:txBody>
          <a:bodyPr xmlns:a="http://schemas.openxmlformats.org/drawingml/2006/main">
            <a:noAutofit/>
          </a:bodyPr>
          <a:lstStyle xmlns:a="http://schemas.openxmlformats.org/drawingml/2006/main">
            <a:lvl1pPr marL="0" indent="0">
              <a:buNone/>
              <a:defRPr sz="1875">
                <a:solidFill>
                  <a:schemeClr val="accent2"/>
                </a:solidFill>
              </a:defRPr>
            </a:lvl1pPr>
          </a:lstStyle>
          <a:p xmlns:a="http://schemas.openxmlformats.org/drawingml/2006/main">
            <a:pPr lvl="0">
              <a:buNone/>
            </a:pPr>
            <a:r>
              <a:t>Click to edit Master text styles</a:t>
            </a: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e377d8fe4d754296" /><Relationship Type="http://schemas.openxmlformats.org/officeDocument/2006/relationships/theme" Target="/ppt/slideMasters/theme/theme2.xml" Id="Rad7f97fee7dd489e" /><Relationship Type="http://schemas.openxmlformats.org/officeDocument/2006/relationships/slideLayout" Target="/ppt/slideLayouts/slideLayout1.xml" Id="R12f11c3845c04d2b" /><Relationship Type="http://schemas.openxmlformats.org/officeDocument/2006/relationships/slideLayout" Target="/ppt/slideLayouts/slideLayout2.xml" Id="R98078b7523e34b02" /><Relationship Type="http://schemas.openxmlformats.org/officeDocument/2006/relationships/slideLayout" Target="/ppt/slideLayouts/slideLayout3.xml" Id="R8eab7c9402e14814" /><Relationship Type="http://schemas.openxmlformats.org/officeDocument/2006/relationships/slideLayout" Target="/ppt/slideLayouts/slideLayout4.xml" Id="Rb08bff8e97314e16" /><Relationship Type="http://schemas.openxmlformats.org/officeDocument/2006/relationships/slideLayout" Target="/ppt/slideLayouts/slideLayout5.xml" Id="R785dd1ac313f421e" /><Relationship Type="http://schemas.openxmlformats.org/officeDocument/2006/relationships/slideLayout" Target="/ppt/slideLayouts/slideLayout6.xml" Id="R7cdef76a726e49ba" /><Relationship Type="http://schemas.openxmlformats.org/officeDocument/2006/relationships/slideLayout" Target="/ppt/slideLayouts/slideLayout7.xml" Id="Rf18df8c7dbd94ab6" /><Relationship Type="http://schemas.openxmlformats.org/officeDocument/2006/relationships/slideLayout" Target="/ppt/slideLayouts/slideLayout8.xml" Id="R0a2c5ddaeaa44ac7" /><Relationship Type="http://schemas.openxmlformats.org/officeDocument/2006/relationships/slideLayout" Target="/ppt/slideLayouts/slideLayout9.xml" Id="Re4b54b48fe994feb" /><Relationship Type="http://schemas.openxmlformats.org/officeDocument/2006/relationships/slideLayout" Target="/ppt/slideLayouts/slideLayout10.xml" Id="R77bc9ef1c4294d3d" /><Relationship Type="http://schemas.openxmlformats.org/officeDocument/2006/relationships/slideLayout" Target="/ppt/slideLayouts/slideLayout11.xml" Id="Re7b25eb3da9e47de" /><Relationship Type="http://schemas.openxmlformats.org/officeDocument/2006/relationships/slideLayout" Target="/ppt/slideLayouts/slideLayout12.xml" Id="R7847c9b63c704bf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663AF56-BF11-4CA7-B503-D1FFEC1E584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71B6D12-3677-496D-A39F-DB5E2B4635A1}"/>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7FD4FF2-8384-48B8-88EE-7D7DF329BF50}"/>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DC26BF04-42FB-45DF-8C3C-1E250DAF7BCE}"/>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4368EF0-3E78-4DBB-9DA0-2B1EED3E8F31}"/>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09BC8EBE-3F66-4987-8598-90D38544136D}" type="slidenum">
              <a:t>‹#›</a:t>
            </a:fld>
          </a:p>
        </p:txBody>
      </p:sp>
      <p:pic>
        <p:nvPicPr>
          <p:cNvPr id="13" name="Picture 6"/>
          <p:cNvPicPr>
            <a:picLocks xmlns:a="http://schemas.openxmlformats.org/drawingml/2006/main" noChangeAspect="1"/>
          </p:cNvPicPr>
          <p:nvPr/>
        </p:nvPicPr>
        <p:blipFill>
          <a:blip xmlns:r="http://schemas.openxmlformats.org/officeDocument/2006/relationships" xmlns:a="http://schemas.openxmlformats.org/drawingml/2006/main" r:embed="Re377d8fe4d754296"/>
          <a:srcRect xmlns:a="http://schemas.openxmlformats.org/drawingml/2006/main" l="0" t="0" r="0" b="0"/>
          <a:stretch xmlns:a="http://schemas.openxmlformats.org/drawingml/2006/main"/>
        </p:blipFill>
        <p:spPr>
          <a:xfrm xmlns:a="http://schemas.openxmlformats.org/drawingml/2006/main">
            <a:off x="10296663" y="106860"/>
            <a:ext cx="1325339" cy="441780"/>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f11c3845c04d2b"/>
    <p:sldLayoutId xmlns:r="http://schemas.openxmlformats.org/officeDocument/2006/relationships" id="2147483650" r:id="R98078b7523e34b02"/>
    <p:sldLayoutId xmlns:r="http://schemas.openxmlformats.org/officeDocument/2006/relationships" id="2147483651" r:id="R8eab7c9402e14814"/>
    <p:sldLayoutId xmlns:r="http://schemas.openxmlformats.org/officeDocument/2006/relationships" id="2147483652" r:id="Rb08bff8e97314e16"/>
    <p:sldLayoutId xmlns:r="http://schemas.openxmlformats.org/officeDocument/2006/relationships" id="2147483653" r:id="R785dd1ac313f421e"/>
    <p:sldLayoutId xmlns:r="http://schemas.openxmlformats.org/officeDocument/2006/relationships" id="2147483654" r:id="R7cdef76a726e49ba"/>
    <p:sldLayoutId xmlns:r="http://schemas.openxmlformats.org/officeDocument/2006/relationships" id="2147483655" r:id="Rf18df8c7dbd94ab6"/>
    <p:sldLayoutId xmlns:r="http://schemas.openxmlformats.org/officeDocument/2006/relationships" id="2147483656" r:id="R0a2c5ddaeaa44ac7"/>
    <p:sldLayoutId xmlns:r="http://schemas.openxmlformats.org/officeDocument/2006/relationships" id="2147483657" r:id="Re4b54b48fe994feb"/>
    <p:sldLayoutId xmlns:r="http://schemas.openxmlformats.org/officeDocument/2006/relationships" id="2147483658" r:id="R77bc9ef1c4294d3d"/>
    <p:sldLayoutId xmlns:r="http://schemas.openxmlformats.org/officeDocument/2006/relationships" id="2147483659" r:id="Re7b25eb3da9e47de"/>
    <p:sldLayoutId xmlns:r="http://schemas.openxmlformats.org/officeDocument/2006/relationships" id="2147483660" r:id="R7847c9b63c704bfa"/>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73914e1205a64d3c" /><Relationship Type="http://schemas.openxmlformats.org/officeDocument/2006/relationships/image" Target="/ppt/media/image2.png" Id="Ra75bd1d54cd849a0" /><Relationship Type="http://schemas.openxmlformats.org/officeDocument/2006/relationships/notesSlide" Target="/ppt/notesSlides/notesSlide1.xml" Id="R283310a12d7543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05bab7c43a4fec" /><Relationship Type="http://schemas.openxmlformats.org/officeDocument/2006/relationships/notesSlide" Target="/ppt/notesSlides/notesSlide2.xml" Id="R7b92231ba21a4f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3507504a07594915" /><Relationship Type="http://schemas.openxmlformats.org/officeDocument/2006/relationships/image" Target="/ppt/media/image3.png" Id="Rda17db11375e4764" /><Relationship Type="http://schemas.openxmlformats.org/officeDocument/2006/relationships/chart" Target="/ppt/slides/charts/chart1.xml" Id="Rc36c16f1965646d9" /><Relationship Type="http://schemas.openxmlformats.org/officeDocument/2006/relationships/notesSlide" Target="/ppt/notesSlides/notesSlide3.xml" Id="R617d9703d2fe4c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c5c45a45af8f4e24" /><Relationship Type="http://schemas.openxmlformats.org/officeDocument/2006/relationships/notesSlide" Target="/ppt/notesSlides/notesSlide4.xml" Id="Rb3e6fce12eea46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25fed01c6f794275" /><Relationship Type="http://schemas.openxmlformats.org/officeDocument/2006/relationships/notesSlide" Target="/ppt/notesSlides/notesSlide5.xml" Id="Ra255ab197fc141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d80564afb39b4eaf" /><Relationship Type="http://schemas.openxmlformats.org/officeDocument/2006/relationships/notesSlide" Target="/ppt/notesSlides/notesSlide6.xml" Id="R96cc1d92897545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5.xml" Id="Rd10425cd8de94d60" /><Relationship Type="http://schemas.openxmlformats.org/officeDocument/2006/relationships/notesSlide" Target="/ppt/notesSlides/notesSlide7.xml" Id="R5bab14a39a7140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d046d6e8e33f4ed8" /><Relationship Type="http://schemas.openxmlformats.org/officeDocument/2006/relationships/notesSlide" Target="/ppt/notesSlides/notesSlide8.xml" Id="Ra0792a2e84f24e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4.xml" Id="Rfb97ee7f673846b0" /><Relationship Type="http://schemas.openxmlformats.org/officeDocument/2006/relationships/notesSlide" Target="/ppt/notesSlides/notesSlide9.xml" Id="R4c0a5896cac24d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69d0d7ca5353423b" /><Relationship Type="http://schemas.openxmlformats.org/officeDocument/2006/relationships/notesSlide" Target="/ppt/notesSlides/notesSlide10.xml" Id="Ra5f62bf871aa447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4.xml" Id="R75bdf44b09cd46cc" /><Relationship Type="http://schemas.openxmlformats.org/officeDocument/2006/relationships/notesSlide" Target="/ppt/notesSlides/notesSlide11.xml" Id="Rf72c22679b2345de" /></Relationships>
</file>

<file path=ppt/slides/charts/chart1.xml><?xml version="1.0" encoding="utf-8"?>
<c:chartSpace xmlns:mc="http://schemas.openxmlformats.org/markup-compatibility/2006" xmlns:c14="http://schemas.microsoft.com/office/drawing/2007/8/2/chart" xmlns:c="http://schemas.openxmlformats.org/drawingml/2006/chart" mc:Ignorable="c14">
  <c:lang val="en-US"/>
  <c:roundedCorners val="1"/>
  <mc:AlternateContent>
    <mc:Choice Requires="c14">
      <c14:style val="102"/>
    </mc:Choice>
    <mc:Fallback>
      <c:style val="2"/>
    </mc:Fallback>
  </mc:AlternateContent>
  <c:chart>
    <c:autoTitleDeleted val="1"/>
    <c:plotArea>
      <c:lineChart>
        <c:grouping val="standard"/>
        <c:varyColors val="0"/>
        <c:ser>
          <c:idx val="0"/>
          <c:order val="0"/>
          <c:tx>
            <c:v>VNINDEX</c:v>
          </c:tx>
          <c:spPr>
            <a:ln xmlns:a="http://schemas.openxmlformats.org/drawingml/2006/main">
              <a:prstDash val="solid"/>
            </a:ln>
          </c:spPr>
          <c:marker>
            <c:symbol val="none"/>
          </c:marker>
          <c:cat>
            <c:numRef>
              <c:f>Sheet1!$A$2:$A$383</c:f>
              <c:numCache>
                <c:formatCode>m/d/yy</c:formatCode>
                <c:ptCount val="382"/>
                <c:pt idx="1">
                  <c:v>46234</c:v>
                </c:pt>
                <c:pt idx="2">
                  <c:v>46233</c:v>
                </c:pt>
                <c:pt idx="3">
                  <c:v>46232</c:v>
                </c:pt>
                <c:pt idx="4">
                  <c:v>46231</c:v>
                </c:pt>
                <c:pt idx="5">
                  <c:v>46230</c:v>
                </c:pt>
                <c:pt idx="6">
                  <c:v>46227</c:v>
                </c:pt>
                <c:pt idx="7">
                  <c:v>46226</c:v>
                </c:pt>
                <c:pt idx="8">
                  <c:v>46225</c:v>
                </c:pt>
                <c:pt idx="9">
                  <c:v>46224</c:v>
                </c:pt>
                <c:pt idx="10">
                  <c:v>46223</c:v>
                </c:pt>
                <c:pt idx="11">
                  <c:v>46220</c:v>
                </c:pt>
                <c:pt idx="12">
                  <c:v>46219</c:v>
                </c:pt>
                <c:pt idx="13">
                  <c:v>46218</c:v>
                </c:pt>
                <c:pt idx="14">
                  <c:v>46217</c:v>
                </c:pt>
                <c:pt idx="15">
                  <c:v>46216</c:v>
                </c:pt>
                <c:pt idx="16">
                  <c:v>46213</c:v>
                </c:pt>
                <c:pt idx="17">
                  <c:v>46212</c:v>
                </c:pt>
                <c:pt idx="18">
                  <c:v>46211</c:v>
                </c:pt>
                <c:pt idx="19">
                  <c:v>46210</c:v>
                </c:pt>
                <c:pt idx="20">
                  <c:v>46209</c:v>
                </c:pt>
                <c:pt idx="21">
                  <c:v>46206</c:v>
                </c:pt>
                <c:pt idx="22">
                  <c:v>46205</c:v>
                </c:pt>
                <c:pt idx="23">
                  <c:v>46204</c:v>
                </c:pt>
                <c:pt idx="24">
                  <c:v>46203</c:v>
                </c:pt>
                <c:pt idx="25">
                  <c:v>46202</c:v>
                </c:pt>
                <c:pt idx="26">
                  <c:v>46199</c:v>
                </c:pt>
                <c:pt idx="27">
                  <c:v>46198</c:v>
                </c:pt>
                <c:pt idx="28">
                  <c:v>46197</c:v>
                </c:pt>
                <c:pt idx="29">
                  <c:v>46196</c:v>
                </c:pt>
                <c:pt idx="30">
                  <c:v>46195</c:v>
                </c:pt>
                <c:pt idx="31">
                  <c:v>46192</c:v>
                </c:pt>
                <c:pt idx="32">
                  <c:v>46191</c:v>
                </c:pt>
                <c:pt idx="33">
                  <c:v>46190</c:v>
                </c:pt>
                <c:pt idx="34">
                  <c:v>46189</c:v>
                </c:pt>
                <c:pt idx="35">
                  <c:v>46188</c:v>
                </c:pt>
                <c:pt idx="36">
                  <c:v>46185</c:v>
                </c:pt>
                <c:pt idx="37">
                  <c:v>46184</c:v>
                </c:pt>
                <c:pt idx="38">
                  <c:v>46183</c:v>
                </c:pt>
                <c:pt idx="39">
                  <c:v>46182</c:v>
                </c:pt>
                <c:pt idx="40">
                  <c:v>46181</c:v>
                </c:pt>
                <c:pt idx="41">
                  <c:v>46178</c:v>
                </c:pt>
                <c:pt idx="42">
                  <c:v>46177</c:v>
                </c:pt>
                <c:pt idx="43">
                  <c:v>46176</c:v>
                </c:pt>
                <c:pt idx="44">
                  <c:v>46175</c:v>
                </c:pt>
                <c:pt idx="45">
                  <c:v>46174</c:v>
                </c:pt>
                <c:pt idx="46">
                  <c:v>46171</c:v>
                </c:pt>
                <c:pt idx="47">
                  <c:v>46170</c:v>
                </c:pt>
                <c:pt idx="48">
                  <c:v>46169</c:v>
                </c:pt>
                <c:pt idx="49">
                  <c:v>46168</c:v>
                </c:pt>
                <c:pt idx="50">
                  <c:v>46167</c:v>
                </c:pt>
                <c:pt idx="51">
                  <c:v>46164</c:v>
                </c:pt>
                <c:pt idx="52">
                  <c:v>46163</c:v>
                </c:pt>
                <c:pt idx="53">
                  <c:v>46162</c:v>
                </c:pt>
                <c:pt idx="54">
                  <c:v>46161</c:v>
                </c:pt>
                <c:pt idx="55">
                  <c:v>46160</c:v>
                </c:pt>
                <c:pt idx="56">
                  <c:v>46157</c:v>
                </c:pt>
                <c:pt idx="57">
                  <c:v>46156</c:v>
                </c:pt>
                <c:pt idx="58">
                  <c:v>46155</c:v>
                </c:pt>
                <c:pt idx="59">
                  <c:v>46154</c:v>
                </c:pt>
                <c:pt idx="60">
                  <c:v>46153</c:v>
                </c:pt>
                <c:pt idx="61">
                  <c:v>46150</c:v>
                </c:pt>
                <c:pt idx="62">
                  <c:v>46149</c:v>
                </c:pt>
                <c:pt idx="63">
                  <c:v>46148</c:v>
                </c:pt>
                <c:pt idx="64">
                  <c:v>46147</c:v>
                </c:pt>
                <c:pt idx="65">
                  <c:v>46146</c:v>
                </c:pt>
                <c:pt idx="66">
                  <c:v>46141</c:v>
                </c:pt>
                <c:pt idx="67">
                  <c:v>46140</c:v>
                </c:pt>
                <c:pt idx="68">
                  <c:v>46136</c:v>
                </c:pt>
                <c:pt idx="69">
                  <c:v>46135</c:v>
                </c:pt>
                <c:pt idx="70">
                  <c:v>46134</c:v>
                </c:pt>
                <c:pt idx="71">
                  <c:v>46133</c:v>
                </c:pt>
                <c:pt idx="72">
                  <c:v>46132</c:v>
                </c:pt>
                <c:pt idx="73">
                  <c:v>46129</c:v>
                </c:pt>
                <c:pt idx="74">
                  <c:v>46128</c:v>
                </c:pt>
                <c:pt idx="75">
                  <c:v>46127</c:v>
                </c:pt>
                <c:pt idx="76">
                  <c:v>46126</c:v>
                </c:pt>
                <c:pt idx="77">
                  <c:v>46125</c:v>
                </c:pt>
                <c:pt idx="78">
                  <c:v>46122</c:v>
                </c:pt>
                <c:pt idx="79">
                  <c:v>46121</c:v>
                </c:pt>
                <c:pt idx="80">
                  <c:v>46120</c:v>
                </c:pt>
                <c:pt idx="81">
                  <c:v>46119</c:v>
                </c:pt>
                <c:pt idx="82">
                  <c:v>46118</c:v>
                </c:pt>
                <c:pt idx="83">
                  <c:v>46115</c:v>
                </c:pt>
                <c:pt idx="84">
                  <c:v>46114</c:v>
                </c:pt>
                <c:pt idx="85">
                  <c:v>46113</c:v>
                </c:pt>
                <c:pt idx="86">
                  <c:v>46112</c:v>
                </c:pt>
                <c:pt idx="87">
                  <c:v>46111</c:v>
                </c:pt>
                <c:pt idx="88">
                  <c:v>46108</c:v>
                </c:pt>
                <c:pt idx="89">
                  <c:v>46107</c:v>
                </c:pt>
                <c:pt idx="90">
                  <c:v>46106</c:v>
                </c:pt>
                <c:pt idx="91">
                  <c:v>46105</c:v>
                </c:pt>
                <c:pt idx="92">
                  <c:v>46104</c:v>
                </c:pt>
                <c:pt idx="93">
                  <c:v>46101</c:v>
                </c:pt>
                <c:pt idx="94">
                  <c:v>46100</c:v>
                </c:pt>
                <c:pt idx="95">
                  <c:v>46099</c:v>
                </c:pt>
                <c:pt idx="96">
                  <c:v>46098</c:v>
                </c:pt>
                <c:pt idx="97">
                  <c:v>46097</c:v>
                </c:pt>
                <c:pt idx="98">
                  <c:v>46094</c:v>
                </c:pt>
                <c:pt idx="99">
                  <c:v>46093</c:v>
                </c:pt>
                <c:pt idx="100">
                  <c:v>46092</c:v>
                </c:pt>
                <c:pt idx="101">
                  <c:v>46091</c:v>
                </c:pt>
                <c:pt idx="102">
                  <c:v>46090</c:v>
                </c:pt>
                <c:pt idx="103">
                  <c:v>46087</c:v>
                </c:pt>
                <c:pt idx="104">
                  <c:v>46086</c:v>
                </c:pt>
                <c:pt idx="105">
                  <c:v>46085</c:v>
                </c:pt>
                <c:pt idx="106">
                  <c:v>46084</c:v>
                </c:pt>
                <c:pt idx="107">
                  <c:v>46083</c:v>
                </c:pt>
                <c:pt idx="108">
                  <c:v>46080</c:v>
                </c:pt>
                <c:pt idx="109">
                  <c:v>46079</c:v>
                </c:pt>
                <c:pt idx="110">
                  <c:v>46078</c:v>
                </c:pt>
                <c:pt idx="111">
                  <c:v>46077</c:v>
                </c:pt>
                <c:pt idx="112">
                  <c:v>46076</c:v>
                </c:pt>
                <c:pt idx="113">
                  <c:v>46066</c:v>
                </c:pt>
                <c:pt idx="114">
                  <c:v>46065</c:v>
                </c:pt>
                <c:pt idx="115">
                  <c:v>46064</c:v>
                </c:pt>
                <c:pt idx="116">
                  <c:v>46063</c:v>
                </c:pt>
                <c:pt idx="117">
                  <c:v>46062</c:v>
                </c:pt>
                <c:pt idx="118">
                  <c:v>46059</c:v>
                </c:pt>
                <c:pt idx="119">
                  <c:v>46058</c:v>
                </c:pt>
                <c:pt idx="120">
                  <c:v>46057</c:v>
                </c:pt>
                <c:pt idx="121">
                  <c:v>46056</c:v>
                </c:pt>
                <c:pt idx="122">
                  <c:v>46055</c:v>
                </c:pt>
                <c:pt idx="123">
                  <c:v>46052</c:v>
                </c:pt>
                <c:pt idx="124">
                  <c:v>46051</c:v>
                </c:pt>
                <c:pt idx="125">
                  <c:v>46050</c:v>
                </c:pt>
                <c:pt idx="126">
                  <c:v>46049</c:v>
                </c:pt>
                <c:pt idx="127">
                  <c:v>46048</c:v>
                </c:pt>
                <c:pt idx="128">
                  <c:v>46045</c:v>
                </c:pt>
                <c:pt idx="129">
                  <c:v>46044</c:v>
                </c:pt>
                <c:pt idx="130">
                  <c:v>46043</c:v>
                </c:pt>
                <c:pt idx="131">
                  <c:v>46042</c:v>
                </c:pt>
                <c:pt idx="132">
                  <c:v>46041</c:v>
                </c:pt>
                <c:pt idx="133">
                  <c:v>46038</c:v>
                </c:pt>
                <c:pt idx="134">
                  <c:v>46037</c:v>
                </c:pt>
                <c:pt idx="135">
                  <c:v>46036</c:v>
                </c:pt>
                <c:pt idx="136">
                  <c:v>46035</c:v>
                </c:pt>
                <c:pt idx="137">
                  <c:v>46034</c:v>
                </c:pt>
                <c:pt idx="138">
                  <c:v>46031</c:v>
                </c:pt>
                <c:pt idx="139">
                  <c:v>46030</c:v>
                </c:pt>
                <c:pt idx="140">
                  <c:v>46029</c:v>
                </c:pt>
                <c:pt idx="141">
                  <c:v>46028</c:v>
                </c:pt>
                <c:pt idx="142">
                  <c:v>46027</c:v>
                </c:pt>
                <c:pt idx="143">
                  <c:v>46022</c:v>
                </c:pt>
                <c:pt idx="144">
                  <c:v>46021</c:v>
                </c:pt>
                <c:pt idx="145">
                  <c:v>46020</c:v>
                </c:pt>
                <c:pt idx="146">
                  <c:v>46017</c:v>
                </c:pt>
                <c:pt idx="147">
                  <c:v>46016</c:v>
                </c:pt>
                <c:pt idx="148">
                  <c:v>46015</c:v>
                </c:pt>
                <c:pt idx="149">
                  <c:v>46014</c:v>
                </c:pt>
                <c:pt idx="150">
                  <c:v>46013</c:v>
                </c:pt>
                <c:pt idx="151">
                  <c:v>46010</c:v>
                </c:pt>
                <c:pt idx="152">
                  <c:v>46009</c:v>
                </c:pt>
                <c:pt idx="153">
                  <c:v>46008</c:v>
                </c:pt>
                <c:pt idx="154">
                  <c:v>46007</c:v>
                </c:pt>
                <c:pt idx="155">
                  <c:v>46006</c:v>
                </c:pt>
                <c:pt idx="156">
                  <c:v>46003</c:v>
                </c:pt>
                <c:pt idx="157">
                  <c:v>46002</c:v>
                </c:pt>
                <c:pt idx="158">
                  <c:v>46001</c:v>
                </c:pt>
                <c:pt idx="159">
                  <c:v>46000</c:v>
                </c:pt>
                <c:pt idx="160">
                  <c:v>45999</c:v>
                </c:pt>
                <c:pt idx="161">
                  <c:v>45996</c:v>
                </c:pt>
                <c:pt idx="162">
                  <c:v>45995</c:v>
                </c:pt>
                <c:pt idx="163">
                  <c:v>45994</c:v>
                </c:pt>
                <c:pt idx="164">
                  <c:v>45993</c:v>
                </c:pt>
                <c:pt idx="165">
                  <c:v>45992</c:v>
                </c:pt>
                <c:pt idx="166">
                  <c:v>45989</c:v>
                </c:pt>
                <c:pt idx="167">
                  <c:v>45988</c:v>
                </c:pt>
                <c:pt idx="168">
                  <c:v>45987</c:v>
                </c:pt>
                <c:pt idx="169">
                  <c:v>45986</c:v>
                </c:pt>
                <c:pt idx="170">
                  <c:v>45985</c:v>
                </c:pt>
                <c:pt idx="171">
                  <c:v>45982</c:v>
                </c:pt>
                <c:pt idx="172">
                  <c:v>45981</c:v>
                </c:pt>
                <c:pt idx="173">
                  <c:v>45980</c:v>
                </c:pt>
                <c:pt idx="174">
                  <c:v>45979</c:v>
                </c:pt>
                <c:pt idx="175">
                  <c:v>45978</c:v>
                </c:pt>
                <c:pt idx="176">
                  <c:v>45975</c:v>
                </c:pt>
                <c:pt idx="177">
                  <c:v>45974</c:v>
                </c:pt>
                <c:pt idx="178">
                  <c:v>45973</c:v>
                </c:pt>
                <c:pt idx="179">
                  <c:v>45972</c:v>
                </c:pt>
                <c:pt idx="180">
                  <c:v>45971</c:v>
                </c:pt>
                <c:pt idx="181">
                  <c:v>45968</c:v>
                </c:pt>
                <c:pt idx="182">
                  <c:v>45967</c:v>
                </c:pt>
                <c:pt idx="183">
                  <c:v>45966</c:v>
                </c:pt>
                <c:pt idx="184">
                  <c:v>45965</c:v>
                </c:pt>
                <c:pt idx="185">
                  <c:v>45964</c:v>
                </c:pt>
                <c:pt idx="186">
                  <c:v>45961</c:v>
                </c:pt>
                <c:pt idx="187">
                  <c:v>45960</c:v>
                </c:pt>
                <c:pt idx="188">
                  <c:v>45959</c:v>
                </c:pt>
                <c:pt idx="189">
                  <c:v>45958</c:v>
                </c:pt>
                <c:pt idx="190">
                  <c:v>45957</c:v>
                </c:pt>
                <c:pt idx="191">
                  <c:v>45954</c:v>
                </c:pt>
                <c:pt idx="192">
                  <c:v>45953</c:v>
                </c:pt>
                <c:pt idx="193">
                  <c:v>45952</c:v>
                </c:pt>
                <c:pt idx="194">
                  <c:v>45951</c:v>
                </c:pt>
                <c:pt idx="195">
                  <c:v>45950</c:v>
                </c:pt>
                <c:pt idx="196">
                  <c:v>45947</c:v>
                </c:pt>
                <c:pt idx="197">
                  <c:v>45946</c:v>
                </c:pt>
                <c:pt idx="198">
                  <c:v>45945</c:v>
                </c:pt>
                <c:pt idx="199">
                  <c:v>45944</c:v>
                </c:pt>
                <c:pt idx="200">
                  <c:v>45943</c:v>
                </c:pt>
                <c:pt idx="201">
                  <c:v>45940</c:v>
                </c:pt>
                <c:pt idx="202">
                  <c:v>45939</c:v>
                </c:pt>
                <c:pt idx="203">
                  <c:v>45938</c:v>
                </c:pt>
                <c:pt idx="204">
                  <c:v>45937</c:v>
                </c:pt>
                <c:pt idx="205">
                  <c:v>45936</c:v>
                </c:pt>
                <c:pt idx="206">
                  <c:v>45933</c:v>
                </c:pt>
                <c:pt idx="207">
                  <c:v>45932</c:v>
                </c:pt>
                <c:pt idx="208">
                  <c:v>45931</c:v>
                </c:pt>
                <c:pt idx="209">
                  <c:v>45930</c:v>
                </c:pt>
                <c:pt idx="210">
                  <c:v>45929</c:v>
                </c:pt>
                <c:pt idx="211">
                  <c:v>45926</c:v>
                </c:pt>
                <c:pt idx="212">
                  <c:v>45925</c:v>
                </c:pt>
                <c:pt idx="213">
                  <c:v>45924</c:v>
                </c:pt>
                <c:pt idx="214">
                  <c:v>45923</c:v>
                </c:pt>
                <c:pt idx="215">
                  <c:v>45922</c:v>
                </c:pt>
                <c:pt idx="216">
                  <c:v>45919</c:v>
                </c:pt>
                <c:pt idx="217">
                  <c:v>45918</c:v>
                </c:pt>
                <c:pt idx="218">
                  <c:v>45917</c:v>
                </c:pt>
                <c:pt idx="219">
                  <c:v>45916</c:v>
                </c:pt>
                <c:pt idx="220">
                  <c:v>45915</c:v>
                </c:pt>
                <c:pt idx="221">
                  <c:v>45912</c:v>
                </c:pt>
                <c:pt idx="222">
                  <c:v>45911</c:v>
                </c:pt>
                <c:pt idx="223">
                  <c:v>45910</c:v>
                </c:pt>
                <c:pt idx="224">
                  <c:v>45909</c:v>
                </c:pt>
                <c:pt idx="225">
                  <c:v>45908</c:v>
                </c:pt>
                <c:pt idx="226">
                  <c:v>45905</c:v>
                </c:pt>
                <c:pt idx="227">
                  <c:v>45904</c:v>
                </c:pt>
                <c:pt idx="228">
                  <c:v>45903</c:v>
                </c:pt>
                <c:pt idx="229">
                  <c:v>45898</c:v>
                </c:pt>
                <c:pt idx="230">
                  <c:v>45897</c:v>
                </c:pt>
                <c:pt idx="231">
                  <c:v>45896</c:v>
                </c:pt>
                <c:pt idx="232">
                  <c:v>45895</c:v>
                </c:pt>
                <c:pt idx="233">
                  <c:v>45894</c:v>
                </c:pt>
                <c:pt idx="234">
                  <c:v>45891</c:v>
                </c:pt>
                <c:pt idx="235">
                  <c:v>45890</c:v>
                </c:pt>
                <c:pt idx="236">
                  <c:v>45889</c:v>
                </c:pt>
                <c:pt idx="237">
                  <c:v>45888</c:v>
                </c:pt>
                <c:pt idx="238">
                  <c:v>45887</c:v>
                </c:pt>
                <c:pt idx="239">
                  <c:v>45884</c:v>
                </c:pt>
                <c:pt idx="240">
                  <c:v>45883</c:v>
                </c:pt>
                <c:pt idx="241">
                  <c:v>45882</c:v>
                </c:pt>
                <c:pt idx="242">
                  <c:v>45881</c:v>
                </c:pt>
                <c:pt idx="243">
                  <c:v>45880</c:v>
                </c:pt>
                <c:pt idx="244">
                  <c:v>45877</c:v>
                </c:pt>
                <c:pt idx="245">
                  <c:v>45876</c:v>
                </c:pt>
                <c:pt idx="246">
                  <c:v>45875</c:v>
                </c:pt>
                <c:pt idx="247">
                  <c:v>45874</c:v>
                </c:pt>
                <c:pt idx="248">
                  <c:v>45873</c:v>
                </c:pt>
                <c:pt idx="249">
                  <c:v>45870</c:v>
                </c:pt>
                <c:pt idx="250">
                  <c:v>45869</c:v>
                </c:pt>
                <c:pt idx="251">
                  <c:v>45868</c:v>
                </c:pt>
                <c:pt idx="252">
                  <c:v>45867</c:v>
                </c:pt>
                <c:pt idx="253">
                  <c:v>45866</c:v>
                </c:pt>
                <c:pt idx="254">
                  <c:v>45863</c:v>
                </c:pt>
                <c:pt idx="255">
                  <c:v>45862</c:v>
                </c:pt>
                <c:pt idx="256">
                  <c:v>45861</c:v>
                </c:pt>
                <c:pt idx="257">
                  <c:v>45860</c:v>
                </c:pt>
                <c:pt idx="258">
                  <c:v>45859</c:v>
                </c:pt>
                <c:pt idx="259">
                  <c:v>45856</c:v>
                </c:pt>
                <c:pt idx="260">
                  <c:v>45855</c:v>
                </c:pt>
                <c:pt idx="261">
                  <c:v>45854</c:v>
                </c:pt>
                <c:pt idx="262">
                  <c:v>45853</c:v>
                </c:pt>
                <c:pt idx="263">
                  <c:v>45852</c:v>
                </c:pt>
                <c:pt idx="264">
                  <c:v>45849</c:v>
                </c:pt>
                <c:pt idx="265">
                  <c:v>45848</c:v>
                </c:pt>
                <c:pt idx="266">
                  <c:v>45847</c:v>
                </c:pt>
                <c:pt idx="267">
                  <c:v>45846</c:v>
                </c:pt>
                <c:pt idx="268">
                  <c:v>45845</c:v>
                </c:pt>
                <c:pt idx="269">
                  <c:v>45842</c:v>
                </c:pt>
                <c:pt idx="270">
                  <c:v>45841</c:v>
                </c:pt>
                <c:pt idx="271">
                  <c:v>45840</c:v>
                </c:pt>
                <c:pt idx="272">
                  <c:v>45839</c:v>
                </c:pt>
                <c:pt idx="273">
                  <c:v>45838</c:v>
                </c:pt>
                <c:pt idx="274">
                  <c:v>45835</c:v>
                </c:pt>
                <c:pt idx="275">
                  <c:v>45834</c:v>
                </c:pt>
                <c:pt idx="276">
                  <c:v>45833</c:v>
                </c:pt>
                <c:pt idx="277">
                  <c:v>45832</c:v>
                </c:pt>
                <c:pt idx="278">
                  <c:v>45831</c:v>
                </c:pt>
                <c:pt idx="279">
                  <c:v>45828</c:v>
                </c:pt>
                <c:pt idx="280">
                  <c:v>45827</c:v>
                </c:pt>
                <c:pt idx="281">
                  <c:v>45826</c:v>
                </c:pt>
                <c:pt idx="282">
                  <c:v>45825</c:v>
                </c:pt>
                <c:pt idx="283">
                  <c:v>45824</c:v>
                </c:pt>
                <c:pt idx="284">
                  <c:v>45821</c:v>
                </c:pt>
                <c:pt idx="285">
                  <c:v>45820</c:v>
                </c:pt>
                <c:pt idx="286">
                  <c:v>45819</c:v>
                </c:pt>
                <c:pt idx="287">
                  <c:v>45818</c:v>
                </c:pt>
                <c:pt idx="288">
                  <c:v>45817</c:v>
                </c:pt>
                <c:pt idx="289">
                  <c:v>45814</c:v>
                </c:pt>
                <c:pt idx="290">
                  <c:v>45813</c:v>
                </c:pt>
                <c:pt idx="291">
                  <c:v>45812</c:v>
                </c:pt>
                <c:pt idx="292">
                  <c:v>45811</c:v>
                </c:pt>
                <c:pt idx="293">
                  <c:v>45810</c:v>
                </c:pt>
                <c:pt idx="294">
                  <c:v>45807</c:v>
                </c:pt>
                <c:pt idx="295">
                  <c:v>45806</c:v>
                </c:pt>
                <c:pt idx="296">
                  <c:v>45805</c:v>
                </c:pt>
                <c:pt idx="297">
                  <c:v>45804</c:v>
                </c:pt>
                <c:pt idx="298">
                  <c:v>45803</c:v>
                </c:pt>
                <c:pt idx="299">
                  <c:v>45800</c:v>
                </c:pt>
                <c:pt idx="300">
                  <c:v>45799</c:v>
                </c:pt>
                <c:pt idx="301">
                  <c:v>45798</c:v>
                </c:pt>
                <c:pt idx="302">
                  <c:v>45797</c:v>
                </c:pt>
                <c:pt idx="303">
                  <c:v>45796</c:v>
                </c:pt>
                <c:pt idx="304">
                  <c:v>45793</c:v>
                </c:pt>
                <c:pt idx="305">
                  <c:v>45792</c:v>
                </c:pt>
                <c:pt idx="306">
                  <c:v>45791</c:v>
                </c:pt>
                <c:pt idx="307">
                  <c:v>45790</c:v>
                </c:pt>
                <c:pt idx="308">
                  <c:v>45789</c:v>
                </c:pt>
                <c:pt idx="309">
                  <c:v>45786</c:v>
                </c:pt>
                <c:pt idx="310">
                  <c:v>45785</c:v>
                </c:pt>
                <c:pt idx="311">
                  <c:v>45784</c:v>
                </c:pt>
                <c:pt idx="312">
                  <c:v>45783</c:v>
                </c:pt>
                <c:pt idx="313">
                  <c:v>45782</c:v>
                </c:pt>
                <c:pt idx="314">
                  <c:v>45776</c:v>
                </c:pt>
                <c:pt idx="315">
                  <c:v>45775</c:v>
                </c:pt>
                <c:pt idx="316">
                  <c:v>45772</c:v>
                </c:pt>
                <c:pt idx="317">
                  <c:v>45771</c:v>
                </c:pt>
                <c:pt idx="318">
                  <c:v>45770</c:v>
                </c:pt>
                <c:pt idx="319">
                  <c:v>45769</c:v>
                </c:pt>
                <c:pt idx="320">
                  <c:v>45768</c:v>
                </c:pt>
                <c:pt idx="321">
                  <c:v>45765</c:v>
                </c:pt>
                <c:pt idx="322">
                  <c:v>45764</c:v>
                </c:pt>
                <c:pt idx="323">
                  <c:v>45763</c:v>
                </c:pt>
                <c:pt idx="324">
                  <c:v>45762</c:v>
                </c:pt>
                <c:pt idx="325">
                  <c:v>45761</c:v>
                </c:pt>
                <c:pt idx="326">
                  <c:v>45758</c:v>
                </c:pt>
                <c:pt idx="327">
                  <c:v>45757</c:v>
                </c:pt>
                <c:pt idx="328">
                  <c:v>45756</c:v>
                </c:pt>
                <c:pt idx="329">
                  <c:v>45755</c:v>
                </c:pt>
                <c:pt idx="330">
                  <c:v>45751</c:v>
                </c:pt>
                <c:pt idx="331">
                  <c:v>45750</c:v>
                </c:pt>
                <c:pt idx="332">
                  <c:v>45749</c:v>
                </c:pt>
                <c:pt idx="333">
                  <c:v>45748</c:v>
                </c:pt>
                <c:pt idx="334">
                  <c:v>45747</c:v>
                </c:pt>
                <c:pt idx="335">
                  <c:v>45744</c:v>
                </c:pt>
                <c:pt idx="336">
                  <c:v>45743</c:v>
                </c:pt>
                <c:pt idx="337">
                  <c:v>45742</c:v>
                </c:pt>
                <c:pt idx="338">
                  <c:v>45741</c:v>
                </c:pt>
                <c:pt idx="339">
                  <c:v>45740</c:v>
                </c:pt>
                <c:pt idx="340">
                  <c:v>45737</c:v>
                </c:pt>
                <c:pt idx="341">
                  <c:v>45736</c:v>
                </c:pt>
                <c:pt idx="342">
                  <c:v>45735</c:v>
                </c:pt>
                <c:pt idx="343">
                  <c:v>45734</c:v>
                </c:pt>
                <c:pt idx="344">
                  <c:v>45733</c:v>
                </c:pt>
                <c:pt idx="345">
                  <c:v>45730</c:v>
                </c:pt>
                <c:pt idx="346">
                  <c:v>45729</c:v>
                </c:pt>
                <c:pt idx="347">
                  <c:v>45728</c:v>
                </c:pt>
                <c:pt idx="348">
                  <c:v>45727</c:v>
                </c:pt>
                <c:pt idx="349">
                  <c:v>45726</c:v>
                </c:pt>
                <c:pt idx="350">
                  <c:v>45723</c:v>
                </c:pt>
                <c:pt idx="351">
                  <c:v>45722</c:v>
                </c:pt>
                <c:pt idx="352">
                  <c:v>45721</c:v>
                </c:pt>
                <c:pt idx="353">
                  <c:v>45720</c:v>
                </c:pt>
                <c:pt idx="354">
                  <c:v>45719</c:v>
                </c:pt>
                <c:pt idx="355">
                  <c:v>45716</c:v>
                </c:pt>
                <c:pt idx="356">
                  <c:v>45715</c:v>
                </c:pt>
                <c:pt idx="357">
                  <c:v>45714</c:v>
                </c:pt>
                <c:pt idx="358">
                  <c:v>45713</c:v>
                </c:pt>
                <c:pt idx="359">
                  <c:v>45712</c:v>
                </c:pt>
                <c:pt idx="360">
                  <c:v>45709</c:v>
                </c:pt>
                <c:pt idx="361">
                  <c:v>45708</c:v>
                </c:pt>
                <c:pt idx="362">
                  <c:v>45707</c:v>
                </c:pt>
                <c:pt idx="363">
                  <c:v>45706</c:v>
                </c:pt>
                <c:pt idx="364">
                  <c:v>45705</c:v>
                </c:pt>
                <c:pt idx="365">
                  <c:v>45702</c:v>
                </c:pt>
                <c:pt idx="366">
                  <c:v>45701</c:v>
                </c:pt>
                <c:pt idx="367">
                  <c:v>45700</c:v>
                </c:pt>
                <c:pt idx="368">
                  <c:v>45699</c:v>
                </c:pt>
                <c:pt idx="369">
                  <c:v>45698</c:v>
                </c:pt>
                <c:pt idx="370">
                  <c:v>45695</c:v>
                </c:pt>
                <c:pt idx="371">
                  <c:v>45694</c:v>
                </c:pt>
                <c:pt idx="372">
                  <c:v>45693</c:v>
                </c:pt>
                <c:pt idx="373">
                  <c:v>45692</c:v>
                </c:pt>
                <c:pt idx="374">
                  <c:v>45691</c:v>
                </c:pt>
                <c:pt idx="375">
                  <c:v>45681</c:v>
                </c:pt>
                <c:pt idx="376">
                  <c:v>45680</c:v>
                </c:pt>
                <c:pt idx="377">
                  <c:v>45679</c:v>
                </c:pt>
                <c:pt idx="378">
                  <c:v>45678</c:v>
                </c:pt>
                <c:pt idx="379">
                  <c:v>45677</c:v>
                </c:pt>
                <c:pt idx="380">
                  <c:v>45674</c:v>
                </c:pt>
                <c:pt idx="381">
                  <c:v>45673</c:v>
                </c:pt>
              </c:numCache>
            </c:numRef>
          </c:cat>
          <c:val>
            <c:numRef>
              <c:f>Sheet1!$B$2:$B$383</c:f>
              <c:numCache>
                <c:formatCode>#,##0.00</c:formatCode>
                <c:ptCount val="382"/>
                <c:pt idx="0">
                  <c:v>0</c:v>
                </c:pt>
                <c:pt idx="1">
                  <c:v>1735.78</c:v>
                </c:pt>
                <c:pt idx="2">
                  <c:v>1744.66</c:v>
                </c:pt>
                <c:pt idx="3">
                  <c:v>1704.68</c:v>
                </c:pt>
                <c:pt idx="4">
                  <c:v>1680.62</c:v>
                </c:pt>
                <c:pt idx="5">
                  <c:v>1669.01</c:v>
                </c:pt>
                <c:pt idx="6">
                  <c:v>1686.11</c:v>
                </c:pt>
                <c:pt idx="7">
                  <c:v>1699.38</c:v>
                </c:pt>
                <c:pt idx="8">
                  <c:v>1668.53</c:v>
                </c:pt>
                <c:pt idx="9">
                  <c:v>1730.56</c:v>
                </c:pt>
                <c:pt idx="10">
                  <c:v>1743.51</c:v>
                </c:pt>
                <c:pt idx="11">
                  <c:v>1787.45</c:v>
                </c:pt>
                <c:pt idx="12">
                  <c:v>1804.24</c:v>
                </c:pt>
                <c:pt idx="13">
                  <c:v>1782.12</c:v>
                </c:pt>
                <c:pt idx="14">
                  <c:v>1806.63</c:v>
                </c:pt>
                <c:pt idx="15">
                  <c:v>1800.54</c:v>
                </c:pt>
                <c:pt idx="16">
                  <c:v>1828.34</c:v>
                </c:pt>
                <c:pt idx="17">
                  <c:v>1840.7</c:v>
                </c:pt>
                <c:pt idx="18">
                  <c:v>1853.7</c:v>
                </c:pt>
                <c:pt idx="19">
                  <c:v>1848.25</c:v>
                </c:pt>
                <c:pt idx="20">
                  <c:v>1843.5</c:v>
                </c:pt>
                <c:pt idx="21">
                  <c:v>1862.08</c:v>
                </c:pt>
                <c:pt idx="22">
                  <c:v>1866.35</c:v>
                </c:pt>
                <c:pt idx="23">
                  <c:v>1867.21</c:v>
                </c:pt>
                <c:pt idx="24">
                  <c:v>1860.01</c:v>
                </c:pt>
                <c:pt idx="25">
                  <c:v>1854.97</c:v>
                </c:pt>
                <c:pt idx="26">
                  <c:v>1871.91</c:v>
                </c:pt>
                <c:pt idx="27">
                  <c:v>1863.07</c:v>
                </c:pt>
                <c:pt idx="28">
                  <c:v>1878.02</c:v>
                </c:pt>
                <c:pt idx="29">
                  <c:v>1869.04</c:v>
                </c:pt>
                <c:pt idx="30">
                  <c:v>1857.91</c:v>
                </c:pt>
                <c:pt idx="31">
                  <c:v>1824.53</c:v>
                </c:pt>
                <c:pt idx="32">
                  <c:v>1830.47</c:v>
                </c:pt>
                <c:pt idx="33">
                  <c:v>1806.2</c:v>
                </c:pt>
                <c:pt idx="34">
                  <c:v>1807.94</c:v>
                </c:pt>
                <c:pt idx="35">
                  <c:v>1799.31</c:v>
                </c:pt>
                <c:pt idx="36">
                  <c:v>1791.65</c:v>
                </c:pt>
                <c:pt idx="37">
                  <c:v>1798.61</c:v>
                </c:pt>
                <c:pt idx="38">
                  <c:v>1803.71</c:v>
                </c:pt>
                <c:pt idx="39">
                  <c:v>1793.05</c:v>
                </c:pt>
                <c:pt idx="40">
                  <c:v>1790.53</c:v>
                </c:pt>
                <c:pt idx="41">
                  <c:v>1838.9</c:v>
                </c:pt>
                <c:pt idx="42">
                  <c:v>1831.55</c:v>
                </c:pt>
                <c:pt idx="43">
                  <c:v>1819.01</c:v>
                </c:pt>
                <c:pt idx="44">
                  <c:v>1826.47</c:v>
                </c:pt>
                <c:pt idx="45">
                  <c:v>1844.54</c:v>
                </c:pt>
                <c:pt idx="46">
                  <c:v>1863.49</c:v>
                </c:pt>
                <c:pt idx="47">
                  <c:v>1863.67</c:v>
                </c:pt>
                <c:pt idx="48">
                  <c:v>1874.43</c:v>
                </c:pt>
                <c:pt idx="49">
                  <c:v>1884.18</c:v>
                </c:pt>
                <c:pt idx="50">
                  <c:v>1886.03</c:v>
                </c:pt>
                <c:pt idx="51">
                  <c:v>1877.13</c:v>
                </c:pt>
                <c:pt idx="52">
                  <c:v>1896.89</c:v>
                </c:pt>
                <c:pt idx="53">
                  <c:v>1913.23</c:v>
                </c:pt>
                <c:pt idx="54">
                  <c:v>1912.93</c:v>
                </c:pt>
                <c:pt idx="55">
                  <c:v>1927.94</c:v>
                </c:pt>
                <c:pt idx="56">
                  <c:v>1921.6</c:v>
                </c:pt>
                <c:pt idx="57">
                  <c:v>1925.46</c:v>
                </c:pt>
                <c:pt idx="58">
                  <c:v>1898.37</c:v>
                </c:pt>
                <c:pt idx="59">
                  <c:v>1901.1</c:v>
                </c:pt>
                <c:pt idx="60">
                  <c:v>1895.5</c:v>
                </c:pt>
                <c:pt idx="61">
                  <c:v>1915.37</c:v>
                </c:pt>
                <c:pt idx="62">
                  <c:v>1909.01</c:v>
                </c:pt>
                <c:pt idx="63">
                  <c:v>1891.2</c:v>
                </c:pt>
                <c:pt idx="64">
                  <c:v>1874.85</c:v>
                </c:pt>
                <c:pt idx="65">
                  <c:v>1854.06</c:v>
                </c:pt>
                <c:pt idx="66">
                  <c:v>1854.1</c:v>
                </c:pt>
                <c:pt idx="67">
                  <c:v>1875.84</c:v>
                </c:pt>
                <c:pt idx="68">
                  <c:v>1853.29</c:v>
                </c:pt>
                <c:pt idx="69">
                  <c:v>1870.36</c:v>
                </c:pt>
                <c:pt idx="70">
                  <c:v>1857.3</c:v>
                </c:pt>
                <c:pt idx="71">
                  <c:v>1833.48</c:v>
                </c:pt>
                <c:pt idx="72">
                  <c:v>1837.11</c:v>
                </c:pt>
                <c:pt idx="73">
                  <c:v>1817.17</c:v>
                </c:pt>
                <c:pt idx="74">
                  <c:v>1819.83</c:v>
                </c:pt>
                <c:pt idx="75">
                  <c:v>1800.65</c:v>
                </c:pt>
                <c:pt idx="76">
                  <c:v>1775.65</c:v>
                </c:pt>
                <c:pt idx="77">
                  <c:v>1758.96</c:v>
                </c:pt>
                <c:pt idx="78">
                  <c:v>1750</c:v>
                </c:pt>
                <c:pt idx="79">
                  <c:v>1736.68</c:v>
                </c:pt>
                <c:pt idx="80">
                  <c:v>1756.55</c:v>
                </c:pt>
                <c:pt idx="81">
                  <c:v>1677.54</c:v>
                </c:pt>
                <c:pt idx="82">
                  <c:v>1674.99</c:v>
                </c:pt>
                <c:pt idx="83">
                  <c:v>1684.04</c:v>
                </c:pt>
                <c:pt idx="84">
                  <c:v>1694.82</c:v>
                </c:pt>
                <c:pt idx="85">
                  <c:v>1702.93</c:v>
                </c:pt>
                <c:pt idx="86">
                  <c:v>1674.49</c:v>
                </c:pt>
                <c:pt idx="87">
                  <c:v>1662.54</c:v>
                </c:pt>
                <c:pt idx="88">
                  <c:v>1672.8</c:v>
                </c:pt>
                <c:pt idx="89">
                  <c:v>1644.63</c:v>
                </c:pt>
                <c:pt idx="90">
                  <c:v>1658.19</c:v>
                </c:pt>
                <c:pt idx="91">
                  <c:v>1614.77</c:v>
                </c:pt>
                <c:pt idx="92">
                  <c:v>1591.17</c:v>
                </c:pt>
                <c:pt idx="93">
                  <c:v>1647.81</c:v>
                </c:pt>
                <c:pt idx="94">
                  <c:v>1699.13</c:v>
                </c:pt>
                <c:pt idx="95">
                  <c:v>1713.83</c:v>
                </c:pt>
                <c:pt idx="96">
                  <c:v>1710.29</c:v>
                </c:pt>
                <c:pt idx="97">
                  <c:v>1693.21</c:v>
                </c:pt>
                <c:pt idx="98">
                  <c:v>1696.24</c:v>
                </c:pt>
                <c:pt idx="99">
                  <c:v>1709.61</c:v>
                </c:pt>
                <c:pt idx="100">
                  <c:v>1728.34</c:v>
                </c:pt>
                <c:pt idx="101">
                  <c:v>1676.73</c:v>
                </c:pt>
                <c:pt idx="102">
                  <c:v>1652.79</c:v>
                </c:pt>
                <c:pt idx="103">
                  <c:v>1767.84</c:v>
                </c:pt>
                <c:pt idx="104">
                  <c:v>1808.51</c:v>
                </c:pt>
                <c:pt idx="105">
                  <c:v>1818.27</c:v>
                </c:pt>
                <c:pt idx="106">
                  <c:v>1813.14</c:v>
                </c:pt>
                <c:pt idx="107">
                  <c:v>1846.1</c:v>
                </c:pt>
                <c:pt idx="108">
                  <c:v>1880.33</c:v>
                </c:pt>
                <c:pt idx="109">
                  <c:v>1879.64</c:v>
                </c:pt>
                <c:pt idx="110">
                  <c:v>1860.91</c:v>
                </c:pt>
                <c:pt idx="111">
                  <c:v>1867.62</c:v>
                </c:pt>
                <c:pt idx="112">
                  <c:v>1860.14</c:v>
                </c:pt>
                <c:pt idx="113">
                  <c:v>1824.09</c:v>
                </c:pt>
                <c:pt idx="114">
                  <c:v>1814.09</c:v>
                </c:pt>
                <c:pt idx="115">
                  <c:v>1796.85</c:v>
                </c:pt>
                <c:pt idx="116">
                  <c:v>1754.03</c:v>
                </c:pt>
                <c:pt idx="117">
                  <c:v>1754.82</c:v>
                </c:pt>
                <c:pt idx="118">
                  <c:v>1755.49</c:v>
                </c:pt>
                <c:pt idx="119">
                  <c:v>1782.56</c:v>
                </c:pt>
                <c:pt idx="120">
                  <c:v>1791.43</c:v>
                </c:pt>
                <c:pt idx="121">
                  <c:v>1813.4</c:v>
                </c:pt>
                <c:pt idx="122">
                  <c:v>1806.5</c:v>
                </c:pt>
                <c:pt idx="123">
                  <c:v>1829.04</c:v>
                </c:pt>
                <c:pt idx="124">
                  <c:v>1814.98</c:v>
                </c:pt>
                <c:pt idx="125">
                  <c:v>1802.91</c:v>
                </c:pt>
                <c:pt idx="126">
                  <c:v>1830.5</c:v>
                </c:pt>
                <c:pt idx="127">
                  <c:v>1843.72</c:v>
                </c:pt>
                <c:pt idx="128">
                  <c:v>1870.79</c:v>
                </c:pt>
                <c:pt idx="129">
                  <c:v>1882.73</c:v>
                </c:pt>
                <c:pt idx="130">
                  <c:v>1885.44</c:v>
                </c:pt>
                <c:pt idx="131">
                  <c:v>1893.78</c:v>
                </c:pt>
                <c:pt idx="132">
                  <c:v>1896.59</c:v>
                </c:pt>
                <c:pt idx="133">
                  <c:v>1879.13</c:v>
                </c:pt>
                <c:pt idx="134">
                  <c:v>1864.8</c:v>
                </c:pt>
                <c:pt idx="135">
                  <c:v>1894.44</c:v>
                </c:pt>
                <c:pt idx="136">
                  <c:v>1902.93</c:v>
                </c:pt>
                <c:pt idx="137">
                  <c:v>1877.33</c:v>
                </c:pt>
                <c:pt idx="138">
                  <c:v>1867.9</c:v>
                </c:pt>
                <c:pt idx="139">
                  <c:v>1855.56</c:v>
                </c:pt>
                <c:pt idx="140">
                  <c:v>1861.58</c:v>
                </c:pt>
                <c:pt idx="141">
                  <c:v>1816.27</c:v>
                </c:pt>
                <c:pt idx="142">
                  <c:v>1788.4</c:v>
                </c:pt>
                <c:pt idx="143">
                  <c:v>1784.49</c:v>
                </c:pt>
                <c:pt idx="144">
                  <c:v>1766.9</c:v>
                </c:pt>
                <c:pt idx="145">
                  <c:v>1754.84</c:v>
                </c:pt>
                <c:pt idx="146">
                  <c:v>1729.8</c:v>
                </c:pt>
                <c:pt idx="147">
                  <c:v>1742.85</c:v>
                </c:pt>
                <c:pt idx="148">
                  <c:v>1782.82</c:v>
                </c:pt>
                <c:pt idx="149">
                  <c:v>1772.15</c:v>
                </c:pt>
                <c:pt idx="150">
                  <c:v>1751.03</c:v>
                </c:pt>
                <c:pt idx="151">
                  <c:v>1704.31</c:v>
                </c:pt>
                <c:pt idx="152">
                  <c:v>1676.98</c:v>
                </c:pt>
                <c:pt idx="153">
                  <c:v>1673.66</c:v>
                </c:pt>
                <c:pt idx="154">
                  <c:v>1679.18</c:v>
                </c:pt>
                <c:pt idx="155">
                  <c:v>1646.01</c:v>
                </c:pt>
                <c:pt idx="156">
                  <c:v>1646.89</c:v>
                </c:pt>
                <c:pt idx="157">
                  <c:v>1698.9</c:v>
                </c:pt>
                <c:pt idx="158">
                  <c:v>1718.98</c:v>
                </c:pt>
                <c:pt idx="159">
                  <c:v>1747.17</c:v>
                </c:pt>
                <c:pt idx="160">
                  <c:v>1753.74</c:v>
                </c:pt>
                <c:pt idx="161">
                  <c:v>1741.32</c:v>
                </c:pt>
                <c:pt idx="162">
                  <c:v>1737.24</c:v>
                </c:pt>
                <c:pt idx="163">
                  <c:v>1731.77</c:v>
                </c:pt>
                <c:pt idx="164">
                  <c:v>1717.06</c:v>
                </c:pt>
                <c:pt idx="165">
                  <c:v>1701.67</c:v>
                </c:pt>
                <c:pt idx="166">
                  <c:v>1690.99</c:v>
                </c:pt>
                <c:pt idx="167">
                  <c:v>1684.32</c:v>
                </c:pt>
                <c:pt idx="168">
                  <c:v>1680.36</c:v>
                </c:pt>
                <c:pt idx="169">
                  <c:v>1660.36</c:v>
                </c:pt>
                <c:pt idx="170">
                  <c:v>1667.98</c:v>
                </c:pt>
                <c:pt idx="171">
                  <c:v>1654.93</c:v>
                </c:pt>
                <c:pt idx="172">
                  <c:v>1655.99</c:v>
                </c:pt>
                <c:pt idx="173">
                  <c:v>1649</c:v>
                </c:pt>
                <c:pt idx="174">
                  <c:v>1659.92</c:v>
                </c:pt>
                <c:pt idx="175">
                  <c:v>1654.42</c:v>
                </c:pt>
                <c:pt idx="176">
                  <c:v>1635.46</c:v>
                </c:pt>
                <c:pt idx="177">
                  <c:v>1631.44</c:v>
                </c:pt>
                <c:pt idx="178">
                  <c:v>1631.86</c:v>
                </c:pt>
                <c:pt idx="179">
                  <c:v>1593.61</c:v>
                </c:pt>
                <c:pt idx="180">
                  <c:v>1580.54</c:v>
                </c:pt>
                <c:pt idx="181">
                  <c:v>1599.1</c:v>
                </c:pt>
                <c:pt idx="182">
                  <c:v>1642.64</c:v>
                </c:pt>
                <c:pt idx="183">
                  <c:v>1654.89</c:v>
                </c:pt>
                <c:pt idx="184">
                  <c:v>1651.98</c:v>
                </c:pt>
                <c:pt idx="185">
                  <c:v>1617</c:v>
                </c:pt>
                <c:pt idx="186">
                  <c:v>1639.65</c:v>
                </c:pt>
                <c:pt idx="187">
                  <c:v>1669.57</c:v>
                </c:pt>
                <c:pt idx="188">
                  <c:v>1685.83</c:v>
                </c:pt>
                <c:pt idx="189">
                  <c:v>1680.5</c:v>
                </c:pt>
                <c:pt idx="190">
                  <c:v>1652.54</c:v>
                </c:pt>
                <c:pt idx="191">
                  <c:v>1683.18</c:v>
                </c:pt>
                <c:pt idx="192">
                  <c:v>1687.06</c:v>
                </c:pt>
                <c:pt idx="193">
                  <c:v>1678.5</c:v>
                </c:pt>
                <c:pt idx="194">
                  <c:v>1663.43</c:v>
                </c:pt>
                <c:pt idx="195">
                  <c:v>1636.43</c:v>
                </c:pt>
                <c:pt idx="196">
                  <c:v>1731.19</c:v>
                </c:pt>
                <c:pt idx="197">
                  <c:v>1766.85</c:v>
                </c:pt>
                <c:pt idx="198">
                  <c:v>1757.95</c:v>
                </c:pt>
                <c:pt idx="199">
                  <c:v>1761.06</c:v>
                </c:pt>
                <c:pt idx="200">
                  <c:v>1765.12</c:v>
                </c:pt>
                <c:pt idx="201">
                  <c:v>1747.55</c:v>
                </c:pt>
                <c:pt idx="202">
                  <c:v>1716.47</c:v>
                </c:pt>
                <c:pt idx="203">
                  <c:v>1697.83</c:v>
                </c:pt>
                <c:pt idx="204">
                  <c:v>1685.3</c:v>
                </c:pt>
                <c:pt idx="205">
                  <c:v>1695.5</c:v>
                </c:pt>
                <c:pt idx="206">
                  <c:v>1645.82</c:v>
                </c:pt>
                <c:pt idx="207">
                  <c:v>1652.71</c:v>
                </c:pt>
                <c:pt idx="208">
                  <c:v>1665.05</c:v>
                </c:pt>
                <c:pt idx="209">
                  <c:v>1661.7</c:v>
                </c:pt>
                <c:pt idx="210">
                  <c:v>1666.48</c:v>
                </c:pt>
                <c:pt idx="211">
                  <c:v>1660.7</c:v>
                </c:pt>
                <c:pt idx="212">
                  <c:v>1666.09</c:v>
                </c:pt>
                <c:pt idx="213">
                  <c:v>1657.46</c:v>
                </c:pt>
                <c:pt idx="214">
                  <c:v>1635.26</c:v>
                </c:pt>
                <c:pt idx="215">
                  <c:v>1634.45</c:v>
                </c:pt>
                <c:pt idx="216">
                  <c:v>1658.62</c:v>
                </c:pt>
                <c:pt idx="217">
                  <c:v>1665.18</c:v>
                </c:pt>
                <c:pt idx="218">
                  <c:v>1670.97</c:v>
                </c:pt>
                <c:pt idx="219">
                  <c:v>1680.9</c:v>
                </c:pt>
                <c:pt idx="220">
                  <c:v>1684.9</c:v>
                </c:pt>
                <c:pt idx="221">
                  <c:v>1667.26</c:v>
                </c:pt>
                <c:pt idx="222">
                  <c:v>1657.75</c:v>
                </c:pt>
                <c:pt idx="223">
                  <c:v>1643.26</c:v>
                </c:pt>
                <c:pt idx="224">
                  <c:v>1637.32</c:v>
                </c:pt>
                <c:pt idx="225">
                  <c:v>1624.53</c:v>
                </c:pt>
                <c:pt idx="226">
                  <c:v>1666.97</c:v>
                </c:pt>
                <c:pt idx="227">
                  <c:v>1696.29</c:v>
                </c:pt>
                <c:pt idx="228">
                  <c:v>1681.3</c:v>
                </c:pt>
                <c:pt idx="229">
                  <c:v>1682.21</c:v>
                </c:pt>
                <c:pt idx="230">
                  <c:v>1680.86</c:v>
                </c:pt>
                <c:pt idx="231">
                  <c:v>1672.78</c:v>
                </c:pt>
                <c:pt idx="232">
                  <c:v>1667.63</c:v>
                </c:pt>
                <c:pt idx="233">
                  <c:v>1614.03</c:v>
                </c:pt>
                <c:pt idx="234">
                  <c:v>1645.47</c:v>
                </c:pt>
                <c:pt idx="235">
                  <c:v>1688</c:v>
                </c:pt>
                <c:pt idx="236">
                  <c:v>1664.36</c:v>
                </c:pt>
                <c:pt idx="237">
                  <c:v>1654.2</c:v>
                </c:pt>
                <c:pt idx="238">
                  <c:v>1636.37</c:v>
                </c:pt>
                <c:pt idx="239">
                  <c:v>1630</c:v>
                </c:pt>
                <c:pt idx="240">
                  <c:v>1640.69</c:v>
                </c:pt>
                <c:pt idx="241">
                  <c:v>1611.6</c:v>
                </c:pt>
                <c:pt idx="242">
                  <c:v>1608.22</c:v>
                </c:pt>
                <c:pt idx="243">
                  <c:v>1596.86</c:v>
                </c:pt>
                <c:pt idx="244">
                  <c:v>1584.95</c:v>
                </c:pt>
                <c:pt idx="245">
                  <c:v>1581.81</c:v>
                </c:pt>
                <c:pt idx="246">
                  <c:v>1573.71</c:v>
                </c:pt>
                <c:pt idx="247">
                  <c:v>1547.15</c:v>
                </c:pt>
                <c:pt idx="248">
                  <c:v>1528.19</c:v>
                </c:pt>
                <c:pt idx="249">
                  <c:v>1495.21</c:v>
                </c:pt>
                <c:pt idx="250">
                  <c:v>1502.52</c:v>
                </c:pt>
                <c:pt idx="251">
                  <c:v>1507.63</c:v>
                </c:pt>
                <c:pt idx="252">
                  <c:v>1493.41</c:v>
                </c:pt>
                <c:pt idx="253">
                  <c:v>1557.42</c:v>
                </c:pt>
                <c:pt idx="254">
                  <c:v>1531.13</c:v>
                </c:pt>
                <c:pt idx="255">
                  <c:v>1521.02</c:v>
                </c:pt>
                <c:pt idx="256">
                  <c:v>1512.31</c:v>
                </c:pt>
                <c:pt idx="257">
                  <c:v>1509.54</c:v>
                </c:pt>
                <c:pt idx="258">
                  <c:v>1485.05</c:v>
                </c:pt>
                <c:pt idx="259">
                  <c:v>1497.28</c:v>
                </c:pt>
                <c:pt idx="260">
                  <c:v>1490.01</c:v>
                </c:pt>
                <c:pt idx="261">
                  <c:v>1475.47</c:v>
                </c:pt>
                <c:pt idx="262">
                  <c:v>1460.65</c:v>
                </c:pt>
                <c:pt idx="263">
                  <c:v>1470.42</c:v>
                </c:pt>
                <c:pt idx="264">
                  <c:v>1457.76</c:v>
                </c:pt>
                <c:pt idx="265">
                  <c:v>1445.64</c:v>
                </c:pt>
                <c:pt idx="266">
                  <c:v>1431.32</c:v>
                </c:pt>
                <c:pt idx="267">
                  <c:v>1415.46</c:v>
                </c:pt>
                <c:pt idx="268">
                  <c:v>1402.06</c:v>
                </c:pt>
                <c:pt idx="269">
                  <c:v>1386.97</c:v>
                </c:pt>
                <c:pt idx="270">
                  <c:v>1381.96</c:v>
                </c:pt>
                <c:pt idx="271">
                  <c:v>1384.59</c:v>
                </c:pt>
                <c:pt idx="272">
                  <c:v>1377.84</c:v>
                </c:pt>
                <c:pt idx="273">
                  <c:v>1376.07</c:v>
                </c:pt>
                <c:pt idx="274">
                  <c:v>1371.44</c:v>
                </c:pt>
                <c:pt idx="275">
                  <c:v>1365.67</c:v>
                </c:pt>
                <c:pt idx="276">
                  <c:v>1366.75</c:v>
                </c:pt>
                <c:pt idx="277">
                  <c:v>1366.77</c:v>
                </c:pt>
                <c:pt idx="278">
                  <c:v>1358.18</c:v>
                </c:pt>
                <c:pt idx="279">
                  <c:v>1349.35</c:v>
                </c:pt>
                <c:pt idx="280">
                  <c:v>1352.04</c:v>
                </c:pt>
                <c:pt idx="281">
                  <c:v>1346.83</c:v>
                </c:pt>
                <c:pt idx="282">
                  <c:v>1347.69</c:v>
                </c:pt>
                <c:pt idx="283">
                  <c:v>1338.11</c:v>
                </c:pt>
                <c:pt idx="284">
                  <c:v>1315.49</c:v>
                </c:pt>
                <c:pt idx="285">
                  <c:v>1322.99</c:v>
                </c:pt>
                <c:pt idx="286">
                  <c:v>1315.2</c:v>
                </c:pt>
                <c:pt idx="287">
                  <c:v>1316.23</c:v>
                </c:pt>
                <c:pt idx="288">
                  <c:v>1310.57</c:v>
                </c:pt>
                <c:pt idx="289">
                  <c:v>1329.89</c:v>
                </c:pt>
                <c:pt idx="290">
                  <c:v>1342.09</c:v>
                </c:pt>
                <c:pt idx="291">
                  <c:v>1345.74</c:v>
                </c:pt>
                <c:pt idx="292">
                  <c:v>1347.25</c:v>
                </c:pt>
                <c:pt idx="293">
                  <c:v>1336.3</c:v>
                </c:pt>
                <c:pt idx="294">
                  <c:v>1332.6</c:v>
                </c:pt>
                <c:pt idx="295">
                  <c:v>1341.86</c:v>
                </c:pt>
                <c:pt idx="296">
                  <c:v>1341.87</c:v>
                </c:pt>
                <c:pt idx="297">
                  <c:v>1339.81</c:v>
                </c:pt>
                <c:pt idx="298">
                  <c:v>1332.51</c:v>
                </c:pt>
                <c:pt idx="299">
                  <c:v>1314.46</c:v>
                </c:pt>
                <c:pt idx="300">
                  <c:v>1313.84</c:v>
                </c:pt>
                <c:pt idx="301">
                  <c:v>1323.05</c:v>
                </c:pt>
                <c:pt idx="302">
                  <c:v>1315.15</c:v>
                </c:pt>
                <c:pt idx="303">
                  <c:v>1296.29</c:v>
                </c:pt>
                <c:pt idx="304">
                  <c:v>1301.39</c:v>
                </c:pt>
                <c:pt idx="305">
                  <c:v>1313.2</c:v>
                </c:pt>
                <c:pt idx="306">
                  <c:v>1309.73</c:v>
                </c:pt>
                <c:pt idx="307">
                  <c:v>1293.43</c:v>
                </c:pt>
                <c:pt idx="308">
                  <c:v>1283.26</c:v>
                </c:pt>
                <c:pt idx="309">
                  <c:v>1267.3</c:v>
                </c:pt>
                <c:pt idx="310">
                  <c:v>1269.8</c:v>
                </c:pt>
                <c:pt idx="311">
                  <c:v>1250.37</c:v>
                </c:pt>
                <c:pt idx="312">
                  <c:v>1241.95</c:v>
                </c:pt>
                <c:pt idx="313">
                  <c:v>1240.05</c:v>
                </c:pt>
                <c:pt idx="314">
                  <c:v>1226.3</c:v>
                </c:pt>
                <c:pt idx="315">
                  <c:v>1226.8</c:v>
                </c:pt>
                <c:pt idx="316">
                  <c:v>1229.23</c:v>
                </c:pt>
                <c:pt idx="317">
                  <c:v>1223.35</c:v>
                </c:pt>
                <c:pt idx="318">
                  <c:v>1211</c:v>
                </c:pt>
                <c:pt idx="319">
                  <c:v>1197.13</c:v>
                </c:pt>
                <c:pt idx="320">
                  <c:v>1207.07</c:v>
                </c:pt>
                <c:pt idx="321">
                  <c:v>1219.12</c:v>
                </c:pt>
                <c:pt idx="322">
                  <c:v>1217.25</c:v>
                </c:pt>
                <c:pt idx="323">
                  <c:v>1210.3</c:v>
                </c:pt>
                <c:pt idx="324">
                  <c:v>1227.79</c:v>
                </c:pt>
                <c:pt idx="325">
                  <c:v>1241.44</c:v>
                </c:pt>
                <c:pt idx="326">
                  <c:v>1222.46</c:v>
                </c:pt>
                <c:pt idx="327">
                  <c:v>1168.34</c:v>
                </c:pt>
                <c:pt idx="328">
                  <c:v>1094.3</c:v>
                </c:pt>
                <c:pt idx="329">
                  <c:v>1132.79</c:v>
                </c:pt>
                <c:pt idx="330">
                  <c:v>1210.67</c:v>
                </c:pt>
                <c:pt idx="331">
                  <c:v>1229.84</c:v>
                </c:pt>
                <c:pt idx="332">
                  <c:v>1317.83</c:v>
                </c:pt>
                <c:pt idx="333">
                  <c:v>1317.33</c:v>
                </c:pt>
                <c:pt idx="334">
                  <c:v>1306.86</c:v>
                </c:pt>
                <c:pt idx="335">
                  <c:v>1317.46</c:v>
                </c:pt>
                <c:pt idx="336">
                  <c:v>1323.81</c:v>
                </c:pt>
                <c:pt idx="337">
                  <c:v>1326.09</c:v>
                </c:pt>
                <c:pt idx="338">
                  <c:v>1331.92</c:v>
                </c:pt>
                <c:pt idx="339">
                  <c:v>1330.32</c:v>
                </c:pt>
                <c:pt idx="340">
                  <c:v>1324.88</c:v>
                </c:pt>
                <c:pt idx="341">
                  <c:v>1323.93</c:v>
                </c:pt>
                <c:pt idx="342">
                  <c:v>1324.63</c:v>
                </c:pt>
                <c:pt idx="343">
                  <c:v>1330.97</c:v>
                </c:pt>
                <c:pt idx="344">
                  <c:v>1336.26</c:v>
                </c:pt>
                <c:pt idx="345">
                  <c:v>1326.15</c:v>
                </c:pt>
                <c:pt idx="346">
                  <c:v>1326.27</c:v>
                </c:pt>
                <c:pt idx="347">
                  <c:v>1334.41</c:v>
                </c:pt>
                <c:pt idx="348">
                  <c:v>1332.54</c:v>
                </c:pt>
                <c:pt idx="349">
                  <c:v>1330.28</c:v>
                </c:pt>
                <c:pt idx="350">
                  <c:v>1326.05</c:v>
                </c:pt>
                <c:pt idx="351">
                  <c:v>1318.22</c:v>
                </c:pt>
                <c:pt idx="352">
                  <c:v>1304.71</c:v>
                </c:pt>
                <c:pt idx="353">
                  <c:v>1311.91</c:v>
                </c:pt>
                <c:pt idx="354">
                  <c:v>1309.37</c:v>
                </c:pt>
                <c:pt idx="355">
                  <c:v>1305.36</c:v>
                </c:pt>
                <c:pt idx="356">
                  <c:v>1307.8</c:v>
                </c:pt>
                <c:pt idx="357">
                  <c:v>1302.96</c:v>
                </c:pt>
                <c:pt idx="358">
                  <c:v>1303.16</c:v>
                </c:pt>
                <c:pt idx="359">
                  <c:v>1304.56</c:v>
                </c:pt>
                <c:pt idx="360">
                  <c:v>1296.75</c:v>
                </c:pt>
                <c:pt idx="361">
                  <c:v>1292.98</c:v>
                </c:pt>
                <c:pt idx="362">
                  <c:v>1288.56</c:v>
                </c:pt>
                <c:pt idx="363">
                  <c:v>1278.14</c:v>
                </c:pt>
                <c:pt idx="364">
                  <c:v>1272.72</c:v>
                </c:pt>
                <c:pt idx="365">
                  <c:v>1276.08</c:v>
                </c:pt>
                <c:pt idx="366">
                  <c:v>1270.35</c:v>
                </c:pt>
                <c:pt idx="367">
                  <c:v>1266.91</c:v>
                </c:pt>
                <c:pt idx="368">
                  <c:v>1268.45</c:v>
                </c:pt>
                <c:pt idx="369">
                  <c:v>1263.26</c:v>
                </c:pt>
                <c:pt idx="370">
                  <c:v>1275.2</c:v>
                </c:pt>
                <c:pt idx="371">
                  <c:v>1271.48</c:v>
                </c:pt>
                <c:pt idx="372">
                  <c:v>1269.61</c:v>
                </c:pt>
                <c:pt idx="373">
                  <c:v>1264.68</c:v>
                </c:pt>
                <c:pt idx="374">
                  <c:v>1253.03</c:v>
                </c:pt>
                <c:pt idx="375">
                  <c:v>1265.05</c:v>
                </c:pt>
                <c:pt idx="376">
                  <c:v>1259.63</c:v>
                </c:pt>
                <c:pt idx="377">
                  <c:v>1242.53</c:v>
                </c:pt>
                <c:pt idx="378">
                  <c:v>1246.09</c:v>
                </c:pt>
                <c:pt idx="379">
                  <c:v>1249.55</c:v>
                </c:pt>
                <c:pt idx="380">
                  <c:v>1249.11</c:v>
                </c:pt>
                <c:pt idx="381">
                  <c:v>1242.36</c:v>
                </c:pt>
              </c:numCache>
            </c:numRef>
          </c:val>
          <c:smooth val="0"/>
        </c:ser>
        <c:ser>
          <c:idx val="1"/>
          <c:order val="1"/>
          <c:tx>
            <c:strRef>
              <c:f>Sheet1!$AL$1</c:f>
              <c:strCache>
                <c:ptCount val="1"/>
                <c:pt idx="0">
                  <c:v>VNINDEX loại trừ Vingroup</c:v>
                </c:pt>
              </c:strCache>
            </c:strRef>
          </c:tx>
          <c:spPr>
            <a:ln xmlns:a="http://schemas.openxmlformats.org/drawingml/2006/main" w="28575">
              <a:solidFill>
                <a:schemeClr val="accent1"/>
              </a:solidFill>
              <a:prstDash val="solid"/>
            </a:ln>
          </c:spPr>
          <c:marker>
            <c:symbol val="none"/>
          </c:marker>
          <c:cat>
            <c:numRef>
              <c:f>Sheet1!$A$2:$A$383</c:f>
              <c:numCache>
                <c:formatCode>m/d/yy</c:formatCode>
                <c:ptCount val="382"/>
                <c:pt idx="1">
                  <c:v>46234</c:v>
                </c:pt>
                <c:pt idx="2">
                  <c:v>46233</c:v>
                </c:pt>
                <c:pt idx="3">
                  <c:v>46232</c:v>
                </c:pt>
                <c:pt idx="4">
                  <c:v>46231</c:v>
                </c:pt>
                <c:pt idx="5">
                  <c:v>46230</c:v>
                </c:pt>
                <c:pt idx="6">
                  <c:v>46227</c:v>
                </c:pt>
                <c:pt idx="7">
                  <c:v>46226</c:v>
                </c:pt>
                <c:pt idx="8">
                  <c:v>46225</c:v>
                </c:pt>
                <c:pt idx="9">
                  <c:v>46224</c:v>
                </c:pt>
                <c:pt idx="10">
                  <c:v>46223</c:v>
                </c:pt>
                <c:pt idx="11">
                  <c:v>46220</c:v>
                </c:pt>
                <c:pt idx="12">
                  <c:v>46219</c:v>
                </c:pt>
                <c:pt idx="13">
                  <c:v>46218</c:v>
                </c:pt>
                <c:pt idx="14">
                  <c:v>46217</c:v>
                </c:pt>
                <c:pt idx="15">
                  <c:v>46216</c:v>
                </c:pt>
                <c:pt idx="16">
                  <c:v>46213</c:v>
                </c:pt>
                <c:pt idx="17">
                  <c:v>46212</c:v>
                </c:pt>
                <c:pt idx="18">
                  <c:v>46211</c:v>
                </c:pt>
                <c:pt idx="19">
                  <c:v>46210</c:v>
                </c:pt>
                <c:pt idx="20">
                  <c:v>46209</c:v>
                </c:pt>
                <c:pt idx="21">
                  <c:v>46206</c:v>
                </c:pt>
                <c:pt idx="22">
                  <c:v>46205</c:v>
                </c:pt>
                <c:pt idx="23">
                  <c:v>46204</c:v>
                </c:pt>
                <c:pt idx="24">
                  <c:v>46203</c:v>
                </c:pt>
                <c:pt idx="25">
                  <c:v>46202</c:v>
                </c:pt>
                <c:pt idx="26">
                  <c:v>46199</c:v>
                </c:pt>
                <c:pt idx="27">
                  <c:v>46198</c:v>
                </c:pt>
                <c:pt idx="28">
                  <c:v>46197</c:v>
                </c:pt>
                <c:pt idx="29">
                  <c:v>46196</c:v>
                </c:pt>
                <c:pt idx="30">
                  <c:v>46195</c:v>
                </c:pt>
                <c:pt idx="31">
                  <c:v>46192</c:v>
                </c:pt>
                <c:pt idx="32">
                  <c:v>46191</c:v>
                </c:pt>
                <c:pt idx="33">
                  <c:v>46190</c:v>
                </c:pt>
                <c:pt idx="34">
                  <c:v>46189</c:v>
                </c:pt>
                <c:pt idx="35">
                  <c:v>46188</c:v>
                </c:pt>
                <c:pt idx="36">
                  <c:v>46185</c:v>
                </c:pt>
                <c:pt idx="37">
                  <c:v>46184</c:v>
                </c:pt>
                <c:pt idx="38">
                  <c:v>46183</c:v>
                </c:pt>
                <c:pt idx="39">
                  <c:v>46182</c:v>
                </c:pt>
                <c:pt idx="40">
                  <c:v>46181</c:v>
                </c:pt>
                <c:pt idx="41">
                  <c:v>46178</c:v>
                </c:pt>
                <c:pt idx="42">
                  <c:v>46177</c:v>
                </c:pt>
                <c:pt idx="43">
                  <c:v>46176</c:v>
                </c:pt>
                <c:pt idx="44">
                  <c:v>46175</c:v>
                </c:pt>
                <c:pt idx="45">
                  <c:v>46174</c:v>
                </c:pt>
                <c:pt idx="46">
                  <c:v>46171</c:v>
                </c:pt>
                <c:pt idx="47">
                  <c:v>46170</c:v>
                </c:pt>
                <c:pt idx="48">
                  <c:v>46169</c:v>
                </c:pt>
                <c:pt idx="49">
                  <c:v>46168</c:v>
                </c:pt>
                <c:pt idx="50">
                  <c:v>46167</c:v>
                </c:pt>
                <c:pt idx="51">
                  <c:v>46164</c:v>
                </c:pt>
                <c:pt idx="52">
                  <c:v>46163</c:v>
                </c:pt>
                <c:pt idx="53">
                  <c:v>46162</c:v>
                </c:pt>
                <c:pt idx="54">
                  <c:v>46161</c:v>
                </c:pt>
                <c:pt idx="55">
                  <c:v>46160</c:v>
                </c:pt>
                <c:pt idx="56">
                  <c:v>46157</c:v>
                </c:pt>
                <c:pt idx="57">
                  <c:v>46156</c:v>
                </c:pt>
                <c:pt idx="58">
                  <c:v>46155</c:v>
                </c:pt>
                <c:pt idx="59">
                  <c:v>46154</c:v>
                </c:pt>
                <c:pt idx="60">
                  <c:v>46153</c:v>
                </c:pt>
                <c:pt idx="61">
                  <c:v>46150</c:v>
                </c:pt>
                <c:pt idx="62">
                  <c:v>46149</c:v>
                </c:pt>
                <c:pt idx="63">
                  <c:v>46148</c:v>
                </c:pt>
                <c:pt idx="64">
                  <c:v>46147</c:v>
                </c:pt>
                <c:pt idx="65">
                  <c:v>46146</c:v>
                </c:pt>
                <c:pt idx="66">
                  <c:v>46141</c:v>
                </c:pt>
                <c:pt idx="67">
                  <c:v>46140</c:v>
                </c:pt>
                <c:pt idx="68">
                  <c:v>46136</c:v>
                </c:pt>
                <c:pt idx="69">
                  <c:v>46135</c:v>
                </c:pt>
                <c:pt idx="70">
                  <c:v>46134</c:v>
                </c:pt>
                <c:pt idx="71">
                  <c:v>46133</c:v>
                </c:pt>
                <c:pt idx="72">
                  <c:v>46132</c:v>
                </c:pt>
                <c:pt idx="73">
                  <c:v>46129</c:v>
                </c:pt>
                <c:pt idx="74">
                  <c:v>46128</c:v>
                </c:pt>
                <c:pt idx="75">
                  <c:v>46127</c:v>
                </c:pt>
                <c:pt idx="76">
                  <c:v>46126</c:v>
                </c:pt>
                <c:pt idx="77">
                  <c:v>46125</c:v>
                </c:pt>
                <c:pt idx="78">
                  <c:v>46122</c:v>
                </c:pt>
                <c:pt idx="79">
                  <c:v>46121</c:v>
                </c:pt>
                <c:pt idx="80">
                  <c:v>46120</c:v>
                </c:pt>
                <c:pt idx="81">
                  <c:v>46119</c:v>
                </c:pt>
                <c:pt idx="82">
                  <c:v>46118</c:v>
                </c:pt>
                <c:pt idx="83">
                  <c:v>46115</c:v>
                </c:pt>
                <c:pt idx="84">
                  <c:v>46114</c:v>
                </c:pt>
                <c:pt idx="85">
                  <c:v>46113</c:v>
                </c:pt>
                <c:pt idx="86">
                  <c:v>46112</c:v>
                </c:pt>
                <c:pt idx="87">
                  <c:v>46111</c:v>
                </c:pt>
                <c:pt idx="88">
                  <c:v>46108</c:v>
                </c:pt>
                <c:pt idx="89">
                  <c:v>46107</c:v>
                </c:pt>
                <c:pt idx="90">
                  <c:v>46106</c:v>
                </c:pt>
                <c:pt idx="91">
                  <c:v>46105</c:v>
                </c:pt>
                <c:pt idx="92">
                  <c:v>46104</c:v>
                </c:pt>
                <c:pt idx="93">
                  <c:v>46101</c:v>
                </c:pt>
                <c:pt idx="94">
                  <c:v>46100</c:v>
                </c:pt>
                <c:pt idx="95">
                  <c:v>46099</c:v>
                </c:pt>
                <c:pt idx="96">
                  <c:v>46098</c:v>
                </c:pt>
                <c:pt idx="97">
                  <c:v>46097</c:v>
                </c:pt>
                <c:pt idx="98">
                  <c:v>46094</c:v>
                </c:pt>
                <c:pt idx="99">
                  <c:v>46093</c:v>
                </c:pt>
                <c:pt idx="100">
                  <c:v>46092</c:v>
                </c:pt>
                <c:pt idx="101">
                  <c:v>46091</c:v>
                </c:pt>
                <c:pt idx="102">
                  <c:v>46090</c:v>
                </c:pt>
                <c:pt idx="103">
                  <c:v>46087</c:v>
                </c:pt>
                <c:pt idx="104">
                  <c:v>46086</c:v>
                </c:pt>
                <c:pt idx="105">
                  <c:v>46085</c:v>
                </c:pt>
                <c:pt idx="106">
                  <c:v>46084</c:v>
                </c:pt>
                <c:pt idx="107">
                  <c:v>46083</c:v>
                </c:pt>
                <c:pt idx="108">
                  <c:v>46080</c:v>
                </c:pt>
                <c:pt idx="109">
                  <c:v>46079</c:v>
                </c:pt>
                <c:pt idx="110">
                  <c:v>46078</c:v>
                </c:pt>
                <c:pt idx="111">
                  <c:v>46077</c:v>
                </c:pt>
                <c:pt idx="112">
                  <c:v>46076</c:v>
                </c:pt>
                <c:pt idx="113">
                  <c:v>46066</c:v>
                </c:pt>
                <c:pt idx="114">
                  <c:v>46065</c:v>
                </c:pt>
                <c:pt idx="115">
                  <c:v>46064</c:v>
                </c:pt>
                <c:pt idx="116">
                  <c:v>46063</c:v>
                </c:pt>
                <c:pt idx="117">
                  <c:v>46062</c:v>
                </c:pt>
                <c:pt idx="118">
                  <c:v>46059</c:v>
                </c:pt>
                <c:pt idx="119">
                  <c:v>46058</c:v>
                </c:pt>
                <c:pt idx="120">
                  <c:v>46057</c:v>
                </c:pt>
                <c:pt idx="121">
                  <c:v>46056</c:v>
                </c:pt>
                <c:pt idx="122">
                  <c:v>46055</c:v>
                </c:pt>
                <c:pt idx="123">
                  <c:v>46052</c:v>
                </c:pt>
                <c:pt idx="124">
                  <c:v>46051</c:v>
                </c:pt>
                <c:pt idx="125">
                  <c:v>46050</c:v>
                </c:pt>
                <c:pt idx="126">
                  <c:v>46049</c:v>
                </c:pt>
                <c:pt idx="127">
                  <c:v>46048</c:v>
                </c:pt>
                <c:pt idx="128">
                  <c:v>46045</c:v>
                </c:pt>
                <c:pt idx="129">
                  <c:v>46044</c:v>
                </c:pt>
                <c:pt idx="130">
                  <c:v>46043</c:v>
                </c:pt>
                <c:pt idx="131">
                  <c:v>46042</c:v>
                </c:pt>
                <c:pt idx="132">
                  <c:v>46041</c:v>
                </c:pt>
                <c:pt idx="133">
                  <c:v>46038</c:v>
                </c:pt>
                <c:pt idx="134">
                  <c:v>46037</c:v>
                </c:pt>
                <c:pt idx="135">
                  <c:v>46036</c:v>
                </c:pt>
                <c:pt idx="136">
                  <c:v>46035</c:v>
                </c:pt>
                <c:pt idx="137">
                  <c:v>46034</c:v>
                </c:pt>
                <c:pt idx="138">
                  <c:v>46031</c:v>
                </c:pt>
                <c:pt idx="139">
                  <c:v>46030</c:v>
                </c:pt>
                <c:pt idx="140">
                  <c:v>46029</c:v>
                </c:pt>
                <c:pt idx="141">
                  <c:v>46028</c:v>
                </c:pt>
                <c:pt idx="142">
                  <c:v>46027</c:v>
                </c:pt>
                <c:pt idx="143">
                  <c:v>46022</c:v>
                </c:pt>
                <c:pt idx="144">
                  <c:v>46021</c:v>
                </c:pt>
                <c:pt idx="145">
                  <c:v>46020</c:v>
                </c:pt>
                <c:pt idx="146">
                  <c:v>46017</c:v>
                </c:pt>
                <c:pt idx="147">
                  <c:v>46016</c:v>
                </c:pt>
                <c:pt idx="148">
                  <c:v>46015</c:v>
                </c:pt>
                <c:pt idx="149">
                  <c:v>46014</c:v>
                </c:pt>
                <c:pt idx="150">
                  <c:v>46013</c:v>
                </c:pt>
                <c:pt idx="151">
                  <c:v>46010</c:v>
                </c:pt>
                <c:pt idx="152">
                  <c:v>46009</c:v>
                </c:pt>
                <c:pt idx="153">
                  <c:v>46008</c:v>
                </c:pt>
                <c:pt idx="154">
                  <c:v>46007</c:v>
                </c:pt>
                <c:pt idx="155">
                  <c:v>46006</c:v>
                </c:pt>
                <c:pt idx="156">
                  <c:v>46003</c:v>
                </c:pt>
                <c:pt idx="157">
                  <c:v>46002</c:v>
                </c:pt>
                <c:pt idx="158">
                  <c:v>46001</c:v>
                </c:pt>
                <c:pt idx="159">
                  <c:v>46000</c:v>
                </c:pt>
                <c:pt idx="160">
                  <c:v>45999</c:v>
                </c:pt>
                <c:pt idx="161">
                  <c:v>45996</c:v>
                </c:pt>
                <c:pt idx="162">
                  <c:v>45995</c:v>
                </c:pt>
                <c:pt idx="163">
                  <c:v>45994</c:v>
                </c:pt>
                <c:pt idx="164">
                  <c:v>45993</c:v>
                </c:pt>
                <c:pt idx="165">
                  <c:v>45992</c:v>
                </c:pt>
                <c:pt idx="166">
                  <c:v>45989</c:v>
                </c:pt>
                <c:pt idx="167">
                  <c:v>45988</c:v>
                </c:pt>
                <c:pt idx="168">
                  <c:v>45987</c:v>
                </c:pt>
                <c:pt idx="169">
                  <c:v>45986</c:v>
                </c:pt>
                <c:pt idx="170">
                  <c:v>45985</c:v>
                </c:pt>
                <c:pt idx="171">
                  <c:v>45982</c:v>
                </c:pt>
                <c:pt idx="172">
                  <c:v>45981</c:v>
                </c:pt>
                <c:pt idx="173">
                  <c:v>45980</c:v>
                </c:pt>
                <c:pt idx="174">
                  <c:v>45979</c:v>
                </c:pt>
                <c:pt idx="175">
                  <c:v>45978</c:v>
                </c:pt>
                <c:pt idx="176">
                  <c:v>45975</c:v>
                </c:pt>
                <c:pt idx="177">
                  <c:v>45974</c:v>
                </c:pt>
                <c:pt idx="178">
                  <c:v>45973</c:v>
                </c:pt>
                <c:pt idx="179">
                  <c:v>45972</c:v>
                </c:pt>
                <c:pt idx="180">
                  <c:v>45971</c:v>
                </c:pt>
                <c:pt idx="181">
                  <c:v>45968</c:v>
                </c:pt>
                <c:pt idx="182">
                  <c:v>45967</c:v>
                </c:pt>
                <c:pt idx="183">
                  <c:v>45966</c:v>
                </c:pt>
                <c:pt idx="184">
                  <c:v>45965</c:v>
                </c:pt>
                <c:pt idx="185">
                  <c:v>45964</c:v>
                </c:pt>
                <c:pt idx="186">
                  <c:v>45961</c:v>
                </c:pt>
                <c:pt idx="187">
                  <c:v>45960</c:v>
                </c:pt>
                <c:pt idx="188">
                  <c:v>45959</c:v>
                </c:pt>
                <c:pt idx="189">
                  <c:v>45958</c:v>
                </c:pt>
                <c:pt idx="190">
                  <c:v>45957</c:v>
                </c:pt>
                <c:pt idx="191">
                  <c:v>45954</c:v>
                </c:pt>
                <c:pt idx="192">
                  <c:v>45953</c:v>
                </c:pt>
                <c:pt idx="193">
                  <c:v>45952</c:v>
                </c:pt>
                <c:pt idx="194">
                  <c:v>45951</c:v>
                </c:pt>
                <c:pt idx="195">
                  <c:v>45950</c:v>
                </c:pt>
                <c:pt idx="196">
                  <c:v>45947</c:v>
                </c:pt>
                <c:pt idx="197">
                  <c:v>45946</c:v>
                </c:pt>
                <c:pt idx="198">
                  <c:v>45945</c:v>
                </c:pt>
                <c:pt idx="199">
                  <c:v>45944</c:v>
                </c:pt>
                <c:pt idx="200">
                  <c:v>45943</c:v>
                </c:pt>
                <c:pt idx="201">
                  <c:v>45940</c:v>
                </c:pt>
                <c:pt idx="202">
                  <c:v>45939</c:v>
                </c:pt>
                <c:pt idx="203">
                  <c:v>45938</c:v>
                </c:pt>
                <c:pt idx="204">
                  <c:v>45937</c:v>
                </c:pt>
                <c:pt idx="205">
                  <c:v>45936</c:v>
                </c:pt>
                <c:pt idx="206">
                  <c:v>45933</c:v>
                </c:pt>
                <c:pt idx="207">
                  <c:v>45932</c:v>
                </c:pt>
                <c:pt idx="208">
                  <c:v>45931</c:v>
                </c:pt>
                <c:pt idx="209">
                  <c:v>45930</c:v>
                </c:pt>
                <c:pt idx="210">
                  <c:v>45929</c:v>
                </c:pt>
                <c:pt idx="211">
                  <c:v>45926</c:v>
                </c:pt>
                <c:pt idx="212">
                  <c:v>45925</c:v>
                </c:pt>
                <c:pt idx="213">
                  <c:v>45924</c:v>
                </c:pt>
                <c:pt idx="214">
                  <c:v>45923</c:v>
                </c:pt>
                <c:pt idx="215">
                  <c:v>45922</c:v>
                </c:pt>
                <c:pt idx="216">
                  <c:v>45919</c:v>
                </c:pt>
                <c:pt idx="217">
                  <c:v>45918</c:v>
                </c:pt>
                <c:pt idx="218">
                  <c:v>45917</c:v>
                </c:pt>
                <c:pt idx="219">
                  <c:v>45916</c:v>
                </c:pt>
                <c:pt idx="220">
                  <c:v>45915</c:v>
                </c:pt>
                <c:pt idx="221">
                  <c:v>45912</c:v>
                </c:pt>
                <c:pt idx="222">
                  <c:v>45911</c:v>
                </c:pt>
                <c:pt idx="223">
                  <c:v>45910</c:v>
                </c:pt>
                <c:pt idx="224">
                  <c:v>45909</c:v>
                </c:pt>
                <c:pt idx="225">
                  <c:v>45908</c:v>
                </c:pt>
                <c:pt idx="226">
                  <c:v>45905</c:v>
                </c:pt>
                <c:pt idx="227">
                  <c:v>45904</c:v>
                </c:pt>
                <c:pt idx="228">
                  <c:v>45903</c:v>
                </c:pt>
                <c:pt idx="229">
                  <c:v>45898</c:v>
                </c:pt>
                <c:pt idx="230">
                  <c:v>45897</c:v>
                </c:pt>
                <c:pt idx="231">
                  <c:v>45896</c:v>
                </c:pt>
                <c:pt idx="232">
                  <c:v>45895</c:v>
                </c:pt>
                <c:pt idx="233">
                  <c:v>45894</c:v>
                </c:pt>
                <c:pt idx="234">
                  <c:v>45891</c:v>
                </c:pt>
                <c:pt idx="235">
                  <c:v>45890</c:v>
                </c:pt>
                <c:pt idx="236">
                  <c:v>45889</c:v>
                </c:pt>
                <c:pt idx="237">
                  <c:v>45888</c:v>
                </c:pt>
                <c:pt idx="238">
                  <c:v>45887</c:v>
                </c:pt>
                <c:pt idx="239">
                  <c:v>45884</c:v>
                </c:pt>
                <c:pt idx="240">
                  <c:v>45883</c:v>
                </c:pt>
                <c:pt idx="241">
                  <c:v>45882</c:v>
                </c:pt>
                <c:pt idx="242">
                  <c:v>45881</c:v>
                </c:pt>
                <c:pt idx="243">
                  <c:v>45880</c:v>
                </c:pt>
                <c:pt idx="244">
                  <c:v>45877</c:v>
                </c:pt>
                <c:pt idx="245">
                  <c:v>45876</c:v>
                </c:pt>
                <c:pt idx="246">
                  <c:v>45875</c:v>
                </c:pt>
                <c:pt idx="247">
                  <c:v>45874</c:v>
                </c:pt>
                <c:pt idx="248">
                  <c:v>45873</c:v>
                </c:pt>
                <c:pt idx="249">
                  <c:v>45870</c:v>
                </c:pt>
                <c:pt idx="250">
                  <c:v>45869</c:v>
                </c:pt>
                <c:pt idx="251">
                  <c:v>45868</c:v>
                </c:pt>
                <c:pt idx="252">
                  <c:v>45867</c:v>
                </c:pt>
                <c:pt idx="253">
                  <c:v>45866</c:v>
                </c:pt>
                <c:pt idx="254">
                  <c:v>45863</c:v>
                </c:pt>
                <c:pt idx="255">
                  <c:v>45862</c:v>
                </c:pt>
                <c:pt idx="256">
                  <c:v>45861</c:v>
                </c:pt>
                <c:pt idx="257">
                  <c:v>45860</c:v>
                </c:pt>
                <c:pt idx="258">
                  <c:v>45859</c:v>
                </c:pt>
                <c:pt idx="259">
                  <c:v>45856</c:v>
                </c:pt>
                <c:pt idx="260">
                  <c:v>45855</c:v>
                </c:pt>
                <c:pt idx="261">
                  <c:v>45854</c:v>
                </c:pt>
                <c:pt idx="262">
                  <c:v>45853</c:v>
                </c:pt>
                <c:pt idx="263">
                  <c:v>45852</c:v>
                </c:pt>
                <c:pt idx="264">
                  <c:v>45849</c:v>
                </c:pt>
                <c:pt idx="265">
                  <c:v>45848</c:v>
                </c:pt>
                <c:pt idx="266">
                  <c:v>45847</c:v>
                </c:pt>
                <c:pt idx="267">
                  <c:v>45846</c:v>
                </c:pt>
                <c:pt idx="268">
                  <c:v>45845</c:v>
                </c:pt>
                <c:pt idx="269">
                  <c:v>45842</c:v>
                </c:pt>
                <c:pt idx="270">
                  <c:v>45841</c:v>
                </c:pt>
                <c:pt idx="271">
                  <c:v>45840</c:v>
                </c:pt>
                <c:pt idx="272">
                  <c:v>45839</c:v>
                </c:pt>
                <c:pt idx="273">
                  <c:v>45838</c:v>
                </c:pt>
                <c:pt idx="274">
                  <c:v>45835</c:v>
                </c:pt>
                <c:pt idx="275">
                  <c:v>45834</c:v>
                </c:pt>
                <c:pt idx="276">
                  <c:v>45833</c:v>
                </c:pt>
                <c:pt idx="277">
                  <c:v>45832</c:v>
                </c:pt>
                <c:pt idx="278">
                  <c:v>45831</c:v>
                </c:pt>
                <c:pt idx="279">
                  <c:v>45828</c:v>
                </c:pt>
                <c:pt idx="280">
                  <c:v>45827</c:v>
                </c:pt>
                <c:pt idx="281">
                  <c:v>45826</c:v>
                </c:pt>
                <c:pt idx="282">
                  <c:v>45825</c:v>
                </c:pt>
                <c:pt idx="283">
                  <c:v>45824</c:v>
                </c:pt>
                <c:pt idx="284">
                  <c:v>45821</c:v>
                </c:pt>
                <c:pt idx="285">
                  <c:v>45820</c:v>
                </c:pt>
                <c:pt idx="286">
                  <c:v>45819</c:v>
                </c:pt>
                <c:pt idx="287">
                  <c:v>45818</c:v>
                </c:pt>
                <c:pt idx="288">
                  <c:v>45817</c:v>
                </c:pt>
                <c:pt idx="289">
                  <c:v>45814</c:v>
                </c:pt>
                <c:pt idx="290">
                  <c:v>45813</c:v>
                </c:pt>
                <c:pt idx="291">
                  <c:v>45812</c:v>
                </c:pt>
                <c:pt idx="292">
                  <c:v>45811</c:v>
                </c:pt>
                <c:pt idx="293">
                  <c:v>45810</c:v>
                </c:pt>
                <c:pt idx="294">
                  <c:v>45807</c:v>
                </c:pt>
                <c:pt idx="295">
                  <c:v>45806</c:v>
                </c:pt>
                <c:pt idx="296">
                  <c:v>45805</c:v>
                </c:pt>
                <c:pt idx="297">
                  <c:v>45804</c:v>
                </c:pt>
                <c:pt idx="298">
                  <c:v>45803</c:v>
                </c:pt>
                <c:pt idx="299">
                  <c:v>45800</c:v>
                </c:pt>
                <c:pt idx="300">
                  <c:v>45799</c:v>
                </c:pt>
                <c:pt idx="301">
                  <c:v>45798</c:v>
                </c:pt>
                <c:pt idx="302">
                  <c:v>45797</c:v>
                </c:pt>
                <c:pt idx="303">
                  <c:v>45796</c:v>
                </c:pt>
                <c:pt idx="304">
                  <c:v>45793</c:v>
                </c:pt>
                <c:pt idx="305">
                  <c:v>45792</c:v>
                </c:pt>
                <c:pt idx="306">
                  <c:v>45791</c:v>
                </c:pt>
                <c:pt idx="307">
                  <c:v>45790</c:v>
                </c:pt>
                <c:pt idx="308">
                  <c:v>45789</c:v>
                </c:pt>
                <c:pt idx="309">
                  <c:v>45786</c:v>
                </c:pt>
                <c:pt idx="310">
                  <c:v>45785</c:v>
                </c:pt>
                <c:pt idx="311">
                  <c:v>45784</c:v>
                </c:pt>
                <c:pt idx="312">
                  <c:v>45783</c:v>
                </c:pt>
                <c:pt idx="313">
                  <c:v>45782</c:v>
                </c:pt>
                <c:pt idx="314">
                  <c:v>45776</c:v>
                </c:pt>
                <c:pt idx="315">
                  <c:v>45775</c:v>
                </c:pt>
                <c:pt idx="316">
                  <c:v>45772</c:v>
                </c:pt>
                <c:pt idx="317">
                  <c:v>45771</c:v>
                </c:pt>
                <c:pt idx="318">
                  <c:v>45770</c:v>
                </c:pt>
                <c:pt idx="319">
                  <c:v>45769</c:v>
                </c:pt>
                <c:pt idx="320">
                  <c:v>45768</c:v>
                </c:pt>
                <c:pt idx="321">
                  <c:v>45765</c:v>
                </c:pt>
                <c:pt idx="322">
                  <c:v>45764</c:v>
                </c:pt>
                <c:pt idx="323">
                  <c:v>45763</c:v>
                </c:pt>
                <c:pt idx="324">
                  <c:v>45762</c:v>
                </c:pt>
                <c:pt idx="325">
                  <c:v>45761</c:v>
                </c:pt>
                <c:pt idx="326">
                  <c:v>45758</c:v>
                </c:pt>
                <c:pt idx="327">
                  <c:v>45757</c:v>
                </c:pt>
                <c:pt idx="328">
                  <c:v>45756</c:v>
                </c:pt>
                <c:pt idx="329">
                  <c:v>45755</c:v>
                </c:pt>
                <c:pt idx="330">
                  <c:v>45751</c:v>
                </c:pt>
                <c:pt idx="331">
                  <c:v>45750</c:v>
                </c:pt>
                <c:pt idx="332">
                  <c:v>45749</c:v>
                </c:pt>
                <c:pt idx="333">
                  <c:v>45748</c:v>
                </c:pt>
                <c:pt idx="334">
                  <c:v>45747</c:v>
                </c:pt>
                <c:pt idx="335">
                  <c:v>45744</c:v>
                </c:pt>
                <c:pt idx="336">
                  <c:v>45743</c:v>
                </c:pt>
                <c:pt idx="337">
                  <c:v>45742</c:v>
                </c:pt>
                <c:pt idx="338">
                  <c:v>45741</c:v>
                </c:pt>
                <c:pt idx="339">
                  <c:v>45740</c:v>
                </c:pt>
                <c:pt idx="340">
                  <c:v>45737</c:v>
                </c:pt>
                <c:pt idx="341">
                  <c:v>45736</c:v>
                </c:pt>
                <c:pt idx="342">
                  <c:v>45735</c:v>
                </c:pt>
                <c:pt idx="343">
                  <c:v>45734</c:v>
                </c:pt>
                <c:pt idx="344">
                  <c:v>45733</c:v>
                </c:pt>
                <c:pt idx="345">
                  <c:v>45730</c:v>
                </c:pt>
                <c:pt idx="346">
                  <c:v>45729</c:v>
                </c:pt>
                <c:pt idx="347">
                  <c:v>45728</c:v>
                </c:pt>
                <c:pt idx="348">
                  <c:v>45727</c:v>
                </c:pt>
                <c:pt idx="349">
                  <c:v>45726</c:v>
                </c:pt>
                <c:pt idx="350">
                  <c:v>45723</c:v>
                </c:pt>
                <c:pt idx="351">
                  <c:v>45722</c:v>
                </c:pt>
                <c:pt idx="352">
                  <c:v>45721</c:v>
                </c:pt>
                <c:pt idx="353">
                  <c:v>45720</c:v>
                </c:pt>
                <c:pt idx="354">
                  <c:v>45719</c:v>
                </c:pt>
                <c:pt idx="355">
                  <c:v>45716</c:v>
                </c:pt>
                <c:pt idx="356">
                  <c:v>45715</c:v>
                </c:pt>
                <c:pt idx="357">
                  <c:v>45714</c:v>
                </c:pt>
                <c:pt idx="358">
                  <c:v>45713</c:v>
                </c:pt>
                <c:pt idx="359">
                  <c:v>45712</c:v>
                </c:pt>
                <c:pt idx="360">
                  <c:v>45709</c:v>
                </c:pt>
                <c:pt idx="361">
                  <c:v>45708</c:v>
                </c:pt>
                <c:pt idx="362">
                  <c:v>45707</c:v>
                </c:pt>
                <c:pt idx="363">
                  <c:v>45706</c:v>
                </c:pt>
                <c:pt idx="364">
                  <c:v>45705</c:v>
                </c:pt>
                <c:pt idx="365">
                  <c:v>45702</c:v>
                </c:pt>
                <c:pt idx="366">
                  <c:v>45701</c:v>
                </c:pt>
                <c:pt idx="367">
                  <c:v>45700</c:v>
                </c:pt>
                <c:pt idx="368">
                  <c:v>45699</c:v>
                </c:pt>
                <c:pt idx="369">
                  <c:v>45698</c:v>
                </c:pt>
                <c:pt idx="370">
                  <c:v>45695</c:v>
                </c:pt>
                <c:pt idx="371">
                  <c:v>45694</c:v>
                </c:pt>
                <c:pt idx="372">
                  <c:v>45693</c:v>
                </c:pt>
                <c:pt idx="373">
                  <c:v>45692</c:v>
                </c:pt>
                <c:pt idx="374">
                  <c:v>45691</c:v>
                </c:pt>
                <c:pt idx="375">
                  <c:v>45681</c:v>
                </c:pt>
                <c:pt idx="376">
                  <c:v>45680</c:v>
                </c:pt>
                <c:pt idx="377">
                  <c:v>45679</c:v>
                </c:pt>
                <c:pt idx="378">
                  <c:v>45678</c:v>
                </c:pt>
                <c:pt idx="379">
                  <c:v>45677</c:v>
                </c:pt>
                <c:pt idx="380">
                  <c:v>45674</c:v>
                </c:pt>
                <c:pt idx="381">
                  <c:v>45673</c:v>
                </c:pt>
              </c:numCache>
            </c:numRef>
          </c:cat>
          <c:val>
            <c:numRef>
              <c:f>Sheet1!$AL$2:$AL$383</c:f>
              <c:numCache>
                <c:formatCode>#,##0.00</c:formatCode>
                <c:ptCount val="382"/>
                <c:pt idx="1">
                  <c:v>1298.7100733086327</c:v>
                </c:pt>
                <c:pt idx="2">
                  <c:v>1298.4058848391583</c:v>
                </c:pt>
                <c:pt idx="3">
                  <c:v>1267.9530924200694</c:v>
                </c:pt>
                <c:pt idx="4">
                  <c:v>1261.6338297209145</c:v>
                </c:pt>
                <c:pt idx="5">
                  <c:v>1251.4559584571134</c:v>
                </c:pt>
                <c:pt idx="6">
                  <c:v>1269.6215808096088</c:v>
                </c:pt>
                <c:pt idx="7">
                  <c:v>1279.4953127304589</c:v>
                </c:pt>
                <c:pt idx="8">
                  <c:v>1273.1338610503396</c:v>
                </c:pt>
                <c:pt idx="9">
                  <c:v>1299.9636307055598</c:v>
                </c:pt>
                <c:pt idx="10">
                  <c:v>1307.9712554819143</c:v>
                </c:pt>
                <c:pt idx="11">
                  <c:v>1347.343729434171</c:v>
                </c:pt>
                <c:pt idx="12">
                  <c:v>1356.2066389381644</c:v>
                </c:pt>
                <c:pt idx="13">
                  <c:v>1349.9413955239042</c:v>
                </c:pt>
                <c:pt idx="14">
                  <c:v>1366.6455030355487</c:v>
                </c:pt>
                <c:pt idx="15">
                  <c:v>1353.9941340548917</c:v>
                </c:pt>
                <c:pt idx="16">
                  <c:v>1375.8721456420913</c:v>
                </c:pt>
                <c:pt idx="17">
                  <c:v>1389.4084750264954</c:v>
                </c:pt>
                <c:pt idx="18">
                  <c:v>1401.3932917116226</c:v>
                </c:pt>
                <c:pt idx="19">
                  <c:v>1396.9702976181004</c:v>
                </c:pt>
                <c:pt idx="20">
                  <c:v>1388.3527663691007</c:v>
                </c:pt>
                <c:pt idx="21">
                  <c:v>1407.8255700244963</c:v>
                </c:pt>
                <c:pt idx="22">
                  <c:v>1412.6824121304098</c:v>
                </c:pt>
                <c:pt idx="23">
                  <c:v>1419.703430227657</c:v>
                </c:pt>
                <c:pt idx="24">
                  <c:v>1404.3859446210467</c:v>
                </c:pt>
                <c:pt idx="25">
                  <c:v>1405.3659446009178</c:v>
                </c:pt>
                <c:pt idx="26">
                  <c:v>1394.0562651842806</c:v>
                </c:pt>
                <c:pt idx="27">
                  <c:v>1395.411795121637</c:v>
                </c:pt>
                <c:pt idx="28">
                  <c:v>1397.384771043251</c:v>
                </c:pt>
                <c:pt idx="29">
                  <c:v>1394.2159250664752</c:v>
                </c:pt>
                <c:pt idx="30">
                  <c:v>1397.6347965196833</c:v>
                </c:pt>
                <c:pt idx="31">
                  <c:v>1397.315741247268</c:v>
                </c:pt>
                <c:pt idx="32">
                  <c:v>1403.8399819821489</c:v>
                </c:pt>
                <c:pt idx="33">
                  <c:v>1411.1491742738767</c:v>
                </c:pt>
                <c:pt idx="34">
                  <c:v>1408.086584621701</c:v>
                </c:pt>
                <c:pt idx="35">
                  <c:v>1402.399158178834</c:v>
                </c:pt>
                <c:pt idx="36">
                  <c:v>1388.337254006076</c:v>
                </c:pt>
                <c:pt idx="37">
                  <c:v>1388.0798751013278</c:v>
                </c:pt>
                <c:pt idx="38">
                  <c:v>1390.903725955555</c:v>
                </c:pt>
                <c:pt idx="39">
                  <c:v>1385.7662562203122</c:v>
                </c:pt>
                <c:pt idx="40">
                  <c:v>1379.843684770723</c:v>
                </c:pt>
                <c:pt idx="41">
                  <c:v>1402.334744996012</c:v>
                </c:pt>
                <c:pt idx="42">
                  <c:v>1408.156299293697</c:v>
                </c:pt>
                <c:pt idx="43">
                  <c:v>1401.2560308080654</c:v>
                </c:pt>
                <c:pt idx="44">
                  <c:v>1394.2749360906378</c:v>
                </c:pt>
                <c:pt idx="45">
                  <c:v>1411.1303139732831</c:v>
                </c:pt>
                <c:pt idx="46">
                  <c:v>1415.1741664513297</c:v>
                </c:pt>
                <c:pt idx="47">
                  <c:v>1415.337037356837</c:v>
                </c:pt>
                <c:pt idx="48">
                  <c:v>1435.564892842229</c:v>
                </c:pt>
                <c:pt idx="49">
                  <c:v>1433.953431806208</c:v>
                </c:pt>
                <c:pt idx="50">
                  <c:v>1422.0428262570065</c:v>
                </c:pt>
                <c:pt idx="51">
                  <c:v>1422.5509973248618</c:v>
                </c:pt>
                <c:pt idx="52">
                  <c:v>1432.9432568635566</c:v>
                </c:pt>
                <c:pt idx="53">
                  <c:v>1436.5373126088264</c:v>
                </c:pt>
                <c:pt idx="54">
                  <c:v>1441.4039201178562</c:v>
                </c:pt>
                <c:pt idx="55">
                  <c:v>1459.7933218945946</c:v>
                </c:pt>
                <c:pt idx="56">
                  <c:v>1445.4133616196773</c:v>
                </c:pt>
                <c:pt idx="57">
                  <c:v>1446.6048375182104</c:v>
                </c:pt>
                <c:pt idx="58">
                  <c:v>1438.2460481297965</c:v>
                </c:pt>
                <c:pt idx="59">
                  <c:v>1431.6679300315152</c:v>
                </c:pt>
                <c:pt idx="60">
                  <c:v>1424.821703222362</c:v>
                </c:pt>
                <c:pt idx="61">
                  <c:v>1435.1411271529073</c:v>
                </c:pt>
                <c:pt idx="62">
                  <c:v>1433.924842047799</c:v>
                </c:pt>
                <c:pt idx="63">
                  <c:v>1433.0934578437705</c:v>
                </c:pt>
                <c:pt idx="64">
                  <c:v>1418.0012432409167</c:v>
                </c:pt>
                <c:pt idx="65">
                  <c:v>1419.210761201716</c:v>
                </c:pt>
                <c:pt idx="66">
                  <c:v>1412.9990588726541</c:v>
                </c:pt>
                <c:pt idx="67">
                  <c:v>1412.8947980546689</c:v>
                </c:pt>
                <c:pt idx="68">
                  <c:v>1422.7295555623705</c:v>
                </c:pt>
                <c:pt idx="69">
                  <c:v>1428.2297074899766</c:v>
                </c:pt>
                <c:pt idx="70">
                  <c:v>1425.3573677561728</c:v>
                </c:pt>
                <c:pt idx="71">
                  <c:v>1427.845337101914</c:v>
                </c:pt>
                <c:pt idx="72">
                  <c:v>1435.8063464850445</c:v>
                </c:pt>
                <c:pt idx="73">
                  <c:v>1430.4455670916207</c:v>
                </c:pt>
                <c:pt idx="74">
                  <c:v>1422.6591357598957</c:v>
                </c:pt>
                <c:pt idx="75">
                  <c:v>1429.7734394310487</c:v>
                </c:pt>
                <c:pt idx="76">
                  <c:v>1432.7506714921947</c:v>
                </c:pt>
                <c:pt idx="77">
                  <c:v>1430.332874263615</c:v>
                </c:pt>
                <c:pt idx="78">
                  <c:v>1436.1875646726983</c:v>
                </c:pt>
                <c:pt idx="79">
                  <c:v>1426.4921840445845</c:v>
                </c:pt>
                <c:pt idx="80">
                  <c:v>1436.7499783664211</c:v>
                </c:pt>
                <c:pt idx="81">
                  <c:v>1383.0339531240143</c:v>
                </c:pt>
                <c:pt idx="82">
                  <c:v>1381.4389922579371</c:v>
                </c:pt>
                <c:pt idx="83">
                  <c:v>1388.967320047185</c:v>
                </c:pt>
                <c:pt idx="84">
                  <c:v>1402.069672384277</c:v>
                </c:pt>
                <c:pt idx="85">
                  <c:v>1414.9119120035264</c:v>
                </c:pt>
                <c:pt idx="86">
                  <c:v>1403.575379830226</c:v>
                </c:pt>
                <c:pt idx="87">
                  <c:v>1400.6833017878698</c:v>
                </c:pt>
                <c:pt idx="88">
                  <c:v>1405.9527423793995</c:v>
                </c:pt>
                <c:pt idx="89">
                  <c:v>1384.2271070537658</c:v>
                </c:pt>
                <c:pt idx="90">
                  <c:v>1396.5603463315465</c:v>
                </c:pt>
                <c:pt idx="91">
                  <c:v>1367.065216372059</c:v>
                </c:pt>
                <c:pt idx="92">
                  <c:v>1342.078647401577</c:v>
                </c:pt>
                <c:pt idx="93">
                  <c:v>1380.97454238787</c:v>
                </c:pt>
                <c:pt idx="94">
                  <c:v>1413.247632846637</c:v>
                </c:pt>
                <c:pt idx="95">
                  <c:v>1427.7677188626853</c:v>
                </c:pt>
                <c:pt idx="96">
                  <c:v>1424.0745784469946</c:v>
                </c:pt>
                <c:pt idx="97">
                  <c:v>1411.565004649389</c:v>
                </c:pt>
                <c:pt idx="98">
                  <c:v>1415.786416082666</c:v>
                </c:pt>
                <c:pt idx="99">
                  <c:v>1429.6382141457761</c:v>
                </c:pt>
                <c:pt idx="100">
                  <c:v>1447.7155290094906</c:v>
                </c:pt>
                <c:pt idx="101">
                  <c:v>1410.961717822805</c:v>
                </c:pt>
                <c:pt idx="102">
                  <c:v>1382.4487697286086</c:v>
                </c:pt>
                <c:pt idx="103">
                  <c:v>1471.0644960097986</c:v>
                </c:pt>
                <c:pt idx="104">
                  <c:v>1498.2532869037636</c:v>
                </c:pt>
                <c:pt idx="105">
                  <c:v>1524.3439215774836</c:v>
                </c:pt>
                <c:pt idx="106">
                  <c:v>1519.5642689183237</c:v>
                </c:pt>
                <c:pt idx="107">
                  <c:v>1524.9873784681777</c:v>
                </c:pt>
                <c:pt idx="108">
                  <c:v>1542.9310637836124</c:v>
                </c:pt>
                <c:pt idx="109">
                  <c:v>1548.0076035944744</c:v>
                </c:pt>
                <c:pt idx="110">
                  <c:v>1548.4737107751625</c:v>
                </c:pt>
                <c:pt idx="111">
                  <c:v>1542.2722847350055</c:v>
                </c:pt>
                <c:pt idx="112">
                  <c:v>1535.3372876580916</c:v>
                </c:pt>
                <c:pt idx="113">
                  <c:v>1504.2846220803979</c:v>
                </c:pt>
                <c:pt idx="114">
                  <c:v>1495.9240110473702</c:v>
                </c:pt>
                <c:pt idx="115">
                  <c:v>1497.3623472320876</c:v>
                </c:pt>
                <c:pt idx="116">
                  <c:v>1472.0215955280642</c:v>
                </c:pt>
                <c:pt idx="117">
                  <c:v>1494.282403450146</c:v>
                </c:pt>
                <c:pt idx="118">
                  <c:v>1494.971537550412</c:v>
                </c:pt>
                <c:pt idx="119">
                  <c:v>1521.922186835983</c:v>
                </c:pt>
                <c:pt idx="120">
                  <c:v>1550.7438639712377</c:v>
                </c:pt>
                <c:pt idx="121">
                  <c:v>1551.962144697843</c:v>
                </c:pt>
                <c:pt idx="122">
                  <c:v>1544.0300803385278</c:v>
                </c:pt>
                <c:pt idx="123">
                  <c:v>1540.7728073946168</c:v>
                </c:pt>
                <c:pt idx="124">
                  <c:v>1526.1246149650958</c:v>
                </c:pt>
                <c:pt idx="125">
                  <c:v>1517.2403679274162</c:v>
                </c:pt>
                <c:pt idx="126">
                  <c:v>1520.8210245550208</c:v>
                </c:pt>
                <c:pt idx="127">
                  <c:v>1511.4654138935891</c:v>
                </c:pt>
                <c:pt idx="128">
                  <c:v>1525.5396021998654</c:v>
                </c:pt>
                <c:pt idx="129">
                  <c:v>1547.2608965520508</c:v>
                </c:pt>
                <c:pt idx="130">
                  <c:v>1549.2595496913736</c:v>
                </c:pt>
                <c:pt idx="131">
                  <c:v>1556.738013288151</c:v>
                </c:pt>
                <c:pt idx="132">
                  <c:v>1555.04837471683</c:v>
                </c:pt>
                <c:pt idx="133">
                  <c:v>1542.0230074057392</c:v>
                </c:pt>
                <c:pt idx="134">
                  <c:v>1543.1687702775976</c:v>
                </c:pt>
                <c:pt idx="135">
                  <c:v>1555.1788381175058</c:v>
                </c:pt>
                <c:pt idx="136">
                  <c:v>1542.4647866351702</c:v>
                </c:pt>
                <c:pt idx="137">
                  <c:v>1528.2650227900797</c:v>
                </c:pt>
                <c:pt idx="138">
                  <c:v>1488.8179673720094</c:v>
                </c:pt>
                <c:pt idx="139">
                  <c:v>1475.459512294419</c:v>
                </c:pt>
                <c:pt idx="140">
                  <c:v>1464.6570678005291</c:v>
                </c:pt>
                <c:pt idx="141">
                  <c:v>1435.1470706000403</c:v>
                </c:pt>
                <c:pt idx="142">
                  <c:v>1417.6575224839862</c:v>
                </c:pt>
                <c:pt idx="143">
                  <c:v>1430.2467303271922</c:v>
                </c:pt>
                <c:pt idx="144">
                  <c:v>1430.8886073763715</c:v>
                </c:pt>
                <c:pt idx="145">
                  <c:v>1422.7474973880908</c:v>
                </c:pt>
                <c:pt idx="146">
                  <c:v>1413.5321592908485</c:v>
                </c:pt>
                <c:pt idx="147">
                  <c:v>1415.0902991544292</c:v>
                </c:pt>
                <c:pt idx="148">
                  <c:v>1424.9456067208707</c:v>
                </c:pt>
                <c:pt idx="149">
                  <c:v>1421.0608962758033</c:v>
                </c:pt>
                <c:pt idx="150">
                  <c:v>1428.176964686032</c:v>
                </c:pt>
                <c:pt idx="151">
                  <c:v>1406.5948035721835</c:v>
                </c:pt>
                <c:pt idx="152">
                  <c:v>1397.7360640540412</c:v>
                </c:pt>
                <c:pt idx="153">
                  <c:v>1394.7577067430923</c:v>
                </c:pt>
                <c:pt idx="154">
                  <c:v>1401.660416482092</c:v>
                </c:pt>
                <c:pt idx="155">
                  <c:v>1373.326830658948</c:v>
                </c:pt>
                <c:pt idx="156">
                  <c:v>1369.2349414935939</c:v>
                </c:pt>
                <c:pt idx="157">
                  <c:v>1407.8606926462426</c:v>
                </c:pt>
                <c:pt idx="158">
                  <c:v>1418.6667164259743</c:v>
                </c:pt>
                <c:pt idx="159">
                  <c:v>1419.7775306603007</c:v>
                </c:pt>
                <c:pt idx="160">
                  <c:v>1434.888809329771</c:v>
                </c:pt>
                <c:pt idx="161">
                  <c:v>1442.9447370337261</c:v>
                </c:pt>
                <c:pt idx="162">
                  <c:v>1457.1945283174723</c:v>
                </c:pt>
                <c:pt idx="163">
                  <c:v>1448.914774905899</c:v>
                </c:pt>
                <c:pt idx="164">
                  <c:v>1427.5973632991017</c:v>
                </c:pt>
                <c:pt idx="165">
                  <c:v>1418.5473454961523</c:v>
                </c:pt>
                <c:pt idx="166">
                  <c:v>1421.7176138499517</c:v>
                </c:pt>
                <c:pt idx="167">
                  <c:v>1428.724133933626</c:v>
                </c:pt>
                <c:pt idx="168">
                  <c:v>1428.5690619945026</c:v>
                </c:pt>
                <c:pt idx="169">
                  <c:v>1412.380073401478</c:v>
                </c:pt>
                <c:pt idx="170">
                  <c:v>1423.8670377349872</c:v>
                </c:pt>
                <c:pt idx="171">
                  <c:v>1425.011873359963</c:v>
                </c:pt>
                <c:pt idx="172">
                  <c:v>1430.0525475723193</c:v>
                </c:pt>
                <c:pt idx="173">
                  <c:v>1430.6200880532206</c:v>
                </c:pt>
                <c:pt idx="174">
                  <c:v>1441.4975730171122</c:v>
                </c:pt>
                <c:pt idx="175">
                  <c:v>1440.5754316240002</c:v>
                </c:pt>
                <c:pt idx="176">
                  <c:v>1427.8602996374088</c:v>
                </c:pt>
                <c:pt idx="177">
                  <c:v>1423.9352044871466</c:v>
                </c:pt>
                <c:pt idx="178">
                  <c:v>1423.02630216127</c:v>
                </c:pt>
                <c:pt idx="179">
                  <c:v>1398.8719252439373</c:v>
                </c:pt>
                <c:pt idx="180">
                  <c:v>1391.6684606939764</c:v>
                </c:pt>
                <c:pt idx="181">
                  <c:v>1403.6862359662177</c:v>
                </c:pt>
                <c:pt idx="182">
                  <c:v>1432.5055531766684</c:v>
                </c:pt>
                <c:pt idx="183">
                  <c:v>1444.6568003040202</c:v>
                </c:pt>
                <c:pt idx="184">
                  <c:v>1445.5053777458866</c:v>
                </c:pt>
                <c:pt idx="185">
                  <c:v>1417.677936068906</c:v>
                </c:pt>
                <c:pt idx="186">
                  <c:v>1441.8597277192473</c:v>
                </c:pt>
                <c:pt idx="187">
                  <c:v>1455.0869084048234</c:v>
                </c:pt>
                <c:pt idx="188">
                  <c:v>1463.2710331769265</c:v>
                </c:pt>
                <c:pt idx="189">
                  <c:v>1447.1506481137699</c:v>
                </c:pt>
                <c:pt idx="190">
                  <c:v>1424.9238573862694</c:v>
                </c:pt>
                <c:pt idx="191">
                  <c:v>1441.9034549731118</c:v>
                </c:pt>
                <c:pt idx="192">
                  <c:v>1449.144602713654</c:v>
                </c:pt>
                <c:pt idx="193">
                  <c:v>1453.752321826752</c:v>
                </c:pt>
                <c:pt idx="194">
                  <c:v>1442.4318819559842</c:v>
                </c:pt>
                <c:pt idx="195">
                  <c:v>1426.2757126944523</c:v>
                </c:pt>
                <c:pt idx="196">
                  <c:v>1501.6831055007522</c:v>
                </c:pt>
                <c:pt idx="197">
                  <c:v>1521.0902083125602</c:v>
                </c:pt>
                <c:pt idx="198">
                  <c:v>1513.6140065959023</c:v>
                </c:pt>
                <c:pt idx="199">
                  <c:v>1510.169004932357</c:v>
                </c:pt>
                <c:pt idx="200">
                  <c:v>1521.3879439731716</c:v>
                </c:pt>
                <c:pt idx="201">
                  <c:v>1518.3296753886855</c:v>
                </c:pt>
                <c:pt idx="202">
                  <c:v>1507.905999329033</c:v>
                </c:pt>
                <c:pt idx="203">
                  <c:v>1498.7534745634953</c:v>
                </c:pt>
                <c:pt idx="204">
                  <c:v>1489.3843571101856</c:v>
                </c:pt>
                <c:pt idx="205">
                  <c:v>1502.545858538506</c:v>
                </c:pt>
                <c:pt idx="206">
                  <c:v>1459.8596305438805</c:v>
                </c:pt>
                <c:pt idx="207">
                  <c:v>1473.3634978955652</c:v>
                </c:pt>
                <c:pt idx="208">
                  <c:v>1483.4367342189169</c:v>
                </c:pt>
                <c:pt idx="209">
                  <c:v>1474.5774038845734</c:v>
                </c:pt>
                <c:pt idx="210">
                  <c:v>1483.4482150278427</c:v>
                </c:pt>
                <c:pt idx="211">
                  <c:v>1488.4727651781184</c:v>
                </c:pt>
                <c:pt idx="212">
                  <c:v>1498.7648216127022</c:v>
                </c:pt>
                <c:pt idx="213">
                  <c:v>1499.7680916812699</c:v>
                </c:pt>
                <c:pt idx="214">
                  <c:v>1477.0524743872677</c:v>
                </c:pt>
                <c:pt idx="215">
                  <c:v>1475.5776738445638</c:v>
                </c:pt>
                <c:pt idx="216">
                  <c:v>1493.4921853604526</c:v>
                </c:pt>
                <c:pt idx="217">
                  <c:v>1505.248804555367</c:v>
                </c:pt>
                <c:pt idx="218">
                  <c:v>1513.1748196207932</c:v>
                </c:pt>
                <c:pt idx="219">
                  <c:v>1530.3394678724537</c:v>
                </c:pt>
                <c:pt idx="220">
                  <c:v>1530.0679224562289</c:v>
                </c:pt>
                <c:pt idx="221">
                  <c:v>1511.4257132895088</c:v>
                </c:pt>
                <c:pt idx="222">
                  <c:v>1502.9555007953575</c:v>
                </c:pt>
                <c:pt idx="223">
                  <c:v>1497.1651815644186</c:v>
                </c:pt>
                <c:pt idx="224">
                  <c:v>1493.2771821678286</c:v>
                </c:pt>
                <c:pt idx="225">
                  <c:v>1485.5584714306215</c:v>
                </c:pt>
                <c:pt idx="226">
                  <c:v>1527.9570067857214</c:v>
                </c:pt>
                <c:pt idx="227">
                  <c:v>1555.2170537816662</c:v>
                </c:pt>
                <c:pt idx="228">
                  <c:v>1539.8845131433054</c:v>
                </c:pt>
                <c:pt idx="229">
                  <c:v>1536.013710316241</c:v>
                </c:pt>
                <c:pt idx="230">
                  <c:v>1532.8075124072404</c:v>
                </c:pt>
                <c:pt idx="231">
                  <c:v>1523.0873461825981</c:v>
                </c:pt>
                <c:pt idx="232">
                  <c:v>1513.8817178986633</c:v>
                </c:pt>
                <c:pt idx="233">
                  <c:v>1471.1827230701733</c:v>
                </c:pt>
                <c:pt idx="234">
                  <c:v>1509.0548348700981</c:v>
                </c:pt>
                <c:pt idx="235">
                  <c:v>1548.9168775240414</c:v>
                </c:pt>
                <c:pt idx="236">
                  <c:v>1526.7053769574868</c:v>
                </c:pt>
                <c:pt idx="237">
                  <c:v>1526.723230570854</c:v>
                </c:pt>
                <c:pt idx="238">
                  <c:v>1508.8517520944692</c:v>
                </c:pt>
                <c:pt idx="239">
                  <c:v>1501.663574628975</c:v>
                </c:pt>
                <c:pt idx="240">
                  <c:v>1512.5689134556837</c:v>
                </c:pt>
                <c:pt idx="241">
                  <c:v>1486.4406005035357</c:v>
                </c:pt>
                <c:pt idx="242">
                  <c:v>1483.2124837399142</c:v>
                </c:pt>
                <c:pt idx="243">
                  <c:v>1471.4299381506232</c:v>
                </c:pt>
                <c:pt idx="244">
                  <c:v>1456.6160565969296</c:v>
                </c:pt>
                <c:pt idx="245">
                  <c:v>1454.4189538443939</c:v>
                </c:pt>
                <c:pt idx="246">
                  <c:v>1441.057591455477</c:v>
                </c:pt>
                <c:pt idx="247">
                  <c:v>1416.7340849089499</c:v>
                </c:pt>
                <c:pt idx="248">
                  <c:v>1407.5156642348875</c:v>
                </c:pt>
                <c:pt idx="249">
                  <c:v>1384.733117330233</c:v>
                </c:pt>
                <c:pt idx="250">
                  <c:v>1390.4709395061484</c:v>
                </c:pt>
                <c:pt idx="251">
                  <c:v>1389.5294497121888</c:v>
                </c:pt>
                <c:pt idx="252">
                  <c:v>1371.2223173310435</c:v>
                </c:pt>
                <c:pt idx="253">
                  <c:v>1428.2750784783293</c:v>
                </c:pt>
                <c:pt idx="254">
                  <c:v>1405.170268954404</c:v>
                </c:pt>
                <c:pt idx="255">
                  <c:v>1394.6704010456647</c:v>
                </c:pt>
                <c:pt idx="256">
                  <c:v>1386.8631594496062</c:v>
                </c:pt>
                <c:pt idx="257">
                  <c:v>1378.2479505582774</c:v>
                </c:pt>
                <c:pt idx="258">
                  <c:v>1362.2975227831635</c:v>
                </c:pt>
                <c:pt idx="259">
                  <c:v>1363.7467522459933</c:v>
                </c:pt>
                <c:pt idx="260">
                  <c:v>1355.3823362620385</c:v>
                </c:pt>
                <c:pt idx="261">
                  <c:v>1350.8418829609673</c:v>
                </c:pt>
                <c:pt idx="262">
                  <c:v>1341.8025480738645</c:v>
                </c:pt>
                <c:pt idx="263">
                  <c:v>1348.5600919725603</c:v>
                </c:pt>
                <c:pt idx="264">
                  <c:v>1341.2726039091306</c:v>
                </c:pt>
                <c:pt idx="265">
                  <c:v>1336.15208149854</c:v>
                </c:pt>
                <c:pt idx="266">
                  <c:v>1332.4151591085467</c:v>
                </c:pt>
                <c:pt idx="267">
                  <c:v>1321.0778349215964</c:v>
                </c:pt>
                <c:pt idx="268">
                  <c:v>1310.2999993569804</c:v>
                </c:pt>
                <c:pt idx="269">
                  <c:v>1297.2326943060004</c:v>
                </c:pt>
                <c:pt idx="270">
                  <c:v>1289.677110606465</c:v>
                </c:pt>
                <c:pt idx="271">
                  <c:v>1291.5056239919386</c:v>
                </c:pt>
                <c:pt idx="272">
                  <c:v>1284.5026053641857</c:v>
                </c:pt>
                <c:pt idx="273">
                  <c:v>1282.4298025104947</c:v>
                </c:pt>
                <c:pt idx="274">
                  <c:v>1277.5229085672038</c:v>
                </c:pt>
                <c:pt idx="275">
                  <c:v>1273.311188191922</c:v>
                </c:pt>
                <c:pt idx="276">
                  <c:v>1271.7857297032783</c:v>
                </c:pt>
                <c:pt idx="277">
                  <c:v>1272.2467160113968</c:v>
                </c:pt>
                <c:pt idx="278">
                  <c:v>1269.60080927419</c:v>
                </c:pt>
                <c:pt idx="279">
                  <c:v>1270.2374834779305</c:v>
                </c:pt>
                <c:pt idx="280">
                  <c:v>1268.8356511504526</c:v>
                </c:pt>
                <c:pt idx="281">
                  <c:v>1265.1429968932146</c:v>
                </c:pt>
                <c:pt idx="282">
                  <c:v>1267.5844357129604</c:v>
                </c:pt>
                <c:pt idx="283">
                  <c:v>1262.7649961087156</c:v>
                </c:pt>
                <c:pt idx="284">
                  <c:v>1241.4943249614616</c:v>
                </c:pt>
                <c:pt idx="285">
                  <c:v>1245.9642179917082</c:v>
                </c:pt>
                <c:pt idx="286">
                  <c:v>1232.6651501079784</c:v>
                </c:pt>
                <c:pt idx="287">
                  <c:v>1232.6496899043966</c:v>
                </c:pt>
                <c:pt idx="288">
                  <c:v>1229.5756815770562</c:v>
                </c:pt>
                <c:pt idx="289">
                  <c:v>1237.3630135719302</c:v>
                </c:pt>
                <c:pt idx="290">
                  <c:v>1247.64369392421</c:v>
                </c:pt>
                <c:pt idx="291">
                  <c:v>1251.027804599333</c:v>
                </c:pt>
                <c:pt idx="292">
                  <c:v>1252.5064948712263</c:v>
                </c:pt>
                <c:pt idx="293">
                  <c:v>1242.1133657048008</c:v>
                </c:pt>
                <c:pt idx="294">
                  <c:v>1236.434418273941</c:v>
                </c:pt>
                <c:pt idx="295">
                  <c:v>1247.7391015847656</c:v>
                </c:pt>
                <c:pt idx="296">
                  <c:v>1249.6076053322624</c:v>
                </c:pt>
                <c:pt idx="297">
                  <c:v>1252.185683306558</c:v>
                </c:pt>
                <c:pt idx="298">
                  <c:v>1244.375965727301</c:v>
                </c:pt>
                <c:pt idx="299">
                  <c:v>1231.9501236166682</c:v>
                </c:pt>
                <c:pt idx="300">
                  <c:v>1231.8935075985269</c:v>
                </c:pt>
                <c:pt idx="301">
                  <c:v>1238.2620606762619</c:v>
                </c:pt>
                <c:pt idx="302">
                  <c:v>1235.696931839582</c:v>
                </c:pt>
                <c:pt idx="303">
                  <c:v>1227.107301644768</c:v>
                </c:pt>
                <c:pt idx="304">
                  <c:v>1236.9203216874762</c:v>
                </c:pt>
                <c:pt idx="305">
                  <c:v>1250.4711537645335</c:v>
                </c:pt>
                <c:pt idx="306">
                  <c:v>1247.0454426822412</c:v>
                </c:pt>
                <c:pt idx="307">
                  <c:v>1231.507752153182</c:v>
                </c:pt>
                <c:pt idx="308">
                  <c:v>1221.171355936384</c:v>
                </c:pt>
                <c:pt idx="309">
                  <c:v>1208.2377469720154</c:v>
                </c:pt>
                <c:pt idx="310">
                  <c:v>1208.90532520542</c:v>
                </c:pt>
                <c:pt idx="311">
                  <c:v>1194.3992914181163</c:v>
                </c:pt>
                <c:pt idx="312">
                  <c:v>1189.7220280263102</c:v>
                </c:pt>
                <c:pt idx="313">
                  <c:v>1188.2805143182904</c:v>
                </c:pt>
                <c:pt idx="314">
                  <c:v>1179.4993254252568</c:v>
                </c:pt>
                <c:pt idx="315">
                  <c:v>1180.2001751301195</c:v>
                </c:pt>
                <c:pt idx="316">
                  <c:v>1179.9724240395817</c:v>
                </c:pt>
                <c:pt idx="317">
                  <c:v>1179.1096353221023</c:v>
                </c:pt>
                <c:pt idx="318">
                  <c:v>1173.6291120393162</c:v>
                </c:pt>
                <c:pt idx="319">
                  <c:v>1161.1105100035804</c:v>
                </c:pt>
                <c:pt idx="320">
                  <c:v>1171.3291879390185</c:v>
                </c:pt>
                <c:pt idx="321">
                  <c:v>1179.1668731681307</c:v>
                </c:pt>
                <c:pt idx="322">
                  <c:v>1171.0390964048922</c:v>
                </c:pt>
                <c:pt idx="323">
                  <c:v>1167.222975315168</c:v>
                </c:pt>
                <c:pt idx="324">
                  <c:v>1181.4027621729974</c:v>
                </c:pt>
                <c:pt idx="325">
                  <c:v>1196.172041159457</c:v>
                </c:pt>
                <c:pt idx="326">
                  <c:v>1185.4422458606034</c:v>
                </c:pt>
                <c:pt idx="327">
                  <c:v>1136.9222449946044</c:v>
                </c:pt>
                <c:pt idx="328">
                  <c:v>1070.3800768664607</c:v>
                </c:pt>
                <c:pt idx="329">
                  <c:v>1112.3576988502227</c:v>
                </c:pt>
                <c:pt idx="330">
                  <c:v>1183.3535652276041</c:v>
                </c:pt>
                <c:pt idx="331">
                  <c:v>1205.4576761735498</c:v>
                </c:pt>
                <c:pt idx="332">
                  <c:v>1285.1996035390998</c:v>
                </c:pt>
                <c:pt idx="333">
                  <c:v>1285.4222830338663</c:v>
                </c:pt>
                <c:pt idx="334">
                  <c:v>1278.6440555379859</c:v>
                </c:pt>
                <c:pt idx="335">
                  <c:v>1289.1519151223824</c:v>
                </c:pt>
                <c:pt idx="336">
                  <c:v>1296.244801399706</c:v>
                </c:pt>
                <c:pt idx="337">
                  <c:v>1298.1578351202463</c:v>
                </c:pt>
                <c:pt idx="338">
                  <c:v>1304.1611196235656</c:v>
                </c:pt>
                <c:pt idx="339">
                  <c:v>1303.2951542321002</c:v>
                </c:pt>
                <c:pt idx="340">
                  <c:v>1304.6437174900893</c:v>
                </c:pt>
                <c:pt idx="341">
                  <c:v>1305.9810974018008</c:v>
                </c:pt>
                <c:pt idx="342">
                  <c:v>1306.287379421563</c:v>
                </c:pt>
                <c:pt idx="343">
                  <c:v>1313.226424795759</c:v>
                </c:pt>
                <c:pt idx="344">
                  <c:v>1317.15498740003</c:v>
                </c:pt>
                <c:pt idx="345">
                  <c:v>1306.8276850811178</c:v>
                </c:pt>
                <c:pt idx="346">
                  <c:v>1307.7519934444829</c:v>
                </c:pt>
                <c:pt idx="347">
                  <c:v>1320.0249923047763</c:v>
                </c:pt>
                <c:pt idx="348">
                  <c:v>1320.3698442983382</c:v>
                </c:pt>
                <c:pt idx="349">
                  <c:v>1318.2794858278264</c:v>
                </c:pt>
                <c:pt idx="350">
                  <c:v>1316.2539385012121</c:v>
                </c:pt>
                <c:pt idx="351">
                  <c:v>1312.6466415727427</c:v>
                </c:pt>
                <c:pt idx="352">
                  <c:v>1300.1687644257756</c:v>
                </c:pt>
                <c:pt idx="353">
                  <c:v>1308.310833656197</c:v>
                </c:pt>
                <c:pt idx="354">
                  <c:v>1305.186392158955</c:v>
                </c:pt>
                <c:pt idx="355">
                  <c:v>1303.4499906606945</c:v>
                </c:pt>
                <c:pt idx="356">
                  <c:v>1306.2844376773037</c:v>
                </c:pt>
                <c:pt idx="357">
                  <c:v>1301.8624971203287</c:v>
                </c:pt>
                <c:pt idx="358">
                  <c:v>1302.2339290400248</c:v>
                </c:pt>
                <c:pt idx="359">
                  <c:v>1304.1639060912512</c:v>
                </c:pt>
                <c:pt idx="360">
                  <c:v>1296.3132800987064</c:v>
                </c:pt>
                <c:pt idx="361">
                  <c:v>1291.9671410457734</c:v>
                </c:pt>
                <c:pt idx="362">
                  <c:v>1289.5625434552194</c:v>
                </c:pt>
                <c:pt idx="363">
                  <c:v>1279.7139629861424</c:v>
                </c:pt>
                <c:pt idx="364">
                  <c:v>1274.7023478174192</c:v>
                </c:pt>
                <c:pt idx="365">
                  <c:v>1277.8429481620733</c:v>
                </c:pt>
                <c:pt idx="366">
                  <c:v>1272.1349637533583</c:v>
                </c:pt>
                <c:pt idx="367">
                  <c:v>1269.8915144278797</c:v>
                </c:pt>
                <c:pt idx="368">
                  <c:v>1271.632148145822</c:v>
                </c:pt>
                <c:pt idx="369">
                  <c:v>1266.2378299029601</c:v>
                </c:pt>
                <c:pt idx="370">
                  <c:v>1276.5079048601108</c:v>
                </c:pt>
                <c:pt idx="371">
                  <c:v>1273.0040347809618</c:v>
                </c:pt>
                <c:pt idx="372">
                  <c:v>1271.3701000836097</c:v>
                </c:pt>
                <c:pt idx="373">
                  <c:v>1266.792869267862</c:v>
                </c:pt>
                <c:pt idx="374">
                  <c:v>1254.9423193058694</c:v>
                </c:pt>
                <c:pt idx="375">
                  <c:v>1266.0119564379322</c:v>
                </c:pt>
                <c:pt idx="376">
                  <c:v>1260.6464875636152</c:v>
                </c:pt>
                <c:pt idx="377">
                  <c:v>1243.6282841905147</c:v>
                </c:pt>
                <c:pt idx="378">
                  <c:v>1246.4859643959007</c:v>
                </c:pt>
                <c:pt idx="379">
                  <c:v>1249.9918444249809</c:v>
                </c:pt>
                <c:pt idx="380">
                  <c:v>1249.4346605059468</c:v>
                </c:pt>
                <c:pt idx="381">
                  <c:v>1242.7845253414614</c:v>
                </c:pt>
              </c:numCache>
            </c:numRef>
          </c:val>
          <c:smooth val="0"/>
        </c:ser>
        <c:dLbls>
          <c:showLegendKey val="0"/>
          <c:showVal val="0"/>
          <c:showCatName val="0"/>
          <c:showSerName val="0"/>
          <c:showPercent val="0"/>
          <c:showBubbleSize val="0"/>
        </c:dLbls>
        <c:axId val="390324447"/>
        <c:axId val="390324927"/>
      </c:lineChart>
      <c:dateAx>
        <c:axId val="390324447"/>
        <c:scaling>
          <c:orientation val="minMax"/>
        </c:scaling>
        <c:delete val="0"/>
        <c:axPos val="b"/>
        <c:numFmt formatCode="m/d/yy" sourceLinked="1"/>
        <c:majorTickMark val="none"/>
        <c:minorTickMark val="none"/>
        <c:tickLblPos val="nextTo"/>
        <c:spPr>
          <a:ln xmlns:a="http://schemas.openxmlformats.org/drawingml/2006/main" w="9525" cmpd="sng">
            <a:solidFill>
              <a:schemeClr val="tx1">
                <a:lumMod val="15000"/>
                <a:lumOff val="85000"/>
              </a:schemeClr>
            </a:solidFill>
            <a:prstDash val="solid"/>
          </a:ln>
        </c:spPr>
        <c:txPr>
          <a:bodyPr xmlns:a="http://schemas.openxmlformats.org/drawingml/2006/main" rot="-60000000" spcFirstLastPara="1" vert="horz" wrap="square" anchor="ctr" anchorCtr="1"/>
          <a:lstStyle xmlns:a="http://schemas.openxmlformats.org/drawingml/2006/main"/>
          <a:p xmlns:a="http://schemas.openxmlformats.org/drawingml/2006/main">
            <a:pPr>
              <a:defRPr sz="900" b="0" i="0">
                <a:solidFill>
                  <a:schemeClr val="tx1">
                    <a:lumMod val="65000"/>
                    <a:lumOff val="35000"/>
                  </a:schemeClr>
                </a:solidFill>
                <a:latin typeface="+mn-lt"/>
                <a:ea typeface="+mn-lt"/>
                <a:cs typeface="+mn-lt"/>
              </a:defRPr>
            </a:pPr>
          </a:p>
        </c:txPr>
        <c:crossAx val="390324927"/>
        <c:crosses val="autoZero"/>
        <c:auto val="1"/>
        <c:lblOffset val="100"/>
        <c:baseTimeUnit val="days"/>
      </c:dateAx>
      <c:valAx>
        <c:axId val="390324927"/>
        <c:scaling>
          <c:orientation val="minMax"/>
          <c:min val="1100"/>
        </c:scaling>
        <c:delete val="0"/>
        <c:axPos val="l"/>
        <c:numFmt formatCode="#,##0" sourceLinked="0"/>
        <c:majorTickMark val="none"/>
        <c:minorTickMark val="none"/>
        <c:tickLblPos val="nextTo"/>
        <c:spPr>
          <a:ln xmlns:a="http://schemas.openxmlformats.org/drawingml/2006/main">
            <a:noFill/>
            <a:prstDash val="solid"/>
          </a:ln>
        </c:spPr>
        <c:txPr>
          <a:bodyPr xmlns:a="http://schemas.openxmlformats.org/drawingml/2006/main" rot="-60000000" vert="horz" anchor="ctr" anchorCtr="1"/>
          <a:lstStyle xmlns:a="http://schemas.openxmlformats.org/drawingml/2006/main"/>
          <a:p xmlns:a="http://schemas.openxmlformats.org/drawingml/2006/main">
            <a:pPr>
              <a:defRPr sz="900" b="0" i="0">
                <a:solidFill>
                  <a:schemeClr val="tx1">
                    <a:lumMod val="65000"/>
                    <a:lumOff val="35000"/>
                  </a:schemeClr>
                </a:solidFill>
                <a:latin typeface="+mn-lt"/>
                <a:ea typeface="+mn-lt"/>
                <a:cs typeface="+mn-lt"/>
              </a:defRPr>
            </a:pPr>
          </a:p>
        </c:txPr>
        <c:crossAx val="390324447"/>
        <c:crosses val="autoZero"/>
        <c:crossBetween val="between"/>
      </c:valAx>
    </c:plotArea>
    <c:legend>
      <c:legendPos val="t"/>
      <c:overlay val="0"/>
    </c:legend>
    <c:plotVisOnly val="1"/>
  </c:chart>
</c:chartSpace>
</file>

<file path=ppt/slides/slide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pic>
        <p:nvPicPr>
          <p:cNvPr id="22" name="Google Shape;1067;p107"/>
          <p:cNvPicPr>
            <a:picLocks xmlns:a="http://schemas.openxmlformats.org/drawingml/2006/main" noChangeAspect="1"/>
          </p:cNvPicPr>
          <p:nvPr/>
        </p:nvPicPr>
        <p:blipFill rotWithShape="1">
          <a:blip xmlns:r="http://schemas.openxmlformats.org/officeDocument/2006/relationships" xmlns:a="http://schemas.openxmlformats.org/drawingml/2006/main" r:embed="Ra75bd1d54cd849a0">
            <a:alphaModFix/>
          </a:blip>
          <a:srcRect xmlns:a="http://schemas.openxmlformats.org/drawingml/2006/main" l="0" t="0" r="0" b="0"/>
          <a:stretch xmlns:a="http://schemas.openxmlformats.org/drawingml/2006/main"/>
        </p:blipFill>
        <p:spPr>
          <a:xfrm xmlns:a="http://schemas.openxmlformats.org/drawingml/2006/main">
            <a:off x="0" y="691115"/>
            <a:ext cx="12192000" cy="6133754"/>
          </a:xfrm>
          <a:prstGeom xmlns:a="http://schemas.openxmlformats.org/drawingml/2006/main" prst="rect">
            <a:avLst/>
          </a:prstGeom>
          <a:ln xmlns:a="http://schemas.openxmlformats.org/drawingml/2006/main" w="88900" cap="sq">
            <a:noFill/>
            <a:miter/>
          </a:ln>
          <a:effectLst xmlns:a="http://schemas.openxmlformats.org/drawingml/2006/main">
            <a:outerShdw blurRad="55000" dist="18000" dir="5400000" algn="tl" rotWithShape="0">
              <a:srgbClr val="000000">
                <a:alpha val="40000"/>
              </a:srgbClr>
            </a:outerShdw>
          </a:effectLst>
        </p:spPr>
      </p:pic>
      <p:sp>
        <p:nvSpPr>
          <p:cNvPr id="20" name="Straight Connector 19">
            <a:extLst xmlns:a="http://schemas.openxmlformats.org/drawingml/2006/main">
              <a:ext uri="{FF2B5EF4-FFF2-40B4-BE49-F238E27FC236}">
                <a16:creationId xmlns:a16="http://schemas.microsoft.com/office/drawing/2014/main" id="{F82E145C-147B-4B93-AAE5-5F69F1DF7BE8}"/>
              </a:ext>
            </a:extLst>
          </p:cNvPr>
          <p:cNvSpPr>
            <a:spLocks xmlns:a="http://schemas.openxmlformats.org/drawingml/2006/main" noGrp="1"/>
          </p:cNvSpPr>
          <p:nvPr/>
        </p:nvSpPr>
        <p:spPr>
          <a:xfrm xmlns:a="http://schemas.openxmlformats.org/drawingml/2006/main" flipV="1">
            <a:off x="261939" y="677863"/>
            <a:ext cx="11676063" cy="0"/>
          </a:xfrm>
          <a:prstGeom xmlns:a="http://schemas.openxmlformats.org/drawingml/2006/main" prst="line">
            <a:avLst/>
          </a:prstGeom>
          <a:ln xmlns:a="http://schemas.openxmlformats.org/drawingml/2006/main" w="19050">
            <a:solidFill>
              <a:srgbClr val="163A63"/>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83FA8882-DBA4-3986-D746-678C5CCE12AF}"/>
              </a:ext>
            </a:extLst>
          </p:cNvPr>
          <p:cNvSpPr>
            <a:spLocks xmlns:a="http://schemas.openxmlformats.org/drawingml/2006/main" noGrp="1"/>
          </p:cNvSpPr>
          <p:nvPr/>
        </p:nvSpPr>
        <p:spPr>
          <a:xfrm xmlns:a="http://schemas.openxmlformats.org/drawingml/2006/main">
            <a:off x="914401" y="3868301"/>
            <a:ext cx="6006352" cy="1384995"/>
          </a:xfrm>
          <a:prstGeom xmlns:a="http://schemas.openxmlformats.org/drawingml/2006/main" prst="rect">
            <a:avLst/>
          </a:prstGeom>
          <a:solidFill xmlns:a="http://schemas.openxmlformats.org/drawingml/2006/main">
            <a:srgbClr val="163A63"/>
          </a:solidFill>
          <a:ln xmlns:a="http://schemas.openxmlformats.org/drawingml/2006/main" w="19050">
            <a:solidFill>
              <a:srgbClr val="1557B0"/>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txBody>
          <a:bodyPr xmlns:a="http://schemas.openxmlformats.org/drawingml/2006/main" wrap="square" lIns="209550" tIns="152400" rIns="209550" bIns="152400" anchor="ctr">
            <a:sp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BÁO CÁO TUẦN</a:t>
            </a:r>
          </a:p>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NHẬN ĐỊNH THỊ TR</a:t>
            </a:r>
            <a:r>
              <a:rPr sz="2025" b="1">
                <a:solidFill>
                  <a:srgbClr val="FFFFFF"/>
                </a:solidFill>
                <a:latin typeface="Arial"/>
                <a:ea typeface="Arial"/>
                <a:cs typeface="Arial"/>
              </a:rPr>
              <a:t>Ư</a:t>
            </a:r>
            <a:r>
              <a:rPr sz="2025" b="1">
                <a:solidFill>
                  <a:srgbClr val="FFFFFF"/>
                </a:solidFill>
                <a:latin typeface="Arial"/>
                <a:ea typeface="Arial"/>
                <a:cs typeface="Arial"/>
              </a:rPr>
              <a:t>ỜNG TUẦN 03/08/2026 – 07/08/2026</a:t>
            </a:r>
          </a:p>
        </p:txBody>
      </p:sp>
      <p:sp>
        <p:nvSpPr>
          <p:cNvPr id="4" name="Slide Number Placeholder 3">
            <a:extLst xmlns:a="http://schemas.openxmlformats.org/drawingml/2006/main">
              <a:ext uri="{FF2B5EF4-FFF2-40B4-BE49-F238E27FC236}">
                <a16:creationId xmlns:a16="http://schemas.microsoft.com/office/drawing/2014/main" id="{0589A8FD-B872-9ACA-6333-0D02A69173C5}"/>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pPr>
              <a:defRPr sz="750">
                <a:solidFill>
                  <a:srgbClr val="6B7C8F"/>
                </a:solidFill>
                <a:latin typeface="Arial"/>
                <a:ea typeface="Arial"/>
                <a:cs typeface="Arial"/>
              </a:defRPr>
            </a:pPr>
            <a:fld id="{95CC1D26-A9BD-4BDE-BDD9-08EDBAE96860}" type="slidenum">
              <a:rPr sz="750">
                <a:solidFill>
                  <a:srgbClr val="6B7C8F"/>
                </a:solidFill>
                <a:latin typeface="Arial"/>
                <a:ea typeface="Arial"/>
                <a:cs typeface="Arial"/>
              </a:rPr>
              <a:t>1</a:t>
            </a:fld>
          </a:p>
        </p:txBody>
      </p:sp>
    </p:spTree>
    <p:extLst>
      <p:ext uri="{BB962C8B-B14F-4D97-AF65-F5344CB8AC3E}">
        <p14:creationId xmlns:p14="http://schemas.microsoft.com/office/powerpoint/2010/main" val="2159999912"/>
      </p:ext>
    </p:extLst>
  </p:cSld>
</p:sld>
</file>

<file path=ppt/slides/slide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 name="AutoShape 2">
            <a:extLst xmlns:a="http://schemas.openxmlformats.org/drawingml/2006/main">
              <a:ext uri="{FF2B5EF4-FFF2-40B4-BE49-F238E27FC236}">
                <a16:creationId xmlns:a16="http://schemas.microsoft.com/office/drawing/2014/main" id="{2FB0B962-8A7E-4BC3-84F1-33DF3C1E8953}"/>
              </a:ext>
            </a:extLst>
          </p:cNvPr>
          <p:cNvSpPr>
            <a:spLocks xmlns:a="http://schemas.openxmlformats.org/drawingml/2006/main" noGrp="1"/>
          </p:cNvSpPr>
          <p:nvPr/>
        </p:nvSpPr>
        <p:spPr>
          <a:xfrm xmlns:a="http://schemas.openxmlformats.org/drawingml/2006/main">
            <a:off x="155575" y="-144463"/>
            <a:ext cx="304800" cy="304801"/>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p:txBody>
      </p:sp>
      <p:sp>
        <p:nvSpPr>
          <p:cNvPr id="4" name="AutoShape 4">
            <a:extLst xmlns:a="http://schemas.openxmlformats.org/drawingml/2006/main">
              <a:ext uri="{FF2B5EF4-FFF2-40B4-BE49-F238E27FC236}">
                <a16:creationId xmlns:a16="http://schemas.microsoft.com/office/drawing/2014/main" id="{1B5754FF-66EC-4C9F-95E1-8D631C8999AE}"/>
              </a:ext>
            </a:extLst>
          </p:cNvPr>
          <p:cNvSpPr>
            <a:spLocks xmlns:a="http://schemas.openxmlformats.org/drawingml/2006/main" noGrp="1"/>
          </p:cNvSpPr>
          <p:nvPr/>
        </p:nvSpPr>
        <p:spPr>
          <a:xfrm xmlns:a="http://schemas.openxmlformats.org/drawingml/2006/main">
            <a:off x="307975" y="7937"/>
            <a:ext cx="304800" cy="304801"/>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p:txBody>
      </p:sp>
      <p:sp>
        <p:nvSpPr>
          <p:cNvPr id="3" name="Straight Connector 2">
            <a:extLst xmlns:a="http://schemas.openxmlformats.org/drawingml/2006/main">
              <a:ext uri="{FF2B5EF4-FFF2-40B4-BE49-F238E27FC236}">
                <a16:creationId xmlns:a16="http://schemas.microsoft.com/office/drawing/2014/main" id="{3D6A7E81-3B8A-44B7-8D75-CC1544F448EF}"/>
              </a:ext>
            </a:extLst>
          </p:cNvPr>
          <p:cNvSpPr>
            <a:spLocks xmlns:a="http://schemas.openxmlformats.org/drawingml/2006/main" noGrp="1"/>
          </p:cNvSpPr>
          <p:nvPr/>
        </p:nvSpPr>
        <p:spPr>
          <a:xfrm xmlns:a="http://schemas.openxmlformats.org/drawingml/2006/main" flipV="1">
            <a:off x="261939" y="677863"/>
            <a:ext cx="11676063" cy="0"/>
          </a:xfrm>
          <a:prstGeom xmlns:a="http://schemas.openxmlformats.org/drawingml/2006/main" prst="line">
            <a:avLst/>
          </a:prstGeom>
          <a:ln xmlns:a="http://schemas.openxmlformats.org/drawingml/2006/main" w="19050">
            <a:solidFill>
              <a:srgbClr val="163A63"/>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3" name="Title 5">
            <a:extLst xmlns:a="http://schemas.openxmlformats.org/drawingml/2006/main">
              <a:ext uri="{FF2B5EF4-FFF2-40B4-BE49-F238E27FC236}">
                <a16:creationId xmlns:a16="http://schemas.microsoft.com/office/drawing/2014/main" id="{4A4D2A7D-D274-BA45-B498-25785F845D87}"/>
              </a:ext>
            </a:extLst>
          </p:cNvPr>
          <p:cNvSpPr>
            <a:spLocks xmlns:a="http://schemas.openxmlformats.org/drawingml/2006/main" noGrp="1"/>
          </p:cNvSpPr>
          <p:nvPr/>
        </p:nvSpPr>
        <p:spPr>
          <a:xfrm xmlns:a="http://schemas.openxmlformats.org/drawingml/2006/main">
            <a:off x="261939" y="304973"/>
            <a:ext cx="7991728" cy="355038"/>
          </a:xfrm>
          <a:prstGeom xmlns:a="http://schemas.openxmlformats.org/drawingml/2006/main" prst="rect">
            <a:avLst/>
          </a:prstGeom>
          <a:noFill xmlns:a="http://schemas.openxmlformats.org/drawingml/2006/main"/>
        </p:spPr>
        <p:txBody>
          <a:bodyPr xmlns:a="http://schemas.openxmlformats.org/drawingml/2006/main" vert="horz" lIns="91440" tIns="45720" rIns="91440" bIns="45720" anchor="t">
            <a:noAutofit/>
          </a:bodyPr>
          <a:lstStyle xmlns:a="http://schemas.openxmlformats.org/drawingml/2006/main">
            <a:lvl1pPr algn="l" defTabSz="914400">
              <a:lnSpc>
                <a:spcPct val="90000"/>
              </a:lnSpc>
              <a:spcBef>
                <a:spcPct val="0"/>
              </a:spcBef>
              <a:buNone/>
              <a:defRPr sz="1875" kern="1200">
                <a:solidFill>
                  <a:schemeClr val="accent1"/>
                </a:solidFill>
                <a:latin typeface="+mj-lt"/>
                <a:ea typeface="+mj-lt"/>
                <a:cs typeface="+mj-lt"/>
              </a:defRPr>
            </a:lvl1pPr>
          </a:lstStyle>
          <a:p xmlns:a="http://schemas.openxmlformats.org/drawingml/2006/main">
            <a:pPr>
              <a:lnSpc>
                <a:spcPct val="114000"/>
              </a:lnSpc>
              <a:spcBef>
                <a:spcPts val="300"/>
              </a:spcBef>
              <a:spcAft>
                <a:spcPts val="300"/>
              </a:spcAft>
              <a:buNone/>
              <a:defRPr sz="1425" b="1">
                <a:solidFill>
                  <a:srgbClr val="163A63"/>
                </a:solidFill>
                <a:latin typeface="Arial"/>
                <a:ea typeface="Arial"/>
                <a:cs typeface="Arial"/>
              </a:defRPr>
            </a:pPr>
            <a:r>
              <a:rPr sz="1425" b="1">
                <a:solidFill>
                  <a:srgbClr val="163A63"/>
                </a:solidFill>
                <a:latin typeface="Arial"/>
                <a:ea typeface="Arial"/>
                <a:cs typeface="Arial"/>
              </a:rPr>
              <a:t>MỤC LỤC</a:t>
            </a:r>
          </a:p>
        </p:txBody>
      </p:sp>
      <p:sp>
        <p:nvSpPr>
          <p:cNvPr id="6" name="TextBox 5">
            <a:extLst xmlns:a="http://schemas.openxmlformats.org/drawingml/2006/main">
              <a:ext uri="{FF2B5EF4-FFF2-40B4-BE49-F238E27FC236}">
                <a16:creationId xmlns:a16="http://schemas.microsoft.com/office/drawing/2014/main" id="{4994612C-C222-90EB-0421-98AC31DBAA7B}"/>
              </a:ext>
            </a:extLst>
          </p:cNvPr>
          <p:cNvSpPr>
            <a:spLocks xmlns:a="http://schemas.openxmlformats.org/drawingml/2006/main" noGrp="1"/>
          </p:cNvSpPr>
          <p:nvPr/>
        </p:nvSpPr>
        <p:spPr>
          <a:xfrm xmlns:a="http://schemas.openxmlformats.org/drawingml/2006/main">
            <a:off x="307974" y="957047"/>
            <a:ext cx="6570497" cy="3566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pPr>
            <a:r>
              <a:rPr sz="1400" b="1">
                <a:solidFill>
                  <a:srgbClr val="1557B0"/>
                </a:solidFill>
                <a:latin typeface="+mj-lt"/>
                <a:ea typeface="+mj-lt"/>
                <a:cs typeface="+mj-lt"/>
              </a:rPr>
              <a:t>DIỄN BIẾN THỊ TR</a:t>
            </a:r>
            <a:r>
              <a:rPr sz="1400" b="1">
                <a:solidFill>
                  <a:srgbClr val="1557B0"/>
                </a:solidFill>
                <a:latin typeface="+mj-lt"/>
                <a:ea typeface="+mj-lt"/>
                <a:cs typeface="+mj-lt"/>
              </a:rPr>
              <a:t>Ư</a:t>
            </a:r>
            <a:r>
              <a:rPr sz="1400" b="1">
                <a:solidFill>
                  <a:srgbClr val="1557B0"/>
                </a:solidFill>
                <a:latin typeface="+mj-lt"/>
                <a:ea typeface="+mj-lt"/>
                <a:cs typeface="+mj-lt"/>
              </a:rPr>
              <a:t>ỜNG TUẦN 27/07 – 31/07/2026</a:t>
            </a:r>
          </a:p>
          <a:p xmlns:a="http://schemas.openxmlformats.org/drawingml/2006/main">
            <a:pPr marL="285750" indent="-285750">
              <a:lnSpc>
                <a:spcPct val="150000"/>
              </a:lnSpc>
              <a:buFont typeface="Arial"/>
              <a:buChar char="•"/>
            </a:pPr>
            <a:r>
              <a:rPr sz="1400" b="1">
                <a:solidFill>
                  <a:srgbClr val="263442"/>
                </a:solidFill>
                <a:latin typeface="+mj-lt"/>
                <a:ea typeface="+mj-lt"/>
                <a:cs typeface="+mj-lt"/>
              </a:rPr>
              <a:t>Xu h</a:t>
            </a:r>
            <a:r>
              <a:rPr sz="1400" b="1">
                <a:solidFill>
                  <a:srgbClr val="263442"/>
                </a:solidFill>
                <a:latin typeface="+mj-lt"/>
                <a:ea typeface="+mj-lt"/>
                <a:cs typeface="+mj-lt"/>
              </a:rPr>
              <a:t>ư</a:t>
            </a:r>
            <a:r>
              <a:rPr sz="1400" b="1">
                <a:solidFill>
                  <a:srgbClr val="263442"/>
                </a:solidFill>
                <a:latin typeface="+mj-lt"/>
                <a:ea typeface="+mj-lt"/>
                <a:cs typeface="+mj-lt"/>
              </a:rPr>
              <a:t>ớng</a:t>
            </a:r>
            <a:r>
              <a:rPr sz="1400" b="1">
                <a:solidFill>
                  <a:srgbClr val="263442"/>
                </a:solidFill>
                <a:latin typeface="+mj-lt"/>
                <a:ea typeface="+mj-lt"/>
                <a:cs typeface="+mj-lt"/>
              </a:rPr>
              <a:t> </a:t>
            </a:r>
            <a:r>
              <a:rPr sz="1400" b="1">
                <a:solidFill>
                  <a:srgbClr val="263442"/>
                </a:solidFill>
                <a:latin typeface="+mj-lt"/>
                <a:ea typeface="+mj-lt"/>
                <a:cs typeface="+mj-lt"/>
              </a:rPr>
              <a:t>và</a:t>
            </a:r>
            <a:r>
              <a:rPr sz="1400" b="1">
                <a:solidFill>
                  <a:srgbClr val="263442"/>
                </a:solidFill>
                <a:latin typeface="+mj-lt"/>
                <a:ea typeface="+mj-lt"/>
                <a:cs typeface="+mj-lt"/>
              </a:rPr>
              <a:t> </a:t>
            </a:r>
            <a:r>
              <a:rPr sz="1400" b="1">
                <a:solidFill>
                  <a:srgbClr val="263442"/>
                </a:solidFill>
                <a:latin typeface="+mj-lt"/>
                <a:ea typeface="+mj-lt"/>
                <a:cs typeface="+mj-lt"/>
              </a:rPr>
              <a:t>độ</a:t>
            </a:r>
            <a:r>
              <a:rPr sz="1400" b="1">
                <a:solidFill>
                  <a:srgbClr val="263442"/>
                </a:solidFill>
                <a:latin typeface="+mj-lt"/>
                <a:ea typeface="+mj-lt"/>
                <a:cs typeface="+mj-lt"/>
              </a:rPr>
              <a:t> </a:t>
            </a:r>
            <a:r>
              <a:rPr sz="1400" b="1">
                <a:solidFill>
                  <a:srgbClr val="263442"/>
                </a:solidFill>
                <a:latin typeface="+mj-lt"/>
                <a:ea typeface="+mj-lt"/>
                <a:cs typeface="+mj-lt"/>
              </a:rPr>
              <a:t>rộng</a:t>
            </a:r>
            <a:r>
              <a:rPr sz="1400" b="1">
                <a:solidFill>
                  <a:srgbClr val="263442"/>
                </a:solidFill>
                <a:latin typeface="+mj-lt"/>
                <a:ea typeface="+mj-lt"/>
                <a:cs typeface="+mj-lt"/>
              </a:rPr>
              <a:t> </a:t>
            </a:r>
            <a:r>
              <a:rPr sz="1400" b="1">
                <a:solidFill>
                  <a:srgbClr val="263442"/>
                </a:solidFill>
                <a:latin typeface="+mj-lt"/>
                <a:ea typeface="+mj-lt"/>
                <a:cs typeface="+mj-lt"/>
              </a:rPr>
              <a:t>thị</a:t>
            </a:r>
            <a:r>
              <a:rPr sz="1400" b="1">
                <a:solidFill>
                  <a:srgbClr val="263442"/>
                </a:solidFill>
                <a:latin typeface="+mj-lt"/>
                <a:ea typeface="+mj-lt"/>
                <a:cs typeface="+mj-lt"/>
              </a:rPr>
              <a:t> tr</a:t>
            </a:r>
            <a:r>
              <a:rPr sz="1400" b="1">
                <a:solidFill>
                  <a:srgbClr val="263442"/>
                </a:solidFill>
                <a:latin typeface="+mj-lt"/>
                <a:ea typeface="+mj-lt"/>
                <a:cs typeface="+mj-lt"/>
              </a:rPr>
              <a:t>ư</a:t>
            </a:r>
            <a:r>
              <a:rPr sz="1400" b="1">
                <a:solidFill>
                  <a:srgbClr val="263442"/>
                </a:solidFill>
                <a:latin typeface="+mj-lt"/>
                <a:ea typeface="+mj-lt"/>
                <a:cs typeface="+mj-lt"/>
              </a:rPr>
              <a:t>ờng</a:t>
            </a:r>
          </a:p>
          <a:p xmlns:a="http://schemas.openxmlformats.org/drawingml/2006/main">
            <a:pPr marL="285750" indent="-285750">
              <a:lnSpc>
                <a:spcPct val="150000"/>
              </a:lnSpc>
              <a:buFont typeface="Arial"/>
              <a:buChar char="•"/>
            </a:pPr>
            <a:r>
              <a:rPr sz="1400" b="1">
                <a:solidFill>
                  <a:srgbClr val="263442"/>
                </a:solidFill>
                <a:latin typeface="+mj-lt"/>
                <a:ea typeface="+mj-lt"/>
                <a:cs typeface="+mj-lt"/>
              </a:rPr>
              <a:t>Biến</a:t>
            </a:r>
            <a:r>
              <a:rPr sz="1400" b="1">
                <a:solidFill>
                  <a:srgbClr val="263442"/>
                </a:solidFill>
                <a:latin typeface="+mj-lt"/>
                <a:ea typeface="+mj-lt"/>
                <a:cs typeface="+mj-lt"/>
              </a:rPr>
              <a:t> </a:t>
            </a:r>
            <a:r>
              <a:rPr sz="1400" b="1">
                <a:solidFill>
                  <a:srgbClr val="263442"/>
                </a:solidFill>
                <a:latin typeface="+mj-lt"/>
                <a:ea typeface="+mj-lt"/>
                <a:cs typeface="+mj-lt"/>
              </a:rPr>
              <a:t>động</a:t>
            </a:r>
            <a:r>
              <a:rPr sz="1400" b="1">
                <a:solidFill>
                  <a:srgbClr val="263442"/>
                </a:solidFill>
                <a:latin typeface="+mj-lt"/>
                <a:ea typeface="+mj-lt"/>
                <a:cs typeface="+mj-lt"/>
              </a:rPr>
              <a:t> </a:t>
            </a:r>
            <a:r>
              <a:rPr sz="1400" b="1">
                <a:solidFill>
                  <a:srgbClr val="263442"/>
                </a:solidFill>
                <a:latin typeface="+mj-lt"/>
                <a:ea typeface="+mj-lt"/>
                <a:cs typeface="+mj-lt"/>
              </a:rPr>
              <a:t>các</a:t>
            </a:r>
            <a:r>
              <a:rPr sz="1400" b="1">
                <a:solidFill>
                  <a:srgbClr val="263442"/>
                </a:solidFill>
                <a:latin typeface="+mj-lt"/>
                <a:ea typeface="+mj-lt"/>
                <a:cs typeface="+mj-lt"/>
              </a:rPr>
              <a:t> </a:t>
            </a:r>
            <a:r>
              <a:rPr sz="1400" b="1">
                <a:solidFill>
                  <a:srgbClr val="263442"/>
                </a:solidFill>
                <a:latin typeface="+mj-lt"/>
                <a:ea typeface="+mj-lt"/>
                <a:cs typeface="+mj-lt"/>
              </a:rPr>
              <a:t>nhóm</a:t>
            </a:r>
            <a:r>
              <a:rPr sz="1400" b="1">
                <a:solidFill>
                  <a:srgbClr val="263442"/>
                </a:solidFill>
                <a:latin typeface="+mj-lt"/>
                <a:ea typeface="+mj-lt"/>
                <a:cs typeface="+mj-lt"/>
              </a:rPr>
              <a:t> </a:t>
            </a:r>
            <a:r>
              <a:rPr sz="1400" b="1">
                <a:solidFill>
                  <a:srgbClr val="263442"/>
                </a:solidFill>
                <a:latin typeface="+mj-lt"/>
                <a:ea typeface="+mj-lt"/>
                <a:cs typeface="+mj-lt"/>
              </a:rPr>
              <a:t>ngành</a:t>
            </a:r>
          </a:p>
          <a:p xmlns:a="http://schemas.openxmlformats.org/drawingml/2006/main">
            <a:pPr marL="285750" indent="-285750">
              <a:lnSpc>
                <a:spcPct val="150000"/>
              </a:lnSpc>
              <a:buFont typeface="Arial"/>
              <a:buChar char="•"/>
            </a:pPr>
            <a:r>
              <a:rPr sz="1400" b="1">
                <a:solidFill>
                  <a:srgbClr val="263442"/>
                </a:solidFill>
                <a:latin typeface="+mj-lt"/>
                <a:ea typeface="+mj-lt"/>
                <a:cs typeface="+mj-lt"/>
              </a:rPr>
              <a:t>Giao</a:t>
            </a:r>
            <a:r>
              <a:rPr sz="1400" b="1">
                <a:solidFill>
                  <a:srgbClr val="263442"/>
                </a:solidFill>
                <a:latin typeface="+mj-lt"/>
                <a:ea typeface="+mj-lt"/>
                <a:cs typeface="+mj-lt"/>
              </a:rPr>
              <a:t> </a:t>
            </a:r>
            <a:r>
              <a:rPr sz="1400" b="1">
                <a:solidFill>
                  <a:srgbClr val="263442"/>
                </a:solidFill>
                <a:latin typeface="+mj-lt"/>
                <a:ea typeface="+mj-lt"/>
                <a:cs typeface="+mj-lt"/>
              </a:rPr>
              <a:t>dịch</a:t>
            </a:r>
            <a:r>
              <a:rPr sz="1400" b="1">
                <a:solidFill>
                  <a:srgbClr val="263442"/>
                </a:solidFill>
                <a:latin typeface="+mj-lt"/>
                <a:ea typeface="+mj-lt"/>
                <a:cs typeface="+mj-lt"/>
              </a:rPr>
              <a:t> </a:t>
            </a:r>
            <a:r>
              <a:rPr sz="1400" b="1">
                <a:solidFill>
                  <a:srgbClr val="263442"/>
                </a:solidFill>
                <a:latin typeface="+mj-lt"/>
                <a:ea typeface="+mj-lt"/>
                <a:cs typeface="+mj-lt"/>
              </a:rPr>
              <a:t>các</a:t>
            </a:r>
            <a:r>
              <a:rPr sz="1400" b="1">
                <a:solidFill>
                  <a:srgbClr val="263442"/>
                </a:solidFill>
                <a:latin typeface="+mj-lt"/>
                <a:ea typeface="+mj-lt"/>
                <a:cs typeface="+mj-lt"/>
              </a:rPr>
              <a:t> </a:t>
            </a:r>
            <a:r>
              <a:rPr sz="1400" b="1">
                <a:solidFill>
                  <a:srgbClr val="263442"/>
                </a:solidFill>
                <a:latin typeface="+mj-lt"/>
                <a:ea typeface="+mj-lt"/>
                <a:cs typeface="+mj-lt"/>
              </a:rPr>
              <a:t>nhóm</a:t>
            </a:r>
            <a:r>
              <a:rPr sz="1400" b="1">
                <a:solidFill>
                  <a:srgbClr val="263442"/>
                </a:solidFill>
                <a:latin typeface="+mj-lt"/>
                <a:ea typeface="+mj-lt"/>
                <a:cs typeface="+mj-lt"/>
              </a:rPr>
              <a:t> </a:t>
            </a:r>
            <a:r>
              <a:rPr sz="1400" b="1">
                <a:solidFill>
                  <a:srgbClr val="263442"/>
                </a:solidFill>
                <a:latin typeface="+mj-lt"/>
                <a:ea typeface="+mj-lt"/>
                <a:cs typeface="+mj-lt"/>
              </a:rPr>
              <a:t>nhà</a:t>
            </a:r>
            <a:r>
              <a:rPr sz="1400" b="1">
                <a:solidFill>
                  <a:srgbClr val="263442"/>
                </a:solidFill>
                <a:latin typeface="+mj-lt"/>
                <a:ea typeface="+mj-lt"/>
                <a:cs typeface="+mj-lt"/>
              </a:rPr>
              <a:t> </a:t>
            </a:r>
            <a:r>
              <a:rPr sz="1400" b="1">
                <a:solidFill>
                  <a:srgbClr val="263442"/>
                </a:solidFill>
                <a:latin typeface="+mj-lt"/>
                <a:ea typeface="+mj-lt"/>
                <a:cs typeface="+mj-lt"/>
              </a:rPr>
              <a:t>đầu</a:t>
            </a:r>
            <a:r>
              <a:rPr sz="1400" b="1">
                <a:solidFill>
                  <a:srgbClr val="263442"/>
                </a:solidFill>
                <a:latin typeface="+mj-lt"/>
                <a:ea typeface="+mj-lt"/>
                <a:cs typeface="+mj-lt"/>
              </a:rPr>
              <a:t> t</a:t>
            </a:r>
            <a:r>
              <a:rPr sz="1400" b="1">
                <a:solidFill>
                  <a:srgbClr val="263442"/>
                </a:solidFill>
                <a:latin typeface="+mj-lt"/>
                <a:ea typeface="+mj-lt"/>
                <a:cs typeface="+mj-lt"/>
              </a:rPr>
              <a:t>ư</a:t>
            </a:r>
          </a:p>
          <a:p xmlns:a="http://schemas.openxmlformats.org/drawingml/2006/main">
            <a:pPr>
              <a:lnSpc>
                <a:spcPct val="150000"/>
              </a:lnSpc>
              <a:buNone/>
            </a:pPr>
          </a:p>
          <a:p xmlns:a="http://schemas.openxmlformats.org/drawingml/2006/main">
            <a:pPr>
              <a:lnSpc>
                <a:spcPct val="150000"/>
              </a:lnSpc>
              <a:buNone/>
            </a:pPr>
            <a:r>
              <a:rPr sz="1400" b="1">
                <a:solidFill>
                  <a:srgbClr val="1557B0"/>
                </a:solidFill>
                <a:latin typeface="+mj-lt"/>
                <a:ea typeface="+mj-lt"/>
                <a:cs typeface="+mj-lt"/>
              </a:rPr>
              <a:t>CÁC SỰ KIỆN DIỄN RA TRONG TUẦN 03/08 – 07/08/2026</a:t>
            </a:r>
          </a:p>
          <a:p xmlns:a="http://schemas.openxmlformats.org/drawingml/2006/main">
            <a:pPr>
              <a:lnSpc>
                <a:spcPct val="150000"/>
              </a:lnSpc>
              <a:buNone/>
            </a:pPr>
          </a:p>
          <a:p xmlns:a="http://schemas.openxmlformats.org/drawingml/2006/main">
            <a:pPr>
              <a:lnSpc>
                <a:spcPct val="150000"/>
              </a:lnSpc>
              <a:buNone/>
            </a:pPr>
            <a:r>
              <a:rPr sz="1400" b="1">
                <a:solidFill>
                  <a:srgbClr val="1557B0"/>
                </a:solidFill>
                <a:latin typeface="+mj-lt"/>
                <a:ea typeface="+mj-lt"/>
                <a:cs typeface="+mj-lt"/>
              </a:rPr>
              <a:t>NHẬN ĐỊNH XU H</a:t>
            </a:r>
            <a:r>
              <a:rPr sz="1400" b="1">
                <a:solidFill>
                  <a:srgbClr val="1557B0"/>
                </a:solidFill>
                <a:latin typeface="+mj-lt"/>
                <a:ea typeface="+mj-lt"/>
                <a:cs typeface="+mj-lt"/>
              </a:rPr>
              <a:t>Ư</a:t>
            </a:r>
            <a:r>
              <a:rPr sz="1400" b="1">
                <a:solidFill>
                  <a:srgbClr val="1557B0"/>
                </a:solidFill>
                <a:latin typeface="+mj-lt"/>
                <a:ea typeface="+mj-lt"/>
                <a:cs typeface="+mj-lt"/>
              </a:rPr>
              <a:t>ỚNG THỊ TR</a:t>
            </a:r>
            <a:r>
              <a:rPr sz="1400" b="1">
                <a:solidFill>
                  <a:srgbClr val="1557B0"/>
                </a:solidFill>
                <a:latin typeface="+mj-lt"/>
                <a:ea typeface="+mj-lt"/>
                <a:cs typeface="+mj-lt"/>
              </a:rPr>
              <a:t>Ư</a:t>
            </a:r>
            <a:r>
              <a:rPr sz="1400" b="1">
                <a:solidFill>
                  <a:srgbClr val="1557B0"/>
                </a:solidFill>
                <a:latin typeface="+mj-lt"/>
                <a:ea typeface="+mj-lt"/>
                <a:cs typeface="+mj-lt"/>
              </a:rPr>
              <a:t>ỜNG TUẦN 03/08 – 07/08/2026</a:t>
            </a:r>
          </a:p>
          <a:p xmlns:a="http://schemas.openxmlformats.org/drawingml/2006/main">
            <a:pPr>
              <a:lnSpc>
                <a:spcPct val="150000"/>
              </a:lnSpc>
              <a:buNone/>
            </a:pPr>
          </a:p>
          <a:p xmlns:a="http://schemas.openxmlformats.org/drawingml/2006/main">
            <a:pPr>
              <a:lnSpc>
                <a:spcPct val="150000"/>
              </a:lnSpc>
              <a:buNone/>
            </a:pPr>
            <a:r>
              <a:rPr sz="1400" b="1">
                <a:solidFill>
                  <a:srgbClr val="1557B0"/>
                </a:solidFill>
                <a:latin typeface="+mj-lt"/>
                <a:ea typeface="+mj-lt"/>
                <a:cs typeface="+mj-lt"/>
              </a:rPr>
              <a:t>DANH MỤC CỔ PHIẾU CẦN THEO DÕI</a:t>
            </a:r>
          </a:p>
        </p:txBody>
      </p:sp>
      <p:sp>
        <p:nvSpPr>
          <p:cNvPr id="5" name="Slide Number Placeholder 4">
            <a:extLst xmlns:a="http://schemas.openxmlformats.org/drawingml/2006/main">
              <a:ext uri="{FF2B5EF4-FFF2-40B4-BE49-F238E27FC236}">
                <a16:creationId xmlns:a16="http://schemas.microsoft.com/office/drawing/2014/main" id="{F6C31D33-6EF9-2BF6-21CD-B166BC5D31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2</a:t>
            </a:fld>
          </a:p>
        </p:txBody>
      </p:sp>
    </p:spTree>
    <p:extLst>
      <p:ext uri="{BB962C8B-B14F-4D97-AF65-F5344CB8AC3E}">
        <p14:creationId xmlns:p14="http://schemas.microsoft.com/office/powerpoint/2010/main" val="4037875003"/>
      </p:ext>
    </p:extLst>
  </p:cSld>
</p:sld>
</file>

<file path=ppt/slides/slide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Straight Connector 5">
            <a:extLst xmlns:a="http://schemas.openxmlformats.org/drawingml/2006/main">
              <a:ext uri="{FF2B5EF4-FFF2-40B4-BE49-F238E27FC236}">
                <a16:creationId xmlns:a16="http://schemas.microsoft.com/office/drawing/2014/main" id="{F46C4DF8-948E-488D-A3CA-BA780E356253}"/>
              </a:ext>
            </a:extLst>
          </p:cNvPr>
          <p:cNvSpPr>
            <a:spLocks xmlns:a="http://schemas.openxmlformats.org/drawingml/2006/main" noGrp="1"/>
          </p:cNvSpPr>
          <p:nvPr/>
        </p:nvSpPr>
        <p:spPr>
          <a:xfrm xmlns:a="http://schemas.openxmlformats.org/drawingml/2006/main" flipV="1">
            <a:off x="261939" y="677863"/>
            <a:ext cx="11676063" cy="0"/>
          </a:xfrm>
          <a:prstGeom xmlns:a="http://schemas.openxmlformats.org/drawingml/2006/main" prst="line">
            <a:avLst/>
          </a:prstGeom>
          <a:ln xmlns:a="http://schemas.openxmlformats.org/drawingml/2006/main" w="19050">
            <a:solidFill>
              <a:srgbClr val="163A63"/>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Title 5">
            <a:extLst xmlns:a="http://schemas.openxmlformats.org/drawingml/2006/main">
              <a:ext uri="{FF2B5EF4-FFF2-40B4-BE49-F238E27FC236}">
                <a16:creationId xmlns:a16="http://schemas.microsoft.com/office/drawing/2014/main" id="{9516C03B-CB8D-022C-BB34-4ECE32498F98}"/>
              </a:ext>
            </a:extLst>
          </p:cNvPr>
          <p:cNvSpPr>
            <a:spLocks xmlns:a="http://schemas.openxmlformats.org/drawingml/2006/main" noGrp="1"/>
          </p:cNvSpPr>
          <p:nvPr/>
        </p:nvSpPr>
        <p:spPr>
          <a:xfrm xmlns:a="http://schemas.openxmlformats.org/drawingml/2006/main">
            <a:off x="261939" y="301596"/>
            <a:ext cx="7991728" cy="355038"/>
          </a:xfrm>
          <a:prstGeom xmlns:a="http://schemas.openxmlformats.org/drawingml/2006/main" prst="rect">
            <a:avLst/>
          </a:prstGeom>
          <a:noFill xmlns:a="http://schemas.openxmlformats.org/drawingml/2006/main"/>
        </p:spPr>
        <p:txBody>
          <a:bodyPr xmlns:a="http://schemas.openxmlformats.org/drawingml/2006/main" vert="horz" lIns="91440" tIns="45720" rIns="91440" bIns="45720" anchor="t">
            <a:noAutofit/>
          </a:bodyPr>
          <a:lstStyle xmlns:a="http://schemas.openxmlformats.org/drawingml/2006/main">
            <a:lvl1pPr algn="l" defTabSz="914400">
              <a:lnSpc>
                <a:spcPct val="90000"/>
              </a:lnSpc>
              <a:spcBef>
                <a:spcPct val="0"/>
              </a:spcBef>
              <a:buNone/>
              <a:defRPr sz="1875" kern="1200">
                <a:solidFill>
                  <a:schemeClr val="accent1"/>
                </a:solidFill>
                <a:latin typeface="+mj-lt"/>
                <a:ea typeface="+mj-lt"/>
                <a:cs typeface="+mj-lt"/>
              </a:defRPr>
            </a:lvl1pPr>
          </a:lstStyle>
          <a:p xmlns:a="http://schemas.openxmlformats.org/drawingml/2006/main">
            <a:pPr>
              <a:defRPr sz="1425" b="1">
                <a:solidFill>
                  <a:srgbClr val="163A63"/>
                </a:solidFill>
                <a:latin typeface="Arial"/>
                <a:ea typeface="Arial"/>
                <a:cs typeface="Arial"/>
              </a:defRPr>
            </a:pPr>
            <a:r>
              <a:rPr sz="1425" b="1">
                <a:solidFill>
                  <a:srgbClr val="163A63"/>
                </a:solidFill>
                <a:latin typeface="Arial"/>
                <a:ea typeface="Arial"/>
                <a:cs typeface="Arial"/>
              </a:rPr>
              <a:t>DIỄN BIẾN THỊ TR</a:t>
            </a:r>
            <a:r>
              <a:rPr sz="1425" b="1">
                <a:solidFill>
                  <a:srgbClr val="163A63"/>
                </a:solidFill>
                <a:latin typeface="Arial"/>
                <a:ea typeface="Arial"/>
                <a:cs typeface="Arial"/>
              </a:rPr>
              <a:t>Ư</a:t>
            </a:r>
            <a:r>
              <a:rPr sz="1425" b="1">
                <a:solidFill>
                  <a:srgbClr val="163A63"/>
                </a:solidFill>
                <a:latin typeface="Arial"/>
                <a:ea typeface="Arial"/>
                <a:cs typeface="Arial"/>
              </a:rPr>
              <a:t>ỜNG TUẦN 27/07 – 31/07/2026</a:t>
            </a:r>
          </a:p>
        </p:txBody>
      </p:sp>
      <p:sp>
        <p:nvSpPr>
          <p:cNvPr id="8" name="Text Placeholder 7">
            <a:extLst xmlns:a="http://schemas.openxmlformats.org/drawingml/2006/main">
              <a:ext uri="{FF2B5EF4-FFF2-40B4-BE49-F238E27FC236}">
                <a16:creationId xmlns:a16="http://schemas.microsoft.com/office/drawing/2014/main" id="{7A4F60C0-301D-43A6-BB17-648BC55F0C62}"/>
              </a:ext>
            </a:extLst>
          </p:cNvPr>
          <p:cNvSpPr>
            <a:spLocks xmlns:a="http://schemas.openxmlformats.org/drawingml/2006/main" noGrp="1"/>
          </p:cNvSpPr>
          <p:nvPr/>
        </p:nvSpPr>
        <p:spPr>
          <a:xfrm xmlns:a="http://schemas.openxmlformats.org/drawingml/2006/main">
            <a:off x="261121" y="677863"/>
            <a:ext cx="7449864" cy="5941051"/>
          </a:xfrm>
          <a:prstGeom xmlns:a="http://schemas.openxmlformats.org/drawingml/2006/main" prst="rect">
            <a:avLst/>
          </a:prstGeom>
        </p:spPr>
        <p:txBody>
          <a:bodyPr xmlns:a="http://schemas.openxmlformats.org/drawingml/2006/main" vert="horz" lIns="91440" tIns="45720" rIns="91440" bIns="45720">
            <a:noAutofit/>
          </a:bodyPr>
          <a:lstStyle xmlns:a="http://schemas.openxmlformats.org/drawingml/2006/main">
            <a:lvl1pPr marL="0" indent="0" algn="l" defTabSz="914400">
              <a:lnSpc>
                <a:spcPct val="120000"/>
              </a:lnSpc>
              <a:spcBef>
                <a:spcPts val="0"/>
              </a:spcBef>
              <a:spcAft>
                <a:spcPts val="0"/>
              </a:spcAft>
              <a:buFont typeface="Arial"/>
              <a:buNone/>
              <a:defRPr sz="1050" b="0" kern="1200">
                <a:solidFill>
                  <a:schemeClr val="accent5"/>
                </a:solidFill>
                <a:latin typeface="+mn-lt"/>
                <a:ea typeface="+mn-lt"/>
                <a:cs typeface="+mn-lt"/>
              </a:defRPr>
            </a:lvl1pPr>
            <a:lvl2pPr marL="359532" indent="0" algn="ctr" defTabSz="914400">
              <a:lnSpc>
                <a:spcPct val="90000"/>
              </a:lnSpc>
              <a:spcBef>
                <a:spcPts val="500"/>
              </a:spcBef>
              <a:buFont typeface="Arial"/>
              <a:buNone/>
              <a:defRPr sz="2400" kern="1200">
                <a:solidFill>
                  <a:schemeClr val="tx1">
                    <a:tint val="75000"/>
                  </a:schemeClr>
                </a:solidFill>
                <a:latin typeface="+mn-lt"/>
                <a:ea typeface="+mn-lt"/>
                <a:cs typeface="+mn-lt"/>
              </a:defRPr>
            </a:lvl2pPr>
            <a:lvl3pPr marL="719063" indent="0" algn="ctr" defTabSz="914400">
              <a:lnSpc>
                <a:spcPct val="90000"/>
              </a:lnSpc>
              <a:spcBef>
                <a:spcPts val="500"/>
              </a:spcBef>
              <a:buFont typeface="Arial"/>
              <a:buNone/>
              <a:defRPr sz="2000" kern="1200">
                <a:solidFill>
                  <a:schemeClr val="tx1">
                    <a:tint val="75000"/>
                  </a:schemeClr>
                </a:solidFill>
                <a:latin typeface="+mn-lt"/>
                <a:ea typeface="+mn-lt"/>
                <a:cs typeface="+mn-lt"/>
              </a:defRPr>
            </a:lvl3pPr>
            <a:lvl4pPr marL="107859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4pPr>
            <a:lvl5pPr marL="143812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5pPr>
            <a:lvl6pPr marL="179765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6pPr>
            <a:lvl7pPr marL="215718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7pPr>
            <a:lvl8pPr marL="2516718"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8pPr>
            <a:lvl9pPr marL="2876250"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9pPr>
          </a:lstStyle>
          <a:p xmlns:a="http://schemas.openxmlformats.org/drawingml/2006/main">
            <a:pPr>
              <a:lnSpc>
                <a:spcPct val="150000"/>
              </a:lnSpc>
              <a:spcBef>
                <a:spcPct val="0"/>
              </a:spcBef>
              <a:buNone/>
            </a:pPr>
            <a:r>
              <a:rPr sz="1400" b="1">
                <a:solidFill>
                  <a:srgbClr val="1557B0"/>
                </a:solidFill>
                <a:latin typeface="+mj-lt"/>
                <a:ea typeface="+mj-lt"/>
                <a:cs typeface="+mj-lt"/>
              </a:rPr>
              <a:t>Xu h</a:t>
            </a:r>
            <a:r>
              <a:rPr sz="1400" b="1">
                <a:solidFill>
                  <a:srgbClr val="1557B0"/>
                </a:solidFill>
                <a:latin typeface="+mj-lt"/>
                <a:ea typeface="+mj-lt"/>
                <a:cs typeface="+mj-lt"/>
              </a:rPr>
              <a:t>ư</a:t>
            </a:r>
            <a:r>
              <a:rPr sz="1400" b="1">
                <a:solidFill>
                  <a:srgbClr val="1557B0"/>
                </a:solidFill>
                <a:latin typeface="+mj-lt"/>
                <a:ea typeface="+mj-lt"/>
                <a:cs typeface="+mj-lt"/>
              </a:rPr>
              <a:t>ớng</a:t>
            </a:r>
            <a:r>
              <a:rPr sz="1400" b="1">
                <a:solidFill>
                  <a:srgbClr val="1557B0"/>
                </a:solidFill>
                <a:latin typeface="+mj-lt"/>
                <a:ea typeface="+mj-lt"/>
                <a:cs typeface="+mj-lt"/>
              </a:rPr>
              <a:t> </a:t>
            </a:r>
            <a:r>
              <a:rPr sz="1400" b="1">
                <a:solidFill>
                  <a:srgbClr val="1557B0"/>
                </a:solidFill>
                <a:latin typeface="+mj-lt"/>
                <a:ea typeface="+mj-lt"/>
                <a:cs typeface="+mj-lt"/>
              </a:rPr>
              <a:t>và</a:t>
            </a:r>
            <a:r>
              <a:rPr sz="1400" b="1">
                <a:solidFill>
                  <a:srgbClr val="1557B0"/>
                </a:solidFill>
                <a:latin typeface="+mj-lt"/>
                <a:ea typeface="+mj-lt"/>
                <a:cs typeface="+mj-lt"/>
              </a:rPr>
              <a:t> </a:t>
            </a:r>
            <a:r>
              <a:rPr sz="1400" b="1">
                <a:solidFill>
                  <a:srgbClr val="1557B0"/>
                </a:solidFill>
                <a:latin typeface="+mj-lt"/>
                <a:ea typeface="+mj-lt"/>
                <a:cs typeface="+mj-lt"/>
              </a:rPr>
              <a:t>độ</a:t>
            </a:r>
            <a:r>
              <a:rPr sz="1400" b="1">
                <a:solidFill>
                  <a:srgbClr val="1557B0"/>
                </a:solidFill>
                <a:latin typeface="+mj-lt"/>
                <a:ea typeface="+mj-lt"/>
                <a:cs typeface="+mj-lt"/>
              </a:rPr>
              <a:t> </a:t>
            </a:r>
            <a:r>
              <a:rPr sz="1400" b="1">
                <a:solidFill>
                  <a:srgbClr val="1557B0"/>
                </a:solidFill>
                <a:latin typeface="+mj-lt"/>
                <a:ea typeface="+mj-lt"/>
                <a:cs typeface="+mj-lt"/>
              </a:rPr>
              <a:t>rộng</a:t>
            </a:r>
            <a:r>
              <a:rPr sz="1400" b="1">
                <a:solidFill>
                  <a:srgbClr val="1557B0"/>
                </a:solidFill>
                <a:latin typeface="+mj-lt"/>
                <a:ea typeface="+mj-lt"/>
                <a:cs typeface="+mj-lt"/>
              </a:rPr>
              <a:t> </a:t>
            </a:r>
            <a:r>
              <a:rPr sz="1400" b="1">
                <a:solidFill>
                  <a:srgbClr val="1557B0"/>
                </a:solidFill>
                <a:latin typeface="+mj-lt"/>
                <a:ea typeface="+mj-lt"/>
                <a:cs typeface="+mj-lt"/>
              </a:rPr>
              <a:t>thị</a:t>
            </a:r>
            <a:r>
              <a:rPr sz="1400" b="1">
                <a:solidFill>
                  <a:srgbClr val="1557B0"/>
                </a:solidFill>
                <a:latin typeface="+mj-lt"/>
                <a:ea typeface="+mj-lt"/>
                <a:cs typeface="+mj-lt"/>
              </a:rPr>
              <a:t> tr</a:t>
            </a:r>
            <a:r>
              <a:rPr sz="1400" b="1">
                <a:solidFill>
                  <a:srgbClr val="1557B0"/>
                </a:solidFill>
                <a:latin typeface="+mj-lt"/>
                <a:ea typeface="+mj-lt"/>
                <a:cs typeface="+mj-lt"/>
              </a:rPr>
              <a:t>ư</a:t>
            </a:r>
            <a:r>
              <a:rPr sz="1400" b="1">
                <a:solidFill>
                  <a:srgbClr val="1557B0"/>
                </a:solidFill>
                <a:latin typeface="+mj-lt"/>
                <a:ea typeface="+mj-lt"/>
                <a:cs typeface="+mj-lt"/>
              </a:rPr>
              <a:t>ờng</a:t>
            </a:r>
          </a:p>
          <a:p xmlns:a="http://schemas.openxmlformats.org/drawingml/2006/main">
            <a:pPr>
              <a:lnSpc>
                <a:spcPct val="150000"/>
              </a:lnSpc>
              <a:spcBef>
                <a:spcPct val="0"/>
              </a:spcBef>
              <a:buNone/>
            </a:pPr>
          </a:p>
          <a:p xmlns:a="http://schemas.openxmlformats.org/drawingml/2006/main">
            <a:pPr marL="171450" indent="-171450">
              <a:lnSpc>
                <a:spcPct val="150000"/>
              </a:lnSpc>
              <a:buFont typeface="Arial"/>
              <a:buChar char="•"/>
            </a:pPr>
            <a:r>
              <a:rPr sz="1100">
                <a:solidFill>
                  <a:srgbClr val="263442"/>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xmlns:a="http://schemas.openxmlformats.org/drawingml/2006/main">
            <a:pPr marL="171450" indent="-171450">
              <a:lnSpc>
                <a:spcPct val="150000"/>
              </a:lnSpc>
              <a:buFont typeface="Arial"/>
              <a:buChar char="•"/>
            </a:pPr>
            <a:r>
              <a:rPr sz="1100">
                <a:solidFill>
                  <a:srgbClr val="263442"/>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xmlns:a="http://schemas.openxmlformats.org/drawingml/2006/main">
            <a:pPr marL="171450" indent="-171450">
              <a:lnSpc>
                <a:spcPct val="150000"/>
              </a:lnSpc>
              <a:buFont typeface="Arial"/>
              <a:buChar char="•"/>
            </a:pPr>
            <a:r>
              <a:rPr sz="1100">
                <a:solidFill>
                  <a:srgbClr val="263442"/>
                </a:solidFill>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xmlns:a="http://schemas.openxmlformats.org/drawingml/2006/main">
            <a:pPr marL="171450" indent="-171450">
              <a:lnSpc>
                <a:spcPct val="150000"/>
              </a:lnSpc>
              <a:buFont typeface="Arial"/>
              <a:buChar char="•"/>
            </a:pPr>
          </a:p>
        </p:txBody>
      </p:sp>
      <p:sp>
        <p:nvSpPr>
          <p:cNvPr id="13" name="Slide Number Placeholder 12">
            <a:extLst xmlns:a="http://schemas.openxmlformats.org/drawingml/2006/main">
              <a:ext uri="{FF2B5EF4-FFF2-40B4-BE49-F238E27FC236}">
                <a16:creationId xmlns:a16="http://schemas.microsoft.com/office/drawing/2014/main" id="{846BBBE7-79B2-883E-C577-2EC6A3256FAB}"/>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pPr>
              <a:defRPr sz="750">
                <a:solidFill>
                  <a:srgbClr val="6B7C8F"/>
                </a:solidFill>
                <a:latin typeface="Arial"/>
                <a:ea typeface="Arial"/>
                <a:cs typeface="Arial"/>
              </a:defRPr>
            </a:pPr>
            <a:fld id="{95CC1D26-A9BD-4BDE-BDD9-08EDBAE96860}" type="slidenum">
              <a:rPr sz="750">
                <a:solidFill>
                  <a:srgbClr val="6B7C8F"/>
                </a:solidFill>
                <a:latin typeface="Arial"/>
                <a:ea typeface="Arial"/>
                <a:cs typeface="Arial"/>
              </a:rPr>
              <a:t>3</a:t>
            </a:fld>
          </a:p>
        </p:txBody>
      </p:sp>
      <p:pic>
        <p:nvPicPr>
          <p:cNvPr id="20" name="Picture 1"/>
          <p:cNvPicPr>
            <a:picLocks xmlns:a="http://schemas.openxmlformats.org/drawingml/2006/main" noChangeAspect="1"/>
          </p:cNvPicPr>
          <p:nvPr/>
        </p:nvPicPr>
        <p:blipFill>
          <a:blip xmlns:r="http://schemas.openxmlformats.org/officeDocument/2006/relationships" xmlns:a="http://schemas.openxmlformats.org/drawingml/2006/main" r:embed="Rda17db11375e4764"/>
          <a:stretch xmlns:a="http://schemas.openxmlformats.org/drawingml/2006/main">
            <a:fillRect l="0" t="0" r="0" b="0"/>
          </a:stretch>
        </p:blipFill>
        <p:spPr>
          <a:xfrm xmlns:a="http://schemas.openxmlformats.org/drawingml/2006/main">
            <a:off x="7757281" y="763728"/>
            <a:ext cx="4248525" cy="2913765"/>
          </a:xfrm>
          <a:prstGeom xmlns:a="http://schemas.openxmlformats.org/drawingml/2006/main" prst="rect">
            <a:avLst/>
          </a:prstGeom>
        </p:spPr>
      </p:pic>
      <p:graphicFrame>
        <p:nvGraphicFramePr>
          <p:cNvPr id="21" name="Chart 6"/>
          <p:cNvGraphicFramePr/>
          <p:nvPr/>
        </p:nvGraphicFramePr>
        <p:xfrm>
          <a:off xmlns:a="http://schemas.openxmlformats.org/drawingml/2006/main" x="7757280" y="3677493"/>
          <a:ext xmlns:a="http://schemas.openxmlformats.org/drawingml/2006/main" cx="4248526" cy="2878911"/>
        </p:xfrm>
        <a:graphic xmlns:a="http://schemas.openxmlformats.org/drawingml/2006/main">
          <a:graphicData uri="http://schemas.openxmlformats.org/drawingml/2006/chart">
            <c:chart xmlns:r="http://schemas.openxmlformats.org/officeDocument/2006/relationships" xmlns:c="http://schemas.openxmlformats.org/drawingml/2006/chart" r:id="Rc36c16f1965646d9"/>
          </a:graphicData>
        </a:graphic>
      </p:graphicFrame>
    </p:spTree>
    <p:extLst>
      <p:ext uri="{BB962C8B-B14F-4D97-AF65-F5344CB8AC3E}">
        <p14:creationId xmlns:p14="http://schemas.microsoft.com/office/powerpoint/2010/main" val="1745765960"/>
      </p:ext>
    </p:extLst>
  </p:cSld>
</p:sld>
</file>

<file path=ppt/slides/slide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Straight Connector 5">
            <a:extLst xmlns:a="http://schemas.openxmlformats.org/drawingml/2006/main">
              <a:ext uri="{FF2B5EF4-FFF2-40B4-BE49-F238E27FC236}">
                <a16:creationId xmlns:a16="http://schemas.microsoft.com/office/drawing/2014/main" id="{0E1928AA-2F33-4240-8F33-4C3E6D744EEB}"/>
              </a:ext>
            </a:extLst>
          </p:cNvPr>
          <p:cNvSpPr>
            <a:spLocks xmlns:a="http://schemas.openxmlformats.org/drawingml/2006/main" noGrp="1"/>
          </p:cNvSpPr>
          <p:nvPr/>
        </p:nvSpPr>
        <p:spPr>
          <a:xfrm xmlns:a="http://schemas.openxmlformats.org/drawingml/2006/main" flipV="1">
            <a:off x="261939" y="677863"/>
            <a:ext cx="11676063" cy="0"/>
          </a:xfrm>
          <a:prstGeom xmlns:a="http://schemas.openxmlformats.org/drawingml/2006/main" prst="line">
            <a:avLst/>
          </a:prstGeom>
          <a:ln xmlns:a="http://schemas.openxmlformats.org/drawingml/2006/main" w="19050">
            <a:solidFill>
              <a:srgbClr val="163A63"/>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Title 5">
            <a:extLst xmlns:a="http://schemas.openxmlformats.org/drawingml/2006/main">
              <a:ext uri="{FF2B5EF4-FFF2-40B4-BE49-F238E27FC236}">
                <a16:creationId xmlns:a16="http://schemas.microsoft.com/office/drawing/2014/main" id="{9516C03B-CB8D-022C-BB34-4ECE32498F98}"/>
              </a:ext>
            </a:extLst>
          </p:cNvPr>
          <p:cNvSpPr>
            <a:spLocks xmlns:a="http://schemas.openxmlformats.org/drawingml/2006/main" noGrp="1"/>
          </p:cNvSpPr>
          <p:nvPr/>
        </p:nvSpPr>
        <p:spPr>
          <a:xfrm xmlns:a="http://schemas.openxmlformats.org/drawingml/2006/main">
            <a:off x="261939" y="301596"/>
            <a:ext cx="7991728" cy="355038"/>
          </a:xfrm>
          <a:prstGeom xmlns:a="http://schemas.openxmlformats.org/drawingml/2006/main" prst="rect">
            <a:avLst/>
          </a:prstGeom>
          <a:noFill xmlns:a="http://schemas.openxmlformats.org/drawingml/2006/main"/>
        </p:spPr>
        <p:txBody>
          <a:bodyPr xmlns:a="http://schemas.openxmlformats.org/drawingml/2006/main" vert="horz" lIns="91440" tIns="45720" rIns="91440" bIns="45720" anchor="t">
            <a:noAutofit/>
          </a:bodyPr>
          <a:lstStyle xmlns:a="http://schemas.openxmlformats.org/drawingml/2006/main">
            <a:lvl1pPr algn="l" defTabSz="914400">
              <a:lnSpc>
                <a:spcPct val="90000"/>
              </a:lnSpc>
              <a:spcBef>
                <a:spcPct val="0"/>
              </a:spcBef>
              <a:buNone/>
              <a:defRPr sz="1875" kern="1200">
                <a:solidFill>
                  <a:schemeClr val="accent1"/>
                </a:solidFill>
                <a:latin typeface="+mj-lt"/>
                <a:ea typeface="+mj-lt"/>
                <a:cs typeface="+mj-lt"/>
              </a:defRPr>
            </a:lvl1pPr>
          </a:lstStyle>
          <a:p xmlns:a="http://schemas.openxmlformats.org/drawingml/2006/main">
            <a:pPr>
              <a:defRPr sz="1425" b="1">
                <a:solidFill>
                  <a:srgbClr val="163A63"/>
                </a:solidFill>
                <a:latin typeface="Arial"/>
                <a:ea typeface="Arial"/>
                <a:cs typeface="Arial"/>
              </a:defRPr>
            </a:pPr>
            <a:r>
              <a:rPr sz="1425" b="1">
                <a:solidFill>
                  <a:srgbClr val="163A63"/>
                </a:solidFill>
                <a:latin typeface="Arial"/>
                <a:ea typeface="Arial"/>
                <a:cs typeface="Arial"/>
              </a:rPr>
              <a:t>DIỄN BIẾN THỊ TR</a:t>
            </a:r>
            <a:r>
              <a:rPr sz="1425" b="1">
                <a:solidFill>
                  <a:srgbClr val="163A63"/>
                </a:solidFill>
                <a:latin typeface="Arial"/>
                <a:ea typeface="Arial"/>
                <a:cs typeface="Arial"/>
              </a:rPr>
              <a:t>Ư</a:t>
            </a:r>
            <a:r>
              <a:rPr sz="1425" b="1">
                <a:solidFill>
                  <a:srgbClr val="163A63"/>
                </a:solidFill>
                <a:latin typeface="Arial"/>
                <a:ea typeface="Arial"/>
                <a:cs typeface="Arial"/>
              </a:rPr>
              <a:t>ỜNG TUẦN 27/07 – 31/07/2026</a:t>
            </a:r>
          </a:p>
        </p:txBody>
      </p:sp>
      <p:sp>
        <p:nvSpPr>
          <p:cNvPr id="8" name="Text Placeholder 7">
            <a:extLst xmlns:a="http://schemas.openxmlformats.org/drawingml/2006/main">
              <a:ext uri="{FF2B5EF4-FFF2-40B4-BE49-F238E27FC236}">
                <a16:creationId xmlns:a16="http://schemas.microsoft.com/office/drawing/2014/main" id="{7A4F60C0-301D-43A6-BB17-648BC55F0C62}"/>
              </a:ext>
            </a:extLst>
          </p:cNvPr>
          <p:cNvSpPr>
            <a:spLocks xmlns:a="http://schemas.openxmlformats.org/drawingml/2006/main" noGrp="1"/>
          </p:cNvSpPr>
          <p:nvPr/>
        </p:nvSpPr>
        <p:spPr>
          <a:xfrm xmlns:a="http://schemas.openxmlformats.org/drawingml/2006/main">
            <a:off x="275870" y="872464"/>
            <a:ext cx="6773859" cy="5746449"/>
          </a:xfrm>
          <a:prstGeom xmlns:a="http://schemas.openxmlformats.org/drawingml/2006/main" prst="rect">
            <a:avLst/>
          </a:prstGeom>
        </p:spPr>
        <p:txBody>
          <a:bodyPr xmlns:a="http://schemas.openxmlformats.org/drawingml/2006/main" vert="horz" lIns="91440" tIns="45720" rIns="91440" bIns="45720">
            <a:noAutofit/>
          </a:bodyPr>
          <a:lstStyle xmlns:a="http://schemas.openxmlformats.org/drawingml/2006/main">
            <a:lvl1pPr marL="0" indent="0" algn="l" defTabSz="914400">
              <a:lnSpc>
                <a:spcPct val="120000"/>
              </a:lnSpc>
              <a:spcBef>
                <a:spcPts val="0"/>
              </a:spcBef>
              <a:spcAft>
                <a:spcPts val="0"/>
              </a:spcAft>
              <a:buFont typeface="Arial"/>
              <a:buNone/>
              <a:defRPr sz="1050" b="0" kern="1200">
                <a:solidFill>
                  <a:schemeClr val="accent5"/>
                </a:solidFill>
                <a:latin typeface="+mn-lt"/>
                <a:ea typeface="+mn-lt"/>
                <a:cs typeface="+mn-lt"/>
              </a:defRPr>
            </a:lvl1pPr>
            <a:lvl2pPr marL="359532" indent="0" algn="ctr" defTabSz="914400">
              <a:lnSpc>
                <a:spcPct val="90000"/>
              </a:lnSpc>
              <a:spcBef>
                <a:spcPts val="500"/>
              </a:spcBef>
              <a:buFont typeface="Arial"/>
              <a:buNone/>
              <a:defRPr sz="2400" kern="1200">
                <a:solidFill>
                  <a:schemeClr val="tx1">
                    <a:tint val="75000"/>
                  </a:schemeClr>
                </a:solidFill>
                <a:latin typeface="+mn-lt"/>
                <a:ea typeface="+mn-lt"/>
                <a:cs typeface="+mn-lt"/>
              </a:defRPr>
            </a:lvl2pPr>
            <a:lvl3pPr marL="719063" indent="0" algn="ctr" defTabSz="914400">
              <a:lnSpc>
                <a:spcPct val="90000"/>
              </a:lnSpc>
              <a:spcBef>
                <a:spcPts val="500"/>
              </a:spcBef>
              <a:buFont typeface="Arial"/>
              <a:buNone/>
              <a:defRPr sz="2000" kern="1200">
                <a:solidFill>
                  <a:schemeClr val="tx1">
                    <a:tint val="75000"/>
                  </a:schemeClr>
                </a:solidFill>
                <a:latin typeface="+mn-lt"/>
                <a:ea typeface="+mn-lt"/>
                <a:cs typeface="+mn-lt"/>
              </a:defRPr>
            </a:lvl3pPr>
            <a:lvl4pPr marL="107859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4pPr>
            <a:lvl5pPr marL="143812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5pPr>
            <a:lvl6pPr marL="179765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6pPr>
            <a:lvl7pPr marL="215718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7pPr>
            <a:lvl8pPr marL="2516718"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8pPr>
            <a:lvl9pPr marL="2876250"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9pPr>
          </a:lstStyle>
          <a:p xmlns:a="http://schemas.openxmlformats.org/drawingml/2006/main">
            <a:pPr>
              <a:lnSpc>
                <a:spcPct val="90000"/>
              </a:lnSpc>
              <a:spcBef>
                <a:spcPct val="0"/>
              </a:spcBef>
              <a:buNone/>
            </a:pPr>
            <a:r>
              <a:rPr sz="1400" b="1">
                <a:solidFill>
                  <a:srgbClr val="1557B0"/>
                </a:solidFill>
                <a:latin typeface="+mj-lt"/>
                <a:ea typeface="+mj-lt"/>
                <a:cs typeface="+mj-lt"/>
              </a:rPr>
              <a:t>Biến động các </a:t>
            </a:r>
            <a:r>
              <a:rPr sz="1400" b="1">
                <a:solidFill>
                  <a:srgbClr val="1557B0"/>
                </a:solidFill>
                <a:latin typeface="+mj-lt"/>
                <a:ea typeface="+mj-lt"/>
                <a:cs typeface="+mj-lt"/>
              </a:rPr>
              <a:t>nhóm</a:t>
            </a:r>
            <a:r>
              <a:rPr sz="1400" b="1">
                <a:solidFill>
                  <a:srgbClr val="1557B0"/>
                </a:solidFill>
                <a:latin typeface="+mj-lt"/>
                <a:ea typeface="+mj-lt"/>
                <a:cs typeface="+mj-lt"/>
              </a:rPr>
              <a:t> </a:t>
            </a:r>
            <a:r>
              <a:rPr sz="1400" b="1">
                <a:solidFill>
                  <a:srgbClr val="1557B0"/>
                </a:solidFill>
                <a:latin typeface="+mj-lt"/>
                <a:ea typeface="+mj-lt"/>
                <a:cs typeface="+mj-lt"/>
              </a:rPr>
              <a:t>ngành</a:t>
            </a:r>
          </a:p>
          <a:p xmlns:a="http://schemas.openxmlformats.org/drawingml/2006/main">
            <a:pPr>
              <a:lnSpc>
                <a:spcPct val="160000"/>
              </a:lnSpc>
              <a:buNone/>
            </a:pPr>
          </a:p>
          <a:p xmlns:a="http://schemas.openxmlformats.org/drawingml/2006/main">
            <a:pPr marL="171450" indent="-171450">
              <a:lnSpc>
                <a:spcPct val="150000"/>
              </a:lnSpc>
              <a:buFont typeface="Arial"/>
              <a:buChar char="•"/>
            </a:pPr>
            <a:r>
              <a:rPr sz="1100">
                <a:solidFill>
                  <a:srgbClr val="263442"/>
                </a:solidFill>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xmlns:a="http://schemas.openxmlformats.org/drawingml/2006/main">
            <a:pPr marL="171450" indent="-171450">
              <a:lnSpc>
                <a:spcPct val="150000"/>
              </a:lnSpc>
              <a:buFont typeface="Arial"/>
              <a:buChar char="•"/>
            </a:pPr>
            <a:r>
              <a:rPr sz="1100">
                <a:solidFill>
                  <a:srgbClr val="263442"/>
                </a:solidFill>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13" name="Table 1"/>
          <p:cNvGraphicFramePr/>
          <p:nvPr/>
        </p:nvGraphicFramePr>
        <p:xfrm>
          <a:off xmlns:a="http://schemas.openxmlformats.org/drawingml/2006/main" x="7264866" y="1482010"/>
          <a:ext xmlns:a="http://schemas.openxmlformats.org/drawingml/2006/main" cx="4666012" cy="4123013"/>
        </p:xfrm>
        <a:graphic xmlns:a="http://schemas.openxmlformats.org/drawingml/2006/main">
          <a:graphicData uri="http://schemas.openxmlformats.org/drawingml/2006/table">
            <a:tbl>
              <a:tblPr firstRow="1" bandRow="1">
                <a:tableStyleId>{B301B821-A1FF-4177-AEE7-76D212191A09}</a:tableStyleId>
              </a:tblPr>
              <a:tblGrid>
                <a:gridCol w="2070863"/>
                <a:gridCol w="796107"/>
                <a:gridCol w="908078"/>
                <a:gridCol w="890964"/>
              </a:tblGrid>
              <a:tr h="162859">
                <a:tc rowSpan="2">
                  <a:txBody>
                    <a:bodyPr/>
                    <a:lstStyle/>
                    <a:p>
                      <a:pPr algn="l">
                        <a:buNone/>
                      </a:pPr>
                      <a:r>
                        <a:rPr sz="1000" b="1" u="none">
                          <a:solidFill>
                            <a:srgbClr val="FFFFFF"/>
                          </a:solidFill>
                        </a:rPr>
                        <a:t>Ngành</a:t>
                      </a:r>
                    </a:p>
                  </a:txBody>
                  <a:tcPr marL="18000" marR="9525" marT="18000" marB="0" anchor="ctr"/>
                </a:tc>
                <a:tc gridSpan="3">
                  <a:txBody>
                    <a:bodyPr/>
                    <a:lstStyle/>
                    <a:p>
                      <a:pPr algn="ctr">
                        <a:buNone/>
                      </a:pPr>
                      <a:r>
                        <a:rPr sz="1000" b="1" u="none">
                          <a:solidFill>
                            <a:srgbClr val="FFFFFF"/>
                          </a:solidFill>
                        </a:rPr>
                        <a:t>% Thay </a:t>
                      </a:r>
                      <a:r>
                        <a:rPr sz="1000" b="1" u="none">
                          <a:solidFill>
                            <a:srgbClr val="FFFFFF"/>
                          </a:solidFill>
                        </a:rPr>
                        <a:t>đổi</a:t>
                      </a:r>
                      <a:r>
                        <a:rPr sz="1000" b="1" u="none">
                          <a:solidFill>
                            <a:srgbClr val="FFFFFF"/>
                          </a:solidFill>
                        </a:rPr>
                        <a:t> </a:t>
                      </a:r>
                      <a:r>
                        <a:rPr sz="1000" b="1" u="none">
                          <a:solidFill>
                            <a:srgbClr val="FFFFFF"/>
                          </a:solidFill>
                        </a:rPr>
                        <a:t>giá</a:t>
                      </a:r>
                    </a:p>
                  </a:txBody>
                  <a:tcPr marL="18000" marR="9525" marT="18000" marB="0" anchor="ctr"/>
                </a:tc>
                <a:tc hMerge="1">
                  <a:txBody>
                    <a:bodyPr/>
                    <a:lstStyle/>
                    <a:p/>
                  </a:txBody>
                  <a:tcPr marL="91440" marR="91440" marT="45720" marB="45720"/>
                </a:tc>
                <a:tc hMerge="1">
                  <a:txBody>
                    <a:bodyPr/>
                    <a:lstStyle/>
                    <a:p/>
                  </a:txBody>
                  <a:tcPr marL="91440" marR="91440" marT="45720" marB="45720"/>
                </a:tc>
              </a:tr>
              <a:tr h="199952">
                <a:tc vMerge="1">
                  <a:txBody>
                    <a:bodyPr/>
                    <a:lstStyle/>
                    <a:p/>
                  </a:txBody>
                  <a:tcPr marL="91440" marR="91440" marT="45720" marB="45720"/>
                </a:tc>
                <a:tc>
                  <a:txBody>
                    <a:bodyPr/>
                    <a:lstStyle/>
                    <a:p>
                      <a:pPr algn="ctr">
                        <a:buNone/>
                      </a:pPr>
                      <a:r>
                        <a:rPr sz="1000" b="1" u="none">
                          <a:solidFill>
                            <a:schemeClr val="bg1"/>
                          </a:solidFill>
                        </a:rPr>
                        <a:t>1 </a:t>
                      </a:r>
                      <a:r>
                        <a:rPr sz="1000" b="1" u="none">
                          <a:solidFill>
                            <a:schemeClr val="bg1"/>
                          </a:solidFill>
                        </a:rPr>
                        <a:t>ngày</a:t>
                      </a:r>
                    </a:p>
                  </a:txBody>
                  <a:tcPr marL="18000" marR="9525" marT="18000" marB="0" anchor="ctr">
                    <a:solidFill>
                      <a:schemeClr val="accent1"/>
                    </a:solidFill>
                  </a:tcPr>
                </a:tc>
                <a:tc>
                  <a:txBody>
                    <a:bodyPr/>
                    <a:lstStyle/>
                    <a:p>
                      <a:pPr algn="ctr">
                        <a:buNone/>
                      </a:pPr>
                      <a:r>
                        <a:rPr sz="1000" b="1" u="none">
                          <a:solidFill>
                            <a:schemeClr val="bg1"/>
                          </a:solidFill>
                        </a:rPr>
                        <a:t>1 </a:t>
                      </a:r>
                      <a:r>
                        <a:rPr sz="1000" b="1" u="none">
                          <a:solidFill>
                            <a:schemeClr val="bg1"/>
                          </a:solidFill>
                        </a:rPr>
                        <a:t>tuần</a:t>
                      </a:r>
                    </a:p>
                  </a:txBody>
                  <a:tcPr marL="18000" marR="9525" marT="18000" marB="0" anchor="ctr">
                    <a:solidFill>
                      <a:schemeClr val="accent1"/>
                    </a:solidFill>
                  </a:tcPr>
                </a:tc>
                <a:tc>
                  <a:txBody>
                    <a:bodyPr/>
                    <a:lstStyle/>
                    <a:p>
                      <a:pPr algn="ctr">
                        <a:buNone/>
                      </a:pPr>
                      <a:r>
                        <a:rPr sz="1000" b="1" i="0" u="none">
                          <a:solidFill>
                            <a:schemeClr val="bg1"/>
                          </a:solidFill>
                          <a:latin typeface="+mj-lt"/>
                          <a:ea typeface="+mj-lt"/>
                          <a:cs typeface="+mj-lt"/>
                        </a:rPr>
                        <a:t>1 </a:t>
                      </a:r>
                      <a:r>
                        <a:rPr sz="1000" b="1" i="0" u="none">
                          <a:solidFill>
                            <a:schemeClr val="bg1"/>
                          </a:solidFill>
                          <a:latin typeface="+mj-lt"/>
                          <a:ea typeface="+mj-lt"/>
                          <a:cs typeface="+mj-lt"/>
                        </a:rPr>
                        <a:t>tháng</a:t>
                      </a:r>
                    </a:p>
                  </a:txBody>
                  <a:tcPr marL="18000" marR="9525" marT="18000" marB="0" anchor="ctr">
                    <a:solidFill>
                      <a:schemeClr val="accent1"/>
                    </a:solidFill>
                  </a:tcPr>
                </a:tc>
              </a:tr>
              <a:tr h="209950">
                <a:tc>
                  <a:txBody>
                    <a:bodyPr/>
                    <a:lstStyle/>
                    <a:p>
                      <a:pPr algn="l">
                        <a:buNone/>
                      </a:pPr>
                      <a:r>
                        <a:rPr sz="1100" b="0" i="0" u="none">
                          <a:solidFill>
                            <a:srgbClr val="000000"/>
                          </a:solidFill>
                          <a:latin typeface="Calibri"/>
                          <a:ea typeface="Calibri"/>
                          <a:cs typeface="Calibri"/>
                        </a:rPr>
                        <a:t>Công nghệ Thông tin</a:t>
                      </a:r>
                    </a:p>
                  </a:txBody>
                  <a:tcPr marL="9525" marR="9525" marT="9525" marB="0" anchor="ctr"/>
                </a:tc>
                <a:tc>
                  <a:txBody>
                    <a:bodyPr/>
                    <a:lstStyle/>
                    <a:p>
                      <a:pPr algn="r">
                        <a:buNone/>
                      </a:pPr>
                      <a:r>
                        <a:rPr sz="1100" b="0" i="0" u="none">
                          <a:solidFill>
                            <a:srgbClr val="000000"/>
                          </a:solidFill>
                          <a:latin typeface="Calibri"/>
                          <a:ea typeface="Calibri"/>
                          <a:cs typeface="Calibri"/>
                        </a:rPr>
                        <a:t>0,16%</a:t>
                      </a:r>
                    </a:p>
                  </a:txBody>
                  <a:tcPr marL="9525" marR="9525" marT="9525" marB="0" anchor="ctr"/>
                </a:tc>
                <a:tc>
                  <a:txBody>
                    <a:bodyPr/>
                    <a:lstStyle/>
                    <a:p>
                      <a:pPr algn="r">
                        <a:buNone/>
                      </a:pPr>
                      <a:r>
                        <a:rPr sz="1100" b="0" i="0" u="none">
                          <a:solidFill>
                            <a:srgbClr val="000000"/>
                          </a:solidFill>
                          <a:latin typeface="Calibri"/>
                          <a:ea typeface="Calibri"/>
                          <a:cs typeface="Calibri"/>
                        </a:rPr>
                        <a:t>5,88%</a:t>
                      </a:r>
                    </a:p>
                  </a:txBody>
                  <a:tcPr marL="9525" marR="9525" marT="9525" marB="0" anchor="ctr"/>
                </a:tc>
                <a:tc>
                  <a:txBody>
                    <a:bodyPr/>
                    <a:lstStyle/>
                    <a:p>
                      <a:pPr algn="r">
                        <a:buNone/>
                      </a:pPr>
                      <a:r>
                        <a:rPr sz="1100" b="0" i="0" u="none">
                          <a:solidFill>
                            <a:srgbClr val="000000"/>
                          </a:solidFill>
                          <a:latin typeface="Calibri"/>
                          <a:ea typeface="Calibri"/>
                          <a:cs typeface="Calibri"/>
                        </a:rPr>
                        <a:t>-4,69%</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Tài nguyên Cơ bản</a:t>
                      </a:r>
                    </a:p>
                  </a:txBody>
                  <a:tcPr marL="9525" marR="9525" marT="9525" marB="0" anchor="ctr"/>
                </a:tc>
                <a:tc>
                  <a:txBody>
                    <a:bodyPr/>
                    <a:lstStyle/>
                    <a:p>
                      <a:pPr algn="r">
                        <a:buNone/>
                      </a:pPr>
                      <a:r>
                        <a:rPr sz="1100" b="0" i="0" u="none">
                          <a:solidFill>
                            <a:srgbClr val="000000"/>
                          </a:solidFill>
                          <a:latin typeface="Calibri"/>
                          <a:ea typeface="Calibri"/>
                          <a:cs typeface="Calibri"/>
                        </a:rPr>
                        <a:t>-0,50%</a:t>
                      </a:r>
                    </a:p>
                  </a:txBody>
                  <a:tcPr marL="9525" marR="9525" marT="9525" marB="0" anchor="ctr"/>
                </a:tc>
                <a:tc>
                  <a:txBody>
                    <a:bodyPr/>
                    <a:lstStyle/>
                    <a:p>
                      <a:pPr algn="r">
                        <a:buNone/>
                      </a:pPr>
                      <a:r>
                        <a:rPr sz="1100" b="0" i="0" u="none">
                          <a:solidFill>
                            <a:srgbClr val="000000"/>
                          </a:solidFill>
                          <a:latin typeface="Calibri"/>
                          <a:ea typeface="Calibri"/>
                          <a:cs typeface="Calibri"/>
                        </a:rPr>
                        <a:t>5,87%</a:t>
                      </a:r>
                    </a:p>
                  </a:txBody>
                  <a:tcPr marL="9525" marR="9525" marT="9525" marB="0" anchor="ctr"/>
                </a:tc>
                <a:tc>
                  <a:txBody>
                    <a:bodyPr/>
                    <a:lstStyle/>
                    <a:p>
                      <a:pPr algn="r">
                        <a:buNone/>
                      </a:pPr>
                      <a:r>
                        <a:rPr sz="1100" b="0" i="0" u="none">
                          <a:solidFill>
                            <a:srgbClr val="000000"/>
                          </a:solidFill>
                          <a:latin typeface="Calibri"/>
                          <a:ea typeface="Calibri"/>
                          <a:cs typeface="Calibri"/>
                        </a:rPr>
                        <a:t>-3,88%</a:t>
                      </a:r>
                    </a:p>
                  </a:txBody>
                  <a:tcPr marL="9525" marR="9525" marT="9525" marB="0" anchor="ctr"/>
                </a:tc>
              </a:tr>
              <a:tr h="183511">
                <a:tc>
                  <a:txBody>
                    <a:bodyPr/>
                    <a:lstStyle/>
                    <a:p>
                      <a:pPr algn="l">
                        <a:buNone/>
                      </a:pPr>
                      <a:r>
                        <a:rPr sz="1100" b="0" i="0" u="none">
                          <a:solidFill>
                            <a:srgbClr val="000000"/>
                          </a:solidFill>
                          <a:latin typeface="Calibri"/>
                          <a:ea typeface="Calibri"/>
                          <a:cs typeface="Calibri"/>
                        </a:rPr>
                        <a:t>Hóa chất</a:t>
                      </a:r>
                    </a:p>
                  </a:txBody>
                  <a:tcPr marL="9525" marR="9525" marT="9525" marB="0" anchor="ctr"/>
                </a:tc>
                <a:tc>
                  <a:txBody>
                    <a:bodyPr/>
                    <a:lstStyle/>
                    <a:p>
                      <a:pPr algn="r">
                        <a:buNone/>
                      </a:pPr>
                      <a:r>
                        <a:rPr sz="1100" b="0" i="0" u="none">
                          <a:solidFill>
                            <a:srgbClr val="000000"/>
                          </a:solidFill>
                          <a:latin typeface="Calibri"/>
                          <a:ea typeface="Calibri"/>
                          <a:cs typeface="Calibri"/>
                        </a:rPr>
                        <a:t>-0,24%</a:t>
                      </a:r>
                    </a:p>
                  </a:txBody>
                  <a:tcPr marL="9525" marR="9525" marT="9525" marB="0" anchor="ctr"/>
                </a:tc>
                <a:tc>
                  <a:txBody>
                    <a:bodyPr/>
                    <a:lstStyle/>
                    <a:p>
                      <a:pPr algn="r">
                        <a:buNone/>
                      </a:pPr>
                      <a:r>
                        <a:rPr sz="1100" b="0" i="0" u="none">
                          <a:solidFill>
                            <a:srgbClr val="000000"/>
                          </a:solidFill>
                          <a:latin typeface="Calibri"/>
                          <a:ea typeface="Calibri"/>
                          <a:cs typeface="Calibri"/>
                        </a:rPr>
                        <a:t>4,11%</a:t>
                      </a:r>
                    </a:p>
                  </a:txBody>
                  <a:tcPr marL="9525" marR="9525" marT="9525" marB="0" anchor="ctr"/>
                </a:tc>
                <a:tc>
                  <a:txBody>
                    <a:bodyPr/>
                    <a:lstStyle/>
                    <a:p>
                      <a:pPr algn="r">
                        <a:buNone/>
                      </a:pPr>
                      <a:r>
                        <a:rPr sz="1100" b="0" i="0" u="none">
                          <a:solidFill>
                            <a:srgbClr val="000000"/>
                          </a:solidFill>
                          <a:latin typeface="Calibri"/>
                          <a:ea typeface="Calibri"/>
                          <a:cs typeface="Calibri"/>
                        </a:rPr>
                        <a:t>-11,14%</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Bất động sản</a:t>
                      </a:r>
                    </a:p>
                  </a:txBody>
                  <a:tcPr marL="9525" marR="9525" marT="9525" marB="0" anchor="ctr"/>
                </a:tc>
                <a:tc>
                  <a:txBody>
                    <a:bodyPr/>
                    <a:lstStyle/>
                    <a:p>
                      <a:pPr algn="r">
                        <a:buNone/>
                      </a:pPr>
                      <a:r>
                        <a:rPr sz="1100" b="0" i="0" u="none">
                          <a:solidFill>
                            <a:srgbClr val="000000"/>
                          </a:solidFill>
                          <a:latin typeface="Calibri"/>
                          <a:ea typeface="Calibri"/>
                          <a:cs typeface="Calibri"/>
                        </a:rPr>
                        <a:t>-1,71%</a:t>
                      </a:r>
                    </a:p>
                  </a:txBody>
                  <a:tcPr marL="9525" marR="9525" marT="9525" marB="0" anchor="ctr"/>
                </a:tc>
                <a:tc>
                  <a:txBody>
                    <a:bodyPr/>
                    <a:lstStyle/>
                    <a:p>
                      <a:pPr algn="r">
                        <a:buNone/>
                      </a:pPr>
                      <a:r>
                        <a:rPr sz="1100" b="0" i="0" u="none">
                          <a:solidFill>
                            <a:srgbClr val="000000"/>
                          </a:solidFill>
                          <a:latin typeface="Calibri"/>
                          <a:ea typeface="Calibri"/>
                          <a:cs typeface="Calibri"/>
                        </a:rPr>
                        <a:t>3,40%</a:t>
                      </a:r>
                    </a:p>
                  </a:txBody>
                  <a:tcPr marL="9525" marR="9525" marT="9525" marB="0" anchor="ctr"/>
                </a:tc>
                <a:tc>
                  <a:txBody>
                    <a:bodyPr/>
                    <a:lstStyle/>
                    <a:p>
                      <a:pPr algn="r">
                        <a:buNone/>
                      </a:pPr>
                      <a:r>
                        <a:rPr sz="1100" b="0" i="0" u="none">
                          <a:solidFill>
                            <a:srgbClr val="000000"/>
                          </a:solidFill>
                          <a:latin typeface="Calibri"/>
                          <a:ea typeface="Calibri"/>
                          <a:cs typeface="Calibri"/>
                        </a:rPr>
                        <a:t>-4,14%</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Bảo hiểm</a:t>
                      </a:r>
                    </a:p>
                  </a:txBody>
                  <a:tcPr marL="9525" marR="9525" marT="9525" marB="0" anchor="ctr"/>
                </a:tc>
                <a:tc>
                  <a:txBody>
                    <a:bodyPr/>
                    <a:lstStyle/>
                    <a:p>
                      <a:pPr algn="r">
                        <a:buNone/>
                      </a:pPr>
                      <a:r>
                        <a:rPr sz="1100" b="0" i="0" u="none">
                          <a:solidFill>
                            <a:srgbClr val="000000"/>
                          </a:solidFill>
                          <a:latin typeface="Calibri"/>
                          <a:ea typeface="Calibri"/>
                          <a:cs typeface="Calibri"/>
                        </a:rPr>
                        <a:t>-1,33%</a:t>
                      </a:r>
                    </a:p>
                  </a:txBody>
                  <a:tcPr marL="9525" marR="9525" marT="9525" marB="0" anchor="ctr"/>
                </a:tc>
                <a:tc>
                  <a:txBody>
                    <a:bodyPr/>
                    <a:lstStyle/>
                    <a:p>
                      <a:pPr algn="r">
                        <a:buNone/>
                      </a:pPr>
                      <a:r>
                        <a:rPr sz="1100" b="0" i="0" u="none">
                          <a:solidFill>
                            <a:srgbClr val="000000"/>
                          </a:solidFill>
                          <a:latin typeface="Calibri"/>
                          <a:ea typeface="Calibri"/>
                          <a:cs typeface="Calibri"/>
                        </a:rPr>
                        <a:t>3,18%</a:t>
                      </a:r>
                    </a:p>
                  </a:txBody>
                  <a:tcPr marL="9525" marR="9525" marT="9525" marB="0" anchor="ctr"/>
                </a:tc>
                <a:tc>
                  <a:txBody>
                    <a:bodyPr/>
                    <a:lstStyle/>
                    <a:p>
                      <a:pPr algn="r">
                        <a:buNone/>
                      </a:pPr>
                      <a:r>
                        <a:rPr sz="1100" b="0" i="0" u="none">
                          <a:solidFill>
                            <a:srgbClr val="000000"/>
                          </a:solidFill>
                          <a:latin typeface="Calibri"/>
                          <a:ea typeface="Calibri"/>
                          <a:cs typeface="Calibri"/>
                        </a:rPr>
                        <a:t>-5,24%</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Du lịch và Giải trí</a:t>
                      </a:r>
                    </a:p>
                  </a:txBody>
                  <a:tcPr marL="9525" marR="9525" marT="9525" marB="0" anchor="ctr"/>
                </a:tc>
                <a:tc>
                  <a:txBody>
                    <a:bodyPr/>
                    <a:lstStyle/>
                    <a:p>
                      <a:pPr algn="r">
                        <a:buNone/>
                      </a:pPr>
                      <a:r>
                        <a:rPr sz="1100" b="0" i="0" u="none">
                          <a:solidFill>
                            <a:srgbClr val="000000"/>
                          </a:solidFill>
                          <a:latin typeface="Calibri"/>
                          <a:ea typeface="Calibri"/>
                          <a:cs typeface="Calibri"/>
                        </a:rPr>
                        <a:t>-0,05%</a:t>
                      </a:r>
                    </a:p>
                  </a:txBody>
                  <a:tcPr marL="9525" marR="9525" marT="9525" marB="0" anchor="ctr"/>
                </a:tc>
                <a:tc>
                  <a:txBody>
                    <a:bodyPr/>
                    <a:lstStyle/>
                    <a:p>
                      <a:pPr algn="r">
                        <a:buNone/>
                      </a:pPr>
                      <a:r>
                        <a:rPr sz="1100" b="0" i="0" u="none">
                          <a:solidFill>
                            <a:srgbClr val="000000"/>
                          </a:solidFill>
                          <a:latin typeface="Calibri"/>
                          <a:ea typeface="Calibri"/>
                          <a:cs typeface="Calibri"/>
                        </a:rPr>
                        <a:t>2,83%</a:t>
                      </a:r>
                    </a:p>
                  </a:txBody>
                  <a:tcPr marL="9525" marR="9525" marT="9525" marB="0" anchor="ctr"/>
                </a:tc>
                <a:tc>
                  <a:txBody>
                    <a:bodyPr/>
                    <a:lstStyle/>
                    <a:p>
                      <a:pPr algn="r">
                        <a:buNone/>
                      </a:pPr>
                      <a:r>
                        <a:rPr sz="1100" b="0" i="0" u="none">
                          <a:solidFill>
                            <a:srgbClr val="000000"/>
                          </a:solidFill>
                          <a:latin typeface="Calibri"/>
                          <a:ea typeface="Calibri"/>
                          <a:cs typeface="Calibri"/>
                        </a:rPr>
                        <a:t>-9,93%</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Ngân hàng</a:t>
                      </a:r>
                    </a:p>
                  </a:txBody>
                  <a:tcPr marL="9525" marR="9525" marT="9525" marB="0" anchor="ctr"/>
                </a:tc>
                <a:tc>
                  <a:txBody>
                    <a:bodyPr/>
                    <a:lstStyle/>
                    <a:p>
                      <a:pPr algn="r">
                        <a:buNone/>
                      </a:pPr>
                      <a:r>
                        <a:rPr sz="1100" b="0" i="0" u="none">
                          <a:solidFill>
                            <a:srgbClr val="000000"/>
                          </a:solidFill>
                          <a:latin typeface="Calibri"/>
                          <a:ea typeface="Calibri"/>
                          <a:cs typeface="Calibri"/>
                        </a:rPr>
                        <a:t>0,63%</a:t>
                      </a:r>
                    </a:p>
                  </a:txBody>
                  <a:tcPr marL="9525" marR="9525" marT="9525" marB="0" anchor="ctr"/>
                </a:tc>
                <a:tc>
                  <a:txBody>
                    <a:bodyPr/>
                    <a:lstStyle/>
                    <a:p>
                      <a:pPr algn="r">
                        <a:buNone/>
                      </a:pPr>
                      <a:r>
                        <a:rPr sz="1100" b="0" i="0" u="none">
                          <a:solidFill>
                            <a:srgbClr val="000000"/>
                          </a:solidFill>
                          <a:latin typeface="Calibri"/>
                          <a:ea typeface="Calibri"/>
                          <a:cs typeface="Calibri"/>
                        </a:rPr>
                        <a:t>2,63%</a:t>
                      </a:r>
                    </a:p>
                  </a:txBody>
                  <a:tcPr marL="9525" marR="9525" marT="9525" marB="0" anchor="ctr"/>
                </a:tc>
                <a:tc>
                  <a:txBody>
                    <a:bodyPr/>
                    <a:lstStyle/>
                    <a:p>
                      <a:pPr algn="r">
                        <a:buNone/>
                      </a:pPr>
                      <a:r>
                        <a:rPr sz="1100" b="0" i="0" u="none">
                          <a:solidFill>
                            <a:srgbClr val="000000"/>
                          </a:solidFill>
                          <a:latin typeface="Calibri"/>
                          <a:ea typeface="Calibri"/>
                          <a:cs typeface="Calibri"/>
                        </a:rPr>
                        <a:t>-6,84%</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Dịch vụ tài chính</a:t>
                      </a:r>
                    </a:p>
                  </a:txBody>
                  <a:tcPr marL="9525" marR="9525" marT="9525" marB="0" anchor="ctr"/>
                </a:tc>
                <a:tc>
                  <a:txBody>
                    <a:bodyPr/>
                    <a:lstStyle/>
                    <a:p>
                      <a:pPr algn="r">
                        <a:buNone/>
                      </a:pPr>
                      <a:r>
                        <a:rPr sz="1100" b="0" i="0" u="none">
                          <a:solidFill>
                            <a:srgbClr val="000000"/>
                          </a:solidFill>
                          <a:latin typeface="Calibri"/>
                          <a:ea typeface="Calibri"/>
                          <a:cs typeface="Calibri"/>
                        </a:rPr>
                        <a:t>-0,57%</a:t>
                      </a:r>
                    </a:p>
                  </a:txBody>
                  <a:tcPr marL="9525" marR="9525" marT="9525" marB="0" anchor="ctr"/>
                </a:tc>
                <a:tc>
                  <a:txBody>
                    <a:bodyPr/>
                    <a:lstStyle/>
                    <a:p>
                      <a:pPr algn="r">
                        <a:buNone/>
                      </a:pPr>
                      <a:r>
                        <a:rPr sz="1100" b="0" i="0" u="none">
                          <a:solidFill>
                            <a:srgbClr val="000000"/>
                          </a:solidFill>
                          <a:latin typeface="Calibri"/>
                          <a:ea typeface="Calibri"/>
                          <a:cs typeface="Calibri"/>
                        </a:rPr>
                        <a:t>2,38%</a:t>
                      </a:r>
                    </a:p>
                  </a:txBody>
                  <a:tcPr marL="9525" marR="9525" marT="9525" marB="0" anchor="ctr"/>
                </a:tc>
                <a:tc>
                  <a:txBody>
                    <a:bodyPr/>
                    <a:lstStyle/>
                    <a:p>
                      <a:pPr algn="r">
                        <a:buNone/>
                      </a:pPr>
                      <a:r>
                        <a:rPr sz="1100" b="0" i="0" u="none">
                          <a:solidFill>
                            <a:srgbClr val="000000"/>
                          </a:solidFill>
                          <a:latin typeface="Calibri"/>
                          <a:ea typeface="Calibri"/>
                          <a:cs typeface="Calibri"/>
                        </a:rPr>
                        <a:t>-8,99%</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Xây dựng và Vật liệu</a:t>
                      </a:r>
                    </a:p>
                  </a:txBody>
                  <a:tcPr marL="9525" marR="9525" marT="9525" marB="0" anchor="ctr"/>
                </a:tc>
                <a:tc>
                  <a:txBody>
                    <a:bodyPr/>
                    <a:lstStyle/>
                    <a:p>
                      <a:pPr algn="r">
                        <a:buNone/>
                      </a:pPr>
                      <a:r>
                        <a:rPr sz="1100" b="0" i="0" u="none">
                          <a:solidFill>
                            <a:srgbClr val="000000"/>
                          </a:solidFill>
                          <a:latin typeface="Calibri"/>
                          <a:ea typeface="Calibri"/>
                          <a:cs typeface="Calibri"/>
                        </a:rPr>
                        <a:t>0,32%</a:t>
                      </a:r>
                    </a:p>
                  </a:txBody>
                  <a:tcPr marL="9525" marR="9525" marT="9525" marB="0" anchor="ctr"/>
                </a:tc>
                <a:tc>
                  <a:txBody>
                    <a:bodyPr/>
                    <a:lstStyle/>
                    <a:p>
                      <a:pPr algn="r">
                        <a:buNone/>
                      </a:pPr>
                      <a:r>
                        <a:rPr sz="1100" b="0" i="0" u="none">
                          <a:solidFill>
                            <a:srgbClr val="000000"/>
                          </a:solidFill>
                          <a:latin typeface="Calibri"/>
                          <a:ea typeface="Calibri"/>
                          <a:cs typeface="Calibri"/>
                        </a:rPr>
                        <a:t>2,22%</a:t>
                      </a:r>
                    </a:p>
                  </a:txBody>
                  <a:tcPr marL="9525" marR="9525" marT="9525" marB="0" anchor="ctr"/>
                </a:tc>
                <a:tc>
                  <a:txBody>
                    <a:bodyPr/>
                    <a:lstStyle/>
                    <a:p>
                      <a:pPr algn="r">
                        <a:buNone/>
                      </a:pPr>
                      <a:r>
                        <a:rPr sz="1100" b="0" i="0" u="none">
                          <a:solidFill>
                            <a:srgbClr val="000000"/>
                          </a:solidFill>
                          <a:latin typeface="Calibri"/>
                          <a:ea typeface="Calibri"/>
                          <a:cs typeface="Calibri"/>
                        </a:rPr>
                        <a:t>-2,95%</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Dầu khí</a:t>
                      </a:r>
                    </a:p>
                  </a:txBody>
                  <a:tcPr marL="9525" marR="9525" marT="9525" marB="0" anchor="ctr"/>
                </a:tc>
                <a:tc>
                  <a:txBody>
                    <a:bodyPr/>
                    <a:lstStyle/>
                    <a:p>
                      <a:pPr algn="r">
                        <a:buNone/>
                      </a:pPr>
                      <a:r>
                        <a:rPr sz="1100" b="0" i="0" u="none">
                          <a:solidFill>
                            <a:srgbClr val="000000"/>
                          </a:solidFill>
                          <a:latin typeface="Calibri"/>
                          <a:ea typeface="Calibri"/>
                          <a:cs typeface="Calibri"/>
                        </a:rPr>
                        <a:t>-1,66%</a:t>
                      </a:r>
                    </a:p>
                  </a:txBody>
                  <a:tcPr marL="9525" marR="9525" marT="9525" marB="0" anchor="ctr"/>
                </a:tc>
                <a:tc>
                  <a:txBody>
                    <a:bodyPr/>
                    <a:lstStyle/>
                    <a:p>
                      <a:pPr algn="r">
                        <a:buNone/>
                      </a:pPr>
                      <a:r>
                        <a:rPr sz="1100" b="0" i="0" u="none">
                          <a:solidFill>
                            <a:srgbClr val="000000"/>
                          </a:solidFill>
                          <a:latin typeface="Calibri"/>
                          <a:ea typeface="Calibri"/>
                          <a:cs typeface="Calibri"/>
                        </a:rPr>
                        <a:t>1,98%</a:t>
                      </a:r>
                    </a:p>
                  </a:txBody>
                  <a:tcPr marL="9525" marR="9525" marT="9525" marB="0" anchor="ctr"/>
                </a:tc>
                <a:tc>
                  <a:txBody>
                    <a:bodyPr/>
                    <a:lstStyle/>
                    <a:p>
                      <a:pPr algn="r">
                        <a:buNone/>
                      </a:pPr>
                      <a:r>
                        <a:rPr sz="1100" b="0" i="0" u="none">
                          <a:solidFill>
                            <a:srgbClr val="000000"/>
                          </a:solidFill>
                          <a:latin typeface="Calibri"/>
                          <a:ea typeface="Calibri"/>
                          <a:cs typeface="Calibri"/>
                        </a:rPr>
                        <a:t>-0,99%</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Hàng &amp; Dịch vụ Công nghiệp</a:t>
                      </a:r>
                    </a:p>
                  </a:txBody>
                  <a:tcPr marL="9525" marR="9525" marT="9525" marB="0" anchor="ctr"/>
                </a:tc>
                <a:tc>
                  <a:txBody>
                    <a:bodyPr/>
                    <a:lstStyle/>
                    <a:p>
                      <a:pPr algn="r">
                        <a:buNone/>
                      </a:pPr>
                      <a:r>
                        <a:rPr sz="1100" b="0" i="0" u="none">
                          <a:solidFill>
                            <a:srgbClr val="000000"/>
                          </a:solidFill>
                          <a:latin typeface="Calibri"/>
                          <a:ea typeface="Calibri"/>
                          <a:cs typeface="Calibri"/>
                        </a:rPr>
                        <a:t>0,82%</a:t>
                      </a:r>
                    </a:p>
                  </a:txBody>
                  <a:tcPr marL="9525" marR="9525" marT="9525" marB="0" anchor="ctr"/>
                </a:tc>
                <a:tc>
                  <a:txBody>
                    <a:bodyPr/>
                    <a:lstStyle/>
                    <a:p>
                      <a:pPr algn="r">
                        <a:buNone/>
                      </a:pPr>
                      <a:r>
                        <a:rPr sz="1100" b="0" i="0" u="none">
                          <a:solidFill>
                            <a:srgbClr val="000000"/>
                          </a:solidFill>
                          <a:latin typeface="Calibri"/>
                          <a:ea typeface="Calibri"/>
                          <a:cs typeface="Calibri"/>
                        </a:rPr>
                        <a:t>1,61%</a:t>
                      </a:r>
                    </a:p>
                  </a:txBody>
                  <a:tcPr marL="9525" marR="9525" marT="9525" marB="0" anchor="ctr"/>
                </a:tc>
                <a:tc>
                  <a:txBody>
                    <a:bodyPr/>
                    <a:lstStyle/>
                    <a:p>
                      <a:pPr algn="r">
                        <a:buNone/>
                      </a:pPr>
                      <a:r>
                        <a:rPr sz="1100" b="0" i="0" u="none">
                          <a:solidFill>
                            <a:srgbClr val="000000"/>
                          </a:solidFill>
                          <a:latin typeface="Calibri"/>
                          <a:ea typeface="Calibri"/>
                          <a:cs typeface="Calibri"/>
                        </a:rPr>
                        <a:t>-8,51%</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Hàng cá nhân &amp; Gia dụng</a:t>
                      </a:r>
                    </a:p>
                  </a:txBody>
                  <a:tcPr marL="9525" marR="9525" marT="9525" marB="0" anchor="ctr"/>
                </a:tc>
                <a:tc>
                  <a:txBody>
                    <a:bodyPr/>
                    <a:lstStyle/>
                    <a:p>
                      <a:pPr algn="r">
                        <a:buNone/>
                      </a:pPr>
                      <a:r>
                        <a:rPr sz="1100" b="0" i="0" u="none">
                          <a:solidFill>
                            <a:srgbClr val="000000"/>
                          </a:solidFill>
                          <a:latin typeface="Calibri"/>
                          <a:ea typeface="Calibri"/>
                          <a:cs typeface="Calibri"/>
                        </a:rPr>
                        <a:t>-2,23%</a:t>
                      </a:r>
                    </a:p>
                  </a:txBody>
                  <a:tcPr marL="9525" marR="9525" marT="9525" marB="0" anchor="ctr"/>
                </a:tc>
                <a:tc>
                  <a:txBody>
                    <a:bodyPr/>
                    <a:lstStyle/>
                    <a:p>
                      <a:pPr algn="r">
                        <a:buNone/>
                      </a:pPr>
                      <a:r>
                        <a:rPr sz="1100" b="0" i="0" u="none">
                          <a:solidFill>
                            <a:srgbClr val="000000"/>
                          </a:solidFill>
                          <a:latin typeface="Calibri"/>
                          <a:ea typeface="Calibri"/>
                          <a:cs typeface="Calibri"/>
                        </a:rPr>
                        <a:t>1,55%</a:t>
                      </a:r>
                    </a:p>
                  </a:txBody>
                  <a:tcPr marL="9525" marR="9525" marT="9525" marB="0" anchor="ctr"/>
                </a:tc>
                <a:tc>
                  <a:txBody>
                    <a:bodyPr/>
                    <a:lstStyle/>
                    <a:p>
                      <a:pPr algn="r">
                        <a:buNone/>
                      </a:pPr>
                      <a:r>
                        <a:rPr sz="1100" b="0" i="0" u="none">
                          <a:solidFill>
                            <a:srgbClr val="000000"/>
                          </a:solidFill>
                          <a:latin typeface="Calibri"/>
                          <a:ea typeface="Calibri"/>
                          <a:cs typeface="Calibri"/>
                        </a:rPr>
                        <a:t>-5,18%</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Điện, nước &amp; xăng dầu khí đốt</a:t>
                      </a:r>
                    </a:p>
                  </a:txBody>
                  <a:tcPr marL="9525" marR="9525" marT="9525" marB="0" anchor="ctr"/>
                </a:tc>
                <a:tc>
                  <a:txBody>
                    <a:bodyPr/>
                    <a:lstStyle/>
                    <a:p>
                      <a:pPr algn="r">
                        <a:buNone/>
                      </a:pPr>
                      <a:r>
                        <a:rPr sz="1100" b="0" i="0" u="none">
                          <a:solidFill>
                            <a:srgbClr val="000000"/>
                          </a:solidFill>
                          <a:latin typeface="Calibri"/>
                          <a:ea typeface="Calibri"/>
                          <a:cs typeface="Calibri"/>
                        </a:rPr>
                        <a:t>0,17%</a:t>
                      </a:r>
                    </a:p>
                  </a:txBody>
                  <a:tcPr marL="9525" marR="9525" marT="9525" marB="0" anchor="ctr"/>
                </a:tc>
                <a:tc>
                  <a:txBody>
                    <a:bodyPr/>
                    <a:lstStyle/>
                    <a:p>
                      <a:pPr algn="r">
                        <a:buNone/>
                      </a:pPr>
                      <a:r>
                        <a:rPr sz="1100" b="0" i="0" u="none">
                          <a:solidFill>
                            <a:srgbClr val="000000"/>
                          </a:solidFill>
                          <a:latin typeface="Calibri"/>
                          <a:ea typeface="Calibri"/>
                          <a:cs typeface="Calibri"/>
                        </a:rPr>
                        <a:t>1,30%</a:t>
                      </a:r>
                    </a:p>
                  </a:txBody>
                  <a:tcPr marL="9525" marR="9525" marT="9525" marB="0" anchor="ctr"/>
                </a:tc>
                <a:tc>
                  <a:txBody>
                    <a:bodyPr/>
                    <a:lstStyle/>
                    <a:p>
                      <a:pPr algn="r">
                        <a:buNone/>
                      </a:pPr>
                      <a:r>
                        <a:rPr sz="1100" b="0" i="0" u="none">
                          <a:solidFill>
                            <a:srgbClr val="000000"/>
                          </a:solidFill>
                          <a:latin typeface="Calibri"/>
                          <a:ea typeface="Calibri"/>
                          <a:cs typeface="Calibri"/>
                        </a:rPr>
                        <a:t>-6,60%</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Thực phẩm và đồ uống</a:t>
                      </a:r>
                    </a:p>
                  </a:txBody>
                  <a:tcPr marL="9525" marR="9525" marT="9525" marB="0" anchor="ctr"/>
                </a:tc>
                <a:tc>
                  <a:txBody>
                    <a:bodyPr/>
                    <a:lstStyle/>
                    <a:p>
                      <a:pPr algn="r">
                        <a:buNone/>
                      </a:pPr>
                      <a:r>
                        <a:rPr sz="1100" b="0" i="0" u="none">
                          <a:solidFill>
                            <a:srgbClr val="000000"/>
                          </a:solidFill>
                          <a:latin typeface="Calibri"/>
                          <a:ea typeface="Calibri"/>
                          <a:cs typeface="Calibri"/>
                        </a:rPr>
                        <a:t>-1,08%</a:t>
                      </a:r>
                    </a:p>
                  </a:txBody>
                  <a:tcPr marL="9525" marR="9525" marT="9525" marB="0" anchor="ctr"/>
                </a:tc>
                <a:tc>
                  <a:txBody>
                    <a:bodyPr/>
                    <a:lstStyle/>
                    <a:p>
                      <a:pPr algn="r">
                        <a:buNone/>
                      </a:pPr>
                      <a:r>
                        <a:rPr sz="1100" b="0" i="0" u="none">
                          <a:solidFill>
                            <a:srgbClr val="000000"/>
                          </a:solidFill>
                          <a:latin typeface="Calibri"/>
                          <a:ea typeface="Calibri"/>
                          <a:cs typeface="Calibri"/>
                        </a:rPr>
                        <a:t>0,30%</a:t>
                      </a:r>
                    </a:p>
                  </a:txBody>
                  <a:tcPr marL="9525" marR="9525" marT="9525" marB="0" anchor="ctr"/>
                </a:tc>
                <a:tc>
                  <a:txBody>
                    <a:bodyPr/>
                    <a:lstStyle/>
                    <a:p>
                      <a:pPr algn="r">
                        <a:buNone/>
                      </a:pPr>
                      <a:r>
                        <a:rPr sz="1100" b="0" i="0" u="none">
                          <a:solidFill>
                            <a:srgbClr val="000000"/>
                          </a:solidFill>
                          <a:latin typeface="Calibri"/>
                          <a:ea typeface="Calibri"/>
                          <a:cs typeface="Calibri"/>
                        </a:rPr>
                        <a:t>1,99%</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Ô tô và phụ tùng</a:t>
                      </a:r>
                    </a:p>
                  </a:txBody>
                  <a:tcPr marL="9525" marR="9525" marT="9525" marB="0" anchor="ctr"/>
                </a:tc>
                <a:tc>
                  <a:txBody>
                    <a:bodyPr/>
                    <a:lstStyle/>
                    <a:p>
                      <a:pPr algn="r">
                        <a:buNone/>
                      </a:pPr>
                      <a:r>
                        <a:rPr sz="1100" b="0" i="0" u="none">
                          <a:solidFill>
                            <a:srgbClr val="000000"/>
                          </a:solidFill>
                          <a:latin typeface="Calibri"/>
                          <a:ea typeface="Calibri"/>
                          <a:cs typeface="Calibri"/>
                        </a:rPr>
                        <a:t>0,13%</a:t>
                      </a:r>
                    </a:p>
                  </a:txBody>
                  <a:tcPr marL="9525" marR="9525" marT="9525" marB="0" anchor="ctr"/>
                </a:tc>
                <a:tc>
                  <a:txBody>
                    <a:bodyPr/>
                    <a:lstStyle/>
                    <a:p>
                      <a:pPr algn="r">
                        <a:buNone/>
                      </a:pPr>
                      <a:r>
                        <a:rPr sz="1100" b="0" i="0" u="none">
                          <a:solidFill>
                            <a:srgbClr val="000000"/>
                          </a:solidFill>
                          <a:latin typeface="Calibri"/>
                          <a:ea typeface="Calibri"/>
                          <a:cs typeface="Calibri"/>
                        </a:rPr>
                        <a:t>-0,63%</a:t>
                      </a:r>
                    </a:p>
                  </a:txBody>
                  <a:tcPr marL="9525" marR="9525" marT="9525" marB="0" anchor="ctr"/>
                </a:tc>
                <a:tc>
                  <a:txBody>
                    <a:bodyPr/>
                    <a:lstStyle/>
                    <a:p>
                      <a:pPr algn="r">
                        <a:buNone/>
                      </a:pPr>
                      <a:r>
                        <a:rPr sz="1100" b="0" i="0" u="none">
                          <a:solidFill>
                            <a:srgbClr val="000000"/>
                          </a:solidFill>
                          <a:latin typeface="Calibri"/>
                          <a:ea typeface="Calibri"/>
                          <a:cs typeface="Calibri"/>
                        </a:rPr>
                        <a:t>-3,05%</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Y tế</a:t>
                      </a:r>
                    </a:p>
                  </a:txBody>
                  <a:tcPr marL="9525" marR="9525" marT="9525" marB="0" anchor="ctr"/>
                </a:tc>
                <a:tc>
                  <a:txBody>
                    <a:bodyPr/>
                    <a:lstStyle/>
                    <a:p>
                      <a:pPr algn="r">
                        <a:buNone/>
                      </a:pPr>
                      <a:r>
                        <a:rPr sz="1100" b="0" i="0" u="none">
                          <a:solidFill>
                            <a:srgbClr val="000000"/>
                          </a:solidFill>
                          <a:latin typeface="Calibri"/>
                          <a:ea typeface="Calibri"/>
                          <a:cs typeface="Calibri"/>
                        </a:rPr>
                        <a:t>-0,75%</a:t>
                      </a:r>
                    </a:p>
                  </a:txBody>
                  <a:tcPr marL="9525" marR="9525" marT="9525" marB="0" anchor="ctr"/>
                </a:tc>
                <a:tc>
                  <a:txBody>
                    <a:bodyPr/>
                    <a:lstStyle/>
                    <a:p>
                      <a:pPr algn="r">
                        <a:buNone/>
                      </a:pPr>
                      <a:r>
                        <a:rPr sz="1100" b="0" i="0" u="none">
                          <a:solidFill>
                            <a:srgbClr val="000000"/>
                          </a:solidFill>
                          <a:latin typeface="Calibri"/>
                          <a:ea typeface="Calibri"/>
                          <a:cs typeface="Calibri"/>
                        </a:rPr>
                        <a:t>-0,65%</a:t>
                      </a:r>
                    </a:p>
                  </a:txBody>
                  <a:tcPr marL="9525" marR="9525" marT="9525" marB="0" anchor="ctr"/>
                </a:tc>
                <a:tc>
                  <a:txBody>
                    <a:bodyPr/>
                    <a:lstStyle/>
                    <a:p>
                      <a:pPr algn="r">
                        <a:buNone/>
                      </a:pPr>
                      <a:r>
                        <a:rPr sz="1100" b="0" i="0" u="none">
                          <a:solidFill>
                            <a:srgbClr val="000000"/>
                          </a:solidFill>
                          <a:latin typeface="Calibri"/>
                          <a:ea typeface="Calibri"/>
                          <a:cs typeface="Calibri"/>
                        </a:rPr>
                        <a:t>-4,29%</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Bán lẻ</a:t>
                      </a:r>
                    </a:p>
                  </a:txBody>
                  <a:tcPr marL="9525" marR="9525" marT="9525" marB="0" anchor="ctr"/>
                </a:tc>
                <a:tc>
                  <a:txBody>
                    <a:bodyPr/>
                    <a:lstStyle/>
                    <a:p>
                      <a:pPr algn="r">
                        <a:buNone/>
                      </a:pPr>
                      <a:r>
                        <a:rPr sz="1100" b="0" i="0" u="none">
                          <a:solidFill>
                            <a:srgbClr val="000000"/>
                          </a:solidFill>
                          <a:latin typeface="Calibri"/>
                          <a:ea typeface="Calibri"/>
                          <a:cs typeface="Calibri"/>
                        </a:rPr>
                        <a:t>0,70%</a:t>
                      </a:r>
                    </a:p>
                  </a:txBody>
                  <a:tcPr marL="9525" marR="9525" marT="9525" marB="0" anchor="ctr"/>
                </a:tc>
                <a:tc>
                  <a:txBody>
                    <a:bodyPr/>
                    <a:lstStyle/>
                    <a:p>
                      <a:pPr algn="r">
                        <a:buNone/>
                      </a:pPr>
                      <a:r>
                        <a:rPr sz="1100" b="0" i="0" u="none">
                          <a:solidFill>
                            <a:srgbClr val="000000"/>
                          </a:solidFill>
                          <a:latin typeface="Calibri"/>
                          <a:ea typeface="Calibri"/>
                          <a:cs typeface="Calibri"/>
                        </a:rPr>
                        <a:t>-3,01%</a:t>
                      </a:r>
                    </a:p>
                  </a:txBody>
                  <a:tcPr marL="9525" marR="9525" marT="9525" marB="0" anchor="ctr"/>
                </a:tc>
                <a:tc>
                  <a:txBody>
                    <a:bodyPr/>
                    <a:lstStyle/>
                    <a:p>
                      <a:pPr algn="r">
                        <a:buNone/>
                      </a:pPr>
                      <a:r>
                        <a:rPr sz="1100" b="0" i="0" u="none">
                          <a:solidFill>
                            <a:srgbClr val="000000"/>
                          </a:solidFill>
                          <a:latin typeface="Calibri"/>
                          <a:ea typeface="Calibri"/>
                          <a:cs typeface="Calibri"/>
                        </a:rPr>
                        <a:t>-5,60%</a:t>
                      </a:r>
                    </a:p>
                  </a:txBody>
                  <a:tcPr marL="9525" marR="9525" marT="9525" marB="0" anchor="ctr"/>
                </a:tc>
              </a:tr>
              <a:tr h="209950">
                <a:tc>
                  <a:txBody>
                    <a:bodyPr/>
                    <a:lstStyle/>
                    <a:p>
                      <a:pPr algn="l">
                        <a:buNone/>
                      </a:pPr>
                      <a:r>
                        <a:rPr sz="1100" b="0" i="0" u="none">
                          <a:solidFill>
                            <a:srgbClr val="000000"/>
                          </a:solidFill>
                          <a:latin typeface="Calibri"/>
                          <a:ea typeface="Calibri"/>
                          <a:cs typeface="Calibri"/>
                        </a:rPr>
                        <a:t>Truyền thông</a:t>
                      </a:r>
                    </a:p>
                  </a:txBody>
                  <a:tcPr marL="9525" marR="9525" marT="9525" marB="0" anchor="ctr"/>
                </a:tc>
                <a:tc>
                  <a:txBody>
                    <a:bodyPr/>
                    <a:lstStyle/>
                    <a:p>
                      <a:pPr algn="r">
                        <a:buNone/>
                      </a:pPr>
                      <a:r>
                        <a:rPr sz="1100" b="0" i="0" u="none">
                          <a:solidFill>
                            <a:srgbClr val="000000"/>
                          </a:solidFill>
                          <a:latin typeface="Calibri"/>
                          <a:ea typeface="Calibri"/>
                          <a:cs typeface="Calibri"/>
                        </a:rPr>
                        <a:t>-1,41%</a:t>
                      </a:r>
                    </a:p>
                  </a:txBody>
                  <a:tcPr marL="9525" marR="9525" marT="9525" marB="0" anchor="ctr"/>
                </a:tc>
                <a:tc>
                  <a:txBody>
                    <a:bodyPr/>
                    <a:lstStyle/>
                    <a:p>
                      <a:pPr algn="r">
                        <a:buNone/>
                      </a:pPr>
                      <a:r>
                        <a:rPr sz="1100" b="0" i="0" u="none">
                          <a:solidFill>
                            <a:srgbClr val="000000"/>
                          </a:solidFill>
                          <a:latin typeface="Calibri"/>
                          <a:ea typeface="Calibri"/>
                          <a:cs typeface="Calibri"/>
                        </a:rPr>
                        <a:t>-3,18%</a:t>
                      </a:r>
                    </a:p>
                  </a:txBody>
                  <a:tcPr marL="9525" marR="9525" marT="9525" marB="0" anchor="ctr"/>
                </a:tc>
                <a:tc>
                  <a:txBody>
                    <a:bodyPr/>
                    <a:lstStyle/>
                    <a:p>
                      <a:pPr algn="r">
                        <a:buNone/>
                      </a:pPr>
                      <a:r>
                        <a:rPr sz="1100" b="0" i="0" u="none">
                          <a:solidFill>
                            <a:srgbClr val="000000"/>
                          </a:solidFill>
                          <a:latin typeface="Calibri"/>
                          <a:ea typeface="Calibri"/>
                          <a:cs typeface="Calibri"/>
                        </a:rPr>
                        <a:t>-10,24%</a:t>
                      </a:r>
                    </a:p>
                  </a:txBody>
                  <a:tcPr marL="9525" marR="9525" marT="9525" marB="0" anchor="ctr"/>
                </a:tc>
              </a:tr>
            </a:tbl>
          </a:graphicData>
        </a:graphic>
      </p:graphicFrame>
      <p:sp>
        <p:nvSpPr>
          <p:cNvPr id="4" name="Slide Number Placeholder 3">
            <a:extLst xmlns:a="http://schemas.openxmlformats.org/drawingml/2006/main">
              <a:ext uri="{FF2B5EF4-FFF2-40B4-BE49-F238E27FC236}">
                <a16:creationId xmlns:a16="http://schemas.microsoft.com/office/drawing/2014/main" id="{DA2F8204-603B-9BA4-6DCB-6299323F0CDB}"/>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pPr>
              <a:defRPr sz="750">
                <a:solidFill>
                  <a:srgbClr val="6B7C8F"/>
                </a:solidFill>
                <a:latin typeface="Arial"/>
                <a:ea typeface="Arial"/>
                <a:cs typeface="Arial"/>
              </a:defRPr>
            </a:pPr>
            <a:fld id="{95CC1D26-A9BD-4BDE-BDD9-08EDBAE96860}" type="slidenum">
              <a:rPr sz="750">
                <a:solidFill>
                  <a:srgbClr val="6B7C8F"/>
                </a:solidFill>
                <a:latin typeface="Arial"/>
                <a:ea typeface="Arial"/>
                <a:cs typeface="Arial"/>
              </a:rPr>
              <a:t>4</a:t>
            </a:fld>
          </a:p>
        </p:txBody>
      </p:sp>
    </p:spTree>
    <p:extLst>
      <p:ext uri="{BB962C8B-B14F-4D97-AF65-F5344CB8AC3E}">
        <p14:creationId xmlns:p14="http://schemas.microsoft.com/office/powerpoint/2010/main" val="852872508"/>
      </p:ext>
    </p:extLst>
  </p:cSld>
</p:sld>
</file>

<file path=ppt/slides/slide5.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Straight Connector 5">
            <a:extLst xmlns:a="http://schemas.openxmlformats.org/drawingml/2006/main">
              <a:ext uri="{FF2B5EF4-FFF2-40B4-BE49-F238E27FC236}">
                <a16:creationId xmlns:a16="http://schemas.microsoft.com/office/drawing/2014/main" id="{2514F5F3-D2C4-41BE-9C54-1B910CDF0EC7}"/>
              </a:ext>
            </a:extLst>
          </p:cNvPr>
          <p:cNvSpPr>
            <a:spLocks xmlns:a="http://schemas.openxmlformats.org/drawingml/2006/main" noGrp="1"/>
          </p:cNvSpPr>
          <p:nvPr/>
        </p:nvSpPr>
        <p:spPr>
          <a:xfrm xmlns:a="http://schemas.openxmlformats.org/drawingml/2006/main" flipV="1">
            <a:off x="261939" y="677863"/>
            <a:ext cx="11676063" cy="0"/>
          </a:xfrm>
          <a:prstGeom xmlns:a="http://schemas.openxmlformats.org/drawingml/2006/main" prst="line">
            <a:avLst/>
          </a:prstGeom>
          <a:ln xmlns:a="http://schemas.openxmlformats.org/drawingml/2006/main" w="19050">
            <a:solidFill>
              <a:srgbClr val="163A63"/>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Title 5">
            <a:extLst xmlns:a="http://schemas.openxmlformats.org/drawingml/2006/main">
              <a:ext uri="{FF2B5EF4-FFF2-40B4-BE49-F238E27FC236}">
                <a16:creationId xmlns:a16="http://schemas.microsoft.com/office/drawing/2014/main" id="{C7B400DF-E852-3B21-5B29-27FBDA5499ED}"/>
              </a:ext>
            </a:extLst>
          </p:cNvPr>
          <p:cNvSpPr>
            <a:spLocks xmlns:a="http://schemas.openxmlformats.org/drawingml/2006/main" noGrp="1"/>
          </p:cNvSpPr>
          <p:nvPr/>
        </p:nvSpPr>
        <p:spPr>
          <a:xfrm xmlns:a="http://schemas.openxmlformats.org/drawingml/2006/main">
            <a:off x="261939" y="288876"/>
            <a:ext cx="7991728" cy="355038"/>
          </a:xfrm>
          <a:prstGeom xmlns:a="http://schemas.openxmlformats.org/drawingml/2006/main" prst="rect">
            <a:avLst/>
          </a:prstGeom>
          <a:noFill xmlns:a="http://schemas.openxmlformats.org/drawingml/2006/main"/>
        </p:spPr>
        <p:txBody>
          <a:bodyPr xmlns:a="http://schemas.openxmlformats.org/drawingml/2006/main" vert="horz" lIns="91440" tIns="45720" rIns="91440" bIns="45720" anchor="t">
            <a:noAutofit/>
          </a:bodyPr>
          <a:lstStyle xmlns:a="http://schemas.openxmlformats.org/drawingml/2006/main">
            <a:lvl1pPr algn="l" defTabSz="914400">
              <a:lnSpc>
                <a:spcPct val="90000"/>
              </a:lnSpc>
              <a:spcBef>
                <a:spcPct val="0"/>
              </a:spcBef>
              <a:buNone/>
              <a:defRPr sz="1875" kern="1200">
                <a:solidFill>
                  <a:schemeClr val="accent1"/>
                </a:solidFill>
                <a:latin typeface="+mj-lt"/>
                <a:ea typeface="+mj-lt"/>
                <a:cs typeface="+mj-lt"/>
              </a:defRPr>
            </a:lvl1pPr>
          </a:lstStyle>
          <a:p xmlns:a="http://schemas.openxmlformats.org/drawingml/2006/main">
            <a:pPr>
              <a:defRPr sz="1425" b="1">
                <a:solidFill>
                  <a:srgbClr val="163A63"/>
                </a:solidFill>
                <a:latin typeface="Arial"/>
                <a:ea typeface="Arial"/>
                <a:cs typeface="Arial"/>
              </a:defRPr>
            </a:pPr>
            <a:r>
              <a:rPr sz="1425" b="1">
                <a:solidFill>
                  <a:srgbClr val="163A63"/>
                </a:solidFill>
                <a:latin typeface="Arial"/>
                <a:ea typeface="Arial"/>
                <a:cs typeface="Arial"/>
              </a:rPr>
              <a:t>DIỄN BIẾN THỊ TR</a:t>
            </a:r>
            <a:r>
              <a:rPr sz="1425" b="1">
                <a:solidFill>
                  <a:srgbClr val="163A63"/>
                </a:solidFill>
                <a:latin typeface="Arial"/>
                <a:ea typeface="Arial"/>
                <a:cs typeface="Arial"/>
              </a:rPr>
              <a:t>Ư</a:t>
            </a:r>
            <a:r>
              <a:rPr sz="1425" b="1">
                <a:solidFill>
                  <a:srgbClr val="163A63"/>
                </a:solidFill>
                <a:latin typeface="Arial"/>
                <a:ea typeface="Arial"/>
                <a:cs typeface="Arial"/>
              </a:rPr>
              <a:t>ỜNG TUẦN 27/07 – 31/07/2026</a:t>
            </a:r>
          </a:p>
        </p:txBody>
      </p:sp>
      <p:sp>
        <p:nvSpPr>
          <p:cNvPr id="21" name="Text Placeholder 7">
            <a:extLst xmlns:a="http://schemas.openxmlformats.org/drawingml/2006/main">
              <a:ext uri="{FF2B5EF4-FFF2-40B4-BE49-F238E27FC236}">
                <a16:creationId xmlns:a16="http://schemas.microsoft.com/office/drawing/2014/main" id="{D2477056-2295-443A-AA08-60DBDA6FCCAD}"/>
              </a:ext>
            </a:extLst>
          </p:cNvPr>
          <p:cNvSpPr>
            <a:spLocks xmlns:a="http://schemas.openxmlformats.org/drawingml/2006/main" noGrp="1"/>
          </p:cNvSpPr>
          <p:nvPr/>
        </p:nvSpPr>
        <p:spPr>
          <a:xfrm xmlns:a="http://schemas.openxmlformats.org/drawingml/2006/main">
            <a:off x="261940" y="677864"/>
            <a:ext cx="10725608" cy="5891260"/>
          </a:xfrm>
          <a:prstGeom xmlns:a="http://schemas.openxmlformats.org/drawingml/2006/main" prst="rect">
            <a:avLst/>
          </a:prstGeom>
        </p:spPr>
        <p:txBody>
          <a:bodyPr xmlns:a="http://schemas.openxmlformats.org/drawingml/2006/main" vert="horz" lIns="91440" tIns="45720" rIns="91440" bIns="45720">
            <a:noAutofit/>
          </a:bodyPr>
          <a:lstStyle xmlns:a="http://schemas.openxmlformats.org/drawingml/2006/main">
            <a:lvl1pPr marL="0" indent="0" algn="l" defTabSz="914400">
              <a:lnSpc>
                <a:spcPct val="120000"/>
              </a:lnSpc>
              <a:spcBef>
                <a:spcPts val="0"/>
              </a:spcBef>
              <a:spcAft>
                <a:spcPts val="0"/>
              </a:spcAft>
              <a:buFont typeface="Arial"/>
              <a:buNone/>
              <a:defRPr sz="1050" b="0" kern="1200">
                <a:solidFill>
                  <a:schemeClr val="accent5"/>
                </a:solidFill>
                <a:latin typeface="+mn-lt"/>
                <a:ea typeface="+mn-lt"/>
                <a:cs typeface="+mn-lt"/>
              </a:defRPr>
            </a:lvl1pPr>
            <a:lvl2pPr marL="359532" indent="0" algn="ctr" defTabSz="914400">
              <a:lnSpc>
                <a:spcPct val="90000"/>
              </a:lnSpc>
              <a:spcBef>
                <a:spcPts val="500"/>
              </a:spcBef>
              <a:buFont typeface="Arial"/>
              <a:buNone/>
              <a:defRPr sz="2400" kern="1200">
                <a:solidFill>
                  <a:schemeClr val="tx1">
                    <a:tint val="75000"/>
                  </a:schemeClr>
                </a:solidFill>
                <a:latin typeface="+mn-lt"/>
                <a:ea typeface="+mn-lt"/>
                <a:cs typeface="+mn-lt"/>
              </a:defRPr>
            </a:lvl2pPr>
            <a:lvl3pPr marL="719063" indent="0" algn="ctr" defTabSz="914400">
              <a:lnSpc>
                <a:spcPct val="90000"/>
              </a:lnSpc>
              <a:spcBef>
                <a:spcPts val="500"/>
              </a:spcBef>
              <a:buFont typeface="Arial"/>
              <a:buNone/>
              <a:defRPr sz="2000" kern="1200">
                <a:solidFill>
                  <a:schemeClr val="tx1">
                    <a:tint val="75000"/>
                  </a:schemeClr>
                </a:solidFill>
                <a:latin typeface="+mn-lt"/>
                <a:ea typeface="+mn-lt"/>
                <a:cs typeface="+mn-lt"/>
              </a:defRPr>
            </a:lvl3pPr>
            <a:lvl4pPr marL="107859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4pPr>
            <a:lvl5pPr marL="143812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5pPr>
            <a:lvl6pPr marL="179765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6pPr>
            <a:lvl7pPr marL="215718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7pPr>
            <a:lvl8pPr marL="2516718"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8pPr>
            <a:lvl9pPr marL="2876250"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9pPr>
          </a:lstStyle>
          <a:p xmlns:a="http://schemas.openxmlformats.org/drawingml/2006/main">
            <a:pPr>
              <a:lnSpc>
                <a:spcPct val="90000"/>
              </a:lnSpc>
              <a:spcBef>
                <a:spcPct val="0"/>
              </a:spcBef>
              <a:buNone/>
            </a:pPr>
          </a:p>
          <a:p xmlns:a="http://schemas.openxmlformats.org/drawingml/2006/main">
            <a:pPr>
              <a:lnSpc>
                <a:spcPct val="90000"/>
              </a:lnSpc>
              <a:spcBef>
                <a:spcPct val="0"/>
              </a:spcBef>
              <a:buNone/>
            </a:pPr>
            <a:r>
              <a:rPr sz="1400" b="1">
                <a:solidFill>
                  <a:srgbClr val="1557B0"/>
                </a:solidFill>
                <a:latin typeface="+mj-lt"/>
                <a:ea typeface="+mj-lt"/>
                <a:cs typeface="+mj-lt"/>
              </a:rPr>
              <a:t>Giao</a:t>
            </a:r>
            <a:r>
              <a:rPr sz="1400" b="1">
                <a:solidFill>
                  <a:srgbClr val="1557B0"/>
                </a:solidFill>
                <a:latin typeface="+mj-lt"/>
                <a:ea typeface="+mj-lt"/>
                <a:cs typeface="+mj-lt"/>
              </a:rPr>
              <a:t> </a:t>
            </a:r>
            <a:r>
              <a:rPr sz="1400" b="1">
                <a:solidFill>
                  <a:srgbClr val="1557B0"/>
                </a:solidFill>
                <a:latin typeface="+mj-lt"/>
                <a:ea typeface="+mj-lt"/>
                <a:cs typeface="+mj-lt"/>
              </a:rPr>
              <a:t>dịch</a:t>
            </a:r>
            <a:r>
              <a:rPr sz="1400" b="1">
                <a:solidFill>
                  <a:srgbClr val="1557B0"/>
                </a:solidFill>
                <a:latin typeface="+mj-lt"/>
                <a:ea typeface="+mj-lt"/>
                <a:cs typeface="+mj-lt"/>
              </a:rPr>
              <a:t> </a:t>
            </a:r>
            <a:r>
              <a:rPr sz="1400" b="1">
                <a:solidFill>
                  <a:srgbClr val="1557B0"/>
                </a:solidFill>
                <a:latin typeface="+mj-lt"/>
                <a:ea typeface="+mj-lt"/>
                <a:cs typeface="+mj-lt"/>
              </a:rPr>
              <a:t>các</a:t>
            </a:r>
            <a:r>
              <a:rPr sz="1400" b="1">
                <a:solidFill>
                  <a:srgbClr val="1557B0"/>
                </a:solidFill>
                <a:latin typeface="+mj-lt"/>
                <a:ea typeface="+mj-lt"/>
                <a:cs typeface="+mj-lt"/>
              </a:rPr>
              <a:t> </a:t>
            </a:r>
            <a:r>
              <a:rPr sz="1400" b="1">
                <a:solidFill>
                  <a:srgbClr val="1557B0"/>
                </a:solidFill>
                <a:latin typeface="+mj-lt"/>
                <a:ea typeface="+mj-lt"/>
                <a:cs typeface="+mj-lt"/>
              </a:rPr>
              <a:t>nhóm</a:t>
            </a:r>
            <a:r>
              <a:rPr sz="1400" b="1">
                <a:solidFill>
                  <a:srgbClr val="1557B0"/>
                </a:solidFill>
                <a:latin typeface="+mj-lt"/>
                <a:ea typeface="+mj-lt"/>
                <a:cs typeface="+mj-lt"/>
              </a:rPr>
              <a:t> </a:t>
            </a:r>
            <a:r>
              <a:rPr sz="1400" b="1">
                <a:solidFill>
                  <a:srgbClr val="1557B0"/>
                </a:solidFill>
                <a:latin typeface="+mj-lt"/>
                <a:ea typeface="+mj-lt"/>
                <a:cs typeface="+mj-lt"/>
              </a:rPr>
              <a:t>nhà</a:t>
            </a:r>
            <a:r>
              <a:rPr sz="1400" b="1">
                <a:solidFill>
                  <a:srgbClr val="1557B0"/>
                </a:solidFill>
                <a:latin typeface="+mj-lt"/>
                <a:ea typeface="+mj-lt"/>
                <a:cs typeface="+mj-lt"/>
              </a:rPr>
              <a:t> </a:t>
            </a:r>
            <a:r>
              <a:rPr sz="1400" b="1">
                <a:solidFill>
                  <a:srgbClr val="1557B0"/>
                </a:solidFill>
                <a:latin typeface="+mj-lt"/>
                <a:ea typeface="+mj-lt"/>
                <a:cs typeface="+mj-lt"/>
              </a:rPr>
              <a:t>đầu</a:t>
            </a:r>
            <a:r>
              <a:rPr sz="1400" b="1">
                <a:solidFill>
                  <a:srgbClr val="1557B0"/>
                </a:solidFill>
                <a:latin typeface="+mj-lt"/>
                <a:ea typeface="+mj-lt"/>
                <a:cs typeface="+mj-lt"/>
              </a:rPr>
              <a:t> t</a:t>
            </a:r>
            <a:r>
              <a:rPr sz="1400" b="1">
                <a:solidFill>
                  <a:srgbClr val="1557B0"/>
                </a:solidFill>
                <a:latin typeface="+mj-lt"/>
                <a:ea typeface="+mj-lt"/>
                <a:cs typeface="+mj-lt"/>
              </a:rPr>
              <a:t>ư</a:t>
            </a:r>
          </a:p>
          <a:p xmlns:a="http://schemas.openxmlformats.org/drawingml/2006/main">
            <a:pPr marL="171450" indent="-171450">
              <a:lnSpc>
                <a:spcPct val="160000"/>
              </a:lnSpc>
              <a:buFont typeface="Arial"/>
              <a:buChar char="•"/>
            </a:pPr>
            <a:r>
              <a:rPr sz="1100">
                <a:solidFill>
                  <a:srgbClr val="263442"/>
                </a:solidFill>
              </a:rPr>
              <a:t>Trên</a:t>
            </a:r>
            <a:r>
              <a:rPr sz="1100">
                <a:solidFill>
                  <a:srgbClr val="263442"/>
                </a:solidFill>
              </a:rPr>
              <a:t> HOSE, </a:t>
            </a:r>
            <a:r>
              <a:rPr sz="1100">
                <a:solidFill>
                  <a:srgbClr val="263442"/>
                </a:solidFill>
              </a:rPr>
              <a:t>trong</a:t>
            </a:r>
            <a:r>
              <a:rPr sz="1100">
                <a:solidFill>
                  <a:srgbClr val="263442"/>
                </a:solidFill>
              </a:rPr>
              <a:t> </a:t>
            </a:r>
            <a:r>
              <a:rPr sz="1100">
                <a:solidFill>
                  <a:srgbClr val="263442"/>
                </a:solidFill>
              </a:rPr>
              <a:t>giai</a:t>
            </a:r>
            <a:r>
              <a:rPr sz="1100">
                <a:solidFill>
                  <a:srgbClr val="263442"/>
                </a:solidFill>
              </a:rPr>
              <a:t> </a:t>
            </a:r>
            <a:r>
              <a:rPr sz="1100">
                <a:solidFill>
                  <a:srgbClr val="263442"/>
                </a:solidFill>
              </a:rPr>
              <a:t>đoạn</a:t>
            </a:r>
            <a:r>
              <a:rPr sz="1100">
                <a:solidFill>
                  <a:srgbClr val="263442"/>
                </a:solidFill>
              </a:rPr>
              <a:t> 27/07-31/07/2026, </a:t>
            </a:r>
            <a:r>
              <a:rPr sz="1100">
                <a:solidFill>
                  <a:srgbClr val="263442"/>
                </a:solidFill>
              </a:rPr>
              <a:t>khối</a:t>
            </a:r>
            <a:r>
              <a:rPr sz="1100">
                <a:solidFill>
                  <a:srgbClr val="263442"/>
                </a:solidFill>
              </a:rPr>
              <a:t> </a:t>
            </a:r>
            <a:r>
              <a:rPr sz="1100">
                <a:solidFill>
                  <a:srgbClr val="263442"/>
                </a:solidFill>
              </a:rPr>
              <a:t>ngoại</a:t>
            </a:r>
            <a:r>
              <a:rPr sz="1100">
                <a:solidFill>
                  <a:srgbClr val="263442"/>
                </a:solidFill>
              </a:rPr>
              <a:t> </a:t>
            </a:r>
            <a:r>
              <a:rPr sz="1100">
                <a:solidFill>
                  <a:srgbClr val="263442"/>
                </a:solidFill>
              </a:rPr>
              <a:t>mua</a:t>
            </a:r>
            <a:r>
              <a:rPr sz="1100">
                <a:solidFill>
                  <a:srgbClr val="263442"/>
                </a:solidFill>
              </a:rPr>
              <a:t> </a:t>
            </a:r>
            <a:r>
              <a:rPr sz="1100">
                <a:solidFill>
                  <a:srgbClr val="263442"/>
                </a:solidFill>
              </a:rPr>
              <a:t>ròng</a:t>
            </a:r>
            <a:r>
              <a:rPr sz="1100">
                <a:solidFill>
                  <a:srgbClr val="263442"/>
                </a:solidFill>
              </a:rPr>
              <a:t> 681 </a:t>
            </a:r>
            <a:r>
              <a:rPr sz="1100">
                <a:solidFill>
                  <a:srgbClr val="263442"/>
                </a:solidFill>
              </a:rPr>
              <a:t>tỷ</a:t>
            </a:r>
            <a:r>
              <a:rPr sz="1100">
                <a:solidFill>
                  <a:srgbClr val="263442"/>
                </a:solidFill>
              </a:rPr>
              <a:t> </a:t>
            </a:r>
            <a:r>
              <a:rPr sz="1100">
                <a:solidFill>
                  <a:srgbClr val="263442"/>
                </a:solidFill>
              </a:rPr>
              <a:t>đồng</a:t>
            </a:r>
            <a:r>
              <a:rPr sz="1100">
                <a:solidFill>
                  <a:srgbClr val="263442"/>
                </a:solidFill>
              </a:rPr>
              <a:t>. </a:t>
            </a:r>
            <a:r>
              <a:rPr sz="1100">
                <a:solidFill>
                  <a:srgbClr val="263442"/>
                </a:solidFill>
              </a:rPr>
              <a:t>Tự</a:t>
            </a:r>
            <a:r>
              <a:rPr sz="1100">
                <a:solidFill>
                  <a:srgbClr val="263442"/>
                </a:solidFill>
              </a:rPr>
              <a:t> </a:t>
            </a:r>
            <a:r>
              <a:rPr sz="1100">
                <a:solidFill>
                  <a:srgbClr val="263442"/>
                </a:solidFill>
              </a:rPr>
              <a:t>doanh</a:t>
            </a:r>
            <a:r>
              <a:rPr sz="1100">
                <a:solidFill>
                  <a:srgbClr val="263442"/>
                </a:solidFill>
              </a:rPr>
              <a:t> </a:t>
            </a:r>
            <a:r>
              <a:rPr sz="1100">
                <a:solidFill>
                  <a:srgbClr val="263442"/>
                </a:solidFill>
              </a:rPr>
              <a:t>bán</a:t>
            </a:r>
            <a:r>
              <a:rPr sz="1100">
                <a:solidFill>
                  <a:srgbClr val="263442"/>
                </a:solidFill>
              </a:rPr>
              <a:t> </a:t>
            </a:r>
            <a:r>
              <a:rPr sz="1100">
                <a:solidFill>
                  <a:srgbClr val="263442"/>
                </a:solidFill>
              </a:rPr>
              <a:t>ròng</a:t>
            </a:r>
            <a:r>
              <a:rPr sz="1100">
                <a:solidFill>
                  <a:srgbClr val="263442"/>
                </a:solidFill>
              </a:rPr>
              <a:t> 384 </a:t>
            </a:r>
            <a:r>
              <a:rPr sz="1100">
                <a:solidFill>
                  <a:srgbClr val="263442"/>
                </a:solidFill>
              </a:rPr>
              <a:t>tỷ</a:t>
            </a:r>
            <a:r>
              <a:rPr sz="1100">
                <a:solidFill>
                  <a:srgbClr val="263442"/>
                </a:solidFill>
              </a:rPr>
              <a:t> </a:t>
            </a:r>
            <a:r>
              <a:rPr sz="1100">
                <a:solidFill>
                  <a:srgbClr val="263442"/>
                </a:solidFill>
              </a:rPr>
              <a:t>đồng</a:t>
            </a:r>
            <a:r>
              <a:rPr sz="1100">
                <a:solidFill>
                  <a:srgbClr val="263442"/>
                </a:solidFill>
              </a:rPr>
              <a:t>.</a:t>
            </a:r>
          </a:p>
          <a:p xmlns:a="http://schemas.openxmlformats.org/drawingml/2006/main">
            <a:pPr>
              <a:lnSpc>
                <a:spcPct val="160000"/>
              </a:lnSpc>
              <a:buNone/>
            </a:pPr>
          </a:p>
          <a:p xmlns:a="http://schemas.openxmlformats.org/drawingml/2006/main">
            <a:pPr marL="171450" indent="-171450">
              <a:lnSpc>
                <a:spcPct val="160000"/>
              </a:lnSpc>
              <a:buFont typeface="Arial"/>
              <a:buChar char="•"/>
            </a:pPr>
            <a:r>
              <a:rPr sz="1100" b="1">
                <a:solidFill>
                  <a:srgbClr val="1557B0"/>
                </a:solidFill>
              </a:rPr>
              <a:t>GD </a:t>
            </a:r>
            <a:r>
              <a:rPr sz="1100" b="1">
                <a:solidFill>
                  <a:srgbClr val="1557B0"/>
                </a:solidFill>
              </a:rPr>
              <a:t>Tự</a:t>
            </a:r>
            <a:r>
              <a:rPr sz="1100" b="1">
                <a:solidFill>
                  <a:srgbClr val="1557B0"/>
                </a:solidFill>
              </a:rPr>
              <a:t> </a:t>
            </a:r>
            <a:r>
              <a:rPr sz="1100" b="1">
                <a:solidFill>
                  <a:srgbClr val="1557B0"/>
                </a:solidFill>
              </a:rPr>
              <a:t>doanh</a:t>
            </a:r>
          </a:p>
          <a:p xmlns:a="http://schemas.openxmlformats.org/drawingml/2006/main">
            <a:pPr marL="171450" indent="-171450">
              <a:lnSpc>
                <a:spcPct val="160000"/>
              </a:lnSpc>
              <a:buFont typeface="Arial"/>
              <a:buChar char="•"/>
            </a:pPr>
          </a:p>
          <a:p xmlns:a="http://schemas.openxmlformats.org/drawingml/2006/main">
            <a:pPr marL="171450" indent="-171450">
              <a:lnSpc>
                <a:spcPct val="160000"/>
              </a:lnSpc>
              <a:buFont typeface="Arial"/>
              <a:buChar char="•"/>
            </a:pPr>
          </a:p>
          <a:p xmlns:a="http://schemas.openxmlformats.org/drawingml/2006/main">
            <a:pPr>
              <a:lnSpc>
                <a:spcPct val="160000"/>
              </a:lnSpc>
              <a:buNone/>
            </a:pPr>
          </a:p>
          <a:p xmlns:a="http://schemas.openxmlformats.org/drawingml/2006/main">
            <a:pPr>
              <a:lnSpc>
                <a:spcPct val="160000"/>
              </a:lnSpc>
              <a:buNone/>
            </a:pPr>
          </a:p>
          <a:p xmlns:a="http://schemas.openxmlformats.org/drawingml/2006/main">
            <a:pPr>
              <a:lnSpc>
                <a:spcPct val="160000"/>
              </a:lnSpc>
              <a:buNone/>
            </a:pPr>
          </a:p>
          <a:p xmlns:a="http://schemas.openxmlformats.org/drawingml/2006/main">
            <a:pPr marL="171450" indent="-171450">
              <a:lnSpc>
                <a:spcPct val="160000"/>
              </a:lnSpc>
              <a:buFont typeface="Arial"/>
              <a:buChar char="•"/>
            </a:pPr>
          </a:p>
          <a:p xmlns:a="http://schemas.openxmlformats.org/drawingml/2006/main">
            <a:pPr marL="171450" indent="-171450">
              <a:lnSpc>
                <a:spcPct val="160000"/>
              </a:lnSpc>
              <a:buFont typeface="Arial"/>
              <a:buChar char="•"/>
            </a:pPr>
          </a:p>
          <a:p xmlns:a="http://schemas.openxmlformats.org/drawingml/2006/main">
            <a:pPr>
              <a:lnSpc>
                <a:spcPct val="160000"/>
              </a:lnSpc>
              <a:buNone/>
            </a:pPr>
          </a:p>
          <a:p xmlns:a="http://schemas.openxmlformats.org/drawingml/2006/main">
            <a:pPr marL="171450" indent="-171450">
              <a:lnSpc>
                <a:spcPct val="160000"/>
              </a:lnSpc>
              <a:buFont typeface="Arial"/>
              <a:buChar char="•"/>
            </a:pPr>
            <a:br>
              <a:rPr sz="1100">
                <a:solidFill>
                  <a:srgbClr val="263442"/>
                </a:solidFill>
              </a:rPr>
            </a:br>
            <a:r>
              <a:rPr sz="1100" b="1">
                <a:solidFill>
                  <a:srgbClr val="1557B0"/>
                </a:solidFill>
              </a:rPr>
              <a:t>GD Khối ngoại</a:t>
            </a:r>
          </a:p>
        </p:txBody>
      </p:sp>
      <p:graphicFrame>
        <p:nvGraphicFramePr>
          <p:cNvPr id="29" name="Table 16"/>
          <p:cNvGraphicFramePr/>
          <p:nvPr/>
        </p:nvGraphicFramePr>
        <p:xfrm>
          <a:off xmlns:a="http://schemas.openxmlformats.org/drawingml/2006/main" x="517525" y="1935413"/>
          <a:ext xmlns:a="http://schemas.openxmlformats.org/drawingml/2006/main" cx="4729594" cy="2214465"/>
        </p:xfrm>
        <a:graphic xmlns:a="http://schemas.openxmlformats.org/drawingml/2006/main">
          <a:graphicData uri="http://schemas.openxmlformats.org/drawingml/2006/table">
            <a:tbl>
              <a:tblPr firstRow="1" bandRow="1">
                <a:tableStyleId>{B301B821-A1FF-4177-AEE7-76D212191A09}</a:tableStyleId>
              </a:tblPr>
              <a:tblGrid>
                <a:gridCol w="840220"/>
                <a:gridCol w="941075"/>
                <a:gridCol w="1375873"/>
                <a:gridCol w="1572426"/>
              </a:tblGrid>
              <a:tr h="190500">
                <a:tc>
                  <a:txBody>
                    <a:bodyPr/>
                    <a:lstStyle/>
                    <a:p>
                      <a:pPr algn="l">
                        <a:buNone/>
                      </a:pPr>
                      <a:r>
                        <a:rPr sz="1000" b="1" u="none">
                          <a:solidFill>
                            <a:srgbClr val="FFFFFF"/>
                          </a:solidFill>
                        </a:rPr>
                        <a:t>Mã</a:t>
                      </a:r>
                    </a:p>
                  </a:txBody>
                  <a:tcPr marL="18000" marR="9525" marT="18000" marB="0" anchor="ctr"/>
                </a:tc>
                <a:tc>
                  <a:txBody>
                    <a:bodyPr/>
                    <a:lstStyle/>
                    <a:p>
                      <a:pPr algn="r">
                        <a:buNone/>
                      </a:pPr>
                      <a:r>
                        <a:rPr sz="1000" b="1" u="none">
                          <a:solidFill>
                            <a:srgbClr val="FFFFFF"/>
                          </a:solidFill>
                        </a:rPr>
                        <a:t>Giá</a:t>
                      </a:r>
                    </a:p>
                  </a:txBody>
                  <a:tcPr marL="18000" marR="9525" marT="18000" marB="0" anchor="ctr"/>
                </a:tc>
                <a:tc>
                  <a:txBody>
                    <a:bodyPr/>
                    <a:lstStyle/>
                    <a:p>
                      <a:pPr algn="r">
                        <a:buNone/>
                      </a:pPr>
                      <a:r>
                        <a:rPr sz="1000" b="1" u="none">
                          <a:solidFill>
                            <a:srgbClr val="FFFFFF"/>
                          </a:solidFill>
                        </a:rPr>
                        <a:t>Bán </a:t>
                      </a:r>
                      <a:r>
                        <a:rPr sz="1000" b="1" u="none">
                          <a:solidFill>
                            <a:srgbClr val="FFFFFF"/>
                          </a:solidFill>
                        </a:rPr>
                        <a:t>ròng</a:t>
                      </a:r>
                      <a:r>
                        <a:rPr sz="1000" b="1" u="none">
                          <a:solidFill>
                            <a:srgbClr val="FFFFFF"/>
                          </a:solidFill>
                        </a:rPr>
                        <a:t> (GT)</a:t>
                      </a:r>
                    </a:p>
                  </a:txBody>
                  <a:tcPr marL="18000" marR="9525" marT="18000" marB="0" anchor="ctr"/>
                </a:tc>
                <a:tc>
                  <a:txBody>
                    <a:bodyPr/>
                    <a:lstStyle/>
                    <a:p>
                      <a:pPr algn="r">
                        <a:buNone/>
                      </a:pPr>
                      <a:r>
                        <a:rPr sz="1000" b="1" u="none">
                          <a:solidFill>
                            <a:srgbClr val="FFFFFF"/>
                          </a:solidFill>
                        </a:rPr>
                        <a:t>Tỷ trọng bán của Khối</a:t>
                      </a:r>
                    </a:p>
                    <a:p>
                      <a:pPr algn="r">
                        <a:buNone/>
                      </a:pPr>
                      <a:r>
                        <a:rPr sz="1000" b="1" u="none">
                          <a:solidFill>
                            <a:srgbClr val="FFFFFF"/>
                          </a:solidFill>
                        </a:rPr>
                        <a:t> Tự doanh</a:t>
                      </a:r>
                    </a:p>
                  </a:txBody>
                  <a:tcPr marL="18000" marR="9525" marT="18000" marB="0" anchor="ctr"/>
                </a:tc>
              </a:tr>
              <a:tr h="158628">
                <a:tc>
                  <a:txBody>
                    <a:bodyPr/>
                    <a:lstStyle/>
                    <a:p>
                      <a:pPr algn="l">
                        <a:buNone/>
                      </a:pPr>
                      <a:r>
                        <a:rPr sz="1100" b="0" i="0" u="none">
                          <a:solidFill>
                            <a:srgbClr val="000000"/>
                          </a:solidFill>
                          <a:latin typeface="Calibri"/>
                          <a:ea typeface="Calibri"/>
                          <a:cs typeface="Calibri"/>
                        </a:rPr>
                        <a:t>POW</a:t>
                      </a:r>
                    </a:p>
                  </a:txBody>
                  <a:tcPr marL="9525" marR="9525" marT="9525" marB="0" anchor="ctr"/>
                </a:tc>
                <a:tc>
                  <a:txBody>
                    <a:bodyPr/>
                    <a:lstStyle/>
                    <a:p>
                      <a:pPr algn="r">
                        <a:buNone/>
                      </a:pPr>
                      <a:r>
                        <a:rPr sz="1100" b="0" i="0" u="none">
                          <a:solidFill>
                            <a:srgbClr val="000000"/>
                          </a:solidFill>
                          <a:latin typeface="Calibri"/>
                          <a:ea typeface="Calibri"/>
                          <a:cs typeface="Calibri"/>
                        </a:rPr>
                        <a:t>13.600</a:t>
                      </a:r>
                    </a:p>
                  </a:txBody>
                  <a:tcPr marL="9525" marR="9525" marT="9525" marB="0" anchor="ctr"/>
                </a:tc>
                <a:tc>
                  <a:txBody>
                    <a:bodyPr/>
                    <a:lstStyle/>
                    <a:p>
                      <a:pPr algn="r">
                        <a:buNone/>
                      </a:pPr>
                      <a:r>
                        <a:rPr sz="1100" b="0" i="0" u="none">
                          <a:solidFill>
                            <a:srgbClr val="000000"/>
                          </a:solidFill>
                          <a:latin typeface="Calibri"/>
                          <a:ea typeface="Calibri"/>
                          <a:cs typeface="Calibri"/>
                        </a:rPr>
                        <a:t>-133.837.690.000</a:t>
                      </a:r>
                    </a:p>
                  </a:txBody>
                  <a:tcPr marL="9525" marR="9525" marT="9525" marB="0" anchor="ctr"/>
                </a:tc>
                <a:tc>
                  <a:txBody>
                    <a:bodyPr/>
                    <a:lstStyle/>
                    <a:p>
                      <a:pPr algn="r">
                        <a:buNone/>
                      </a:pPr>
                      <a:r>
                        <a:rPr sz="1100" b="0" i="0" u="none">
                          <a:solidFill>
                            <a:srgbClr val="000000"/>
                          </a:solidFill>
                          <a:latin typeface="Calibri"/>
                          <a:ea typeface="Calibri"/>
                          <a:cs typeface="Calibri"/>
                        </a:rPr>
                        <a:t>8,32%</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VIC</a:t>
                      </a:r>
                    </a:p>
                  </a:txBody>
                  <a:tcPr marL="9525" marR="9525" marT="9525" marB="0" anchor="ctr"/>
                </a:tc>
                <a:tc>
                  <a:txBody>
                    <a:bodyPr/>
                    <a:lstStyle/>
                    <a:p>
                      <a:pPr algn="r">
                        <a:buNone/>
                      </a:pPr>
                      <a:r>
                        <a:rPr sz="1100" b="0" i="0" u="none">
                          <a:solidFill>
                            <a:srgbClr val="000000"/>
                          </a:solidFill>
                          <a:latin typeface="Calibri"/>
                          <a:ea typeface="Calibri"/>
                          <a:cs typeface="Calibri"/>
                        </a:rPr>
                        <a:t>214.100</a:t>
                      </a:r>
                    </a:p>
                  </a:txBody>
                  <a:tcPr marL="9525" marR="9525" marT="9525" marB="0" anchor="ctr"/>
                </a:tc>
                <a:tc>
                  <a:txBody>
                    <a:bodyPr/>
                    <a:lstStyle/>
                    <a:p>
                      <a:pPr algn="r">
                        <a:buNone/>
                      </a:pPr>
                      <a:r>
                        <a:rPr sz="1100" b="0" i="0" u="none">
                          <a:solidFill>
                            <a:srgbClr val="000000"/>
                          </a:solidFill>
                          <a:latin typeface="Calibri"/>
                          <a:ea typeface="Calibri"/>
                          <a:cs typeface="Calibri"/>
                        </a:rPr>
                        <a:t>-115.044.020.000</a:t>
                      </a:r>
                    </a:p>
                  </a:txBody>
                  <a:tcPr marL="9525" marR="9525" marT="9525" marB="0" anchor="ctr"/>
                </a:tc>
                <a:tc>
                  <a:txBody>
                    <a:bodyPr/>
                    <a:lstStyle/>
                    <a:p>
                      <a:pPr algn="r">
                        <a:buNone/>
                      </a:pPr>
                      <a:r>
                        <a:rPr sz="1100" b="0" i="0" u="none">
                          <a:solidFill>
                            <a:srgbClr val="000000"/>
                          </a:solidFill>
                          <a:latin typeface="Calibri"/>
                          <a:ea typeface="Calibri"/>
                          <a:cs typeface="Calibri"/>
                        </a:rPr>
                        <a:t>3,97%</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LPB</a:t>
                      </a:r>
                    </a:p>
                  </a:txBody>
                  <a:tcPr marL="9525" marR="9525" marT="9525" marB="0" anchor="ctr"/>
                </a:tc>
                <a:tc>
                  <a:txBody>
                    <a:bodyPr/>
                    <a:lstStyle/>
                    <a:p>
                      <a:pPr algn="r">
                        <a:buNone/>
                      </a:pPr>
                      <a:r>
                        <a:rPr sz="1100" b="0" i="0" u="none">
                          <a:solidFill>
                            <a:srgbClr val="000000"/>
                          </a:solidFill>
                          <a:latin typeface="Calibri"/>
                          <a:ea typeface="Calibri"/>
                          <a:cs typeface="Calibri"/>
                        </a:rPr>
                        <a:t>51.800</a:t>
                      </a:r>
                    </a:p>
                  </a:txBody>
                  <a:tcPr marL="9525" marR="9525" marT="9525" marB="0" anchor="ctr"/>
                </a:tc>
                <a:tc>
                  <a:txBody>
                    <a:bodyPr/>
                    <a:lstStyle/>
                    <a:p>
                      <a:pPr algn="r">
                        <a:buNone/>
                      </a:pPr>
                      <a:r>
                        <a:rPr sz="1100" b="0" i="0" u="none">
                          <a:solidFill>
                            <a:srgbClr val="000000"/>
                          </a:solidFill>
                          <a:latin typeface="Calibri"/>
                          <a:ea typeface="Calibri"/>
                          <a:cs typeface="Calibri"/>
                        </a:rPr>
                        <a:t>-79.504.650.000</a:t>
                      </a:r>
                    </a:p>
                  </a:txBody>
                  <a:tcPr marL="9525" marR="9525" marT="9525" marB="0" anchor="ctr"/>
                </a:tc>
                <a:tc>
                  <a:txBody>
                    <a:bodyPr/>
                    <a:lstStyle/>
                    <a:p>
                      <a:pPr algn="r">
                        <a:buNone/>
                      </a:pPr>
                      <a:r>
                        <a:rPr sz="1100" b="0" i="0" u="none">
                          <a:solidFill>
                            <a:srgbClr val="000000"/>
                          </a:solidFill>
                          <a:latin typeface="Calibri"/>
                          <a:ea typeface="Calibri"/>
                          <a:cs typeface="Calibri"/>
                        </a:rPr>
                        <a:t>9,96%</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VNM</a:t>
                      </a:r>
                    </a:p>
                  </a:txBody>
                  <a:tcPr marL="9525" marR="9525" marT="9525" marB="0" anchor="ctr"/>
                </a:tc>
                <a:tc>
                  <a:txBody>
                    <a:bodyPr/>
                    <a:lstStyle/>
                    <a:p>
                      <a:pPr algn="r">
                        <a:buNone/>
                      </a:pPr>
                      <a:r>
                        <a:rPr sz="1100" b="0" i="0" u="none">
                          <a:solidFill>
                            <a:srgbClr val="000000"/>
                          </a:solidFill>
                          <a:latin typeface="Calibri"/>
                          <a:ea typeface="Calibri"/>
                          <a:cs typeface="Calibri"/>
                        </a:rPr>
                        <a:t>60.900</a:t>
                      </a:r>
                    </a:p>
                  </a:txBody>
                  <a:tcPr marL="9525" marR="9525" marT="9525" marB="0" anchor="ctr"/>
                </a:tc>
                <a:tc>
                  <a:txBody>
                    <a:bodyPr/>
                    <a:lstStyle/>
                    <a:p>
                      <a:pPr algn="r">
                        <a:buNone/>
                      </a:pPr>
                      <a:r>
                        <a:rPr sz="1100" b="0" i="0" u="none">
                          <a:solidFill>
                            <a:srgbClr val="000000"/>
                          </a:solidFill>
                          <a:latin typeface="Calibri"/>
                          <a:ea typeface="Calibri"/>
                          <a:cs typeface="Calibri"/>
                        </a:rPr>
                        <a:t>-78.434.940.000</a:t>
                      </a:r>
                    </a:p>
                  </a:txBody>
                  <a:tcPr marL="9525" marR="9525" marT="9525" marB="0" anchor="ctr"/>
                </a:tc>
                <a:tc>
                  <a:txBody>
                    <a:bodyPr/>
                    <a:lstStyle/>
                    <a:p>
                      <a:pPr algn="r">
                        <a:buNone/>
                      </a:pPr>
                      <a:r>
                        <a:rPr sz="1100" b="0" i="0" u="none">
                          <a:solidFill>
                            <a:srgbClr val="000000"/>
                          </a:solidFill>
                          <a:latin typeface="Calibri"/>
                          <a:ea typeface="Calibri"/>
                          <a:cs typeface="Calibri"/>
                        </a:rPr>
                        <a:t>12,89%</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FPT</a:t>
                      </a:r>
                    </a:p>
                  </a:txBody>
                  <a:tcPr marL="9525" marR="9525" marT="9525" marB="0" anchor="ctr"/>
                </a:tc>
                <a:tc>
                  <a:txBody>
                    <a:bodyPr/>
                    <a:lstStyle/>
                    <a:p>
                      <a:pPr algn="r">
                        <a:buNone/>
                      </a:pPr>
                      <a:r>
                        <a:rPr sz="1100" b="0" i="0" u="none">
                          <a:solidFill>
                            <a:srgbClr val="000000"/>
                          </a:solidFill>
                          <a:latin typeface="Calibri"/>
                          <a:ea typeface="Calibri"/>
                          <a:cs typeface="Calibri"/>
                        </a:rPr>
                        <a:t>67.100</a:t>
                      </a:r>
                    </a:p>
                  </a:txBody>
                  <a:tcPr marL="9525" marR="9525" marT="9525" marB="0" anchor="ctr"/>
                </a:tc>
                <a:tc>
                  <a:txBody>
                    <a:bodyPr/>
                    <a:lstStyle/>
                    <a:p>
                      <a:pPr algn="r">
                        <a:buNone/>
                      </a:pPr>
                      <a:r>
                        <a:rPr sz="1100" b="0" i="0" u="none">
                          <a:solidFill>
                            <a:srgbClr val="000000"/>
                          </a:solidFill>
                          <a:latin typeface="Calibri"/>
                          <a:ea typeface="Calibri"/>
                          <a:cs typeface="Calibri"/>
                        </a:rPr>
                        <a:t>-71.242.630.000</a:t>
                      </a:r>
                    </a:p>
                  </a:txBody>
                  <a:tcPr marL="9525" marR="9525" marT="9525" marB="0" anchor="ctr"/>
                </a:tc>
                <a:tc>
                  <a:txBody>
                    <a:bodyPr/>
                    <a:lstStyle/>
                    <a:p>
                      <a:pPr algn="r">
                        <a:buNone/>
                      </a:pPr>
                      <a:r>
                        <a:rPr sz="1100" b="0" i="0" u="none">
                          <a:solidFill>
                            <a:srgbClr val="000000"/>
                          </a:solidFill>
                          <a:latin typeface="Calibri"/>
                          <a:ea typeface="Calibri"/>
                          <a:cs typeface="Calibri"/>
                        </a:rPr>
                        <a:t>9,85%</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CTG</a:t>
                      </a:r>
                    </a:p>
                  </a:txBody>
                  <a:tcPr marL="9525" marR="9525" marT="9525" marB="0" anchor="ctr"/>
                </a:tc>
                <a:tc>
                  <a:txBody>
                    <a:bodyPr/>
                    <a:lstStyle/>
                    <a:p>
                      <a:pPr algn="r">
                        <a:buNone/>
                      </a:pPr>
                      <a:r>
                        <a:rPr sz="1100" b="0" i="0" u="none">
                          <a:solidFill>
                            <a:srgbClr val="000000"/>
                          </a:solidFill>
                          <a:latin typeface="Calibri"/>
                          <a:ea typeface="Calibri"/>
                          <a:cs typeface="Calibri"/>
                        </a:rPr>
                        <a:t>30.800</a:t>
                      </a:r>
                    </a:p>
                  </a:txBody>
                  <a:tcPr marL="9525" marR="9525" marT="9525" marB="0" anchor="ctr"/>
                </a:tc>
                <a:tc>
                  <a:txBody>
                    <a:bodyPr/>
                    <a:lstStyle/>
                    <a:p>
                      <a:pPr algn="r">
                        <a:buNone/>
                      </a:pPr>
                      <a:r>
                        <a:rPr sz="1100" b="0" i="0" u="none">
                          <a:solidFill>
                            <a:srgbClr val="000000"/>
                          </a:solidFill>
                          <a:latin typeface="Calibri"/>
                          <a:ea typeface="Calibri"/>
                          <a:cs typeface="Calibri"/>
                        </a:rPr>
                        <a:t>-51.252.425.000</a:t>
                      </a:r>
                    </a:p>
                  </a:txBody>
                  <a:tcPr marL="9525" marR="9525" marT="9525" marB="0" anchor="ctr"/>
                </a:tc>
                <a:tc>
                  <a:txBody>
                    <a:bodyPr/>
                    <a:lstStyle/>
                    <a:p>
                      <a:pPr algn="r">
                        <a:buNone/>
                      </a:pPr>
                      <a:r>
                        <a:rPr sz="1100" b="0" i="0" u="none">
                          <a:solidFill>
                            <a:srgbClr val="000000"/>
                          </a:solidFill>
                          <a:latin typeface="Calibri"/>
                          <a:ea typeface="Calibri"/>
                          <a:cs typeface="Calibri"/>
                        </a:rPr>
                        <a:t>9,73%</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VJC</a:t>
                      </a:r>
                    </a:p>
                  </a:txBody>
                  <a:tcPr marL="9525" marR="9525" marT="9525" marB="0" anchor="ctr"/>
                </a:tc>
                <a:tc>
                  <a:txBody>
                    <a:bodyPr/>
                    <a:lstStyle/>
                    <a:p>
                      <a:pPr algn="r">
                        <a:buNone/>
                      </a:pPr>
                      <a:r>
                        <a:rPr sz="1100" b="0" i="0" u="none">
                          <a:solidFill>
                            <a:srgbClr val="000000"/>
                          </a:solidFill>
                          <a:latin typeface="Calibri"/>
                          <a:ea typeface="Calibri"/>
                          <a:cs typeface="Calibri"/>
                        </a:rPr>
                        <a:t>125.000</a:t>
                      </a:r>
                    </a:p>
                  </a:txBody>
                  <a:tcPr marL="9525" marR="9525" marT="9525" marB="0" anchor="ctr"/>
                </a:tc>
                <a:tc>
                  <a:txBody>
                    <a:bodyPr/>
                    <a:lstStyle/>
                    <a:p>
                      <a:pPr algn="r">
                        <a:buNone/>
                      </a:pPr>
                      <a:r>
                        <a:rPr sz="1100" b="0" i="0" u="none">
                          <a:solidFill>
                            <a:srgbClr val="000000"/>
                          </a:solidFill>
                          <a:latin typeface="Calibri"/>
                          <a:ea typeface="Calibri"/>
                          <a:cs typeface="Calibri"/>
                        </a:rPr>
                        <a:t>-47.052.790.000</a:t>
                      </a:r>
                    </a:p>
                  </a:txBody>
                  <a:tcPr marL="9525" marR="9525" marT="9525" marB="0" anchor="ctr"/>
                </a:tc>
                <a:tc>
                  <a:txBody>
                    <a:bodyPr/>
                    <a:lstStyle/>
                    <a:p>
                      <a:pPr algn="r">
                        <a:buNone/>
                      </a:pPr>
                      <a:r>
                        <a:rPr sz="1100" b="0" i="0" u="none">
                          <a:solidFill>
                            <a:srgbClr val="000000"/>
                          </a:solidFill>
                          <a:latin typeface="Calibri"/>
                          <a:ea typeface="Calibri"/>
                          <a:cs typeface="Calibri"/>
                        </a:rPr>
                        <a:t>6,68%</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VPB</a:t>
                      </a:r>
                    </a:p>
                  </a:txBody>
                  <a:tcPr marL="9525" marR="9525" marT="9525" marB="0" anchor="ctr"/>
                </a:tc>
                <a:tc>
                  <a:txBody>
                    <a:bodyPr/>
                    <a:lstStyle/>
                    <a:p>
                      <a:pPr algn="r">
                        <a:buNone/>
                      </a:pPr>
                      <a:r>
                        <a:rPr sz="1100" b="0" i="0" u="none">
                          <a:solidFill>
                            <a:srgbClr val="000000"/>
                          </a:solidFill>
                          <a:latin typeface="Calibri"/>
                          <a:ea typeface="Calibri"/>
                          <a:cs typeface="Calibri"/>
                        </a:rPr>
                        <a:t>24.800</a:t>
                      </a:r>
                    </a:p>
                  </a:txBody>
                  <a:tcPr marL="9525" marR="9525" marT="9525" marB="0" anchor="ctr"/>
                </a:tc>
                <a:tc>
                  <a:txBody>
                    <a:bodyPr/>
                    <a:lstStyle/>
                    <a:p>
                      <a:pPr algn="r">
                        <a:buNone/>
                      </a:pPr>
                      <a:r>
                        <a:rPr sz="1100" b="0" i="0" u="none">
                          <a:solidFill>
                            <a:srgbClr val="000000"/>
                          </a:solidFill>
                          <a:latin typeface="Calibri"/>
                          <a:ea typeface="Calibri"/>
                          <a:cs typeface="Calibri"/>
                        </a:rPr>
                        <a:t>-39.589.604.000</a:t>
                      </a:r>
                    </a:p>
                  </a:txBody>
                  <a:tcPr marL="9525" marR="9525" marT="9525" marB="0" anchor="ctr"/>
                </a:tc>
                <a:tc>
                  <a:txBody>
                    <a:bodyPr/>
                    <a:lstStyle/>
                    <a:p>
                      <a:pPr algn="r">
                        <a:buNone/>
                      </a:pPr>
                      <a:r>
                        <a:rPr sz="1100" b="0" i="0" u="none">
                          <a:solidFill>
                            <a:srgbClr val="000000"/>
                          </a:solidFill>
                          <a:latin typeface="Calibri"/>
                          <a:ea typeface="Calibri"/>
                          <a:cs typeface="Calibri"/>
                        </a:rPr>
                        <a:t>9,46%</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FUEVFVND</a:t>
                      </a:r>
                    </a:p>
                  </a:txBody>
                  <a:tcPr marL="9525" marR="9525" marT="9525" marB="0" anchor="ctr"/>
                </a:tc>
                <a:tc>
                  <a:txBody>
                    <a:bodyPr/>
                    <a:lstStyle/>
                    <a:p>
                      <a:pPr algn="r">
                        <a:buNone/>
                      </a:pPr>
                      <a:r>
                        <a:rPr sz="1100" b="0" i="0" u="none">
                          <a:solidFill>
                            <a:srgbClr val="000000"/>
                          </a:solidFill>
                          <a:latin typeface="Calibri"/>
                          <a:ea typeface="Calibri"/>
                          <a:cs typeface="Calibri"/>
                        </a:rPr>
                        <a:t>32.440</a:t>
                      </a:r>
                    </a:p>
                  </a:txBody>
                  <a:tcPr marL="9525" marR="9525" marT="9525" marB="0" anchor="ctr"/>
                </a:tc>
                <a:tc>
                  <a:txBody>
                    <a:bodyPr/>
                    <a:lstStyle/>
                    <a:p>
                      <a:pPr algn="r">
                        <a:buNone/>
                      </a:pPr>
                      <a:r>
                        <a:rPr sz="1100" b="0" i="0" u="none">
                          <a:solidFill>
                            <a:srgbClr val="000000"/>
                          </a:solidFill>
                          <a:latin typeface="Calibri"/>
                          <a:ea typeface="Calibri"/>
                          <a:cs typeface="Calibri"/>
                        </a:rPr>
                        <a:t>-38.107.090.000</a:t>
                      </a:r>
                    </a:p>
                  </a:txBody>
                  <a:tcPr marL="9525" marR="9525" marT="9525" marB="0" anchor="ctr"/>
                </a:tc>
                <a:tc>
                  <a:txBody>
                    <a:bodyPr/>
                    <a:lstStyle/>
                    <a:p>
                      <a:pPr algn="r">
                        <a:buNone/>
                      </a:pPr>
                      <a:r>
                        <a:rPr sz="1100" b="0" i="0" u="none">
                          <a:solidFill>
                            <a:srgbClr val="000000"/>
                          </a:solidFill>
                          <a:latin typeface="Calibri"/>
                          <a:ea typeface="Calibri"/>
                          <a:cs typeface="Calibri"/>
                        </a:rPr>
                        <a:t>36,40%</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E1VFVN30</a:t>
                      </a:r>
                    </a:p>
                  </a:txBody>
                  <a:tcPr marL="9525" marR="9525" marT="9525" marB="0" anchor="ctr"/>
                </a:tc>
                <a:tc>
                  <a:txBody>
                    <a:bodyPr/>
                    <a:lstStyle/>
                    <a:p>
                      <a:pPr algn="r">
                        <a:buNone/>
                      </a:pPr>
                      <a:r>
                        <a:rPr sz="1100" b="0" i="0" u="none">
                          <a:solidFill>
                            <a:srgbClr val="000000"/>
                          </a:solidFill>
                          <a:latin typeface="Calibri"/>
                          <a:ea typeface="Calibri"/>
                          <a:cs typeface="Calibri"/>
                        </a:rPr>
                        <a:t>33.700</a:t>
                      </a:r>
                    </a:p>
                  </a:txBody>
                  <a:tcPr marL="9525" marR="9525" marT="9525" marB="0" anchor="ctr"/>
                </a:tc>
                <a:tc>
                  <a:txBody>
                    <a:bodyPr/>
                    <a:lstStyle/>
                    <a:p>
                      <a:pPr algn="r">
                        <a:buNone/>
                      </a:pPr>
                      <a:r>
                        <a:rPr sz="1100" b="0" i="0" u="none">
                          <a:solidFill>
                            <a:srgbClr val="000000"/>
                          </a:solidFill>
                          <a:latin typeface="Calibri"/>
                          <a:ea typeface="Calibri"/>
                          <a:cs typeface="Calibri"/>
                        </a:rPr>
                        <a:t>-35.818.329.000</a:t>
                      </a:r>
                    </a:p>
                  </a:txBody>
                  <a:tcPr marL="9525" marR="9525" marT="9525" marB="0" anchor="ctr"/>
                </a:tc>
                <a:tc>
                  <a:txBody>
                    <a:bodyPr/>
                    <a:lstStyle/>
                    <a:p>
                      <a:pPr algn="r">
                        <a:buNone/>
                      </a:pPr>
                      <a:r>
                        <a:rPr sz="1100" b="0" i="0" u="none">
                          <a:solidFill>
                            <a:srgbClr val="000000"/>
                          </a:solidFill>
                          <a:latin typeface="Calibri"/>
                          <a:ea typeface="Calibri"/>
                          <a:cs typeface="Calibri"/>
                        </a:rPr>
                        <a:t>53,01%</a:t>
                      </a:r>
                    </a:p>
                  </a:txBody>
                  <a:tcPr marL="9525" marR="9525" marT="9525" marB="0" anchor="ctr"/>
                </a:tc>
              </a:tr>
            </a:tbl>
          </a:graphicData>
        </a:graphic>
      </p:graphicFrame>
      <p:graphicFrame>
        <p:nvGraphicFramePr>
          <p:cNvPr id="30" name="Table 23"/>
          <p:cNvGraphicFramePr/>
          <p:nvPr/>
        </p:nvGraphicFramePr>
        <p:xfrm>
          <a:off xmlns:a="http://schemas.openxmlformats.org/drawingml/2006/main" x="6082353" y="1929390"/>
          <a:ext xmlns:a="http://schemas.openxmlformats.org/drawingml/2006/main" cx="4729594" cy="2247470"/>
        </p:xfrm>
        <a:graphic xmlns:a="http://schemas.openxmlformats.org/drawingml/2006/main">
          <a:graphicData uri="http://schemas.openxmlformats.org/drawingml/2006/table">
            <a:tbl>
              <a:tblPr firstRow="1" bandRow="1">
                <a:tableStyleId>{B301B821-A1FF-4177-AEE7-76D212191A09}</a:tableStyleId>
              </a:tblPr>
              <a:tblGrid>
                <a:gridCol w="937189"/>
                <a:gridCol w="880217"/>
                <a:gridCol w="1418601"/>
                <a:gridCol w="1493587"/>
              </a:tblGrid>
              <a:tr h="317571">
                <a:tc>
                  <a:txBody>
                    <a:bodyPr/>
                    <a:lstStyle/>
                    <a:p>
                      <a:pPr algn="l">
                        <a:buNone/>
                      </a:pPr>
                      <a:r>
                        <a:rPr sz="1000" b="1" u="none">
                          <a:solidFill>
                            <a:srgbClr val="FFFFFF"/>
                          </a:solidFill>
                        </a:rPr>
                        <a:t>Mã</a:t>
                      </a:r>
                    </a:p>
                  </a:txBody>
                  <a:tcPr marL="18000" marR="0" marT="18000" marB="0" anchor="ctr"/>
                </a:tc>
                <a:tc>
                  <a:txBody>
                    <a:bodyPr/>
                    <a:lstStyle/>
                    <a:p>
                      <a:pPr algn="r">
                        <a:buNone/>
                      </a:pPr>
                      <a:r>
                        <a:rPr sz="1000" b="1" u="none">
                          <a:solidFill>
                            <a:srgbClr val="FFFFFF"/>
                          </a:solidFill>
                        </a:rPr>
                        <a:t>Giá</a:t>
                      </a:r>
                    </a:p>
                  </a:txBody>
                  <a:tcPr marL="18000" marR="0" marT="18000" marB="0" anchor="ctr"/>
                </a:tc>
                <a:tc>
                  <a:txBody>
                    <a:bodyPr/>
                    <a:lstStyle/>
                    <a:p>
                      <a:pPr algn="r">
                        <a:buNone/>
                      </a:pPr>
                      <a:r>
                        <a:rPr sz="1000" b="1" u="none">
                          <a:solidFill>
                            <a:srgbClr val="FFFFFF"/>
                          </a:solidFill>
                        </a:rPr>
                        <a:t>Mua</a:t>
                      </a:r>
                      <a:r>
                        <a:rPr sz="1000" b="1" u="none">
                          <a:solidFill>
                            <a:srgbClr val="FFFFFF"/>
                          </a:solidFill>
                        </a:rPr>
                        <a:t> </a:t>
                      </a:r>
                      <a:r>
                        <a:rPr sz="1000" b="1" u="none">
                          <a:solidFill>
                            <a:srgbClr val="FFFFFF"/>
                          </a:solidFill>
                        </a:rPr>
                        <a:t>ròng</a:t>
                      </a:r>
                      <a:r>
                        <a:rPr sz="1000" b="1" u="none">
                          <a:solidFill>
                            <a:srgbClr val="FFFFFF"/>
                          </a:solidFill>
                        </a:rPr>
                        <a:t> (GT)</a:t>
                      </a:r>
                    </a:p>
                  </a:txBody>
                  <a:tcPr marL="18000" marR="0" marT="18000" marB="0" anchor="ctr"/>
                </a:tc>
                <a:tc>
                  <a:txBody>
                    <a:bodyPr/>
                    <a:lstStyle/>
                    <a:p>
                      <a:pPr algn="r">
                        <a:buNone/>
                      </a:pPr>
                      <a:r>
                        <a:rPr sz="1000" b="1" u="none">
                          <a:solidFill>
                            <a:srgbClr val="FFFFFF"/>
                          </a:solidFill>
                        </a:rPr>
                        <a:t>Tỷ </a:t>
                      </a:r>
                      <a:r>
                        <a:rPr sz="1000" b="1" u="none">
                          <a:solidFill>
                            <a:srgbClr val="FFFFFF"/>
                          </a:solidFill>
                        </a:rPr>
                        <a:t>trọng</a:t>
                      </a:r>
                      <a:r>
                        <a:rPr sz="1000" b="1" u="none">
                          <a:solidFill>
                            <a:srgbClr val="FFFFFF"/>
                          </a:solidFill>
                        </a:rPr>
                        <a:t> </a:t>
                      </a:r>
                      <a:r>
                        <a:rPr sz="1000" b="1" u="none">
                          <a:solidFill>
                            <a:srgbClr val="FFFFFF"/>
                          </a:solidFill>
                        </a:rPr>
                        <a:t>mua</a:t>
                      </a:r>
                      <a:r>
                        <a:rPr sz="1000" b="1" u="none">
                          <a:solidFill>
                            <a:srgbClr val="FFFFFF"/>
                          </a:solidFill>
                        </a:rPr>
                        <a:t> của </a:t>
                      </a:r>
                      <a:r>
                        <a:rPr sz="1000" b="1" u="none">
                          <a:solidFill>
                            <a:srgbClr val="FFFFFF"/>
                          </a:solidFill>
                        </a:rPr>
                        <a:t>Khối</a:t>
                      </a:r>
                    </a:p>
                    <a:p>
                      <a:pPr algn="r">
                        <a:buNone/>
                      </a:pPr>
                      <a:r>
                        <a:rPr sz="1000" b="1" u="none">
                          <a:solidFill>
                            <a:srgbClr val="FFFFFF"/>
                          </a:solidFill>
                        </a:rPr>
                        <a:t> </a:t>
                      </a:r>
                      <a:r>
                        <a:rPr sz="1000" b="1" u="none">
                          <a:solidFill>
                            <a:srgbClr val="FFFFFF"/>
                          </a:solidFill>
                        </a:rPr>
                        <a:t>Tự</a:t>
                      </a:r>
                      <a:r>
                        <a:rPr sz="1000" b="1" u="none">
                          <a:solidFill>
                            <a:srgbClr val="FFFFFF"/>
                          </a:solidFill>
                        </a:rPr>
                        <a:t> doanh</a:t>
                      </a:r>
                    </a:p>
                  </a:txBody>
                  <a:tcPr marL="18000" marR="0" marT="18000" marB="0" anchor="ctr"/>
                </a:tc>
              </a:tr>
              <a:tr h="192467">
                <a:tc>
                  <a:txBody>
                    <a:bodyPr/>
                    <a:lstStyle/>
                    <a:p>
                      <a:pPr algn="l">
                        <a:buNone/>
                      </a:pPr>
                      <a:r>
                        <a:rPr sz="1100" b="0" i="0" u="none">
                          <a:solidFill>
                            <a:srgbClr val="000000"/>
                          </a:solidFill>
                          <a:latin typeface="Calibri"/>
                          <a:ea typeface="Calibri"/>
                          <a:cs typeface="Calibri"/>
                        </a:rPr>
                        <a:t>VPX</a:t>
                      </a:r>
                    </a:p>
                  </a:txBody>
                  <a:tcPr marL="9525" marR="9525" marT="9525" marB="0" anchor="ctr"/>
                </a:tc>
                <a:tc>
                  <a:txBody>
                    <a:bodyPr/>
                    <a:lstStyle/>
                    <a:p>
                      <a:pPr algn="r">
                        <a:buNone/>
                      </a:pPr>
                      <a:r>
                        <a:rPr sz="1100" b="0" i="0" u="none">
                          <a:solidFill>
                            <a:srgbClr val="000000"/>
                          </a:solidFill>
                          <a:latin typeface="Calibri"/>
                          <a:ea typeface="Calibri"/>
                          <a:cs typeface="Calibri"/>
                        </a:rPr>
                        <a:t>25.400</a:t>
                      </a:r>
                    </a:p>
                  </a:txBody>
                  <a:tcPr marL="9525" marR="9525" marT="9525" marB="0" anchor="ctr"/>
                </a:tc>
                <a:tc>
                  <a:txBody>
                    <a:bodyPr/>
                    <a:lstStyle/>
                    <a:p>
                      <a:pPr algn="r">
                        <a:buNone/>
                      </a:pPr>
                      <a:r>
                        <a:rPr sz="1100" b="0" i="0" u="none">
                          <a:solidFill>
                            <a:srgbClr val="000000"/>
                          </a:solidFill>
                          <a:latin typeface="Calibri"/>
                          <a:ea typeface="Calibri"/>
                          <a:cs typeface="Calibri"/>
                        </a:rPr>
                        <a:t>577.171.900.000</a:t>
                      </a:r>
                    </a:p>
                  </a:txBody>
                  <a:tcPr marL="9525" marR="9525" marT="9525" marB="0" anchor="ctr"/>
                </a:tc>
                <a:tc>
                  <a:txBody>
                    <a:bodyPr/>
                    <a:lstStyle/>
                    <a:p>
                      <a:pPr algn="r">
                        <a:buNone/>
                      </a:pPr>
                      <a:r>
                        <a:rPr sz="1100" b="0" i="0" u="none">
                          <a:solidFill>
                            <a:srgbClr val="000000"/>
                          </a:solidFill>
                          <a:latin typeface="Calibri"/>
                          <a:ea typeface="Calibri"/>
                          <a:cs typeface="Calibri"/>
                        </a:rPr>
                        <a:t>45,55%</a:t>
                      </a:r>
                    </a:p>
                  </a:txBody>
                  <a:tcPr marL="9525" marR="9525" marT="9525" marB="0" anchor="ctr"/>
                </a:tc>
              </a:tr>
              <a:tr h="192467">
                <a:tc>
                  <a:txBody>
                    <a:bodyPr/>
                    <a:lstStyle/>
                    <a:p>
                      <a:pPr algn="l">
                        <a:buNone/>
                      </a:pPr>
                      <a:r>
                        <a:rPr sz="1100" b="0" i="0" u="none">
                          <a:solidFill>
                            <a:srgbClr val="000000"/>
                          </a:solidFill>
                          <a:latin typeface="Calibri"/>
                          <a:ea typeface="Calibri"/>
                          <a:cs typeface="Calibri"/>
                        </a:rPr>
                        <a:t>GMD</a:t>
                      </a:r>
                    </a:p>
                  </a:txBody>
                  <a:tcPr marL="9525" marR="9525" marT="9525" marB="0" anchor="ctr"/>
                </a:tc>
                <a:tc>
                  <a:txBody>
                    <a:bodyPr/>
                    <a:lstStyle/>
                    <a:p>
                      <a:pPr algn="r">
                        <a:buNone/>
                      </a:pPr>
                      <a:r>
                        <a:rPr sz="1100" b="0" i="0" u="none">
                          <a:solidFill>
                            <a:srgbClr val="000000"/>
                          </a:solidFill>
                          <a:latin typeface="Calibri"/>
                          <a:ea typeface="Calibri"/>
                          <a:cs typeface="Calibri"/>
                        </a:rPr>
                        <a:t>77.000</a:t>
                      </a:r>
                    </a:p>
                  </a:txBody>
                  <a:tcPr marL="9525" marR="9525" marT="9525" marB="0" anchor="ctr"/>
                </a:tc>
                <a:tc>
                  <a:txBody>
                    <a:bodyPr/>
                    <a:lstStyle/>
                    <a:p>
                      <a:pPr algn="r">
                        <a:buNone/>
                      </a:pPr>
                      <a:r>
                        <a:rPr sz="1100" b="0" i="0" u="none">
                          <a:solidFill>
                            <a:srgbClr val="000000"/>
                          </a:solidFill>
                          <a:latin typeface="Calibri"/>
                          <a:ea typeface="Calibri"/>
                          <a:cs typeface="Calibri"/>
                        </a:rPr>
                        <a:t>110.050.100.000</a:t>
                      </a:r>
                    </a:p>
                  </a:txBody>
                  <a:tcPr marL="9525" marR="9525" marT="9525" marB="0" anchor="ctr"/>
                </a:tc>
                <a:tc>
                  <a:txBody>
                    <a:bodyPr/>
                    <a:lstStyle/>
                    <a:p>
                      <a:pPr algn="r">
                        <a:buNone/>
                      </a:pPr>
                      <a:r>
                        <a:rPr sz="1100" b="0" i="0" u="none">
                          <a:solidFill>
                            <a:srgbClr val="000000"/>
                          </a:solidFill>
                          <a:latin typeface="Calibri"/>
                          <a:ea typeface="Calibri"/>
                          <a:cs typeface="Calibri"/>
                        </a:rPr>
                        <a:t>12,27%</a:t>
                      </a:r>
                    </a:p>
                  </a:txBody>
                  <a:tcPr marL="9525" marR="9525" marT="9525" marB="0" anchor="ctr"/>
                </a:tc>
              </a:tr>
              <a:tr h="192467">
                <a:tc>
                  <a:txBody>
                    <a:bodyPr/>
                    <a:lstStyle/>
                    <a:p>
                      <a:pPr algn="l">
                        <a:buNone/>
                      </a:pPr>
                      <a:r>
                        <a:rPr sz="1100" b="0" i="0" u="none">
                          <a:solidFill>
                            <a:srgbClr val="000000"/>
                          </a:solidFill>
                          <a:latin typeface="Calibri"/>
                          <a:ea typeface="Calibri"/>
                          <a:cs typeface="Calibri"/>
                        </a:rPr>
                        <a:t>SSI</a:t>
                      </a:r>
                    </a:p>
                  </a:txBody>
                  <a:tcPr marL="9525" marR="9525" marT="9525" marB="0" anchor="ctr"/>
                </a:tc>
                <a:tc>
                  <a:txBody>
                    <a:bodyPr/>
                    <a:lstStyle/>
                    <a:p>
                      <a:pPr algn="r">
                        <a:buNone/>
                      </a:pPr>
                      <a:r>
                        <a:rPr sz="1100" b="0" i="0" u="none">
                          <a:solidFill>
                            <a:srgbClr val="000000"/>
                          </a:solidFill>
                          <a:latin typeface="Calibri"/>
                          <a:ea typeface="Calibri"/>
                          <a:cs typeface="Calibri"/>
                        </a:rPr>
                        <a:t>23.550</a:t>
                      </a:r>
                    </a:p>
                  </a:txBody>
                  <a:tcPr marL="9525" marR="9525" marT="9525" marB="0" anchor="ctr"/>
                </a:tc>
                <a:tc>
                  <a:txBody>
                    <a:bodyPr/>
                    <a:lstStyle/>
                    <a:p>
                      <a:pPr algn="r">
                        <a:buNone/>
                      </a:pPr>
                      <a:r>
                        <a:rPr sz="1100" b="0" i="0" u="none">
                          <a:solidFill>
                            <a:srgbClr val="000000"/>
                          </a:solidFill>
                          <a:latin typeface="Calibri"/>
                          <a:ea typeface="Calibri"/>
                          <a:cs typeface="Calibri"/>
                        </a:rPr>
                        <a:t>56.268.401.000</a:t>
                      </a:r>
                    </a:p>
                  </a:txBody>
                  <a:tcPr marL="9525" marR="9525" marT="9525" marB="0" anchor="ctr"/>
                </a:tc>
                <a:tc>
                  <a:txBody>
                    <a:bodyPr/>
                    <a:lstStyle/>
                    <a:p>
                      <a:pPr algn="r">
                        <a:buNone/>
                      </a:pPr>
                      <a:r>
                        <a:rPr sz="1100" b="0" i="0" u="none">
                          <a:solidFill>
                            <a:srgbClr val="000000"/>
                          </a:solidFill>
                          <a:latin typeface="Calibri"/>
                          <a:ea typeface="Calibri"/>
                          <a:cs typeface="Calibri"/>
                        </a:rPr>
                        <a:t>4,99%</a:t>
                      </a:r>
                    </a:p>
                  </a:txBody>
                  <a:tcPr marL="9525" marR="9525" marT="9525" marB="0" anchor="ctr"/>
                </a:tc>
              </a:tr>
              <a:tr h="192467">
                <a:tc>
                  <a:txBody>
                    <a:bodyPr/>
                    <a:lstStyle/>
                    <a:p>
                      <a:pPr algn="l">
                        <a:buNone/>
                      </a:pPr>
                      <a:r>
                        <a:rPr sz="1100" b="0" i="0" u="none">
                          <a:solidFill>
                            <a:srgbClr val="000000"/>
                          </a:solidFill>
                          <a:latin typeface="Calibri"/>
                          <a:ea typeface="Calibri"/>
                          <a:cs typeface="Calibri"/>
                        </a:rPr>
                        <a:t>VHM</a:t>
                      </a:r>
                    </a:p>
                  </a:txBody>
                  <a:tcPr marL="9525" marR="9525" marT="9525" marB="0" anchor="ctr"/>
                </a:tc>
                <a:tc>
                  <a:txBody>
                    <a:bodyPr/>
                    <a:lstStyle/>
                    <a:p>
                      <a:pPr algn="r">
                        <a:buNone/>
                      </a:pPr>
                      <a:r>
                        <a:rPr sz="1100" b="0" i="0" u="none">
                          <a:solidFill>
                            <a:srgbClr val="000000"/>
                          </a:solidFill>
                          <a:latin typeface="Calibri"/>
                          <a:ea typeface="Calibri"/>
                          <a:cs typeface="Calibri"/>
                        </a:rPr>
                        <a:t>148.100</a:t>
                      </a:r>
                    </a:p>
                  </a:txBody>
                  <a:tcPr marL="9525" marR="9525" marT="9525" marB="0" anchor="ctr"/>
                </a:tc>
                <a:tc>
                  <a:txBody>
                    <a:bodyPr/>
                    <a:lstStyle/>
                    <a:p>
                      <a:pPr algn="r">
                        <a:buNone/>
                      </a:pPr>
                      <a:r>
                        <a:rPr sz="1100" b="0" i="0" u="none">
                          <a:solidFill>
                            <a:srgbClr val="000000"/>
                          </a:solidFill>
                          <a:latin typeface="Calibri"/>
                          <a:ea typeface="Calibri"/>
                          <a:cs typeface="Calibri"/>
                        </a:rPr>
                        <a:t>49.617.640.000</a:t>
                      </a:r>
                    </a:p>
                  </a:txBody>
                  <a:tcPr marL="9525" marR="9525" marT="9525" marB="0" anchor="ctr"/>
                </a:tc>
                <a:tc>
                  <a:txBody>
                    <a:bodyPr/>
                    <a:lstStyle/>
                    <a:p>
                      <a:pPr algn="r">
                        <a:buNone/>
                      </a:pPr>
                      <a:r>
                        <a:rPr sz="1100" b="0" i="0" u="none">
                          <a:solidFill>
                            <a:srgbClr val="000000"/>
                          </a:solidFill>
                          <a:latin typeface="Calibri"/>
                          <a:ea typeface="Calibri"/>
                          <a:cs typeface="Calibri"/>
                        </a:rPr>
                        <a:t>2,80%</a:t>
                      </a:r>
                    </a:p>
                  </a:txBody>
                  <a:tcPr marL="9525" marR="9525" marT="9525" marB="0" anchor="ctr"/>
                </a:tc>
              </a:tr>
              <a:tr h="192467">
                <a:tc>
                  <a:txBody>
                    <a:bodyPr/>
                    <a:lstStyle/>
                    <a:p>
                      <a:pPr algn="l">
                        <a:buNone/>
                      </a:pPr>
                      <a:r>
                        <a:rPr sz="1100" b="0" i="0" u="none">
                          <a:solidFill>
                            <a:srgbClr val="000000"/>
                          </a:solidFill>
                          <a:latin typeface="Calibri"/>
                          <a:ea typeface="Calibri"/>
                          <a:cs typeface="Calibri"/>
                        </a:rPr>
                        <a:t>REE</a:t>
                      </a:r>
                    </a:p>
                  </a:txBody>
                  <a:tcPr marL="9525" marR="9525" marT="9525" marB="0" anchor="ctr"/>
                </a:tc>
                <a:tc>
                  <a:txBody>
                    <a:bodyPr/>
                    <a:lstStyle/>
                    <a:p>
                      <a:pPr algn="r">
                        <a:buNone/>
                      </a:pPr>
                      <a:r>
                        <a:rPr sz="1100" b="0" i="0" u="none">
                          <a:solidFill>
                            <a:srgbClr val="000000"/>
                          </a:solidFill>
                          <a:latin typeface="Calibri"/>
                          <a:ea typeface="Calibri"/>
                          <a:cs typeface="Calibri"/>
                        </a:rPr>
                        <a:t>46.500</a:t>
                      </a:r>
                    </a:p>
                  </a:txBody>
                  <a:tcPr marL="9525" marR="9525" marT="9525" marB="0" anchor="ctr"/>
                </a:tc>
                <a:tc>
                  <a:txBody>
                    <a:bodyPr/>
                    <a:lstStyle/>
                    <a:p>
                      <a:pPr algn="r">
                        <a:buNone/>
                      </a:pPr>
                      <a:r>
                        <a:rPr sz="1100" b="0" i="0" u="none">
                          <a:solidFill>
                            <a:srgbClr val="000000"/>
                          </a:solidFill>
                          <a:latin typeface="Calibri"/>
                          <a:ea typeface="Calibri"/>
                          <a:cs typeface="Calibri"/>
                        </a:rPr>
                        <a:t>38.159.400.000</a:t>
                      </a:r>
                    </a:p>
                  </a:txBody>
                  <a:tcPr marL="9525" marR="9525" marT="9525" marB="0" anchor="ctr"/>
                </a:tc>
                <a:tc>
                  <a:txBody>
                    <a:bodyPr/>
                    <a:lstStyle/>
                    <a:p>
                      <a:pPr algn="r">
                        <a:buNone/>
                      </a:pPr>
                      <a:r>
                        <a:rPr sz="1100" b="0" i="0" u="none">
                          <a:solidFill>
                            <a:srgbClr val="000000"/>
                          </a:solidFill>
                          <a:latin typeface="Calibri"/>
                          <a:ea typeface="Calibri"/>
                          <a:cs typeface="Calibri"/>
                        </a:rPr>
                        <a:t>14,75%</a:t>
                      </a:r>
                    </a:p>
                  </a:txBody>
                  <a:tcPr marL="9525" marR="9525" marT="9525" marB="0" anchor="ctr"/>
                </a:tc>
              </a:tr>
              <a:tr h="192467">
                <a:tc>
                  <a:txBody>
                    <a:bodyPr/>
                    <a:lstStyle/>
                    <a:p>
                      <a:pPr algn="l">
                        <a:buNone/>
                      </a:pPr>
                      <a:r>
                        <a:rPr sz="1100" b="0" i="0" u="none">
                          <a:solidFill>
                            <a:srgbClr val="000000"/>
                          </a:solidFill>
                          <a:latin typeface="Calibri"/>
                          <a:ea typeface="Calibri"/>
                          <a:cs typeface="Calibri"/>
                        </a:rPr>
                        <a:t>VCB</a:t>
                      </a:r>
                    </a:p>
                  </a:txBody>
                  <a:tcPr marL="9525" marR="9525" marT="9525" marB="0" anchor="ctr"/>
                </a:tc>
                <a:tc>
                  <a:txBody>
                    <a:bodyPr/>
                    <a:lstStyle/>
                    <a:p>
                      <a:pPr algn="r">
                        <a:buNone/>
                      </a:pPr>
                      <a:r>
                        <a:rPr sz="1100" b="0" i="0" u="none">
                          <a:solidFill>
                            <a:srgbClr val="000000"/>
                          </a:solidFill>
                          <a:latin typeface="Calibri"/>
                          <a:ea typeface="Calibri"/>
                          <a:cs typeface="Calibri"/>
                        </a:rPr>
                        <a:t>59.300</a:t>
                      </a:r>
                    </a:p>
                  </a:txBody>
                  <a:tcPr marL="9525" marR="9525" marT="9525" marB="0" anchor="ctr"/>
                </a:tc>
                <a:tc>
                  <a:txBody>
                    <a:bodyPr/>
                    <a:lstStyle/>
                    <a:p>
                      <a:pPr algn="r">
                        <a:buNone/>
                      </a:pPr>
                      <a:r>
                        <a:rPr sz="1100" b="0" i="0" u="none">
                          <a:solidFill>
                            <a:srgbClr val="000000"/>
                          </a:solidFill>
                          <a:latin typeface="Calibri"/>
                          <a:ea typeface="Calibri"/>
                          <a:cs typeface="Calibri"/>
                        </a:rPr>
                        <a:t>33.983.990.000</a:t>
                      </a:r>
                    </a:p>
                  </a:txBody>
                  <a:tcPr marL="9525" marR="9525" marT="9525" marB="0" anchor="ctr"/>
                </a:tc>
                <a:tc>
                  <a:txBody>
                    <a:bodyPr/>
                    <a:lstStyle/>
                    <a:p>
                      <a:pPr algn="r">
                        <a:buNone/>
                      </a:pPr>
                      <a:r>
                        <a:rPr sz="1100" b="0" i="0" u="none">
                          <a:solidFill>
                            <a:srgbClr val="000000"/>
                          </a:solidFill>
                          <a:latin typeface="Calibri"/>
                          <a:ea typeface="Calibri"/>
                          <a:cs typeface="Calibri"/>
                        </a:rPr>
                        <a:t>8,54%</a:t>
                      </a:r>
                    </a:p>
                  </a:txBody>
                  <a:tcPr marL="9525" marR="9525" marT="9525" marB="0" anchor="ctr"/>
                </a:tc>
              </a:tr>
              <a:tr h="192467">
                <a:tc>
                  <a:txBody>
                    <a:bodyPr/>
                    <a:lstStyle/>
                    <a:p>
                      <a:pPr algn="l">
                        <a:buNone/>
                      </a:pPr>
                      <a:r>
                        <a:rPr sz="1100" b="0" i="0" u="none">
                          <a:solidFill>
                            <a:srgbClr val="000000"/>
                          </a:solidFill>
                          <a:latin typeface="Calibri"/>
                          <a:ea typeface="Calibri"/>
                          <a:cs typeface="Calibri"/>
                        </a:rPr>
                        <a:t>NLG</a:t>
                      </a:r>
                    </a:p>
                  </a:txBody>
                  <a:tcPr marL="9525" marR="9525" marT="9525" marB="0" anchor="ctr"/>
                </a:tc>
                <a:tc>
                  <a:txBody>
                    <a:bodyPr/>
                    <a:lstStyle/>
                    <a:p>
                      <a:pPr algn="r">
                        <a:buNone/>
                      </a:pPr>
                      <a:r>
                        <a:rPr sz="1100" b="0" i="0" u="none">
                          <a:solidFill>
                            <a:srgbClr val="000000"/>
                          </a:solidFill>
                          <a:latin typeface="Calibri"/>
                          <a:ea typeface="Calibri"/>
                          <a:cs typeface="Calibri"/>
                        </a:rPr>
                        <a:t>22.200</a:t>
                      </a:r>
                    </a:p>
                  </a:txBody>
                  <a:tcPr marL="9525" marR="9525" marT="9525" marB="0" anchor="ctr"/>
                </a:tc>
                <a:tc>
                  <a:txBody>
                    <a:bodyPr/>
                    <a:lstStyle/>
                    <a:p>
                      <a:pPr algn="r">
                        <a:buNone/>
                      </a:pPr>
                      <a:r>
                        <a:rPr sz="1100" b="0" i="0" u="none">
                          <a:solidFill>
                            <a:srgbClr val="000000"/>
                          </a:solidFill>
                          <a:latin typeface="Calibri"/>
                          <a:ea typeface="Calibri"/>
                          <a:cs typeface="Calibri"/>
                        </a:rPr>
                        <a:t>32.946.787.000</a:t>
                      </a:r>
                    </a:p>
                  </a:txBody>
                  <a:tcPr marL="9525" marR="9525" marT="9525" marB="0" anchor="ctr"/>
                </a:tc>
                <a:tc>
                  <a:txBody>
                    <a:bodyPr/>
                    <a:lstStyle/>
                    <a:p>
                      <a:pPr algn="r">
                        <a:buNone/>
                      </a:pPr>
                      <a:r>
                        <a:rPr sz="1100" b="0" i="0" u="none">
                          <a:solidFill>
                            <a:srgbClr val="000000"/>
                          </a:solidFill>
                          <a:latin typeface="Calibri"/>
                          <a:ea typeface="Calibri"/>
                          <a:cs typeface="Calibri"/>
                        </a:rPr>
                        <a:t>6,39%</a:t>
                      </a:r>
                    </a:p>
                  </a:txBody>
                  <a:tcPr marL="9525" marR="9525" marT="9525" marB="0" anchor="ctr"/>
                </a:tc>
              </a:tr>
              <a:tr h="192467">
                <a:tc>
                  <a:txBody>
                    <a:bodyPr/>
                    <a:lstStyle/>
                    <a:p>
                      <a:pPr algn="l">
                        <a:buNone/>
                      </a:pPr>
                      <a:r>
                        <a:rPr sz="1100" b="0" i="0" u="none">
                          <a:solidFill>
                            <a:srgbClr val="000000"/>
                          </a:solidFill>
                          <a:latin typeface="Calibri"/>
                          <a:ea typeface="Calibri"/>
                          <a:cs typeface="Calibri"/>
                        </a:rPr>
                        <a:t>FUEMAV30</a:t>
                      </a:r>
                    </a:p>
                  </a:txBody>
                  <a:tcPr marL="9525" marR="9525" marT="9525" marB="0" anchor="ctr"/>
                </a:tc>
                <a:tc>
                  <a:txBody>
                    <a:bodyPr/>
                    <a:lstStyle/>
                    <a:p>
                      <a:pPr algn="r">
                        <a:buNone/>
                      </a:pPr>
                      <a:r>
                        <a:rPr sz="1100" b="0" i="0" u="none">
                          <a:solidFill>
                            <a:srgbClr val="000000"/>
                          </a:solidFill>
                          <a:latin typeface="Calibri"/>
                          <a:ea typeface="Calibri"/>
                          <a:cs typeface="Calibri"/>
                        </a:rPr>
                        <a:t>23.190</a:t>
                      </a:r>
                    </a:p>
                  </a:txBody>
                  <a:tcPr marL="9525" marR="9525" marT="9525" marB="0" anchor="ctr"/>
                </a:tc>
                <a:tc>
                  <a:txBody>
                    <a:bodyPr/>
                    <a:lstStyle/>
                    <a:p>
                      <a:pPr algn="r">
                        <a:buNone/>
                      </a:pPr>
                      <a:r>
                        <a:rPr sz="1100" b="0" i="0" u="none">
                          <a:solidFill>
                            <a:srgbClr val="000000"/>
                          </a:solidFill>
                          <a:latin typeface="Calibri"/>
                          <a:ea typeface="Calibri"/>
                          <a:cs typeface="Calibri"/>
                        </a:rPr>
                        <a:t>27.172.518.000</a:t>
                      </a:r>
                    </a:p>
                  </a:txBody>
                  <a:tcPr marL="9525" marR="9525" marT="9525" marB="0" anchor="ctr"/>
                </a:tc>
                <a:tc>
                  <a:txBody>
                    <a:bodyPr/>
                    <a:lstStyle/>
                    <a:p>
                      <a:pPr algn="r">
                        <a:buNone/>
                      </a:pPr>
                      <a:r>
                        <a:rPr sz="1100" b="0" i="0" u="none">
                          <a:solidFill>
                            <a:srgbClr val="000000"/>
                          </a:solidFill>
                          <a:latin typeface="Calibri"/>
                          <a:ea typeface="Calibri"/>
                          <a:cs typeface="Calibri"/>
                        </a:rPr>
                        <a:t>49,98%</a:t>
                      </a:r>
                    </a:p>
                  </a:txBody>
                  <a:tcPr marL="9525" marR="9525" marT="9525" marB="0" anchor="ctr"/>
                </a:tc>
              </a:tr>
              <a:tr h="192467">
                <a:tc>
                  <a:txBody>
                    <a:bodyPr/>
                    <a:lstStyle/>
                    <a:p>
                      <a:pPr algn="l">
                        <a:buNone/>
                      </a:pPr>
                      <a:r>
                        <a:rPr sz="1100" b="0" i="0" u="none">
                          <a:solidFill>
                            <a:srgbClr val="000000"/>
                          </a:solidFill>
                          <a:latin typeface="Calibri"/>
                          <a:ea typeface="Calibri"/>
                          <a:cs typeface="Calibri"/>
                        </a:rPr>
                        <a:t>HPG</a:t>
                      </a:r>
                    </a:p>
                  </a:txBody>
                  <a:tcPr marL="9525" marR="9525" marT="9525" marB="0" anchor="ctr"/>
                </a:tc>
                <a:tc>
                  <a:txBody>
                    <a:bodyPr/>
                    <a:lstStyle/>
                    <a:p>
                      <a:pPr algn="r">
                        <a:buNone/>
                      </a:pPr>
                      <a:r>
                        <a:rPr sz="1100" b="0" i="0" u="none">
                          <a:solidFill>
                            <a:srgbClr val="000000"/>
                          </a:solidFill>
                          <a:latin typeface="Calibri"/>
                          <a:ea typeface="Calibri"/>
                          <a:cs typeface="Calibri"/>
                        </a:rPr>
                        <a:t>21.700</a:t>
                      </a:r>
                    </a:p>
                  </a:txBody>
                  <a:tcPr marL="9525" marR="9525" marT="9525" marB="0" anchor="ctr"/>
                </a:tc>
                <a:tc>
                  <a:txBody>
                    <a:bodyPr/>
                    <a:lstStyle/>
                    <a:p>
                      <a:pPr algn="r">
                        <a:buNone/>
                      </a:pPr>
                      <a:r>
                        <a:rPr sz="1100" b="0" i="0" u="none">
                          <a:solidFill>
                            <a:srgbClr val="000000"/>
                          </a:solidFill>
                          <a:latin typeface="Calibri"/>
                          <a:ea typeface="Calibri"/>
                          <a:cs typeface="Calibri"/>
                        </a:rPr>
                        <a:t>21.850.054.000</a:t>
                      </a:r>
                    </a:p>
                  </a:txBody>
                  <a:tcPr marL="9525" marR="9525" marT="9525" marB="0" anchor="ctr"/>
                </a:tc>
                <a:tc>
                  <a:txBody>
                    <a:bodyPr/>
                    <a:lstStyle/>
                    <a:p>
                      <a:pPr algn="r">
                        <a:buNone/>
                      </a:pPr>
                      <a:r>
                        <a:rPr sz="1100" b="0" i="0" u="none">
                          <a:solidFill>
                            <a:srgbClr val="000000"/>
                          </a:solidFill>
                          <a:latin typeface="Calibri"/>
                          <a:ea typeface="Calibri"/>
                          <a:cs typeface="Calibri"/>
                        </a:rPr>
                        <a:t>15,60%</a:t>
                      </a:r>
                    </a:p>
                  </a:txBody>
                  <a:tcPr marL="9525" marR="9525" marT="9525" marB="0" anchor="ctr"/>
                </a:tc>
              </a:tr>
              <a:tr h="192467">
                <a:tc>
                  <a:txBody>
                    <a:bodyPr/>
                    <a:lstStyle/>
                    <a:p>
                      <a:pPr algn="l">
                        <a:buNone/>
                      </a:pPr>
                      <a:r>
                        <a:rPr sz="1100" b="0" i="0" u="none">
                          <a:solidFill>
                            <a:srgbClr val="000000"/>
                          </a:solidFill>
                          <a:latin typeface="Calibri"/>
                          <a:ea typeface="Calibri"/>
                          <a:cs typeface="Calibri"/>
                        </a:rPr>
                        <a:t>TCX</a:t>
                      </a:r>
                    </a:p>
                  </a:txBody>
                  <a:tcPr marL="9525" marR="9525" marT="9525" marB="0" anchor="ctr"/>
                </a:tc>
                <a:tc>
                  <a:txBody>
                    <a:bodyPr/>
                    <a:lstStyle/>
                    <a:p>
                      <a:pPr algn="r">
                        <a:buNone/>
                      </a:pPr>
                      <a:r>
                        <a:rPr sz="1100" b="0" i="0" u="none">
                          <a:solidFill>
                            <a:srgbClr val="000000"/>
                          </a:solidFill>
                          <a:latin typeface="Calibri"/>
                          <a:ea typeface="Calibri"/>
                          <a:cs typeface="Calibri"/>
                        </a:rPr>
                        <a:t>41.000</a:t>
                      </a:r>
                    </a:p>
                  </a:txBody>
                  <a:tcPr marL="9525" marR="9525" marT="9525" marB="0" anchor="ctr"/>
                </a:tc>
                <a:tc>
                  <a:txBody>
                    <a:bodyPr/>
                    <a:lstStyle/>
                    <a:p>
                      <a:pPr algn="r">
                        <a:buNone/>
                      </a:pPr>
                      <a:r>
                        <a:rPr sz="1100" b="0" i="0" u="none">
                          <a:solidFill>
                            <a:srgbClr val="000000"/>
                          </a:solidFill>
                          <a:latin typeface="Calibri"/>
                          <a:ea typeface="Calibri"/>
                          <a:cs typeface="Calibri"/>
                        </a:rPr>
                        <a:t>19.679.225.000</a:t>
                      </a:r>
                    </a:p>
                  </a:txBody>
                  <a:tcPr marL="9525" marR="9525" marT="9525" marB="0" anchor="ctr"/>
                </a:tc>
                <a:tc>
                  <a:txBody>
                    <a:bodyPr/>
                    <a:lstStyle/>
                    <a:p>
                      <a:pPr algn="r">
                        <a:buNone/>
                      </a:pPr>
                      <a:r>
                        <a:rPr sz="1100" b="0" i="0" u="none">
                          <a:solidFill>
                            <a:srgbClr val="000000"/>
                          </a:solidFill>
                          <a:latin typeface="Calibri"/>
                          <a:ea typeface="Calibri"/>
                          <a:cs typeface="Calibri"/>
                        </a:rPr>
                        <a:t>3,74%</a:t>
                      </a:r>
                    </a:p>
                  </a:txBody>
                  <a:tcPr marL="9525" marR="9525" marT="9525" marB="0" anchor="ctr"/>
                </a:tc>
              </a:tr>
            </a:tbl>
          </a:graphicData>
        </a:graphic>
      </p:graphicFrame>
      <p:graphicFrame>
        <p:nvGraphicFramePr>
          <p:cNvPr id="31" name="Table 24"/>
          <p:cNvGraphicFramePr/>
          <p:nvPr/>
        </p:nvGraphicFramePr>
        <p:xfrm>
          <a:off xmlns:a="http://schemas.openxmlformats.org/drawingml/2006/main" x="6096000" y="4625975"/>
          <a:ext xmlns:a="http://schemas.openxmlformats.org/drawingml/2006/main" cx="4729594" cy="2095500"/>
        </p:xfrm>
        <a:graphic xmlns:a="http://schemas.openxmlformats.org/drawingml/2006/main">
          <a:graphicData uri="http://schemas.openxmlformats.org/drawingml/2006/table">
            <a:tbl>
              <a:tblPr firstRow="1" bandRow="1">
                <a:tableStyleId>{B301B821-A1FF-4177-AEE7-76D212191A09}</a:tableStyleId>
              </a:tblPr>
              <a:tblGrid>
                <a:gridCol w="791322"/>
                <a:gridCol w="968188"/>
                <a:gridCol w="1457302"/>
                <a:gridCol w="1512782"/>
              </a:tblGrid>
              <a:tr h="190500">
                <a:tc>
                  <a:txBody>
                    <a:bodyPr/>
                    <a:lstStyle/>
                    <a:p>
                      <a:pPr algn="l">
                        <a:buNone/>
                      </a:pPr>
                      <a:r>
                        <a:rPr sz="1000" b="1" u="none">
                          <a:solidFill>
                            <a:srgbClr val="FFFFFF"/>
                          </a:solidFill>
                        </a:rPr>
                        <a:t>Mã</a:t>
                      </a:r>
                    </a:p>
                  </a:txBody>
                  <a:tcPr marL="9525" marR="9525" marT="9525" marB="0" anchor="ctr"/>
                </a:tc>
                <a:tc>
                  <a:txBody>
                    <a:bodyPr/>
                    <a:lstStyle/>
                    <a:p>
                      <a:pPr algn="r">
                        <a:buNone/>
                      </a:pPr>
                      <a:r>
                        <a:rPr sz="1000" b="1" u="none">
                          <a:solidFill>
                            <a:srgbClr val="FFFFFF"/>
                          </a:solidFill>
                        </a:rPr>
                        <a:t>Giá</a:t>
                      </a:r>
                    </a:p>
                  </a:txBody>
                  <a:tcPr marL="9525" marR="9525" marT="9525" marB="0" anchor="ctr"/>
                </a:tc>
                <a:tc>
                  <a:txBody>
                    <a:bodyPr/>
                    <a:lstStyle/>
                    <a:p>
                      <a:pPr algn="r">
                        <a:buNone/>
                      </a:pPr>
                      <a:r>
                        <a:rPr sz="1000" b="1" i="0" u="none">
                          <a:solidFill>
                            <a:srgbClr val="FFFFFF"/>
                          </a:solidFill>
                          <a:latin typeface="Calibri"/>
                          <a:ea typeface="Calibri"/>
                          <a:cs typeface="Calibri"/>
                        </a:rPr>
                        <a:t>Mua </a:t>
                      </a:r>
                      <a:r>
                        <a:rPr sz="1000" b="1" i="0" u="none">
                          <a:solidFill>
                            <a:srgbClr val="FFFFFF"/>
                          </a:solidFill>
                          <a:latin typeface="Calibri"/>
                          <a:ea typeface="Calibri"/>
                          <a:cs typeface="Calibri"/>
                        </a:rPr>
                        <a:t>ròng</a:t>
                      </a:r>
                      <a:r>
                        <a:rPr sz="1000" b="1" i="0" u="none">
                          <a:solidFill>
                            <a:srgbClr val="FFFFFF"/>
                          </a:solidFill>
                          <a:latin typeface="Calibri"/>
                          <a:ea typeface="Calibri"/>
                          <a:cs typeface="Calibri"/>
                        </a:rPr>
                        <a:t> (GT)</a:t>
                      </a:r>
                    </a:p>
                  </a:txBody>
                  <a:tcPr marL="9525" marR="9525" marT="9525" marB="0" anchor="ctr"/>
                </a:tc>
                <a:tc>
                  <a:txBody>
                    <a:bodyPr/>
                    <a:lstStyle/>
                    <a:p>
                      <a:pPr algn="r">
                        <a:buNone/>
                      </a:pPr>
                      <a:r>
                        <a:rPr sz="1000" b="1" u="none">
                          <a:solidFill>
                            <a:srgbClr val="FFFFFF"/>
                          </a:solidFill>
                        </a:rPr>
                        <a:t>% NN </a:t>
                      </a:r>
                      <a:r>
                        <a:rPr sz="1000" b="1" u="none">
                          <a:solidFill>
                            <a:srgbClr val="FFFFFF"/>
                          </a:solidFill>
                        </a:rPr>
                        <a:t>Sở</a:t>
                      </a:r>
                      <a:r>
                        <a:rPr sz="1000" b="1" u="none">
                          <a:solidFill>
                            <a:srgbClr val="FFFFFF"/>
                          </a:solidFill>
                        </a:rPr>
                        <a:t> </a:t>
                      </a:r>
                      <a:r>
                        <a:rPr sz="1000" b="1" u="none">
                          <a:solidFill>
                            <a:srgbClr val="FFFFFF"/>
                          </a:solidFill>
                        </a:rPr>
                        <a:t>hữu</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VIC</a:t>
                      </a:r>
                    </a:p>
                  </a:txBody>
                  <a:tcPr marL="9525" marR="9525" marT="9525" marB="0" anchor="ctr"/>
                </a:tc>
                <a:tc>
                  <a:txBody>
                    <a:bodyPr/>
                    <a:lstStyle/>
                    <a:p>
                      <a:pPr algn="r">
                        <a:buNone/>
                      </a:pPr>
                      <a:r>
                        <a:rPr sz="1100" b="0" i="0" u="none">
                          <a:solidFill>
                            <a:srgbClr val="000000"/>
                          </a:solidFill>
                          <a:latin typeface="Calibri"/>
                          <a:ea typeface="Calibri"/>
                          <a:cs typeface="Calibri"/>
                        </a:rPr>
                        <a:t>214.100</a:t>
                      </a:r>
                    </a:p>
                  </a:txBody>
                  <a:tcPr marL="9525" marR="9525" marT="9525" marB="0" anchor="ctr"/>
                </a:tc>
                <a:tc>
                  <a:txBody>
                    <a:bodyPr/>
                    <a:lstStyle/>
                    <a:p>
                      <a:pPr algn="r">
                        <a:buNone/>
                      </a:pPr>
                      <a:r>
                        <a:rPr sz="1100" b="0" i="0" u="none">
                          <a:solidFill>
                            <a:srgbClr val="000000"/>
                          </a:solidFill>
                          <a:latin typeface="Calibri"/>
                          <a:ea typeface="Calibri"/>
                          <a:cs typeface="Calibri"/>
                        </a:rPr>
                        <a:t>453.206.561.200</a:t>
                      </a:r>
                    </a:p>
                  </a:txBody>
                  <a:tcPr marL="9525" marR="9525" marT="9525" marB="0" anchor="ctr"/>
                </a:tc>
                <a:tc>
                  <a:txBody>
                    <a:bodyPr/>
                    <a:lstStyle/>
                    <a:p>
                      <a:pPr algn="r">
                        <a:buNone/>
                      </a:pPr>
                      <a:r>
                        <a:rPr sz="1100" b="0" i="0" u="none">
                          <a:solidFill>
                            <a:srgbClr val="000000"/>
                          </a:solidFill>
                          <a:latin typeface="Calibri"/>
                          <a:ea typeface="Calibri"/>
                          <a:cs typeface="Calibri"/>
                        </a:rPr>
                        <a:t>3,16%</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VNM</a:t>
                      </a:r>
                    </a:p>
                  </a:txBody>
                  <a:tcPr marL="9525" marR="9525" marT="9525" marB="0" anchor="ctr"/>
                </a:tc>
                <a:tc>
                  <a:txBody>
                    <a:bodyPr/>
                    <a:lstStyle/>
                    <a:p>
                      <a:pPr algn="r">
                        <a:buNone/>
                      </a:pPr>
                      <a:r>
                        <a:rPr sz="1100" b="0" i="0" u="none">
                          <a:solidFill>
                            <a:srgbClr val="000000"/>
                          </a:solidFill>
                          <a:latin typeface="Calibri"/>
                          <a:ea typeface="Calibri"/>
                          <a:cs typeface="Calibri"/>
                        </a:rPr>
                        <a:t>60.900</a:t>
                      </a:r>
                    </a:p>
                  </a:txBody>
                  <a:tcPr marL="9525" marR="9525" marT="9525" marB="0" anchor="ctr"/>
                </a:tc>
                <a:tc>
                  <a:txBody>
                    <a:bodyPr/>
                    <a:lstStyle/>
                    <a:p>
                      <a:pPr algn="r">
                        <a:buNone/>
                      </a:pPr>
                      <a:r>
                        <a:rPr sz="1100" b="0" i="0" u="none">
                          <a:solidFill>
                            <a:srgbClr val="000000"/>
                          </a:solidFill>
                          <a:latin typeface="Calibri"/>
                          <a:ea typeface="Calibri"/>
                          <a:cs typeface="Calibri"/>
                        </a:rPr>
                        <a:t>360.929.511.400</a:t>
                      </a:r>
                    </a:p>
                  </a:txBody>
                  <a:tcPr marL="9525" marR="9525" marT="9525" marB="0" anchor="ctr"/>
                </a:tc>
                <a:tc>
                  <a:txBody>
                    <a:bodyPr/>
                    <a:lstStyle/>
                    <a:p>
                      <a:pPr algn="r">
                        <a:buNone/>
                      </a:pPr>
                      <a:r>
                        <a:rPr sz="1100" b="0" i="0" u="none">
                          <a:solidFill>
                            <a:srgbClr val="000000"/>
                          </a:solidFill>
                          <a:latin typeface="Calibri"/>
                          <a:ea typeface="Calibri"/>
                          <a:cs typeface="Calibri"/>
                        </a:rPr>
                        <a:t>49,48%</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HPG</a:t>
                      </a:r>
                    </a:p>
                  </a:txBody>
                  <a:tcPr marL="9525" marR="9525" marT="9525" marB="0" anchor="ctr"/>
                </a:tc>
                <a:tc>
                  <a:txBody>
                    <a:bodyPr/>
                    <a:lstStyle/>
                    <a:p>
                      <a:pPr algn="r">
                        <a:buNone/>
                      </a:pPr>
                      <a:r>
                        <a:rPr sz="1100" b="0" i="0" u="none">
                          <a:solidFill>
                            <a:srgbClr val="000000"/>
                          </a:solidFill>
                          <a:latin typeface="Calibri"/>
                          <a:ea typeface="Calibri"/>
                          <a:cs typeface="Calibri"/>
                        </a:rPr>
                        <a:t>21.700</a:t>
                      </a:r>
                    </a:p>
                  </a:txBody>
                  <a:tcPr marL="9525" marR="9525" marT="9525" marB="0" anchor="ctr"/>
                </a:tc>
                <a:tc>
                  <a:txBody>
                    <a:bodyPr/>
                    <a:lstStyle/>
                    <a:p>
                      <a:pPr algn="r">
                        <a:buNone/>
                      </a:pPr>
                      <a:r>
                        <a:rPr sz="1100" b="0" i="0" u="none">
                          <a:solidFill>
                            <a:srgbClr val="000000"/>
                          </a:solidFill>
                          <a:latin typeface="Calibri"/>
                          <a:ea typeface="Calibri"/>
                          <a:cs typeface="Calibri"/>
                        </a:rPr>
                        <a:t>334.575.454.150</a:t>
                      </a:r>
                    </a:p>
                  </a:txBody>
                  <a:tcPr marL="9525" marR="9525" marT="9525" marB="0" anchor="ctr"/>
                </a:tc>
                <a:tc>
                  <a:txBody>
                    <a:bodyPr/>
                    <a:lstStyle/>
                    <a:p>
                      <a:pPr algn="r">
                        <a:buNone/>
                      </a:pPr>
                      <a:r>
                        <a:rPr sz="1100" b="0" i="0" u="none">
                          <a:solidFill>
                            <a:srgbClr val="000000"/>
                          </a:solidFill>
                          <a:latin typeface="Calibri"/>
                          <a:ea typeface="Calibri"/>
                          <a:cs typeface="Calibri"/>
                        </a:rPr>
                        <a:t>21,55%</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FPT</a:t>
                      </a:r>
                    </a:p>
                  </a:txBody>
                  <a:tcPr marL="9525" marR="9525" marT="9525" marB="0" anchor="ctr"/>
                </a:tc>
                <a:tc>
                  <a:txBody>
                    <a:bodyPr/>
                    <a:lstStyle/>
                    <a:p>
                      <a:pPr algn="r">
                        <a:buNone/>
                      </a:pPr>
                      <a:r>
                        <a:rPr sz="1100" b="0" i="0" u="none">
                          <a:solidFill>
                            <a:srgbClr val="000000"/>
                          </a:solidFill>
                          <a:latin typeface="Calibri"/>
                          <a:ea typeface="Calibri"/>
                          <a:cs typeface="Calibri"/>
                        </a:rPr>
                        <a:t>67.100</a:t>
                      </a:r>
                    </a:p>
                  </a:txBody>
                  <a:tcPr marL="9525" marR="9525" marT="9525" marB="0" anchor="ctr"/>
                </a:tc>
                <a:tc>
                  <a:txBody>
                    <a:bodyPr/>
                    <a:lstStyle/>
                    <a:p>
                      <a:pPr algn="r">
                        <a:buNone/>
                      </a:pPr>
                      <a:r>
                        <a:rPr sz="1100" b="0" i="0" u="none">
                          <a:solidFill>
                            <a:srgbClr val="000000"/>
                          </a:solidFill>
                          <a:latin typeface="Calibri"/>
                          <a:ea typeface="Calibri"/>
                          <a:cs typeface="Calibri"/>
                        </a:rPr>
                        <a:t>308.275.896.900</a:t>
                      </a:r>
                    </a:p>
                  </a:txBody>
                  <a:tcPr marL="9525" marR="9525" marT="9525" marB="0" anchor="ctr"/>
                </a:tc>
                <a:tc>
                  <a:txBody>
                    <a:bodyPr/>
                    <a:lstStyle/>
                    <a:p>
                      <a:pPr algn="r">
                        <a:buNone/>
                      </a:pPr>
                      <a:r>
                        <a:rPr sz="1100" b="0" i="0" u="none">
                          <a:solidFill>
                            <a:srgbClr val="000000"/>
                          </a:solidFill>
                          <a:latin typeface="Calibri"/>
                          <a:ea typeface="Calibri"/>
                          <a:cs typeface="Calibri"/>
                        </a:rPr>
                        <a:t>27,06%</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VCB</a:t>
                      </a:r>
                    </a:p>
                  </a:txBody>
                  <a:tcPr marL="9525" marR="9525" marT="9525" marB="0" anchor="ctr"/>
                </a:tc>
                <a:tc>
                  <a:txBody>
                    <a:bodyPr/>
                    <a:lstStyle/>
                    <a:p>
                      <a:pPr algn="r">
                        <a:buNone/>
                      </a:pPr>
                      <a:r>
                        <a:rPr sz="1100" b="0" i="0" u="none">
                          <a:solidFill>
                            <a:srgbClr val="000000"/>
                          </a:solidFill>
                          <a:latin typeface="Calibri"/>
                          <a:ea typeface="Calibri"/>
                          <a:cs typeface="Calibri"/>
                        </a:rPr>
                        <a:t>59.300</a:t>
                      </a:r>
                    </a:p>
                  </a:txBody>
                  <a:tcPr marL="9525" marR="9525" marT="9525" marB="0" anchor="ctr"/>
                </a:tc>
                <a:tc>
                  <a:txBody>
                    <a:bodyPr/>
                    <a:lstStyle/>
                    <a:p>
                      <a:pPr algn="r">
                        <a:buNone/>
                      </a:pPr>
                      <a:r>
                        <a:rPr sz="1100" b="0" i="0" u="none">
                          <a:solidFill>
                            <a:srgbClr val="000000"/>
                          </a:solidFill>
                          <a:latin typeface="Calibri"/>
                          <a:ea typeface="Calibri"/>
                          <a:cs typeface="Calibri"/>
                        </a:rPr>
                        <a:t>262.715.524.800</a:t>
                      </a:r>
                    </a:p>
                  </a:txBody>
                  <a:tcPr marL="9525" marR="9525" marT="9525" marB="0" anchor="ctr"/>
                </a:tc>
                <a:tc>
                  <a:txBody>
                    <a:bodyPr/>
                    <a:lstStyle/>
                    <a:p>
                      <a:pPr algn="r">
                        <a:buNone/>
                      </a:pPr>
                      <a:r>
                        <a:rPr sz="1100" b="0" i="0" u="none">
                          <a:solidFill>
                            <a:srgbClr val="000000"/>
                          </a:solidFill>
                          <a:latin typeface="Calibri"/>
                          <a:ea typeface="Calibri"/>
                          <a:cs typeface="Calibri"/>
                        </a:rPr>
                        <a:t>20,06%</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MSN</a:t>
                      </a:r>
                    </a:p>
                  </a:txBody>
                  <a:tcPr marL="9525" marR="9525" marT="9525" marB="0" anchor="ctr"/>
                </a:tc>
                <a:tc>
                  <a:txBody>
                    <a:bodyPr/>
                    <a:lstStyle/>
                    <a:p>
                      <a:pPr algn="r">
                        <a:buNone/>
                      </a:pPr>
                      <a:r>
                        <a:rPr sz="1100" b="0" i="0" u="none">
                          <a:solidFill>
                            <a:srgbClr val="000000"/>
                          </a:solidFill>
                          <a:latin typeface="Calibri"/>
                          <a:ea typeface="Calibri"/>
                          <a:cs typeface="Calibri"/>
                        </a:rPr>
                        <a:t>66.100</a:t>
                      </a:r>
                    </a:p>
                  </a:txBody>
                  <a:tcPr marL="9525" marR="9525" marT="9525" marB="0" anchor="ctr"/>
                </a:tc>
                <a:tc>
                  <a:txBody>
                    <a:bodyPr/>
                    <a:lstStyle/>
                    <a:p>
                      <a:pPr algn="r">
                        <a:buNone/>
                      </a:pPr>
                      <a:r>
                        <a:rPr sz="1100" b="0" i="0" u="none">
                          <a:solidFill>
                            <a:srgbClr val="000000"/>
                          </a:solidFill>
                          <a:latin typeface="Calibri"/>
                          <a:ea typeface="Calibri"/>
                          <a:cs typeface="Calibri"/>
                        </a:rPr>
                        <a:t>253.465.305.100</a:t>
                      </a:r>
                    </a:p>
                  </a:txBody>
                  <a:tcPr marL="9525" marR="9525" marT="9525" marB="0" anchor="ctr"/>
                </a:tc>
                <a:tc>
                  <a:txBody>
                    <a:bodyPr/>
                    <a:lstStyle/>
                    <a:p>
                      <a:pPr algn="r">
                        <a:buNone/>
                      </a:pPr>
                      <a:r>
                        <a:rPr sz="1100" b="0" i="0" u="none">
                          <a:solidFill>
                            <a:srgbClr val="000000"/>
                          </a:solidFill>
                          <a:latin typeface="Calibri"/>
                          <a:ea typeface="Calibri"/>
                          <a:cs typeface="Calibri"/>
                        </a:rPr>
                        <a:t>24,10%</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PNJ</a:t>
                      </a:r>
                    </a:p>
                  </a:txBody>
                  <a:tcPr marL="9525" marR="9525" marT="9525" marB="0" anchor="ctr"/>
                </a:tc>
                <a:tc>
                  <a:txBody>
                    <a:bodyPr/>
                    <a:lstStyle/>
                    <a:p>
                      <a:pPr algn="r">
                        <a:buNone/>
                      </a:pPr>
                      <a:r>
                        <a:rPr sz="1100" b="0" i="0" u="none">
                          <a:solidFill>
                            <a:srgbClr val="000000"/>
                          </a:solidFill>
                          <a:latin typeface="Calibri"/>
                          <a:ea typeface="Calibri"/>
                          <a:cs typeface="Calibri"/>
                        </a:rPr>
                        <a:t>31.000</a:t>
                      </a:r>
                    </a:p>
                  </a:txBody>
                  <a:tcPr marL="9525" marR="9525" marT="9525" marB="0" anchor="ctr"/>
                </a:tc>
                <a:tc>
                  <a:txBody>
                    <a:bodyPr/>
                    <a:lstStyle/>
                    <a:p>
                      <a:pPr algn="r">
                        <a:buNone/>
                      </a:pPr>
                      <a:r>
                        <a:rPr sz="1100" b="0" i="0" u="none">
                          <a:solidFill>
                            <a:srgbClr val="000000"/>
                          </a:solidFill>
                          <a:latin typeface="Calibri"/>
                          <a:ea typeface="Calibri"/>
                          <a:cs typeface="Calibri"/>
                        </a:rPr>
                        <a:t>249.209.847.100</a:t>
                      </a:r>
                    </a:p>
                  </a:txBody>
                  <a:tcPr marL="9525" marR="9525" marT="9525" marB="0" anchor="ctr"/>
                </a:tc>
                <a:tc>
                  <a:txBody>
                    <a:bodyPr/>
                    <a:lstStyle/>
                    <a:p>
                      <a:pPr algn="r">
                        <a:buNone/>
                      </a:pPr>
                      <a:r>
                        <a:rPr sz="1100" b="0" i="0" u="none">
                          <a:solidFill>
                            <a:srgbClr val="000000"/>
                          </a:solidFill>
                          <a:latin typeface="Calibri"/>
                          <a:ea typeface="Calibri"/>
                          <a:cs typeface="Calibri"/>
                        </a:rPr>
                        <a:t>42,64%</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MCH</a:t>
                      </a:r>
                    </a:p>
                  </a:txBody>
                  <a:tcPr marL="9525" marR="9525" marT="9525" marB="0" anchor="ctr"/>
                </a:tc>
                <a:tc>
                  <a:txBody>
                    <a:bodyPr/>
                    <a:lstStyle/>
                    <a:p>
                      <a:pPr algn="r">
                        <a:buNone/>
                      </a:pPr>
                      <a:r>
                        <a:rPr sz="1100" b="0" i="0" u="none">
                          <a:solidFill>
                            <a:srgbClr val="000000"/>
                          </a:solidFill>
                          <a:latin typeface="Calibri"/>
                          <a:ea typeface="Calibri"/>
                          <a:cs typeface="Calibri"/>
                        </a:rPr>
                        <a:t>141.000</a:t>
                      </a:r>
                    </a:p>
                  </a:txBody>
                  <a:tcPr marL="9525" marR="9525" marT="9525" marB="0" anchor="ctr"/>
                </a:tc>
                <a:tc>
                  <a:txBody>
                    <a:bodyPr/>
                    <a:lstStyle/>
                    <a:p>
                      <a:pPr algn="r">
                        <a:buNone/>
                      </a:pPr>
                      <a:r>
                        <a:rPr sz="1100" b="0" i="0" u="none">
                          <a:solidFill>
                            <a:srgbClr val="000000"/>
                          </a:solidFill>
                          <a:latin typeface="Calibri"/>
                          <a:ea typeface="Calibri"/>
                          <a:cs typeface="Calibri"/>
                        </a:rPr>
                        <a:t>168.397.080.500</a:t>
                      </a:r>
                    </a:p>
                  </a:txBody>
                  <a:tcPr marL="9525" marR="9525" marT="9525" marB="0" anchor="ctr"/>
                </a:tc>
                <a:tc>
                  <a:txBody>
                    <a:bodyPr/>
                    <a:lstStyle/>
                    <a:p>
                      <a:pPr algn="r">
                        <a:buNone/>
                      </a:pPr>
                      <a:r>
                        <a:rPr sz="1100" b="0" i="0" u="none">
                          <a:solidFill>
                            <a:srgbClr val="000000"/>
                          </a:solidFill>
                          <a:latin typeface="Calibri"/>
                          <a:ea typeface="Calibri"/>
                          <a:cs typeface="Calibri"/>
                        </a:rPr>
                        <a:t>15,57%</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LPB</a:t>
                      </a:r>
                    </a:p>
                  </a:txBody>
                  <a:tcPr marL="9525" marR="9525" marT="9525" marB="0" anchor="ctr"/>
                </a:tc>
                <a:tc>
                  <a:txBody>
                    <a:bodyPr/>
                    <a:lstStyle/>
                    <a:p>
                      <a:pPr algn="r">
                        <a:buNone/>
                      </a:pPr>
                      <a:r>
                        <a:rPr sz="1100" b="0" i="0" u="none">
                          <a:solidFill>
                            <a:srgbClr val="000000"/>
                          </a:solidFill>
                          <a:latin typeface="Calibri"/>
                          <a:ea typeface="Calibri"/>
                          <a:cs typeface="Calibri"/>
                        </a:rPr>
                        <a:t>51.800</a:t>
                      </a:r>
                    </a:p>
                  </a:txBody>
                  <a:tcPr marL="9525" marR="9525" marT="9525" marB="0" anchor="ctr"/>
                </a:tc>
                <a:tc>
                  <a:txBody>
                    <a:bodyPr/>
                    <a:lstStyle/>
                    <a:p>
                      <a:pPr algn="r">
                        <a:buNone/>
                      </a:pPr>
                      <a:r>
                        <a:rPr sz="1100" b="0" i="0" u="none">
                          <a:solidFill>
                            <a:srgbClr val="000000"/>
                          </a:solidFill>
                          <a:latin typeface="Calibri"/>
                          <a:ea typeface="Calibri"/>
                          <a:cs typeface="Calibri"/>
                        </a:rPr>
                        <a:t>167.693.860.000</a:t>
                      </a:r>
                    </a:p>
                  </a:txBody>
                  <a:tcPr marL="9525" marR="9525" marT="9525" marB="0" anchor="ctr"/>
                </a:tc>
                <a:tc>
                  <a:txBody>
                    <a:bodyPr/>
                    <a:lstStyle/>
                    <a:p>
                      <a:pPr algn="r">
                        <a:buNone/>
                      </a:pPr>
                      <a:r>
                        <a:rPr sz="1100" b="0" i="0" u="none">
                          <a:solidFill>
                            <a:srgbClr val="000000"/>
                          </a:solidFill>
                          <a:latin typeface="Calibri"/>
                          <a:ea typeface="Calibri"/>
                          <a:cs typeface="Calibri"/>
                        </a:rPr>
                        <a:t>1,24%</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BSR</a:t>
                      </a:r>
                    </a:p>
                  </a:txBody>
                  <a:tcPr marL="9525" marR="9525" marT="9525" marB="0" anchor="ctr"/>
                </a:tc>
                <a:tc>
                  <a:txBody>
                    <a:bodyPr/>
                    <a:lstStyle/>
                    <a:p>
                      <a:pPr algn="r">
                        <a:buNone/>
                      </a:pPr>
                      <a:r>
                        <a:rPr sz="1100" b="0" i="0" u="none">
                          <a:solidFill>
                            <a:srgbClr val="000000"/>
                          </a:solidFill>
                          <a:latin typeface="Calibri"/>
                          <a:ea typeface="Calibri"/>
                          <a:cs typeface="Calibri"/>
                        </a:rPr>
                        <a:t>25.350</a:t>
                      </a:r>
                    </a:p>
                  </a:txBody>
                  <a:tcPr marL="9525" marR="9525" marT="9525" marB="0" anchor="ctr"/>
                </a:tc>
                <a:tc>
                  <a:txBody>
                    <a:bodyPr/>
                    <a:lstStyle/>
                    <a:p>
                      <a:pPr algn="r">
                        <a:buNone/>
                      </a:pPr>
                      <a:r>
                        <a:rPr sz="1100" b="0" i="0" u="none">
                          <a:solidFill>
                            <a:srgbClr val="000000"/>
                          </a:solidFill>
                          <a:latin typeface="Calibri"/>
                          <a:ea typeface="Calibri"/>
                          <a:cs typeface="Calibri"/>
                        </a:rPr>
                        <a:t>116.760.717.850</a:t>
                      </a:r>
                    </a:p>
                  </a:txBody>
                  <a:tcPr marL="9525" marR="9525" marT="9525" marB="0" anchor="ctr"/>
                </a:tc>
                <a:tc>
                  <a:txBody>
                    <a:bodyPr/>
                    <a:lstStyle/>
                    <a:p>
                      <a:pPr algn="r">
                        <a:buNone/>
                      </a:pPr>
                      <a:r>
                        <a:rPr sz="1100" b="0" i="0" u="none">
                          <a:solidFill>
                            <a:srgbClr val="000000"/>
                          </a:solidFill>
                          <a:latin typeface="Calibri"/>
                          <a:ea typeface="Calibri"/>
                          <a:cs typeface="Calibri"/>
                        </a:rPr>
                        <a:t>1,10%</a:t>
                      </a:r>
                    </a:p>
                  </a:txBody>
                  <a:tcPr marL="9525" marR="9525" marT="9525" marB="0" anchor="ctr"/>
                </a:tc>
              </a:tr>
            </a:tbl>
          </a:graphicData>
        </a:graphic>
      </p:graphicFrame>
      <p:graphicFrame>
        <p:nvGraphicFramePr>
          <p:cNvPr id="32" name="Table 25"/>
          <p:cNvGraphicFramePr/>
          <p:nvPr/>
        </p:nvGraphicFramePr>
        <p:xfrm>
          <a:off xmlns:a="http://schemas.openxmlformats.org/drawingml/2006/main" x="531172" y="4599948"/>
          <a:ext xmlns:a="http://schemas.openxmlformats.org/drawingml/2006/main" cx="4729594" cy="2121527"/>
        </p:xfrm>
        <a:graphic xmlns:a="http://schemas.openxmlformats.org/drawingml/2006/main">
          <a:graphicData uri="http://schemas.openxmlformats.org/drawingml/2006/table">
            <a:tbl>
              <a:tblPr firstRow="1" bandRow="1">
                <a:tableStyleId>{B301B821-A1FF-4177-AEE7-76D212191A09}</a:tableStyleId>
              </a:tblPr>
              <a:tblGrid>
                <a:gridCol w="851647"/>
                <a:gridCol w="968188"/>
                <a:gridCol w="1395083"/>
                <a:gridCol w="1514676"/>
              </a:tblGrid>
              <a:tr h="190500">
                <a:tc>
                  <a:txBody>
                    <a:bodyPr/>
                    <a:lstStyle/>
                    <a:p>
                      <a:pPr algn="l">
                        <a:buNone/>
                      </a:pPr>
                      <a:r>
                        <a:rPr sz="1000" b="1" u="none">
                          <a:solidFill>
                            <a:srgbClr val="FFFFFF"/>
                          </a:solidFill>
                        </a:rPr>
                        <a:t>Mã</a:t>
                      </a:r>
                    </a:p>
                  </a:txBody>
                  <a:tcPr marL="9525" marR="9525" marT="9525" marB="0" anchor="ctr"/>
                </a:tc>
                <a:tc>
                  <a:txBody>
                    <a:bodyPr/>
                    <a:lstStyle/>
                    <a:p>
                      <a:pPr algn="r">
                        <a:buNone/>
                      </a:pPr>
                      <a:r>
                        <a:rPr sz="1000" b="1" u="none">
                          <a:solidFill>
                            <a:srgbClr val="FFFFFF"/>
                          </a:solidFill>
                        </a:rPr>
                        <a:t>Giá</a:t>
                      </a:r>
                    </a:p>
                  </a:txBody>
                  <a:tcPr marL="9525" marR="9525" marT="9525" marB="0" anchor="ctr"/>
                </a:tc>
                <a:tc>
                  <a:txBody>
                    <a:bodyPr/>
                    <a:lstStyle/>
                    <a:p>
                      <a:pPr algn="r">
                        <a:buNone/>
                      </a:pPr>
                      <a:r>
                        <a:rPr sz="1000" b="1" u="none">
                          <a:solidFill>
                            <a:srgbClr val="FFFFFF"/>
                          </a:solidFill>
                        </a:rPr>
                        <a:t>Bán </a:t>
                      </a:r>
                      <a:r>
                        <a:rPr sz="1000" b="1" u="none">
                          <a:solidFill>
                            <a:srgbClr val="FFFFFF"/>
                          </a:solidFill>
                        </a:rPr>
                        <a:t>ròng</a:t>
                      </a:r>
                      <a:r>
                        <a:rPr sz="1000" b="1" u="none">
                          <a:solidFill>
                            <a:srgbClr val="FFFFFF"/>
                          </a:solidFill>
                        </a:rPr>
                        <a:t> (GT)</a:t>
                      </a:r>
                    </a:p>
                  </a:txBody>
                  <a:tcPr marL="9525" marR="9525" marT="9525" marB="0" anchor="ctr"/>
                </a:tc>
                <a:tc>
                  <a:txBody>
                    <a:bodyPr/>
                    <a:lstStyle/>
                    <a:p>
                      <a:pPr algn="r">
                        <a:buNone/>
                      </a:pPr>
                      <a:r>
                        <a:rPr sz="1000" b="1" u="none">
                          <a:solidFill>
                            <a:srgbClr val="FFFFFF"/>
                          </a:solidFill>
                        </a:rPr>
                        <a:t>% NN </a:t>
                      </a:r>
                      <a:r>
                        <a:rPr sz="1000" b="1" u="none">
                          <a:solidFill>
                            <a:srgbClr val="FFFFFF"/>
                          </a:solidFill>
                        </a:rPr>
                        <a:t>Sở</a:t>
                      </a:r>
                      <a:r>
                        <a:rPr sz="1000" b="1" u="none">
                          <a:solidFill>
                            <a:srgbClr val="FFFFFF"/>
                          </a:solidFill>
                        </a:rPr>
                        <a:t> </a:t>
                      </a:r>
                      <a:r>
                        <a:rPr sz="1000" b="1" u="none">
                          <a:solidFill>
                            <a:srgbClr val="FFFFFF"/>
                          </a:solidFill>
                        </a:rPr>
                        <a:t>hữu</a:t>
                      </a:r>
                    </a:p>
                  </a:txBody>
                  <a:tcPr marL="9525" marR="9525" marT="9525" marB="0" anchor="ctr"/>
                </a:tc>
              </a:tr>
              <a:tr h="216527">
                <a:tc>
                  <a:txBody>
                    <a:bodyPr/>
                    <a:lstStyle/>
                    <a:p>
                      <a:pPr algn="l">
                        <a:buNone/>
                      </a:pPr>
                      <a:r>
                        <a:rPr sz="1100" b="0" i="0" u="none">
                          <a:solidFill>
                            <a:srgbClr val="000000"/>
                          </a:solidFill>
                          <a:latin typeface="Calibri"/>
                          <a:ea typeface="Calibri"/>
                          <a:cs typeface="Calibri"/>
                        </a:rPr>
                        <a:t>VHM</a:t>
                      </a:r>
                    </a:p>
                  </a:txBody>
                  <a:tcPr marL="9525" marR="9525" marT="9525" marB="0" anchor="ctr"/>
                </a:tc>
                <a:tc>
                  <a:txBody>
                    <a:bodyPr/>
                    <a:lstStyle/>
                    <a:p>
                      <a:pPr algn="r">
                        <a:buNone/>
                      </a:pPr>
                      <a:r>
                        <a:rPr sz="1100" b="0" i="0" u="none">
                          <a:solidFill>
                            <a:srgbClr val="000000"/>
                          </a:solidFill>
                          <a:latin typeface="Calibri"/>
                          <a:ea typeface="Calibri"/>
                          <a:cs typeface="Calibri"/>
                        </a:rPr>
                        <a:t>148.100</a:t>
                      </a:r>
                    </a:p>
                  </a:txBody>
                  <a:tcPr marL="9525" marR="9525" marT="9525" marB="0" anchor="ctr"/>
                </a:tc>
                <a:tc>
                  <a:txBody>
                    <a:bodyPr/>
                    <a:lstStyle/>
                    <a:p>
                      <a:pPr algn="r">
                        <a:buNone/>
                      </a:pPr>
                      <a:r>
                        <a:rPr sz="1100" b="0" i="0" u="none">
                          <a:solidFill>
                            <a:srgbClr val="000000"/>
                          </a:solidFill>
                          <a:latin typeface="Calibri"/>
                          <a:ea typeface="Calibri"/>
                          <a:cs typeface="Calibri"/>
                        </a:rPr>
                        <a:t>-3.445.478.678.100</a:t>
                      </a:r>
                    </a:p>
                  </a:txBody>
                  <a:tcPr marL="9525" marR="9525" marT="9525" marB="0" anchor="ctr"/>
                </a:tc>
                <a:tc>
                  <a:txBody>
                    <a:bodyPr/>
                    <a:lstStyle/>
                    <a:p>
                      <a:pPr algn="r">
                        <a:buNone/>
                      </a:pPr>
                      <a:r>
                        <a:rPr sz="1100" b="0" i="0" u="none">
                          <a:solidFill>
                            <a:srgbClr val="000000"/>
                          </a:solidFill>
                          <a:latin typeface="Calibri"/>
                          <a:ea typeface="Calibri"/>
                          <a:cs typeface="Calibri"/>
                        </a:rPr>
                        <a:t>6,93%</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TCB</a:t>
                      </a:r>
                    </a:p>
                  </a:txBody>
                  <a:tcPr marL="9525" marR="9525" marT="9525" marB="0" anchor="ctr"/>
                </a:tc>
                <a:tc>
                  <a:txBody>
                    <a:bodyPr/>
                    <a:lstStyle/>
                    <a:p>
                      <a:pPr algn="r">
                        <a:buNone/>
                      </a:pPr>
                      <a:r>
                        <a:rPr sz="1100" b="0" i="0" u="none">
                          <a:solidFill>
                            <a:srgbClr val="000000"/>
                          </a:solidFill>
                          <a:latin typeface="Calibri"/>
                          <a:ea typeface="Calibri"/>
                          <a:cs typeface="Calibri"/>
                        </a:rPr>
                        <a:t>28.950</a:t>
                      </a:r>
                    </a:p>
                  </a:txBody>
                  <a:tcPr marL="9525" marR="9525" marT="9525" marB="0" anchor="ctr"/>
                </a:tc>
                <a:tc>
                  <a:txBody>
                    <a:bodyPr/>
                    <a:lstStyle/>
                    <a:p>
                      <a:pPr algn="r">
                        <a:buNone/>
                      </a:pPr>
                      <a:r>
                        <a:rPr sz="1100" b="0" i="0" u="none">
                          <a:solidFill>
                            <a:srgbClr val="000000"/>
                          </a:solidFill>
                          <a:latin typeface="Calibri"/>
                          <a:ea typeface="Calibri"/>
                          <a:cs typeface="Calibri"/>
                        </a:rPr>
                        <a:t>-376.569.390.550</a:t>
                      </a:r>
                    </a:p>
                  </a:txBody>
                  <a:tcPr marL="9525" marR="9525" marT="9525" marB="0" anchor="ctr"/>
                </a:tc>
                <a:tc>
                  <a:txBody>
                    <a:bodyPr/>
                    <a:lstStyle/>
                    <a:p>
                      <a:pPr algn="r">
                        <a:buNone/>
                      </a:pPr>
                      <a:r>
                        <a:rPr sz="1100" b="0" i="0" u="none">
                          <a:solidFill>
                            <a:srgbClr val="000000"/>
                          </a:solidFill>
                          <a:latin typeface="Calibri"/>
                          <a:ea typeface="Calibri"/>
                          <a:cs typeface="Calibri"/>
                        </a:rPr>
                        <a:t>21,13%</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VPB</a:t>
                      </a:r>
                    </a:p>
                  </a:txBody>
                  <a:tcPr marL="9525" marR="9525" marT="9525" marB="0" anchor="ctr"/>
                </a:tc>
                <a:tc>
                  <a:txBody>
                    <a:bodyPr/>
                    <a:lstStyle/>
                    <a:p>
                      <a:pPr algn="r">
                        <a:buNone/>
                      </a:pPr>
                      <a:r>
                        <a:rPr sz="1100" b="0" i="0" u="none">
                          <a:solidFill>
                            <a:srgbClr val="000000"/>
                          </a:solidFill>
                          <a:latin typeface="Calibri"/>
                          <a:ea typeface="Calibri"/>
                          <a:cs typeface="Calibri"/>
                        </a:rPr>
                        <a:t>24.800</a:t>
                      </a:r>
                    </a:p>
                  </a:txBody>
                  <a:tcPr marL="9525" marR="9525" marT="9525" marB="0" anchor="ctr"/>
                </a:tc>
                <a:tc>
                  <a:txBody>
                    <a:bodyPr/>
                    <a:lstStyle/>
                    <a:p>
                      <a:pPr algn="r">
                        <a:buNone/>
                      </a:pPr>
                      <a:r>
                        <a:rPr sz="1100" b="0" i="0" u="none">
                          <a:solidFill>
                            <a:srgbClr val="000000"/>
                          </a:solidFill>
                          <a:latin typeface="Calibri"/>
                          <a:ea typeface="Calibri"/>
                          <a:cs typeface="Calibri"/>
                        </a:rPr>
                        <a:t>-278.784.238.950</a:t>
                      </a:r>
                    </a:p>
                  </a:txBody>
                  <a:tcPr marL="9525" marR="9525" marT="9525" marB="0" anchor="ctr"/>
                </a:tc>
                <a:tc>
                  <a:txBody>
                    <a:bodyPr/>
                    <a:lstStyle/>
                    <a:p>
                      <a:pPr algn="r">
                        <a:buNone/>
                      </a:pPr>
                      <a:r>
                        <a:rPr sz="1100" b="0" i="0" u="none">
                          <a:solidFill>
                            <a:srgbClr val="000000"/>
                          </a:solidFill>
                          <a:latin typeface="Calibri"/>
                          <a:ea typeface="Calibri"/>
                          <a:cs typeface="Calibri"/>
                        </a:rPr>
                        <a:t>23,35%</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VIX</a:t>
                      </a:r>
                    </a:p>
                  </a:txBody>
                  <a:tcPr marL="9525" marR="9525" marT="9525" marB="0" anchor="ctr"/>
                </a:tc>
                <a:tc>
                  <a:txBody>
                    <a:bodyPr/>
                    <a:lstStyle/>
                    <a:p>
                      <a:pPr algn="r">
                        <a:buNone/>
                      </a:pPr>
                      <a:r>
                        <a:rPr sz="1100" b="0" i="0" u="none">
                          <a:solidFill>
                            <a:srgbClr val="000000"/>
                          </a:solidFill>
                          <a:latin typeface="Calibri"/>
                          <a:ea typeface="Calibri"/>
                          <a:cs typeface="Calibri"/>
                        </a:rPr>
                        <a:t>13.000</a:t>
                      </a:r>
                    </a:p>
                  </a:txBody>
                  <a:tcPr marL="9525" marR="9525" marT="9525" marB="0" anchor="ctr"/>
                </a:tc>
                <a:tc>
                  <a:txBody>
                    <a:bodyPr/>
                    <a:lstStyle/>
                    <a:p>
                      <a:pPr algn="r">
                        <a:buNone/>
                      </a:pPr>
                      <a:r>
                        <a:rPr sz="1100" b="0" i="0" u="none">
                          <a:solidFill>
                            <a:srgbClr val="000000"/>
                          </a:solidFill>
                          <a:latin typeface="Calibri"/>
                          <a:ea typeface="Calibri"/>
                          <a:cs typeface="Calibri"/>
                        </a:rPr>
                        <a:t>-243.482.009.400</a:t>
                      </a:r>
                    </a:p>
                  </a:txBody>
                  <a:tcPr marL="9525" marR="9525" marT="9525" marB="0" anchor="ctr"/>
                </a:tc>
                <a:tc>
                  <a:txBody>
                    <a:bodyPr/>
                    <a:lstStyle/>
                    <a:p>
                      <a:pPr algn="r">
                        <a:buNone/>
                      </a:pPr>
                      <a:r>
                        <a:rPr sz="1100" b="0" i="0" u="none">
                          <a:solidFill>
                            <a:srgbClr val="000000"/>
                          </a:solidFill>
                          <a:latin typeface="Calibri"/>
                          <a:ea typeface="Calibri"/>
                          <a:cs typeface="Calibri"/>
                        </a:rPr>
                        <a:t>6,70%</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ACB</a:t>
                      </a:r>
                    </a:p>
                  </a:txBody>
                  <a:tcPr marL="9525" marR="9525" marT="9525" marB="0" anchor="ctr"/>
                </a:tc>
                <a:tc>
                  <a:txBody>
                    <a:bodyPr/>
                    <a:lstStyle/>
                    <a:p>
                      <a:pPr algn="r">
                        <a:buNone/>
                      </a:pPr>
                      <a:r>
                        <a:rPr sz="1100" b="0" i="0" u="none">
                          <a:solidFill>
                            <a:srgbClr val="000000"/>
                          </a:solidFill>
                          <a:latin typeface="Calibri"/>
                          <a:ea typeface="Calibri"/>
                          <a:cs typeface="Calibri"/>
                        </a:rPr>
                        <a:t>21.900</a:t>
                      </a:r>
                    </a:p>
                  </a:txBody>
                  <a:tcPr marL="9525" marR="9525" marT="9525" marB="0" anchor="ctr"/>
                </a:tc>
                <a:tc>
                  <a:txBody>
                    <a:bodyPr/>
                    <a:lstStyle/>
                    <a:p>
                      <a:pPr algn="r">
                        <a:buNone/>
                      </a:pPr>
                      <a:r>
                        <a:rPr sz="1100" b="0" i="0" u="none">
                          <a:solidFill>
                            <a:srgbClr val="000000"/>
                          </a:solidFill>
                          <a:latin typeface="Calibri"/>
                          <a:ea typeface="Calibri"/>
                          <a:cs typeface="Calibri"/>
                        </a:rPr>
                        <a:t>-209.489.006.300</a:t>
                      </a:r>
                    </a:p>
                  </a:txBody>
                  <a:tcPr marL="9525" marR="9525" marT="9525" marB="0" anchor="ctr"/>
                </a:tc>
                <a:tc>
                  <a:txBody>
                    <a:bodyPr/>
                    <a:lstStyle/>
                    <a:p>
                      <a:pPr algn="r">
                        <a:buNone/>
                      </a:pPr>
                      <a:r>
                        <a:rPr sz="1100" b="0" i="0" u="none">
                          <a:solidFill>
                            <a:srgbClr val="000000"/>
                          </a:solidFill>
                          <a:latin typeface="Calibri"/>
                          <a:ea typeface="Calibri"/>
                          <a:cs typeface="Calibri"/>
                        </a:rPr>
                        <a:t>24,34%</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NVL</a:t>
                      </a:r>
                    </a:p>
                  </a:txBody>
                  <a:tcPr marL="9525" marR="9525" marT="9525" marB="0" anchor="ctr"/>
                </a:tc>
                <a:tc>
                  <a:txBody>
                    <a:bodyPr/>
                    <a:lstStyle/>
                    <a:p>
                      <a:pPr algn="r">
                        <a:buNone/>
                      </a:pPr>
                      <a:r>
                        <a:rPr sz="1100" b="0" i="0" u="none">
                          <a:solidFill>
                            <a:srgbClr val="000000"/>
                          </a:solidFill>
                          <a:latin typeface="Calibri"/>
                          <a:ea typeface="Calibri"/>
                          <a:cs typeface="Calibri"/>
                        </a:rPr>
                        <a:t>13.000</a:t>
                      </a:r>
                    </a:p>
                  </a:txBody>
                  <a:tcPr marL="9525" marR="9525" marT="9525" marB="0" anchor="ctr"/>
                </a:tc>
                <a:tc>
                  <a:txBody>
                    <a:bodyPr/>
                    <a:lstStyle/>
                    <a:p>
                      <a:pPr algn="r">
                        <a:buNone/>
                      </a:pPr>
                      <a:r>
                        <a:rPr sz="1100" b="0" i="0" u="none">
                          <a:solidFill>
                            <a:srgbClr val="000000"/>
                          </a:solidFill>
                          <a:latin typeface="Calibri"/>
                          <a:ea typeface="Calibri"/>
                          <a:cs typeface="Calibri"/>
                        </a:rPr>
                        <a:t>-207.581.893.150</a:t>
                      </a:r>
                    </a:p>
                  </a:txBody>
                  <a:tcPr marL="9525" marR="9525" marT="9525" marB="0" anchor="ctr"/>
                </a:tc>
                <a:tc>
                  <a:txBody>
                    <a:bodyPr/>
                    <a:lstStyle/>
                    <a:p>
                      <a:pPr algn="r">
                        <a:buNone/>
                      </a:pPr>
                      <a:r>
                        <a:rPr sz="1100" b="0" i="0" u="none">
                          <a:solidFill>
                            <a:srgbClr val="000000"/>
                          </a:solidFill>
                          <a:latin typeface="Calibri"/>
                          <a:ea typeface="Calibri"/>
                          <a:cs typeface="Calibri"/>
                        </a:rPr>
                        <a:t>4,92%</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GEX</a:t>
                      </a:r>
                    </a:p>
                  </a:txBody>
                  <a:tcPr marL="9525" marR="9525" marT="9525" marB="0" anchor="ctr"/>
                </a:tc>
                <a:tc>
                  <a:txBody>
                    <a:bodyPr/>
                    <a:lstStyle/>
                    <a:p>
                      <a:pPr algn="r">
                        <a:buNone/>
                      </a:pPr>
                      <a:r>
                        <a:rPr sz="1100" b="0" i="0" u="none">
                          <a:solidFill>
                            <a:srgbClr val="000000"/>
                          </a:solidFill>
                          <a:latin typeface="Calibri"/>
                          <a:ea typeface="Calibri"/>
                          <a:cs typeface="Calibri"/>
                        </a:rPr>
                        <a:t>22.500</a:t>
                      </a:r>
                    </a:p>
                  </a:txBody>
                  <a:tcPr marL="9525" marR="9525" marT="9525" marB="0" anchor="ctr"/>
                </a:tc>
                <a:tc>
                  <a:txBody>
                    <a:bodyPr/>
                    <a:lstStyle/>
                    <a:p>
                      <a:pPr algn="r">
                        <a:buNone/>
                      </a:pPr>
                      <a:r>
                        <a:rPr sz="1100" b="0" i="0" u="none">
                          <a:solidFill>
                            <a:srgbClr val="000000"/>
                          </a:solidFill>
                          <a:latin typeface="Calibri"/>
                          <a:ea typeface="Calibri"/>
                          <a:cs typeface="Calibri"/>
                        </a:rPr>
                        <a:t>-138.865.045.700</a:t>
                      </a:r>
                    </a:p>
                  </a:txBody>
                  <a:tcPr marL="9525" marR="9525" marT="9525" marB="0" anchor="ctr"/>
                </a:tc>
                <a:tc>
                  <a:txBody>
                    <a:bodyPr/>
                    <a:lstStyle/>
                    <a:p>
                      <a:pPr algn="r">
                        <a:buNone/>
                      </a:pPr>
                      <a:r>
                        <a:rPr sz="1100" b="0" i="0" u="none">
                          <a:solidFill>
                            <a:srgbClr val="000000"/>
                          </a:solidFill>
                          <a:latin typeface="Calibri"/>
                          <a:ea typeface="Calibri"/>
                          <a:cs typeface="Calibri"/>
                        </a:rPr>
                        <a:t>6,50%</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SSI</a:t>
                      </a:r>
                    </a:p>
                  </a:txBody>
                  <a:tcPr marL="9525" marR="9525" marT="9525" marB="0" anchor="ctr"/>
                </a:tc>
                <a:tc>
                  <a:txBody>
                    <a:bodyPr/>
                    <a:lstStyle/>
                    <a:p>
                      <a:pPr algn="r">
                        <a:buNone/>
                      </a:pPr>
                      <a:r>
                        <a:rPr sz="1100" b="0" i="0" u="none">
                          <a:solidFill>
                            <a:srgbClr val="000000"/>
                          </a:solidFill>
                          <a:latin typeface="Calibri"/>
                          <a:ea typeface="Calibri"/>
                          <a:cs typeface="Calibri"/>
                        </a:rPr>
                        <a:t>23.550</a:t>
                      </a:r>
                    </a:p>
                  </a:txBody>
                  <a:tcPr marL="9525" marR="9525" marT="9525" marB="0" anchor="ctr"/>
                </a:tc>
                <a:tc>
                  <a:txBody>
                    <a:bodyPr/>
                    <a:lstStyle/>
                    <a:p>
                      <a:pPr algn="r">
                        <a:buNone/>
                      </a:pPr>
                      <a:r>
                        <a:rPr sz="1100" b="0" i="0" u="none">
                          <a:solidFill>
                            <a:srgbClr val="000000"/>
                          </a:solidFill>
                          <a:latin typeface="Calibri"/>
                          <a:ea typeface="Calibri"/>
                          <a:cs typeface="Calibri"/>
                        </a:rPr>
                        <a:t>-113.275.752.300</a:t>
                      </a:r>
                    </a:p>
                  </a:txBody>
                  <a:tcPr marL="9525" marR="9525" marT="9525" marB="0" anchor="ctr"/>
                </a:tc>
                <a:tc>
                  <a:txBody>
                    <a:bodyPr/>
                    <a:lstStyle/>
                    <a:p>
                      <a:pPr algn="r">
                        <a:buNone/>
                      </a:pPr>
                      <a:r>
                        <a:rPr sz="1100" b="0" i="0" u="none">
                          <a:solidFill>
                            <a:srgbClr val="000000"/>
                          </a:solidFill>
                          <a:latin typeface="Calibri"/>
                          <a:ea typeface="Calibri"/>
                          <a:cs typeface="Calibri"/>
                        </a:rPr>
                        <a:t>29,90%</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HDB</a:t>
                      </a:r>
                    </a:p>
                  </a:txBody>
                  <a:tcPr marL="9525" marR="9525" marT="9525" marB="0" anchor="ctr"/>
                </a:tc>
                <a:tc>
                  <a:txBody>
                    <a:bodyPr/>
                    <a:lstStyle/>
                    <a:p>
                      <a:pPr algn="r">
                        <a:buNone/>
                      </a:pPr>
                      <a:r>
                        <a:rPr sz="1100" b="0" i="0" u="none">
                          <a:solidFill>
                            <a:srgbClr val="000000"/>
                          </a:solidFill>
                          <a:latin typeface="Calibri"/>
                          <a:ea typeface="Calibri"/>
                          <a:cs typeface="Calibri"/>
                        </a:rPr>
                        <a:t>25.200</a:t>
                      </a:r>
                    </a:p>
                  </a:txBody>
                  <a:tcPr marL="9525" marR="9525" marT="9525" marB="0" anchor="ctr"/>
                </a:tc>
                <a:tc>
                  <a:txBody>
                    <a:bodyPr/>
                    <a:lstStyle/>
                    <a:p>
                      <a:pPr algn="r">
                        <a:buNone/>
                      </a:pPr>
                      <a:r>
                        <a:rPr sz="1100" b="0" i="0" u="none">
                          <a:solidFill>
                            <a:srgbClr val="000000"/>
                          </a:solidFill>
                          <a:latin typeface="Calibri"/>
                          <a:ea typeface="Calibri"/>
                          <a:cs typeface="Calibri"/>
                        </a:rPr>
                        <a:t>-101.722.392.350</a:t>
                      </a:r>
                    </a:p>
                  </a:txBody>
                  <a:tcPr marL="9525" marR="9525" marT="9525" marB="0" anchor="ctr"/>
                </a:tc>
                <a:tc>
                  <a:txBody>
                    <a:bodyPr/>
                    <a:lstStyle/>
                    <a:p>
                      <a:pPr algn="r">
                        <a:buNone/>
                      </a:pPr>
                      <a:r>
                        <a:rPr sz="1100" b="0" i="0" u="none">
                          <a:solidFill>
                            <a:srgbClr val="000000"/>
                          </a:solidFill>
                          <a:latin typeface="Calibri"/>
                          <a:ea typeface="Calibri"/>
                          <a:cs typeface="Calibri"/>
                        </a:rPr>
                        <a:t>21,56%</a:t>
                      </a:r>
                    </a:p>
                  </a:txBody>
                  <a:tcPr marL="9525" marR="9525" marT="9525" marB="0" anchor="ctr"/>
                </a:tc>
              </a:tr>
              <a:tr h="190500">
                <a:tc>
                  <a:txBody>
                    <a:bodyPr/>
                    <a:lstStyle/>
                    <a:p>
                      <a:pPr algn="l">
                        <a:buNone/>
                      </a:pPr>
                      <a:r>
                        <a:rPr sz="1100" b="0" i="0" u="none">
                          <a:solidFill>
                            <a:srgbClr val="000000"/>
                          </a:solidFill>
                          <a:latin typeface="Calibri"/>
                          <a:ea typeface="Calibri"/>
                          <a:cs typeface="Calibri"/>
                        </a:rPr>
                        <a:t>EIB</a:t>
                      </a:r>
                    </a:p>
                  </a:txBody>
                  <a:tcPr marL="9525" marR="9525" marT="9525" marB="0" anchor="ctr"/>
                </a:tc>
                <a:tc>
                  <a:txBody>
                    <a:bodyPr/>
                    <a:lstStyle/>
                    <a:p>
                      <a:pPr algn="r">
                        <a:buNone/>
                      </a:pPr>
                      <a:r>
                        <a:rPr sz="1100" b="0" i="0" u="none">
                          <a:solidFill>
                            <a:srgbClr val="000000"/>
                          </a:solidFill>
                          <a:latin typeface="Calibri"/>
                          <a:ea typeface="Calibri"/>
                          <a:cs typeface="Calibri"/>
                        </a:rPr>
                        <a:t>17.800</a:t>
                      </a:r>
                    </a:p>
                  </a:txBody>
                  <a:tcPr marL="9525" marR="9525" marT="9525" marB="0" anchor="ctr"/>
                </a:tc>
                <a:tc>
                  <a:txBody>
                    <a:bodyPr/>
                    <a:lstStyle/>
                    <a:p>
                      <a:pPr algn="r">
                        <a:buNone/>
                      </a:pPr>
                      <a:r>
                        <a:rPr sz="1100" b="0" i="0" u="none">
                          <a:solidFill>
                            <a:srgbClr val="000000"/>
                          </a:solidFill>
                          <a:latin typeface="Calibri"/>
                          <a:ea typeface="Calibri"/>
                          <a:cs typeface="Calibri"/>
                        </a:rPr>
                        <a:t>-51.607.960.000</a:t>
                      </a:r>
                    </a:p>
                  </a:txBody>
                  <a:tcPr marL="9525" marR="9525" marT="9525" marB="0" anchor="ctr"/>
                </a:tc>
                <a:tc>
                  <a:txBody>
                    <a:bodyPr/>
                    <a:lstStyle/>
                    <a:p>
                      <a:pPr algn="r">
                        <a:buNone/>
                      </a:pPr>
                      <a:r>
                        <a:rPr sz="1100" b="0" i="0" u="none">
                          <a:solidFill>
                            <a:srgbClr val="000000"/>
                          </a:solidFill>
                          <a:latin typeface="Calibri"/>
                          <a:ea typeface="Calibri"/>
                          <a:cs typeface="Calibri"/>
                        </a:rPr>
                        <a:t>1,52%</a:t>
                      </a:r>
                    </a:p>
                  </a:txBody>
                  <a:tcPr marL="9525" marR="9525" marT="9525" marB="0" anchor="ctr"/>
                </a:tc>
              </a:tr>
            </a:tbl>
          </a:graphicData>
        </a:graphic>
      </p:graphicFrame>
      <p:sp>
        <p:nvSpPr>
          <p:cNvPr id="2" name="Slide Number Placeholder 1">
            <a:extLst xmlns:a="http://schemas.openxmlformats.org/drawingml/2006/main">
              <a:ext uri="{FF2B5EF4-FFF2-40B4-BE49-F238E27FC236}">
                <a16:creationId xmlns:a16="http://schemas.microsoft.com/office/drawing/2014/main" id="{C278591D-EBD3-4A78-A389-694F47B20B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5</a:t>
            </a:fld>
          </a:p>
        </p:txBody>
      </p:sp>
    </p:spTree>
    <p:extLst>
      <p:ext uri="{BB962C8B-B14F-4D97-AF65-F5344CB8AC3E}">
        <p14:creationId xmlns:p14="http://schemas.microsoft.com/office/powerpoint/2010/main" val="1038204465"/>
      </p:ext>
    </p:extLst>
  </p:cSld>
</p:sld>
</file>

<file path=ppt/slides/slide6.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Straight Connector 5">
            <a:extLst xmlns:a="http://schemas.openxmlformats.org/drawingml/2006/main">
              <a:ext uri="{FF2B5EF4-FFF2-40B4-BE49-F238E27FC236}">
                <a16:creationId xmlns:a16="http://schemas.microsoft.com/office/drawing/2014/main" id="{6AD65748-A738-4AD5-9D7D-BA7EEDC26D3F}"/>
              </a:ext>
            </a:extLst>
          </p:cNvPr>
          <p:cNvSpPr>
            <a:spLocks xmlns:a="http://schemas.openxmlformats.org/drawingml/2006/main" noGrp="1"/>
          </p:cNvSpPr>
          <p:nvPr/>
        </p:nvSpPr>
        <p:spPr>
          <a:xfrm xmlns:a="http://schemas.openxmlformats.org/drawingml/2006/main" flipV="1">
            <a:off x="261939" y="677863"/>
            <a:ext cx="11676063" cy="0"/>
          </a:xfrm>
          <a:prstGeom xmlns:a="http://schemas.openxmlformats.org/drawingml/2006/main" prst="line">
            <a:avLst/>
          </a:prstGeom>
          <a:ln xmlns:a="http://schemas.openxmlformats.org/drawingml/2006/main" w="19050">
            <a:solidFill>
              <a:srgbClr val="163A63"/>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Title 5">
            <a:extLst xmlns:a="http://schemas.openxmlformats.org/drawingml/2006/main">
              <a:ext uri="{FF2B5EF4-FFF2-40B4-BE49-F238E27FC236}">
                <a16:creationId xmlns:a16="http://schemas.microsoft.com/office/drawing/2014/main" id="{BB5C97C4-862A-269F-A388-3BA6E6A2B487}"/>
              </a:ext>
            </a:extLst>
          </p:cNvPr>
          <p:cNvSpPr>
            <a:spLocks xmlns:a="http://schemas.openxmlformats.org/drawingml/2006/main" noGrp="1"/>
          </p:cNvSpPr>
          <p:nvPr/>
        </p:nvSpPr>
        <p:spPr>
          <a:xfrm xmlns:a="http://schemas.openxmlformats.org/drawingml/2006/main">
            <a:off x="261939" y="288876"/>
            <a:ext cx="7991728" cy="355038"/>
          </a:xfrm>
          <a:prstGeom xmlns:a="http://schemas.openxmlformats.org/drawingml/2006/main" prst="rect">
            <a:avLst/>
          </a:prstGeom>
          <a:noFill xmlns:a="http://schemas.openxmlformats.org/drawingml/2006/main"/>
        </p:spPr>
        <p:txBody>
          <a:bodyPr xmlns:a="http://schemas.openxmlformats.org/drawingml/2006/main" vert="horz" lIns="91440" tIns="45720" rIns="91440" bIns="45720" anchor="t">
            <a:noAutofit/>
          </a:bodyPr>
          <a:lstStyle xmlns:a="http://schemas.openxmlformats.org/drawingml/2006/main">
            <a:lvl1pPr algn="l" defTabSz="914400">
              <a:lnSpc>
                <a:spcPct val="90000"/>
              </a:lnSpc>
              <a:spcBef>
                <a:spcPct val="0"/>
              </a:spcBef>
              <a:buNone/>
              <a:defRPr sz="1875" kern="1200">
                <a:solidFill>
                  <a:schemeClr val="accent1"/>
                </a:solidFill>
                <a:latin typeface="+mj-lt"/>
                <a:ea typeface="+mj-lt"/>
                <a:cs typeface="+mj-lt"/>
              </a:defRPr>
            </a:lvl1pPr>
          </a:lstStyle>
          <a:p xmlns:a="http://schemas.openxmlformats.org/drawingml/2006/main">
            <a:pPr>
              <a:defRPr sz="1425" b="1">
                <a:solidFill>
                  <a:srgbClr val="163A63"/>
                </a:solidFill>
                <a:latin typeface="Arial"/>
                <a:ea typeface="Arial"/>
                <a:cs typeface="Arial"/>
              </a:defRPr>
            </a:pPr>
            <a:r>
              <a:rPr sz="1425" b="1">
                <a:solidFill>
                  <a:srgbClr val="163A63"/>
                </a:solidFill>
                <a:latin typeface="Arial"/>
                <a:ea typeface="Arial"/>
                <a:cs typeface="Arial"/>
              </a:rPr>
              <a:t>DIỄN BIẾN DANH MỤC THEO DÕI TUẦN 27/07 – 31/07/2026</a:t>
            </a:r>
          </a:p>
        </p:txBody>
      </p:sp>
      <p:sp>
        <p:nvSpPr>
          <p:cNvPr id="21" name="Text Placeholder 7">
            <a:extLst xmlns:a="http://schemas.openxmlformats.org/drawingml/2006/main">
              <a:ext uri="{FF2B5EF4-FFF2-40B4-BE49-F238E27FC236}">
                <a16:creationId xmlns:a16="http://schemas.microsoft.com/office/drawing/2014/main" id="{EC378252-A32A-9839-7495-0D5F68F1E791}"/>
              </a:ext>
            </a:extLst>
          </p:cNvPr>
          <p:cNvSpPr>
            <a:spLocks xmlns:a="http://schemas.openxmlformats.org/drawingml/2006/main" noGrp="1"/>
          </p:cNvSpPr>
          <p:nvPr/>
        </p:nvSpPr>
        <p:spPr>
          <a:xfrm xmlns:a="http://schemas.openxmlformats.org/drawingml/2006/main">
            <a:off x="261940" y="677864"/>
            <a:ext cx="10725608" cy="5891260"/>
          </a:xfrm>
          <a:prstGeom xmlns:a="http://schemas.openxmlformats.org/drawingml/2006/main" prst="rect">
            <a:avLst/>
          </a:prstGeom>
        </p:spPr>
        <p:txBody>
          <a:bodyPr xmlns:a="http://schemas.openxmlformats.org/drawingml/2006/main" vert="horz" lIns="91440" tIns="45720" rIns="91440" bIns="45720">
            <a:noAutofit/>
          </a:bodyPr>
          <a:lstStyle xmlns:a="http://schemas.openxmlformats.org/drawingml/2006/main">
            <a:lvl1pPr marL="0" indent="0" algn="l" defTabSz="914400">
              <a:lnSpc>
                <a:spcPct val="120000"/>
              </a:lnSpc>
              <a:spcBef>
                <a:spcPts val="0"/>
              </a:spcBef>
              <a:spcAft>
                <a:spcPts val="0"/>
              </a:spcAft>
              <a:buFont typeface="Arial"/>
              <a:buNone/>
              <a:defRPr sz="1050" b="0" kern="1200">
                <a:solidFill>
                  <a:schemeClr val="accent5"/>
                </a:solidFill>
                <a:latin typeface="+mn-lt"/>
                <a:ea typeface="+mn-lt"/>
                <a:cs typeface="+mn-lt"/>
              </a:defRPr>
            </a:lvl1pPr>
            <a:lvl2pPr marL="359532" indent="0" algn="ctr" defTabSz="914400">
              <a:lnSpc>
                <a:spcPct val="90000"/>
              </a:lnSpc>
              <a:spcBef>
                <a:spcPts val="500"/>
              </a:spcBef>
              <a:buFont typeface="Arial"/>
              <a:buNone/>
              <a:defRPr sz="2400" kern="1200">
                <a:solidFill>
                  <a:schemeClr val="tx1">
                    <a:tint val="75000"/>
                  </a:schemeClr>
                </a:solidFill>
                <a:latin typeface="+mn-lt"/>
                <a:ea typeface="+mn-lt"/>
                <a:cs typeface="+mn-lt"/>
              </a:defRPr>
            </a:lvl2pPr>
            <a:lvl3pPr marL="719063" indent="0" algn="ctr" defTabSz="914400">
              <a:lnSpc>
                <a:spcPct val="90000"/>
              </a:lnSpc>
              <a:spcBef>
                <a:spcPts val="500"/>
              </a:spcBef>
              <a:buFont typeface="Arial"/>
              <a:buNone/>
              <a:defRPr sz="2000" kern="1200">
                <a:solidFill>
                  <a:schemeClr val="tx1">
                    <a:tint val="75000"/>
                  </a:schemeClr>
                </a:solidFill>
                <a:latin typeface="+mn-lt"/>
                <a:ea typeface="+mn-lt"/>
                <a:cs typeface="+mn-lt"/>
              </a:defRPr>
            </a:lvl3pPr>
            <a:lvl4pPr marL="107859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4pPr>
            <a:lvl5pPr marL="1438125"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5pPr>
            <a:lvl6pPr marL="179765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6pPr>
            <a:lvl7pPr marL="2157187"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7pPr>
            <a:lvl8pPr marL="2516718"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8pPr>
            <a:lvl9pPr marL="2876250" indent="0" algn="ctr" defTabSz="914400">
              <a:lnSpc>
                <a:spcPct val="90000"/>
              </a:lnSpc>
              <a:spcBef>
                <a:spcPts val="500"/>
              </a:spcBef>
              <a:buFont typeface="Arial"/>
              <a:buNone/>
              <a:defRPr sz="1800" kern="1200">
                <a:solidFill>
                  <a:schemeClr val="tx1">
                    <a:tint val="75000"/>
                  </a:schemeClr>
                </a:solidFill>
                <a:latin typeface="+mn-lt"/>
                <a:ea typeface="+mn-lt"/>
                <a:cs typeface="+mn-lt"/>
              </a:defRPr>
            </a:lvl9pPr>
          </a:lstStyle>
          <a:p xmlns:a="http://schemas.openxmlformats.org/drawingml/2006/main">
            <a:pPr>
              <a:lnSpc>
                <a:spcPct val="90000"/>
              </a:lnSpc>
              <a:spcBef>
                <a:spcPct val="0"/>
              </a:spcBef>
              <a:buNone/>
            </a:pPr>
          </a:p>
          <a:p xmlns:a="http://schemas.openxmlformats.org/drawingml/2006/main">
            <a:pPr>
              <a:lnSpc>
                <a:spcPct val="90000"/>
              </a:lnSpc>
              <a:spcBef>
                <a:spcPct val="0"/>
              </a:spcBef>
              <a:buNone/>
            </a:pPr>
            <a:r>
              <a:rPr sz="1400" b="1">
                <a:solidFill>
                  <a:srgbClr val="1557B0"/>
                </a:solidFill>
                <a:latin typeface="Arial"/>
                <a:ea typeface="Arial"/>
                <a:cs typeface="Arial"/>
              </a:rPr>
              <a:t>Sự</a:t>
            </a:r>
            <a:r>
              <a:rPr sz="1400" b="1">
                <a:solidFill>
                  <a:srgbClr val="1557B0"/>
                </a:solidFill>
                <a:latin typeface="Arial"/>
                <a:ea typeface="Arial"/>
                <a:cs typeface="Arial"/>
              </a:rPr>
              <a:t> </a:t>
            </a:r>
            <a:r>
              <a:rPr sz="1400" b="1">
                <a:solidFill>
                  <a:srgbClr val="1557B0"/>
                </a:solidFill>
                <a:latin typeface="Arial"/>
                <a:ea typeface="Arial"/>
                <a:cs typeface="Arial"/>
              </a:rPr>
              <a:t>kiện</a:t>
            </a:r>
            <a:r>
              <a:rPr sz="1400" b="1">
                <a:solidFill>
                  <a:srgbClr val="1557B0"/>
                </a:solidFill>
                <a:latin typeface="Arial"/>
                <a:ea typeface="Arial"/>
                <a:cs typeface="Arial"/>
              </a:rPr>
              <a:t> </a:t>
            </a:r>
            <a:r>
              <a:rPr sz="1400" b="1">
                <a:solidFill>
                  <a:srgbClr val="1557B0"/>
                </a:solidFill>
                <a:latin typeface="Arial"/>
                <a:ea typeface="Arial"/>
                <a:cs typeface="Arial"/>
              </a:rPr>
              <a:t>doanh</a:t>
            </a:r>
            <a:r>
              <a:rPr sz="1400" b="1">
                <a:solidFill>
                  <a:srgbClr val="1557B0"/>
                </a:solidFill>
                <a:latin typeface="Arial"/>
                <a:ea typeface="Arial"/>
                <a:cs typeface="Arial"/>
              </a:rPr>
              <a:t> </a:t>
            </a:r>
            <a:r>
              <a:rPr sz="1400" b="1">
                <a:solidFill>
                  <a:srgbClr val="1557B0"/>
                </a:solidFill>
                <a:latin typeface="Arial"/>
                <a:ea typeface="Arial"/>
                <a:cs typeface="Arial"/>
              </a:rPr>
              <a:t>nghiệp</a:t>
            </a:r>
            <a:r>
              <a:rPr sz="1400" b="1">
                <a:solidFill>
                  <a:srgbClr val="1557B0"/>
                </a:solidFill>
                <a:latin typeface="Arial"/>
                <a:ea typeface="Arial"/>
                <a:cs typeface="Arial"/>
              </a:rPr>
              <a:t> </a:t>
            </a:r>
            <a:r>
              <a:rPr sz="1400" b="1">
                <a:solidFill>
                  <a:srgbClr val="1557B0"/>
                </a:solidFill>
                <a:latin typeface="Arial"/>
                <a:ea typeface="Arial"/>
                <a:cs typeface="Arial"/>
              </a:rPr>
              <a:t>trong</a:t>
            </a:r>
            <a:r>
              <a:rPr sz="1400" b="1">
                <a:solidFill>
                  <a:srgbClr val="1557B0"/>
                </a:solidFill>
                <a:latin typeface="Arial"/>
                <a:ea typeface="Arial"/>
                <a:cs typeface="Arial"/>
              </a:rPr>
              <a:t> </a:t>
            </a:r>
            <a:r>
              <a:rPr sz="1400" b="1">
                <a:solidFill>
                  <a:srgbClr val="1557B0"/>
                </a:solidFill>
                <a:latin typeface="Arial"/>
                <a:ea typeface="Arial"/>
                <a:cs typeface="Arial"/>
              </a:rPr>
              <a:t>tuần</a:t>
            </a:r>
          </a:p>
          <a:p xmlns:a="http://schemas.openxmlformats.org/drawingml/2006/main">
            <a:pPr>
              <a:lnSpc>
                <a:spcPct val="90000"/>
              </a:lnSpc>
              <a:spcBef>
                <a:spcPct val="0"/>
              </a:spcBef>
              <a:buNone/>
            </a:pPr>
          </a:p>
          <a:p xmlns:a="http://schemas.openxmlformats.org/drawingml/2006/main">
            <a:pPr>
              <a:lnSpc>
                <a:spcPct val="90000"/>
              </a:lnSpc>
              <a:spcBef>
                <a:spcPct val="0"/>
              </a:spcBef>
              <a:buNone/>
            </a:pPr>
          </a:p>
          <a:p xmlns:a="http://schemas.openxmlformats.org/drawingml/2006/main">
            <a:pPr>
              <a:lnSpc>
                <a:spcPct val="90000"/>
              </a:lnSpc>
              <a:spcBef>
                <a:spcPct val="0"/>
              </a:spcBef>
              <a:buNone/>
            </a:pPr>
          </a:p>
          <a:p xmlns:a="http://schemas.openxmlformats.org/drawingml/2006/main">
            <a:pPr>
              <a:lnSpc>
                <a:spcPct val="90000"/>
              </a:lnSpc>
              <a:spcBef>
                <a:spcPct val="0"/>
              </a:spcBef>
              <a:buNone/>
            </a:pPr>
          </a:p>
          <a:p xmlns:a="http://schemas.openxmlformats.org/drawingml/2006/main">
            <a:pPr>
              <a:lnSpc>
                <a:spcPct val="90000"/>
              </a:lnSpc>
              <a:spcBef>
                <a:spcPct val="0"/>
              </a:spcBef>
              <a:buNone/>
            </a:pPr>
          </a:p>
          <a:p xmlns:a="http://schemas.openxmlformats.org/drawingml/2006/main">
            <a:pPr>
              <a:lnSpc>
                <a:spcPct val="90000"/>
              </a:lnSpc>
              <a:spcBef>
                <a:spcPct val="0"/>
              </a:spcBef>
              <a:buNone/>
            </a:pPr>
          </a:p>
          <a:p xmlns:a="http://schemas.openxmlformats.org/drawingml/2006/main">
            <a:pPr>
              <a:lnSpc>
                <a:spcPct val="90000"/>
              </a:lnSpc>
              <a:spcBef>
                <a:spcPct val="0"/>
              </a:spcBef>
              <a:buNone/>
            </a:pPr>
          </a:p>
          <a:p xmlns:a="http://schemas.openxmlformats.org/drawingml/2006/main">
            <a:pPr>
              <a:lnSpc>
                <a:spcPct val="90000"/>
              </a:lnSpc>
              <a:spcBef>
                <a:spcPct val="0"/>
              </a:spcBef>
              <a:buNone/>
            </a:pPr>
          </a:p>
          <a:p xmlns:a="http://schemas.openxmlformats.org/drawingml/2006/main">
            <a:pPr>
              <a:lnSpc>
                <a:spcPct val="90000"/>
              </a:lnSpc>
              <a:spcBef>
                <a:spcPct val="0"/>
              </a:spcBef>
              <a:buNone/>
            </a:pPr>
          </a:p>
          <a:p xmlns:a="http://schemas.openxmlformats.org/drawingml/2006/main">
            <a:pPr>
              <a:lnSpc>
                <a:spcPct val="90000"/>
              </a:lnSpc>
              <a:spcBef>
                <a:spcPct val="0"/>
              </a:spcBef>
              <a:buNone/>
            </a:pPr>
          </a:p>
          <a:p xmlns:a="http://schemas.openxmlformats.org/drawingml/2006/main">
            <a:pPr>
              <a:lnSpc>
                <a:spcPct val="90000"/>
              </a:lnSpc>
              <a:spcBef>
                <a:spcPct val="0"/>
              </a:spcBef>
              <a:buNone/>
            </a:pPr>
          </a:p>
          <a:p xmlns:a="http://schemas.openxmlformats.org/drawingml/2006/main">
            <a:pPr>
              <a:lnSpc>
                <a:spcPct val="90000"/>
              </a:lnSpc>
              <a:spcBef>
                <a:spcPct val="0"/>
              </a:spcBef>
              <a:buNone/>
            </a:pPr>
          </a:p>
          <a:p xmlns:a="http://schemas.openxmlformats.org/drawingml/2006/main">
            <a:pPr>
              <a:lnSpc>
                <a:spcPct val="90000"/>
              </a:lnSpc>
              <a:spcBef>
                <a:spcPct val="0"/>
              </a:spcBef>
              <a:buNone/>
            </a:pPr>
            <a:r>
              <a:rPr sz="1400" b="1">
                <a:solidFill>
                  <a:srgbClr val="1557B0"/>
                </a:solidFill>
                <a:latin typeface="Arial"/>
                <a:ea typeface="Arial"/>
                <a:cs typeface="Arial"/>
              </a:rPr>
              <a:t>Diễn biến giao dịch NDTNN</a:t>
            </a:r>
            <a:r>
              <a:rPr sz="1400" b="1">
                <a:solidFill>
                  <a:srgbClr val="263442"/>
                </a:solidFill>
                <a:latin typeface="Arial"/>
                <a:ea typeface="Arial"/>
                <a:cs typeface="Arial"/>
              </a:rPr>
              <a:t> </a:t>
            </a:r>
          </a:p>
          <a:p xmlns:a="http://schemas.openxmlformats.org/drawingml/2006/main">
            <a:pPr marL="171450" indent="-171450">
              <a:lnSpc>
                <a:spcPct val="160000"/>
              </a:lnSpc>
              <a:buFont typeface="Arial"/>
              <a:buChar char="•"/>
            </a:pPr>
            <a:r>
              <a:rPr sz="1100">
                <a:solidFill>
                  <a:srgbClr val="263442"/>
                </a:solidFill>
                <a:latin typeface="Arial"/>
                <a:ea typeface="Arial"/>
                <a:cs typeface="Arial"/>
              </a:rPr>
              <a:t>Trong </a:t>
            </a:r>
            <a:r>
              <a:rPr sz="1100">
                <a:solidFill>
                  <a:srgbClr val="263442"/>
                </a:solidFill>
                <a:latin typeface="Arial"/>
                <a:ea typeface="Arial"/>
                <a:cs typeface="Arial"/>
              </a:rPr>
              <a:t>tháng</a:t>
            </a:r>
            <a:r>
              <a:rPr sz="1100">
                <a:solidFill>
                  <a:srgbClr val="263442"/>
                </a:solidFill>
                <a:latin typeface="Arial"/>
                <a:ea typeface="Arial"/>
                <a:cs typeface="Arial"/>
              </a:rPr>
              <a:t> </a:t>
            </a:r>
            <a:r>
              <a:rPr sz="1100">
                <a:solidFill>
                  <a:srgbClr val="263442"/>
                </a:solidFill>
                <a:latin typeface="Arial"/>
                <a:ea typeface="Arial"/>
                <a:cs typeface="Arial"/>
              </a:rPr>
              <a:t>này</a:t>
            </a:r>
            <a:r>
              <a:rPr sz="1100">
                <a:solidFill>
                  <a:srgbClr val="263442"/>
                </a:solidFill>
                <a:latin typeface="Arial"/>
                <a:ea typeface="Arial"/>
                <a:cs typeface="Arial"/>
              </a:rPr>
              <a:t>, </a:t>
            </a:r>
            <a:r>
              <a:rPr sz="1100">
                <a:solidFill>
                  <a:srgbClr val="263442"/>
                </a:solidFill>
                <a:latin typeface="Arial"/>
                <a:ea typeface="Arial"/>
                <a:cs typeface="Arial"/>
              </a:rPr>
              <a:t>khối</a:t>
            </a:r>
            <a:r>
              <a:rPr sz="1100">
                <a:solidFill>
                  <a:srgbClr val="263442"/>
                </a:solidFill>
                <a:latin typeface="Arial"/>
                <a:ea typeface="Arial"/>
                <a:cs typeface="Arial"/>
              </a:rPr>
              <a:t> </a:t>
            </a:r>
            <a:r>
              <a:rPr sz="1100">
                <a:solidFill>
                  <a:srgbClr val="263442"/>
                </a:solidFill>
                <a:latin typeface="Arial"/>
                <a:ea typeface="Arial"/>
                <a:cs typeface="Arial"/>
              </a:rPr>
              <a:t>ngoại</a:t>
            </a:r>
            <a:r>
              <a:rPr sz="1100">
                <a:solidFill>
                  <a:srgbClr val="263442"/>
                </a:solidFill>
                <a:latin typeface="Arial"/>
                <a:ea typeface="Arial"/>
                <a:cs typeface="Arial"/>
              </a:rPr>
              <a:t> </a:t>
            </a:r>
            <a:r>
              <a:rPr sz="1100">
                <a:solidFill>
                  <a:srgbClr val="263442"/>
                </a:solidFill>
                <a:latin typeface="Arial"/>
                <a:ea typeface="Arial"/>
                <a:cs typeface="Arial"/>
              </a:rPr>
              <a:t>đã</a:t>
            </a:r>
            <a:r>
              <a:rPr sz="1100">
                <a:solidFill>
                  <a:srgbClr val="263442"/>
                </a:solidFill>
                <a:latin typeface="Arial"/>
                <a:ea typeface="Arial"/>
                <a:cs typeface="Arial"/>
              </a:rPr>
              <a:t> </a:t>
            </a:r>
            <a:r>
              <a:rPr sz="1100">
                <a:solidFill>
                  <a:srgbClr val="263442"/>
                </a:solidFill>
                <a:latin typeface="Arial"/>
                <a:ea typeface="Arial"/>
                <a:cs typeface="Arial"/>
              </a:rPr>
              <a:t>bán</a:t>
            </a:r>
            <a:r>
              <a:rPr sz="1100">
                <a:solidFill>
                  <a:srgbClr val="263442"/>
                </a:solidFill>
                <a:latin typeface="Arial"/>
                <a:ea typeface="Arial"/>
                <a:cs typeface="Arial"/>
              </a:rPr>
              <a:t> </a:t>
            </a:r>
            <a:r>
              <a:rPr sz="1100">
                <a:solidFill>
                  <a:srgbClr val="263442"/>
                </a:solidFill>
                <a:latin typeface="Arial"/>
                <a:ea typeface="Arial"/>
                <a:cs typeface="Arial"/>
              </a:rPr>
              <a:t>ròng</a:t>
            </a:r>
            <a:r>
              <a:rPr sz="1100">
                <a:solidFill>
                  <a:srgbClr val="263442"/>
                </a:solidFill>
                <a:latin typeface="Arial"/>
                <a:ea typeface="Arial"/>
                <a:cs typeface="Arial"/>
              </a:rPr>
              <a:t> </a:t>
            </a:r>
            <a:r>
              <a:rPr sz="1100">
                <a:solidFill>
                  <a:srgbClr val="263442"/>
                </a:solidFill>
                <a:latin typeface="Arial"/>
                <a:ea typeface="Arial"/>
                <a:cs typeface="Arial"/>
              </a:rPr>
              <a:t>tổng</a:t>
            </a:r>
            <a:r>
              <a:rPr sz="1100">
                <a:solidFill>
                  <a:srgbClr val="263442"/>
                </a:solidFill>
                <a:latin typeface="Arial"/>
                <a:ea typeface="Arial"/>
                <a:cs typeface="Arial"/>
              </a:rPr>
              <a:t> </a:t>
            </a:r>
            <a:r>
              <a:rPr sz="1100">
                <a:solidFill>
                  <a:srgbClr val="263442"/>
                </a:solidFill>
                <a:latin typeface="Arial"/>
                <a:ea typeface="Arial"/>
                <a:cs typeface="Arial"/>
              </a:rPr>
              <a:t>số</a:t>
            </a:r>
            <a:r>
              <a:rPr sz="1100">
                <a:solidFill>
                  <a:srgbClr val="263442"/>
                </a:solidFill>
                <a:latin typeface="Arial"/>
                <a:ea typeface="Arial"/>
                <a:cs typeface="Arial"/>
              </a:rPr>
              <a:t> 127 </a:t>
            </a:r>
            <a:r>
              <a:rPr sz="1100">
                <a:solidFill>
                  <a:srgbClr val="263442"/>
                </a:solidFill>
                <a:latin typeface="Arial"/>
                <a:ea typeface="Arial"/>
                <a:cs typeface="Arial"/>
              </a:rPr>
              <a:t>triệu</a:t>
            </a:r>
            <a:r>
              <a:rPr sz="1100">
                <a:solidFill>
                  <a:srgbClr val="263442"/>
                </a:solidFill>
                <a:latin typeface="Arial"/>
                <a:ea typeface="Arial"/>
                <a:cs typeface="Arial"/>
              </a:rPr>
              <a:t> cp </a:t>
            </a:r>
            <a:r>
              <a:rPr sz="1100">
                <a:solidFill>
                  <a:srgbClr val="263442"/>
                </a:solidFill>
                <a:latin typeface="Arial"/>
                <a:ea typeface="Arial"/>
                <a:cs typeface="Arial"/>
              </a:rPr>
              <a:t>đối</a:t>
            </a:r>
            <a:r>
              <a:rPr sz="1100">
                <a:solidFill>
                  <a:srgbClr val="263442"/>
                </a:solidFill>
                <a:latin typeface="Arial"/>
                <a:ea typeface="Arial"/>
                <a:cs typeface="Arial"/>
              </a:rPr>
              <a:t> </a:t>
            </a:r>
            <a:r>
              <a:rPr sz="1100">
                <a:solidFill>
                  <a:srgbClr val="263442"/>
                </a:solidFill>
                <a:latin typeface="Arial"/>
                <a:ea typeface="Arial"/>
                <a:cs typeface="Arial"/>
              </a:rPr>
              <a:t>với</a:t>
            </a:r>
            <a:r>
              <a:rPr sz="1100">
                <a:solidFill>
                  <a:srgbClr val="263442"/>
                </a:solidFill>
                <a:latin typeface="Arial"/>
                <a:ea typeface="Arial"/>
                <a:cs typeface="Arial"/>
              </a:rPr>
              <a:t> 4 </a:t>
            </a:r>
            <a:r>
              <a:rPr sz="1100">
                <a:solidFill>
                  <a:srgbClr val="263442"/>
                </a:solidFill>
                <a:latin typeface="Arial"/>
                <a:ea typeface="Arial"/>
                <a:cs typeface="Arial"/>
              </a:rPr>
              <a:t>ngân</a:t>
            </a:r>
            <a:r>
              <a:rPr sz="1100">
                <a:solidFill>
                  <a:srgbClr val="263442"/>
                </a:solidFill>
                <a:latin typeface="Arial"/>
                <a:ea typeface="Arial"/>
                <a:cs typeface="Arial"/>
              </a:rPr>
              <a:t> </a:t>
            </a:r>
            <a:r>
              <a:rPr sz="1100">
                <a:solidFill>
                  <a:srgbClr val="263442"/>
                </a:solidFill>
                <a:latin typeface="Arial"/>
                <a:ea typeface="Arial"/>
                <a:cs typeface="Arial"/>
              </a:rPr>
              <a:t>hàng</a:t>
            </a:r>
            <a:r>
              <a:rPr sz="1100">
                <a:solidFill>
                  <a:srgbClr val="263442"/>
                </a:solidFill>
                <a:latin typeface="Arial"/>
                <a:ea typeface="Arial"/>
                <a:cs typeface="Arial"/>
              </a:rPr>
              <a:t> </a:t>
            </a:r>
            <a:r>
              <a:rPr sz="1100">
                <a:solidFill>
                  <a:srgbClr val="263442"/>
                </a:solidFill>
                <a:latin typeface="Arial"/>
                <a:ea typeface="Arial"/>
                <a:cs typeface="Arial"/>
              </a:rPr>
              <a:t>theo</a:t>
            </a:r>
            <a:r>
              <a:rPr sz="1100">
                <a:solidFill>
                  <a:srgbClr val="263442"/>
                </a:solidFill>
                <a:latin typeface="Arial"/>
                <a:ea typeface="Arial"/>
                <a:cs typeface="Arial"/>
              </a:rPr>
              <a:t> </a:t>
            </a:r>
            <a:r>
              <a:rPr sz="1100">
                <a:solidFill>
                  <a:srgbClr val="263442"/>
                </a:solidFill>
                <a:latin typeface="Arial"/>
                <a:ea typeface="Arial"/>
                <a:cs typeface="Arial"/>
              </a:rPr>
              <a:t>dõi</a:t>
            </a:r>
            <a:r>
              <a:rPr sz="1100">
                <a:solidFill>
                  <a:srgbClr val="263442"/>
                </a:solidFill>
                <a:latin typeface="Arial"/>
                <a:ea typeface="Arial"/>
                <a:cs typeface="Arial"/>
              </a:rPr>
              <a:t>. </a:t>
            </a:r>
            <a:r>
              <a:rPr sz="1100">
                <a:solidFill>
                  <a:srgbClr val="263442"/>
                </a:solidFill>
                <a:latin typeface="Arial"/>
                <a:ea typeface="Arial"/>
                <a:cs typeface="Arial"/>
              </a:rPr>
              <a:t>Tính</a:t>
            </a:r>
            <a:r>
              <a:rPr sz="1100">
                <a:solidFill>
                  <a:srgbClr val="263442"/>
                </a:solidFill>
                <a:latin typeface="Arial"/>
                <a:ea typeface="Arial"/>
                <a:cs typeface="Arial"/>
              </a:rPr>
              <a:t> </a:t>
            </a:r>
            <a:r>
              <a:rPr sz="1100">
                <a:solidFill>
                  <a:srgbClr val="263442"/>
                </a:solidFill>
                <a:latin typeface="Arial"/>
                <a:ea typeface="Arial"/>
                <a:cs typeface="Arial"/>
              </a:rPr>
              <a:t>từ</a:t>
            </a:r>
            <a:r>
              <a:rPr sz="1100">
                <a:solidFill>
                  <a:srgbClr val="263442"/>
                </a:solidFill>
                <a:latin typeface="Arial"/>
                <a:ea typeface="Arial"/>
                <a:cs typeface="Arial"/>
              </a:rPr>
              <a:t> </a:t>
            </a:r>
            <a:r>
              <a:rPr sz="1100">
                <a:solidFill>
                  <a:srgbClr val="263442"/>
                </a:solidFill>
                <a:latin typeface="Arial"/>
                <a:ea typeface="Arial"/>
                <a:cs typeface="Arial"/>
              </a:rPr>
              <a:t>đầu</a:t>
            </a:r>
            <a:r>
              <a:rPr sz="1100">
                <a:solidFill>
                  <a:srgbClr val="263442"/>
                </a:solidFill>
                <a:latin typeface="Arial"/>
                <a:ea typeface="Arial"/>
                <a:cs typeface="Arial"/>
              </a:rPr>
              <a:t> </a:t>
            </a:r>
            <a:r>
              <a:rPr sz="1100">
                <a:solidFill>
                  <a:srgbClr val="263442"/>
                </a:solidFill>
                <a:latin typeface="Arial"/>
                <a:ea typeface="Arial"/>
                <a:cs typeface="Arial"/>
              </a:rPr>
              <a:t>năm</a:t>
            </a:r>
            <a:r>
              <a:rPr sz="1100">
                <a:solidFill>
                  <a:srgbClr val="263442"/>
                </a:solidFill>
                <a:latin typeface="Arial"/>
                <a:ea typeface="Arial"/>
                <a:cs typeface="Arial"/>
              </a:rPr>
              <a:t>, NDTNN </a:t>
            </a:r>
            <a:r>
              <a:rPr sz="1100">
                <a:solidFill>
                  <a:srgbClr val="263442"/>
                </a:solidFill>
                <a:latin typeface="Arial"/>
                <a:ea typeface="Arial"/>
                <a:cs typeface="Arial"/>
              </a:rPr>
              <a:t>bán</a:t>
            </a:r>
            <a:r>
              <a:rPr sz="1100">
                <a:solidFill>
                  <a:srgbClr val="263442"/>
                </a:solidFill>
                <a:latin typeface="Arial"/>
                <a:ea typeface="Arial"/>
                <a:cs typeface="Arial"/>
              </a:rPr>
              <a:t> </a:t>
            </a:r>
            <a:r>
              <a:rPr sz="1100">
                <a:solidFill>
                  <a:srgbClr val="263442"/>
                </a:solidFill>
                <a:latin typeface="Arial"/>
                <a:ea typeface="Arial"/>
                <a:cs typeface="Arial"/>
              </a:rPr>
              <a:t>ròng</a:t>
            </a:r>
            <a:r>
              <a:rPr sz="1100">
                <a:solidFill>
                  <a:srgbClr val="263442"/>
                </a:solidFill>
                <a:latin typeface="Arial"/>
                <a:ea typeface="Arial"/>
                <a:cs typeface="Arial"/>
              </a:rPr>
              <a:t> </a:t>
            </a:r>
            <a:r>
              <a:rPr sz="1100">
                <a:solidFill>
                  <a:srgbClr val="263442"/>
                </a:solidFill>
                <a:latin typeface="Arial"/>
                <a:ea typeface="Arial"/>
                <a:cs typeface="Arial"/>
              </a:rPr>
              <a:t>tổng</a:t>
            </a:r>
            <a:r>
              <a:rPr sz="1100">
                <a:solidFill>
                  <a:srgbClr val="263442"/>
                </a:solidFill>
                <a:latin typeface="Arial"/>
                <a:ea typeface="Arial"/>
                <a:cs typeface="Arial"/>
              </a:rPr>
              <a:t> </a:t>
            </a:r>
            <a:r>
              <a:rPr sz="1100">
                <a:solidFill>
                  <a:srgbClr val="263442"/>
                </a:solidFill>
                <a:latin typeface="Arial"/>
                <a:ea typeface="Arial"/>
                <a:cs typeface="Arial"/>
              </a:rPr>
              <a:t>số</a:t>
            </a:r>
            <a:r>
              <a:rPr sz="1100">
                <a:solidFill>
                  <a:srgbClr val="263442"/>
                </a:solidFill>
                <a:latin typeface="Arial"/>
                <a:ea typeface="Arial"/>
                <a:cs typeface="Arial"/>
              </a:rPr>
              <a:t> 493 </a:t>
            </a:r>
            <a:r>
              <a:rPr sz="1100">
                <a:solidFill>
                  <a:srgbClr val="263442"/>
                </a:solidFill>
                <a:latin typeface="Arial"/>
                <a:ea typeface="Arial"/>
                <a:cs typeface="Arial"/>
              </a:rPr>
              <a:t>triệu</a:t>
            </a:r>
            <a:r>
              <a:rPr sz="1100">
                <a:solidFill>
                  <a:srgbClr val="263442"/>
                </a:solidFill>
                <a:latin typeface="Arial"/>
                <a:ea typeface="Arial"/>
                <a:cs typeface="Arial"/>
              </a:rPr>
              <a:t> cp. </a:t>
            </a:r>
          </a:p>
        </p:txBody>
      </p:sp>
      <p:sp>
        <p:nvSpPr>
          <p:cNvPr id="2" name="Slide Number Placeholder 1">
            <a:extLst xmlns:a="http://schemas.openxmlformats.org/drawingml/2006/main">
              <a:ext uri="{FF2B5EF4-FFF2-40B4-BE49-F238E27FC236}">
                <a16:creationId xmlns:a16="http://schemas.microsoft.com/office/drawing/2014/main" id="{4DF5E438-760F-A277-DDDD-CB26F7549F7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6</a:t>
            </a:fld>
          </a:p>
        </p:txBody>
      </p:sp>
      <p:graphicFrame>
        <p:nvGraphicFramePr>
          <p:cNvPr id="28" name="Table 2"/>
          <p:cNvGraphicFramePr/>
          <p:nvPr/>
        </p:nvGraphicFramePr>
        <p:xfrm>
          <a:off xmlns:a="http://schemas.openxmlformats.org/drawingml/2006/main" x="364321" y="1265121"/>
          <a:ext xmlns:a="http://schemas.openxmlformats.org/drawingml/2006/main" cx="11463359" cy="1532892"/>
        </p:xfrm>
        <a:graphic xmlns:a="http://schemas.openxmlformats.org/drawingml/2006/main">
          <a:graphicData uri="http://schemas.openxmlformats.org/drawingml/2006/table">
            <a:tbl>
              <a:tblPr bandRow="1">
                <a:tableStyleId>{3B4B98B0-60AC-42C2-AFA5-B58CD77FA1E5}</a:tableStyleId>
              </a:tblPr>
              <a:tblGrid>
                <a:gridCol w="1399339"/>
                <a:gridCol w="809858"/>
                <a:gridCol w="9254162"/>
              </a:tblGrid>
              <a:tr h="174337">
                <a:tc>
                  <a:txBody>
                    <a:bodyPr/>
                    <a:lstStyle/>
                    <a:p>
                      <a:pPr algn="l">
                        <a:buNone/>
                      </a:pPr>
                      <a:r>
                        <a:rPr sz="1200" b="1" u="none">
                          <a:solidFill>
                            <a:schemeClr val="tx1"/>
                          </a:solidFill>
                          <a:latin typeface="Arial"/>
                          <a:ea typeface="Arial"/>
                          <a:cs typeface="Arial"/>
                        </a:rPr>
                        <a:t>Ngày</a:t>
                      </a:r>
                    </a:p>
                  </a:txBody>
                  <a:tcPr marL="45720" marR="45720" marT="45720" marB="45720" anchor="ctr"/>
                </a:tc>
                <a:tc>
                  <a:txBody>
                    <a:bodyPr/>
                    <a:lstStyle/>
                    <a:p>
                      <a:pPr algn="l">
                        <a:buNone/>
                      </a:pPr>
                      <a:r>
                        <a:rPr sz="1200" b="1" i="0" u="none">
                          <a:solidFill>
                            <a:schemeClr val="tx1"/>
                          </a:solidFill>
                          <a:latin typeface="Arial"/>
                          <a:ea typeface="Arial"/>
                          <a:cs typeface="Arial"/>
                        </a:rPr>
                        <a:t>Mã</a:t>
                      </a:r>
                    </a:p>
                  </a:txBody>
                  <a:tcPr marL="45720" marR="45720" marT="45720" marB="45720" anchor="ctr"/>
                </a:tc>
                <a:tc>
                  <a:txBody>
                    <a:bodyPr/>
                    <a:lstStyle/>
                    <a:p>
                      <a:pPr algn="ctr">
                        <a:buNone/>
                      </a:pPr>
                      <a:r>
                        <a:rPr sz="1200" b="1" u="none">
                          <a:solidFill>
                            <a:schemeClr val="tx1"/>
                          </a:solidFill>
                          <a:latin typeface="Arial"/>
                          <a:ea typeface="Arial"/>
                          <a:cs typeface="Arial"/>
                        </a:rPr>
                        <a:t>Sự</a:t>
                      </a:r>
                      <a:r>
                        <a:rPr sz="1200" b="1" u="none">
                          <a:solidFill>
                            <a:schemeClr val="tx1"/>
                          </a:solidFill>
                          <a:latin typeface="Arial"/>
                          <a:ea typeface="Arial"/>
                          <a:cs typeface="Arial"/>
                        </a:rPr>
                        <a:t> </a:t>
                      </a:r>
                      <a:r>
                        <a:rPr sz="1200" b="1" u="none">
                          <a:solidFill>
                            <a:schemeClr val="tx1"/>
                          </a:solidFill>
                          <a:latin typeface="Arial"/>
                          <a:ea typeface="Arial"/>
                          <a:cs typeface="Arial"/>
                        </a:rPr>
                        <a:t>kiện</a:t>
                      </a:r>
                    </a:p>
                  </a:txBody>
                  <a:tcPr marL="45720" marR="45720" marT="45720" marB="45720" anchor="ctr"/>
                </a:tc>
              </a:tr>
              <a:tr h="169612">
                <a:tc>
                  <a:txBody>
                    <a:bodyPr/>
                    <a:lstStyle/>
                    <a:p>
                      <a:pPr algn="l">
                        <a:buNone/>
                      </a:pP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p>
                  </a:txBody>
                  <a:tcPr marL="45720" marR="45720" marT="45720" marB="45720" anchor="ctr"/>
                </a:tc>
              </a:tr>
              <a:tr h="169612">
                <a:tc>
                  <a:txBody>
                    <a:bodyPr/>
                    <a:lstStyle/>
                    <a:p>
                      <a:pPr algn="l">
                        <a:buNone/>
                      </a:pP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p>
                  </a:txBody>
                  <a:tcPr marL="45720" marR="45720" marT="45720" marB="45720" anchor="ctr"/>
                </a:tc>
              </a:tr>
              <a:tr h="169612">
                <a:tc>
                  <a:txBody>
                    <a:bodyPr/>
                    <a:lstStyle/>
                    <a:p>
                      <a:pPr algn="l">
                        <a:buNone/>
                      </a:pP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p>
                  </a:txBody>
                  <a:tcPr marL="45720" marR="45720" marT="45720" marB="45720" anchor="ctr"/>
                </a:tc>
              </a:tr>
              <a:tr h="169612">
                <a:tc>
                  <a:txBody>
                    <a:bodyPr/>
                    <a:lstStyle/>
                    <a:p>
                      <a:pPr algn="l">
                        <a:buNone/>
                      </a:pP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p>
                  </a:txBody>
                  <a:tcPr marL="45720" marR="45720" marT="45720" marB="45720" anchor="ctr"/>
                </a:tc>
              </a:tr>
            </a:tbl>
          </a:graphicData>
        </a:graphic>
      </p:graphicFrame>
      <p:graphicFrame>
        <p:nvGraphicFramePr>
          <p:cNvPr id="29" name="Table 6"/>
          <p:cNvGraphicFramePr/>
          <p:nvPr/>
        </p:nvGraphicFramePr>
        <p:xfrm>
          <a:off xmlns:a="http://schemas.openxmlformats.org/drawingml/2006/main" x="364321" y="4048812"/>
          <a:ext xmlns:a="http://schemas.openxmlformats.org/drawingml/2006/main" cx="7733305" cy="1625298"/>
        </p:xfrm>
        <a:graphic xmlns:a="http://schemas.openxmlformats.org/drawingml/2006/main">
          <a:graphicData uri="http://schemas.openxmlformats.org/drawingml/2006/table">
            <a:tbl>
              <a:tblPr firstRow="1" bandRow="1">
                <a:tableStyleId>{B301B821-A1FF-4177-AEE7-76D212191A09}</a:tableStyleId>
              </a:tblPr>
              <a:tblGrid>
                <a:gridCol w="1546661"/>
                <a:gridCol w="1546661"/>
                <a:gridCol w="1546661"/>
                <a:gridCol w="1546661"/>
                <a:gridCol w="1546661"/>
              </a:tblGrid>
              <a:tr h="270883">
                <a:tc>
                  <a:txBody>
                    <a:bodyPr/>
                    <a:lstStyle/>
                    <a:p>
                      <a:pPr algn="l">
                        <a:buNone/>
                      </a:pPr>
                      <a:r>
                        <a:rPr sz="1200" b="1" i="0" u="none">
                          <a:solidFill>
                            <a:schemeClr val="bg1"/>
                          </a:solidFill>
                          <a:latin typeface="Arial"/>
                          <a:ea typeface="Arial"/>
                          <a:cs typeface="Arial"/>
                        </a:rPr>
                        <a:t>KLGD NDTNN</a:t>
                      </a:r>
                    </a:p>
                  </a:txBody>
                  <a:tcPr marL="9525" marR="9525" marT="9525" marB="0" anchor="b"/>
                </a:tc>
                <a:tc>
                  <a:txBody>
                    <a:bodyPr/>
                    <a:lstStyle/>
                    <a:p>
                      <a:pPr algn="r">
                        <a:buNone/>
                      </a:pPr>
                      <a:r>
                        <a:rPr sz="1200" b="1" i="0" u="none">
                          <a:solidFill>
                            <a:srgbClr val="FFFFFF"/>
                          </a:solidFill>
                          <a:latin typeface="Arial"/>
                          <a:ea typeface="Arial"/>
                          <a:cs typeface="Arial"/>
                        </a:rPr>
                        <a:t>ACB</a:t>
                      </a:r>
                    </a:p>
                  </a:txBody>
                  <a:tcPr marL="9525" marR="9525" marT="9525" marB="0" anchor="ctr"/>
                </a:tc>
                <a:tc>
                  <a:txBody>
                    <a:bodyPr/>
                    <a:lstStyle/>
                    <a:p>
                      <a:pPr algn="r">
                        <a:buNone/>
                      </a:pPr>
                      <a:r>
                        <a:rPr sz="1200" b="1" i="0" u="none">
                          <a:solidFill>
                            <a:srgbClr val="FFFFFF"/>
                          </a:solidFill>
                          <a:latin typeface="Arial"/>
                          <a:ea typeface="Arial"/>
                          <a:cs typeface="Arial"/>
                        </a:rPr>
                        <a:t>VIB</a:t>
                      </a:r>
                    </a:p>
                  </a:txBody>
                  <a:tcPr marL="9525" marR="9525" marT="9525" marB="0" anchor="ctr"/>
                </a:tc>
                <a:tc>
                  <a:txBody>
                    <a:bodyPr/>
                    <a:lstStyle/>
                    <a:p>
                      <a:pPr algn="r">
                        <a:buNone/>
                      </a:pPr>
                      <a:r>
                        <a:rPr sz="1200" b="1" i="0" u="none">
                          <a:solidFill>
                            <a:srgbClr val="FFFFFF"/>
                          </a:solidFill>
                          <a:latin typeface="Arial"/>
                          <a:ea typeface="Arial"/>
                          <a:cs typeface="Arial"/>
                        </a:rPr>
                        <a:t>VPB</a:t>
                      </a:r>
                    </a:p>
                  </a:txBody>
                  <a:tcPr marL="9525" marR="9525" marT="9525" marB="0" anchor="ctr"/>
                </a:tc>
                <a:tc>
                  <a:txBody>
                    <a:bodyPr/>
                    <a:lstStyle/>
                    <a:p>
                      <a:pPr algn="r">
                        <a:buNone/>
                      </a:pPr>
                      <a:r>
                        <a:rPr sz="1200" b="1" i="0" u="none">
                          <a:solidFill>
                            <a:srgbClr val="FFFFFF"/>
                          </a:solidFill>
                          <a:latin typeface="Arial"/>
                          <a:ea typeface="Arial"/>
                          <a:cs typeface="Arial"/>
                        </a:rPr>
                        <a:t>TCB</a:t>
                      </a:r>
                    </a:p>
                  </a:txBody>
                  <a:tcPr marL="9525" marR="9525" marT="9525" marB="0" anchor="ctr"/>
                </a:tc>
              </a:tr>
              <a:tr h="270883">
                <a:tc>
                  <a:txBody>
                    <a:bodyPr/>
                    <a:lstStyle/>
                    <a:p>
                      <a:pPr algn="l">
                        <a:buNone/>
                      </a:pPr>
                      <a:r>
                        <a:rPr sz="1200" b="0" i="0" u="none">
                          <a:solidFill>
                            <a:srgbClr val="000000"/>
                          </a:solidFill>
                          <a:latin typeface="Arial"/>
                          <a:ea typeface="Arial"/>
                          <a:cs typeface="Arial"/>
                        </a:rPr>
                        <a:t>Tháng</a:t>
                      </a:r>
                      <a:r>
                        <a:rPr sz="1200" b="0" i="0" u="none">
                          <a:solidFill>
                            <a:srgbClr val="000000"/>
                          </a:solidFill>
                          <a:latin typeface="Arial"/>
                          <a:ea typeface="Arial"/>
                          <a:cs typeface="Arial"/>
                        </a:rPr>
                        <a:t> 5</a:t>
                      </a:r>
                    </a:p>
                  </a:txBody>
                  <a:tcPr marL="9525" marR="9525" marT="9525" marB="0" anchor="b"/>
                </a:tc>
                <a:tc>
                  <a:txBody>
                    <a:bodyPr/>
                    <a:lstStyle/>
                    <a:p>
                      <a:pPr algn="r">
                        <a:buNone/>
                      </a:pPr>
                      <a:r>
                        <a:rPr sz="1200" b="0" i="0" u="none">
                          <a:solidFill>
                            <a:srgbClr val="000000"/>
                          </a:solidFill>
                          <a:latin typeface="Arial"/>
                          <a:ea typeface="Arial"/>
                          <a:cs typeface="Arial"/>
                        </a:rPr>
                        <a:t>-104.202.935</a:t>
                      </a:r>
                    </a:p>
                  </a:txBody>
                  <a:tcPr marL="9525" marR="9525" marT="9525" marB="0" anchor="b"/>
                </a:tc>
                <a:tc>
                  <a:txBody>
                    <a:bodyPr/>
                    <a:lstStyle/>
                    <a:p>
                      <a:pPr algn="r">
                        <a:buNone/>
                      </a:pPr>
                      <a:r>
                        <a:rPr sz="1200" b="0" i="0" u="none">
                          <a:solidFill>
                            <a:srgbClr val="000000"/>
                          </a:solidFill>
                          <a:latin typeface="Arial"/>
                          <a:ea typeface="Arial"/>
                          <a:cs typeface="Arial"/>
                        </a:rPr>
                        <a:t>-6.578.521</a:t>
                      </a:r>
                    </a:p>
                  </a:txBody>
                  <a:tcPr marL="9525" marR="9525" marT="9525" marB="0" anchor="b"/>
                </a:tc>
                <a:tc>
                  <a:txBody>
                    <a:bodyPr/>
                    <a:lstStyle/>
                    <a:p>
                      <a:pPr algn="r">
                        <a:buNone/>
                      </a:pPr>
                      <a:r>
                        <a:rPr sz="1200" b="0" i="0" u="none">
                          <a:solidFill>
                            <a:srgbClr val="000000"/>
                          </a:solidFill>
                          <a:latin typeface="Arial"/>
                          <a:ea typeface="Arial"/>
                          <a:cs typeface="Arial"/>
                        </a:rPr>
                        <a:t>-2.318.137</a:t>
                      </a:r>
                    </a:p>
                  </a:txBody>
                  <a:tcPr marL="9525" marR="9525" marT="9525" marB="0" anchor="b"/>
                </a:tc>
                <a:tc>
                  <a:txBody>
                    <a:bodyPr/>
                    <a:lstStyle/>
                    <a:p>
                      <a:pPr algn="r">
                        <a:buNone/>
                      </a:pPr>
                      <a:r>
                        <a:rPr sz="1200" b="0" i="0" u="none">
                          <a:solidFill>
                            <a:srgbClr val="000000"/>
                          </a:solidFill>
                          <a:latin typeface="Arial"/>
                          <a:ea typeface="Arial"/>
                          <a:cs typeface="Arial"/>
                        </a:rPr>
                        <a:t>-18.726.477</a:t>
                      </a:r>
                    </a:p>
                  </a:txBody>
                  <a:tcPr marL="9525" marR="9525" marT="9525" marB="0" anchor="b"/>
                </a:tc>
              </a:tr>
              <a:tr h="270883">
                <a:tc>
                  <a:txBody>
                    <a:bodyPr/>
                    <a:lstStyle/>
                    <a:p>
                      <a:pPr algn="l">
                        <a:buNone/>
                      </a:pPr>
                      <a:r>
                        <a:rPr sz="1200" b="0" i="0" u="none">
                          <a:solidFill>
                            <a:srgbClr val="000000"/>
                          </a:solidFill>
                          <a:latin typeface="Arial"/>
                          <a:ea typeface="Arial"/>
                          <a:cs typeface="Arial"/>
                        </a:rPr>
                        <a:t>Tháng</a:t>
                      </a:r>
                      <a:r>
                        <a:rPr sz="1200" b="0" i="0" u="none">
                          <a:solidFill>
                            <a:srgbClr val="000000"/>
                          </a:solidFill>
                          <a:latin typeface="Arial"/>
                          <a:ea typeface="Arial"/>
                          <a:cs typeface="Arial"/>
                        </a:rPr>
                        <a:t> 6</a:t>
                      </a:r>
                    </a:p>
                  </a:txBody>
                  <a:tcPr marL="9525" marR="9525" marT="9525" marB="0" anchor="b"/>
                </a:tc>
                <a:tc>
                  <a:txBody>
                    <a:bodyPr/>
                    <a:lstStyle/>
                    <a:p>
                      <a:pPr algn="r">
                        <a:buNone/>
                      </a:pPr>
                      <a:r>
                        <a:rPr sz="1200" b="0" i="0" u="none">
                          <a:solidFill>
                            <a:srgbClr val="000000"/>
                          </a:solidFill>
                          <a:latin typeface="Arial"/>
                          <a:ea typeface="Arial"/>
                          <a:cs typeface="Arial"/>
                        </a:rPr>
                        <a:t>-13.874.435</a:t>
                      </a:r>
                    </a:p>
                  </a:txBody>
                  <a:tcPr marL="9525" marR="9525" marT="9525" marB="0" anchor="b"/>
                </a:tc>
                <a:tc>
                  <a:txBody>
                    <a:bodyPr/>
                    <a:lstStyle/>
                    <a:p>
                      <a:pPr algn="r">
                        <a:buNone/>
                      </a:pPr>
                      <a:r>
                        <a:rPr sz="1200" b="0" i="0" u="none">
                          <a:solidFill>
                            <a:srgbClr val="000000"/>
                          </a:solidFill>
                          <a:latin typeface="Arial"/>
                          <a:ea typeface="Arial"/>
                          <a:cs typeface="Arial"/>
                        </a:rPr>
                        <a:t>-15.838.065</a:t>
                      </a:r>
                    </a:p>
                  </a:txBody>
                  <a:tcPr marL="9525" marR="9525" marT="9525" marB="0" anchor="b"/>
                </a:tc>
                <a:tc>
                  <a:txBody>
                    <a:bodyPr/>
                    <a:lstStyle/>
                    <a:p>
                      <a:pPr algn="r">
                        <a:buNone/>
                      </a:pPr>
                      <a:r>
                        <a:rPr sz="1200" b="0" i="0" u="none">
                          <a:solidFill>
                            <a:srgbClr val="000000"/>
                          </a:solidFill>
                          <a:latin typeface="Arial"/>
                          <a:ea typeface="Arial"/>
                          <a:cs typeface="Arial"/>
                        </a:rPr>
                        <a:t>-57.219.998</a:t>
                      </a:r>
                    </a:p>
                  </a:txBody>
                  <a:tcPr marL="9525" marR="9525" marT="9525" marB="0" anchor="b"/>
                </a:tc>
                <a:tc>
                  <a:txBody>
                    <a:bodyPr/>
                    <a:lstStyle/>
                    <a:p>
                      <a:pPr algn="r">
                        <a:buNone/>
                      </a:pPr>
                      <a:r>
                        <a:rPr sz="1200" b="0" i="0" u="none">
                          <a:solidFill>
                            <a:srgbClr val="000000"/>
                          </a:solidFill>
                          <a:latin typeface="Arial"/>
                          <a:ea typeface="Arial"/>
                          <a:cs typeface="Arial"/>
                        </a:rPr>
                        <a:t>-46.266.718</a:t>
                      </a:r>
                    </a:p>
                  </a:txBody>
                  <a:tcPr marL="9525" marR="9525" marT="9525" marB="0" anchor="b"/>
                </a:tc>
              </a:tr>
              <a:tr h="270883">
                <a:tc>
                  <a:txBody>
                    <a:bodyPr/>
                    <a:lstStyle/>
                    <a:p>
                      <a:pPr algn="l">
                        <a:buNone/>
                      </a:pPr>
                      <a:r>
                        <a:rPr sz="1200" b="0" i="0" u="none">
                          <a:solidFill>
                            <a:srgbClr val="000000"/>
                          </a:solidFill>
                          <a:latin typeface="Arial"/>
                          <a:ea typeface="Arial"/>
                          <a:cs typeface="Arial"/>
                        </a:rPr>
                        <a:t>Tháng</a:t>
                      </a:r>
                      <a:r>
                        <a:rPr sz="1200" b="0" i="0" u="none">
                          <a:solidFill>
                            <a:srgbClr val="000000"/>
                          </a:solidFill>
                          <a:latin typeface="Arial"/>
                          <a:ea typeface="Arial"/>
                          <a:cs typeface="Arial"/>
                        </a:rPr>
                        <a:t> 7</a:t>
                      </a:r>
                    </a:p>
                  </a:txBody>
                  <a:tcPr marL="9525" marR="9525" marT="9525" marB="0" anchor="b"/>
                </a:tc>
                <a:tc>
                  <a:txBody>
                    <a:bodyPr/>
                    <a:lstStyle/>
                    <a:p>
                      <a:pPr algn="r">
                        <a:buNone/>
                      </a:pPr>
                      <a:r>
                        <a:rPr sz="1200" b="0" i="0" u="none">
                          <a:solidFill>
                            <a:srgbClr val="000000"/>
                          </a:solidFill>
                          <a:latin typeface="Arial"/>
                          <a:ea typeface="Arial"/>
                          <a:cs typeface="Arial"/>
                        </a:rPr>
                        <a:t>-20.044.268</a:t>
                      </a:r>
                    </a:p>
                  </a:txBody>
                  <a:tcPr marL="9525" marR="9525" marT="9525" marB="0" anchor="b"/>
                </a:tc>
                <a:tc>
                  <a:txBody>
                    <a:bodyPr/>
                    <a:lstStyle/>
                    <a:p>
                      <a:pPr algn="r">
                        <a:buNone/>
                      </a:pPr>
                      <a:r>
                        <a:rPr sz="1200" b="0" i="0" u="none">
                          <a:solidFill>
                            <a:srgbClr val="000000"/>
                          </a:solidFill>
                          <a:latin typeface="Arial"/>
                          <a:ea typeface="Arial"/>
                          <a:cs typeface="Arial"/>
                        </a:rPr>
                        <a:t>-25.052.808</a:t>
                      </a:r>
                    </a:p>
                  </a:txBody>
                  <a:tcPr marL="9525" marR="9525" marT="9525" marB="0" anchor="b"/>
                </a:tc>
                <a:tc>
                  <a:txBody>
                    <a:bodyPr/>
                    <a:lstStyle/>
                    <a:p>
                      <a:pPr algn="r">
                        <a:buNone/>
                      </a:pPr>
                      <a:r>
                        <a:rPr sz="1200" b="0" i="0" u="none">
                          <a:solidFill>
                            <a:srgbClr val="000000"/>
                          </a:solidFill>
                          <a:latin typeface="Arial"/>
                          <a:ea typeface="Arial"/>
                          <a:cs typeface="Arial"/>
                        </a:rPr>
                        <a:t>-39.496.132</a:t>
                      </a:r>
                    </a:p>
                  </a:txBody>
                  <a:tcPr marL="9525" marR="9525" marT="9525" marB="0" anchor="b"/>
                </a:tc>
                <a:tc>
                  <a:txBody>
                    <a:bodyPr/>
                    <a:lstStyle/>
                    <a:p>
                      <a:pPr algn="r">
                        <a:buNone/>
                      </a:pPr>
                      <a:r>
                        <a:rPr sz="1200" b="0" i="0" u="none">
                          <a:solidFill>
                            <a:srgbClr val="000000"/>
                          </a:solidFill>
                          <a:latin typeface="Arial"/>
                          <a:ea typeface="Arial"/>
                          <a:cs typeface="Arial"/>
                        </a:rPr>
                        <a:t>-43.747.657</a:t>
                      </a:r>
                    </a:p>
                  </a:txBody>
                  <a:tcPr marL="9525" marR="9525" marT="9525" marB="0" anchor="b"/>
                </a:tc>
              </a:tr>
              <a:tr h="270883">
                <a:tc>
                  <a:txBody>
                    <a:bodyPr/>
                    <a:lstStyle/>
                    <a:p>
                      <a:pPr algn="l">
                        <a:buNone/>
                      </a:pPr>
                      <a:r>
                        <a:rPr sz="1200" b="0" i="0" u="none">
                          <a:solidFill>
                            <a:srgbClr val="000000"/>
                          </a:solidFill>
                          <a:latin typeface="Arial"/>
                          <a:ea typeface="Arial"/>
                          <a:cs typeface="Arial"/>
                        </a:rPr>
                        <a:t>Từ</a:t>
                      </a:r>
                      <a:r>
                        <a:rPr sz="1200" b="0" i="0" u="none">
                          <a:solidFill>
                            <a:srgbClr val="000000"/>
                          </a:solidFill>
                          <a:latin typeface="Arial"/>
                          <a:ea typeface="Arial"/>
                          <a:cs typeface="Arial"/>
                        </a:rPr>
                        <a:t> </a:t>
                      </a:r>
                      <a:r>
                        <a:rPr sz="1200" b="0" i="0" u="none">
                          <a:solidFill>
                            <a:srgbClr val="000000"/>
                          </a:solidFill>
                          <a:latin typeface="Arial"/>
                          <a:ea typeface="Arial"/>
                          <a:cs typeface="Arial"/>
                        </a:rPr>
                        <a:t>đầu</a:t>
                      </a:r>
                      <a:r>
                        <a:rPr sz="1200" b="0" i="0" u="none">
                          <a:solidFill>
                            <a:srgbClr val="000000"/>
                          </a:solidFill>
                          <a:latin typeface="Arial"/>
                          <a:ea typeface="Arial"/>
                          <a:cs typeface="Arial"/>
                        </a:rPr>
                        <a:t> </a:t>
                      </a:r>
                      <a:r>
                        <a:rPr sz="1200" b="0" i="0" u="none">
                          <a:solidFill>
                            <a:srgbClr val="000000"/>
                          </a:solidFill>
                          <a:latin typeface="Arial"/>
                          <a:ea typeface="Arial"/>
                          <a:cs typeface="Arial"/>
                        </a:rPr>
                        <a:t>năm</a:t>
                      </a:r>
                    </a:p>
                  </a:txBody>
                  <a:tcPr marL="9525" marR="9525" marT="9525" marB="0" anchor="b"/>
                </a:tc>
                <a:tc>
                  <a:txBody>
                    <a:bodyPr/>
                    <a:lstStyle/>
                    <a:p>
                      <a:pPr algn="r">
                        <a:buNone/>
                      </a:pPr>
                      <a:r>
                        <a:rPr sz="1200" b="0" i="0" u="none">
                          <a:solidFill>
                            <a:srgbClr val="000000"/>
                          </a:solidFill>
                          <a:latin typeface="Arial"/>
                          <a:ea typeface="Arial"/>
                          <a:cs typeface="Arial"/>
                        </a:rPr>
                        <a:t>-228.820.850</a:t>
                      </a:r>
                    </a:p>
                  </a:txBody>
                  <a:tcPr marL="9525" marR="9525" marT="9525" marB="0" anchor="b"/>
                </a:tc>
                <a:tc>
                  <a:txBody>
                    <a:bodyPr/>
                    <a:lstStyle/>
                    <a:p>
                      <a:pPr algn="r">
                        <a:buNone/>
                      </a:pPr>
                      <a:r>
                        <a:rPr sz="1200" b="0" i="0" u="none">
                          <a:solidFill>
                            <a:srgbClr val="000000"/>
                          </a:solidFill>
                          <a:latin typeface="Arial"/>
                          <a:ea typeface="Arial"/>
                          <a:cs typeface="Arial"/>
                        </a:rPr>
                        <a:t>-53.116.009</a:t>
                      </a:r>
                    </a:p>
                  </a:txBody>
                  <a:tcPr marL="9525" marR="9525" marT="9525" marB="0" anchor="b"/>
                </a:tc>
                <a:tc>
                  <a:txBody>
                    <a:bodyPr/>
                    <a:lstStyle/>
                    <a:p>
                      <a:pPr algn="r">
                        <a:buNone/>
                      </a:pPr>
                      <a:r>
                        <a:rPr sz="1200" b="0" i="0" u="none">
                          <a:solidFill>
                            <a:srgbClr val="000000"/>
                          </a:solidFill>
                          <a:latin typeface="Arial"/>
                          <a:ea typeface="Arial"/>
                          <a:cs typeface="Arial"/>
                        </a:rPr>
                        <a:t>-103.383.042</a:t>
                      </a:r>
                    </a:p>
                  </a:txBody>
                  <a:tcPr marL="9525" marR="9525" marT="9525" marB="0" anchor="b"/>
                </a:tc>
                <a:tc>
                  <a:txBody>
                    <a:bodyPr/>
                    <a:lstStyle/>
                    <a:p>
                      <a:pPr algn="r">
                        <a:buNone/>
                      </a:pPr>
                      <a:r>
                        <a:rPr sz="1200" b="0" i="0" u="none">
                          <a:solidFill>
                            <a:srgbClr val="000000"/>
                          </a:solidFill>
                          <a:latin typeface="Arial"/>
                          <a:ea typeface="Arial"/>
                          <a:cs typeface="Arial"/>
                        </a:rPr>
                        <a:t>-108.872.152</a:t>
                      </a:r>
                    </a:p>
                  </a:txBody>
                  <a:tcPr marL="9525" marR="9525" marT="9525" marB="0" anchor="b"/>
                </a:tc>
              </a:tr>
              <a:tr h="270883">
                <a:tc>
                  <a:txBody>
                    <a:bodyPr/>
                    <a:lstStyle/>
                    <a:p>
                      <a:pPr algn="l">
                        <a:buNone/>
                      </a:pPr>
                      <a:r>
                        <a:rPr sz="1200" b="0" i="0" u="none">
                          <a:solidFill>
                            <a:srgbClr val="000000"/>
                          </a:solidFill>
                          <a:latin typeface="Arial"/>
                          <a:ea typeface="Arial"/>
                          <a:cs typeface="Arial"/>
                        </a:rPr>
                        <a:t>Room NN </a:t>
                      </a:r>
                      <a:r>
                        <a:rPr sz="1200" b="0" i="0" u="none">
                          <a:solidFill>
                            <a:srgbClr val="000000"/>
                          </a:solidFill>
                          <a:latin typeface="Arial"/>
                          <a:ea typeface="Arial"/>
                          <a:cs typeface="Arial"/>
                        </a:rPr>
                        <a:t>còn</a:t>
                      </a:r>
                      <a:r>
                        <a:rPr sz="1200" b="0" i="0" u="none">
                          <a:solidFill>
                            <a:srgbClr val="000000"/>
                          </a:solidFill>
                          <a:latin typeface="Arial"/>
                          <a:ea typeface="Arial"/>
                          <a:cs typeface="Arial"/>
                        </a:rPr>
                        <a:t> </a:t>
                      </a:r>
                      <a:r>
                        <a:rPr sz="1200" b="0" i="0" u="none">
                          <a:solidFill>
                            <a:srgbClr val="000000"/>
                          </a:solidFill>
                          <a:latin typeface="Arial"/>
                          <a:ea typeface="Arial"/>
                          <a:cs typeface="Arial"/>
                        </a:rPr>
                        <a:t>lại</a:t>
                      </a:r>
                    </a:p>
                  </a:txBody>
                  <a:tcPr marL="9525" marR="9525" marT="9525" marB="0" anchor="b"/>
                </a:tc>
                <a:tc>
                  <a:txBody>
                    <a:bodyPr/>
                    <a:lstStyle/>
                    <a:p>
                      <a:pPr algn="r">
                        <a:buNone/>
                      </a:pPr>
                      <a:r>
                        <a:rPr sz="1200" b="0" i="0" u="none">
                          <a:solidFill>
                            <a:srgbClr val="000000"/>
                          </a:solidFill>
                          <a:latin typeface="Arial"/>
                          <a:ea typeface="Arial"/>
                          <a:cs typeface="Arial"/>
                        </a:rPr>
                        <a:t>6,4%</a:t>
                      </a:r>
                    </a:p>
                  </a:txBody>
                  <a:tcPr marL="9525" marR="9525" marT="9525" marB="0" anchor="b"/>
                </a:tc>
                <a:tc>
                  <a:txBody>
                    <a:bodyPr/>
                    <a:lstStyle/>
                    <a:p>
                      <a:pPr algn="r">
                        <a:buNone/>
                      </a:pPr>
                      <a:r>
                        <a:rPr sz="1200" b="0" i="0" u="none">
                          <a:solidFill>
                            <a:srgbClr val="000000"/>
                          </a:solidFill>
                          <a:latin typeface="Arial"/>
                          <a:ea typeface="Arial"/>
                          <a:cs typeface="Arial"/>
                        </a:rPr>
                        <a:t>1,5%</a:t>
                      </a:r>
                    </a:p>
                  </a:txBody>
                  <a:tcPr marL="9525" marR="9525" marT="9525" marB="0" anchor="b"/>
                </a:tc>
                <a:tc>
                  <a:txBody>
                    <a:bodyPr/>
                    <a:lstStyle/>
                    <a:p>
                      <a:pPr algn="r">
                        <a:buNone/>
                      </a:pPr>
                      <a:r>
                        <a:rPr sz="1200" b="0" i="0" u="none">
                          <a:solidFill>
                            <a:srgbClr val="000000"/>
                          </a:solidFill>
                          <a:latin typeface="Arial"/>
                          <a:ea typeface="Arial"/>
                          <a:cs typeface="Arial"/>
                        </a:rPr>
                        <a:t>6,6%</a:t>
                      </a:r>
                    </a:p>
                  </a:txBody>
                  <a:tcPr marL="9525" marR="9525" marT="9525" marB="0" anchor="b"/>
                </a:tc>
                <a:tc>
                  <a:txBody>
                    <a:bodyPr/>
                    <a:lstStyle/>
                    <a:p>
                      <a:pPr algn="r">
                        <a:buNone/>
                      </a:pPr>
                      <a:r>
                        <a:rPr sz="1200" b="0" i="0" u="none">
                          <a:solidFill>
                            <a:srgbClr val="000000"/>
                          </a:solidFill>
                          <a:latin typeface="Arial"/>
                          <a:ea typeface="Arial"/>
                          <a:cs typeface="Arial"/>
                        </a:rPr>
                        <a:t>1,4%</a:t>
                      </a:r>
                    </a:p>
                  </a:txBody>
                  <a:tcPr marL="9525" marR="9525" marT="9525" marB="0" anchor="b"/>
                </a:tc>
              </a:tr>
            </a:tbl>
          </a:graphicData>
        </a:graphic>
      </p:graphicFrame>
    </p:spTree>
    <p:extLst>
      <p:ext uri="{BB962C8B-B14F-4D97-AF65-F5344CB8AC3E}">
        <p14:creationId xmlns:p14="http://schemas.microsoft.com/office/powerpoint/2010/main" val="1246020045"/>
      </p:ext>
    </p:extLst>
  </p:cSld>
</p:sld>
</file>

<file path=ppt/slides/slide7.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0" name="Straight Connector 19">
            <a:extLst xmlns:a="http://schemas.openxmlformats.org/drawingml/2006/main">
              <a:ext uri="{FF2B5EF4-FFF2-40B4-BE49-F238E27FC236}">
                <a16:creationId xmlns:a16="http://schemas.microsoft.com/office/drawing/2014/main" id="{3C41D0C9-4C4F-40CF-A78B-24C080580B2F}"/>
              </a:ext>
            </a:extLst>
          </p:cNvPr>
          <p:cNvSpPr>
            <a:spLocks xmlns:a="http://schemas.openxmlformats.org/drawingml/2006/main" noGrp="1"/>
          </p:cNvSpPr>
          <p:nvPr/>
        </p:nvSpPr>
        <p:spPr>
          <a:xfrm xmlns:a="http://schemas.openxmlformats.org/drawingml/2006/main" flipV="1">
            <a:off x="261122" y="726334"/>
            <a:ext cx="11676878" cy="0"/>
          </a:xfrm>
          <a:prstGeom xmlns:a="http://schemas.openxmlformats.org/drawingml/2006/main" prst="line">
            <a:avLst/>
          </a:prstGeom>
          <a:ln xmlns:a="http://schemas.openxmlformats.org/drawingml/2006/main" w="19050">
            <a:solidFill>
              <a:srgbClr val="163A63"/>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Title 5">
            <a:extLst xmlns:a="http://schemas.openxmlformats.org/drawingml/2006/main">
              <a:ext uri="{FF2B5EF4-FFF2-40B4-BE49-F238E27FC236}">
                <a16:creationId xmlns:a16="http://schemas.microsoft.com/office/drawing/2014/main" id="{578E1B08-BF77-124A-880E-8FCBA0C71676}"/>
              </a:ext>
            </a:extLst>
          </p:cNvPr>
          <p:cNvSpPr>
            <a:spLocks xmlns:a="http://schemas.openxmlformats.org/drawingml/2006/main" noGrp="1"/>
          </p:cNvSpPr>
          <p:nvPr/>
        </p:nvSpPr>
        <p:spPr>
          <a:xfrm xmlns:a="http://schemas.openxmlformats.org/drawingml/2006/main">
            <a:off x="291437" y="349186"/>
            <a:ext cx="7991728" cy="355038"/>
          </a:xfrm>
          <a:prstGeom xmlns:a="http://schemas.openxmlformats.org/drawingml/2006/main" prst="rect">
            <a:avLst/>
          </a:prstGeom>
          <a:solidFill xmlns:a="http://schemas.openxmlformats.org/drawingml/2006/main">
            <a:schemeClr val="bg1"/>
          </a:solidFill>
        </p:spPr>
        <p:txBody>
          <a:bodyPr xmlns:a="http://schemas.openxmlformats.org/drawingml/2006/main" vert="horz" lIns="91440" tIns="45720" rIns="91440" bIns="45720" anchor="t">
            <a:noAutofit/>
          </a:bodyPr>
          <a:lstStyle xmlns:a="http://schemas.openxmlformats.org/drawingml/2006/main">
            <a:lvl1pPr algn="l" defTabSz="914400">
              <a:lnSpc>
                <a:spcPct val="90000"/>
              </a:lnSpc>
              <a:spcBef>
                <a:spcPct val="0"/>
              </a:spcBef>
              <a:buNone/>
              <a:defRPr sz="1875" kern="1200">
                <a:solidFill>
                  <a:schemeClr val="accent1"/>
                </a:solidFill>
                <a:latin typeface="+mj-lt"/>
                <a:ea typeface="+mj-lt"/>
                <a:cs typeface="+mj-lt"/>
              </a:defRPr>
            </a:lvl1pPr>
          </a:lstStyle>
          <a:p xmlns:a="http://schemas.openxmlformats.org/drawingml/2006/main">
            <a:pPr>
              <a:lnSpc>
                <a:spcPct val="114000"/>
              </a:lnSpc>
              <a:spcBef>
                <a:spcPts val="300"/>
              </a:spcBef>
              <a:spcAft>
                <a:spcPts val="300"/>
              </a:spcAft>
              <a:buNone/>
              <a:defRPr sz="1425" b="1">
                <a:solidFill>
                  <a:srgbClr val="163A63"/>
                </a:solidFill>
                <a:latin typeface="Arial"/>
                <a:ea typeface="Arial"/>
                <a:cs typeface="Arial"/>
              </a:defRPr>
            </a:pPr>
            <a:r>
              <a:rPr sz="1425" b="1">
                <a:solidFill>
                  <a:srgbClr val="163A63"/>
                </a:solidFill>
                <a:latin typeface="Arial"/>
                <a:ea typeface="Arial"/>
                <a:cs typeface="Arial"/>
              </a:rPr>
              <a:t>CÁC SỰ KIỆN DIỄN RA TRONG TUẦN 03/08 – 07/08/2026</a:t>
            </a:r>
          </a:p>
        </p:txBody>
      </p:sp>
      <p:sp>
        <p:nvSpPr>
          <p:cNvPr id="14" name="TextBox 13">
            <a:extLst xmlns:a="http://schemas.openxmlformats.org/drawingml/2006/main">
              <a:ext uri="{FF2B5EF4-FFF2-40B4-BE49-F238E27FC236}">
                <a16:creationId xmlns:a16="http://schemas.microsoft.com/office/drawing/2014/main" id="{2A5735BD-8F3E-4D76-B4E3-A85529B82324}"/>
              </a:ext>
            </a:extLst>
          </p:cNvPr>
          <p:cNvSpPr>
            <a:spLocks xmlns:a="http://schemas.openxmlformats.org/drawingml/2006/main" noGrp="1"/>
          </p:cNvSpPr>
          <p:nvPr/>
        </p:nvSpPr>
        <p:spPr>
          <a:xfrm xmlns:a="http://schemas.openxmlformats.org/drawingml/2006/main">
            <a:off x="306595" y="922013"/>
            <a:ext cx="11493675"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defRPr b="1">
                <a:solidFill>
                  <a:srgbClr val="1557B0"/>
                </a:solidFill>
                <a:latin typeface="Arial"/>
                <a:ea typeface="Arial"/>
                <a:cs typeface="Arial"/>
              </a:defRPr>
            </a:pPr>
            <a:r>
              <a:rPr sz="1400" b="1">
                <a:solidFill>
                  <a:srgbClr val="1557B0"/>
                </a:solidFill>
                <a:latin typeface="Arial"/>
                <a:ea typeface="Arial"/>
                <a:cs typeface="Arial"/>
              </a:rPr>
              <a:t>Trong</a:t>
            </a:r>
            <a:r>
              <a:rPr sz="1400" b="1">
                <a:solidFill>
                  <a:srgbClr val="1557B0"/>
                </a:solidFill>
                <a:latin typeface="Arial"/>
                <a:ea typeface="Arial"/>
                <a:cs typeface="Arial"/>
              </a:rPr>
              <a:t> n</a:t>
            </a:r>
            <a:r>
              <a:rPr sz="1400" b="1">
                <a:solidFill>
                  <a:srgbClr val="1557B0"/>
                </a:solidFill>
                <a:latin typeface="Arial"/>
                <a:ea typeface="Arial"/>
                <a:cs typeface="Arial"/>
              </a:rPr>
              <a:t>ư</a:t>
            </a:r>
            <a:r>
              <a:rPr sz="1400" b="1">
                <a:solidFill>
                  <a:srgbClr val="1557B0"/>
                </a:solidFill>
                <a:latin typeface="Arial"/>
                <a:ea typeface="Arial"/>
                <a:cs typeface="Arial"/>
              </a:rPr>
              <a:t>ớc</a:t>
            </a:r>
          </a:p>
        </p:txBody>
      </p:sp>
      <p:sp>
        <p:nvSpPr>
          <p:cNvPr id="9" name="TextBox 8">
            <a:extLst xmlns:a="http://schemas.openxmlformats.org/drawingml/2006/main">
              <a:ext uri="{FF2B5EF4-FFF2-40B4-BE49-F238E27FC236}">
                <a16:creationId xmlns:a16="http://schemas.microsoft.com/office/drawing/2014/main" id="{CF780BA3-FEDF-45F2-A2CF-3F69BACA285D}"/>
              </a:ext>
            </a:extLst>
          </p:cNvPr>
          <p:cNvSpPr>
            <a:spLocks xmlns:a="http://schemas.openxmlformats.org/drawingml/2006/main" noGrp="1"/>
          </p:cNvSpPr>
          <p:nvPr/>
        </p:nvSpPr>
        <p:spPr>
          <a:xfrm xmlns:a="http://schemas.openxmlformats.org/drawingml/2006/main">
            <a:off x="306595" y="3124233"/>
            <a:ext cx="11493675"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50000"/>
              </a:lnSpc>
              <a:buNone/>
              <a:defRPr b="1">
                <a:solidFill>
                  <a:srgbClr val="1557B0"/>
                </a:solidFill>
                <a:latin typeface="Arial"/>
                <a:ea typeface="Arial"/>
                <a:cs typeface="Arial"/>
              </a:defRPr>
            </a:pPr>
            <a:r>
              <a:rPr sz="1400" b="1">
                <a:solidFill>
                  <a:srgbClr val="1557B0"/>
                </a:solidFill>
                <a:latin typeface="Arial"/>
                <a:ea typeface="Arial"/>
                <a:cs typeface="Arial"/>
              </a:rPr>
              <a:t>Quốc </a:t>
            </a:r>
            <a:r>
              <a:rPr sz="1400" b="1">
                <a:solidFill>
                  <a:srgbClr val="1557B0"/>
                </a:solidFill>
                <a:latin typeface="Arial"/>
                <a:ea typeface="Arial"/>
                <a:cs typeface="Arial"/>
              </a:rPr>
              <a:t>tế</a:t>
            </a:r>
          </a:p>
          <a:p xmlns:a="http://schemas.openxmlformats.org/drawingml/2006/main">
            <a:pPr>
              <a:lnSpc>
                <a:spcPct val="150000"/>
              </a:lnSpc>
              <a:buNone/>
            </a:pPr>
          </a:p>
        </p:txBody>
      </p:sp>
      <p:sp>
        <p:nvSpPr>
          <p:cNvPr id="4" name="Slide Number Placeholder 3">
            <a:extLst xmlns:a="http://schemas.openxmlformats.org/drawingml/2006/main">
              <a:ext uri="{FF2B5EF4-FFF2-40B4-BE49-F238E27FC236}">
                <a16:creationId xmlns:a16="http://schemas.microsoft.com/office/drawing/2014/main" id="{BD6E5AEA-65D3-A6C9-7C6A-63F9481C9D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7</a:t>
            </a:fld>
          </a:p>
        </p:txBody>
      </p:sp>
      <p:graphicFrame>
        <p:nvGraphicFramePr>
          <p:cNvPr id="28" name="Table 2"/>
          <p:cNvGraphicFramePr/>
          <p:nvPr/>
        </p:nvGraphicFramePr>
        <p:xfrm>
          <a:off xmlns:a="http://schemas.openxmlformats.org/drawingml/2006/main" x="364321" y="3577080"/>
          <a:ext xmlns:a="http://schemas.openxmlformats.org/drawingml/2006/main" cx="11463358" cy="2063750"/>
        </p:xfrm>
        <a:graphic xmlns:a="http://schemas.openxmlformats.org/drawingml/2006/main">
          <a:graphicData uri="http://schemas.openxmlformats.org/drawingml/2006/table">
            <a:tbl>
              <a:tblPr bandRow="1">
                <a:tableStyleId>{3B4B98B0-60AC-42C2-AFA5-B58CD77FA1E5}</a:tableStyleId>
              </a:tblPr>
              <a:tblGrid>
                <a:gridCol w="2494208"/>
                <a:gridCol w="8969150"/>
              </a:tblGrid>
              <a:tr h="174337">
                <a:tc>
                  <a:txBody>
                    <a:bodyPr/>
                    <a:lstStyle/>
                    <a:p>
                      <a:pPr algn="l">
                        <a:buNone/>
                      </a:pPr>
                      <a:r>
                        <a:rPr sz="1400" b="1" u="none">
                          <a:solidFill>
                            <a:schemeClr val="tx1"/>
                          </a:solidFill>
                        </a:rPr>
                        <a:t>Ngày</a:t>
                      </a:r>
                    </a:p>
                  </a:txBody>
                  <a:tcPr marL="45720" marR="45720" marT="45720" marB="45720" anchor="ctr"/>
                </a:tc>
                <a:tc>
                  <a:txBody>
                    <a:bodyPr/>
                    <a:lstStyle/>
                    <a:p>
                      <a:pPr algn="ctr">
                        <a:buNone/>
                      </a:pPr>
                      <a:r>
                        <a:rPr sz="1400" b="1" u="none">
                          <a:solidFill>
                            <a:schemeClr val="tx1"/>
                          </a:solidFill>
                        </a:rPr>
                        <a:t>Sự</a:t>
                      </a:r>
                      <a:r>
                        <a:rPr sz="1400" b="1" u="none">
                          <a:solidFill>
                            <a:schemeClr val="tx1"/>
                          </a:solidFill>
                        </a:rPr>
                        <a:t> </a:t>
                      </a:r>
                      <a:r>
                        <a:rPr sz="1400" b="1" u="none">
                          <a:solidFill>
                            <a:schemeClr val="tx1"/>
                          </a:solidFill>
                        </a:rPr>
                        <a:t>kiện</a:t>
                      </a:r>
                    </a:p>
                  </a:txBody>
                  <a:tcPr marL="45720" marR="45720" marT="45720" marB="45720" anchor="ctr"/>
                </a:tc>
              </a:tr>
              <a:tr h="169612">
                <a:tc>
                  <a:txBody>
                    <a:bodyPr/>
                    <a:lstStyle/>
                    <a:p>
                      <a:pPr algn="l">
                        <a:buNone/>
                      </a:pPr>
                      <a:r>
                        <a:rPr sz="1400" b="0" i="0" u="none">
                          <a:solidFill>
                            <a:srgbClr val="000000"/>
                          </a:solidFill>
                          <a:latin typeface="Calibri"/>
                          <a:ea typeface="Calibri"/>
                          <a:cs typeface="Calibri"/>
                        </a:rPr>
                        <a:t>07/08/2026</a:t>
                      </a: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r>
                        <a:rPr sz="1400" b="0" u="none">
                          <a:solidFill>
                            <a:srgbClr val="000000"/>
                          </a:solidFill>
                          <a:latin typeface="+mn-lt"/>
                          <a:ea typeface="+mn-lt"/>
                          <a:cs typeface="+mn-lt"/>
                        </a:rPr>
                        <a:t>Mỹ</a:t>
                      </a:r>
                      <a:r>
                        <a:rPr sz="1400" b="0" u="none">
                          <a:solidFill>
                            <a:srgbClr val="000000"/>
                          </a:solidFill>
                          <a:latin typeface="+mn-lt"/>
                          <a:ea typeface="+mn-lt"/>
                          <a:cs typeface="+mn-lt"/>
                        </a:rPr>
                        <a:t> </a:t>
                      </a:r>
                      <a:r>
                        <a:rPr sz="1400" b="0" u="none">
                          <a:solidFill>
                            <a:srgbClr val="000000"/>
                          </a:solidFill>
                          <a:latin typeface="+mn-lt"/>
                          <a:ea typeface="+mn-lt"/>
                          <a:cs typeface="+mn-lt"/>
                        </a:rPr>
                        <a:t>công</a:t>
                      </a:r>
                      <a:r>
                        <a:rPr sz="1400" b="0" u="none">
                          <a:solidFill>
                            <a:srgbClr val="000000"/>
                          </a:solidFill>
                          <a:latin typeface="+mn-lt"/>
                          <a:ea typeface="+mn-lt"/>
                          <a:cs typeface="+mn-lt"/>
                        </a:rPr>
                        <a:t> </a:t>
                      </a:r>
                      <a:r>
                        <a:rPr sz="1400" b="0" u="none">
                          <a:solidFill>
                            <a:srgbClr val="000000"/>
                          </a:solidFill>
                          <a:latin typeface="+mn-lt"/>
                          <a:ea typeface="+mn-lt"/>
                          <a:cs typeface="+mn-lt"/>
                        </a:rPr>
                        <a:t>bố</a:t>
                      </a:r>
                      <a:r>
                        <a:rPr sz="1400" b="0" u="none">
                          <a:solidFill>
                            <a:srgbClr val="000000"/>
                          </a:solidFill>
                          <a:latin typeface="+mn-lt"/>
                          <a:ea typeface="+mn-lt"/>
                          <a:cs typeface="+mn-lt"/>
                        </a:rPr>
                        <a:t> </a:t>
                      </a:r>
                      <a:r>
                        <a:rPr sz="1400" b="0" u="none">
                          <a:solidFill>
                            <a:srgbClr val="000000"/>
                          </a:solidFill>
                          <a:latin typeface="+mn-lt"/>
                          <a:ea typeface="+mn-lt"/>
                          <a:cs typeface="+mn-lt"/>
                        </a:rPr>
                        <a:t>số</a:t>
                      </a:r>
                      <a:r>
                        <a:rPr sz="1400" b="0" u="none">
                          <a:solidFill>
                            <a:srgbClr val="000000"/>
                          </a:solidFill>
                          <a:latin typeface="+mn-lt"/>
                          <a:ea typeface="+mn-lt"/>
                          <a:cs typeface="+mn-lt"/>
                        </a:rPr>
                        <a:t> </a:t>
                      </a:r>
                      <a:r>
                        <a:rPr sz="1400" b="0" u="none">
                          <a:solidFill>
                            <a:srgbClr val="000000"/>
                          </a:solidFill>
                          <a:latin typeface="+mn-lt"/>
                          <a:ea typeface="+mn-lt"/>
                          <a:cs typeface="+mn-lt"/>
                        </a:rPr>
                        <a:t>liệu</a:t>
                      </a:r>
                      <a:r>
                        <a:rPr sz="1400" b="0" u="none">
                          <a:solidFill>
                            <a:srgbClr val="000000"/>
                          </a:solidFill>
                          <a:latin typeface="+mn-lt"/>
                          <a:ea typeface="+mn-lt"/>
                          <a:cs typeface="+mn-lt"/>
                        </a:rPr>
                        <a:t> </a:t>
                      </a:r>
                      <a:r>
                        <a:rPr sz="1400" b="0" u="none">
                          <a:solidFill>
                            <a:srgbClr val="000000"/>
                          </a:solidFill>
                          <a:latin typeface="+mn-lt"/>
                          <a:ea typeface="+mn-lt"/>
                          <a:cs typeface="+mn-lt"/>
                        </a:rPr>
                        <a:t>việc</a:t>
                      </a:r>
                      <a:r>
                        <a:rPr sz="1400" b="0" u="none">
                          <a:solidFill>
                            <a:srgbClr val="000000"/>
                          </a:solidFill>
                          <a:latin typeface="+mn-lt"/>
                          <a:ea typeface="+mn-lt"/>
                          <a:cs typeface="+mn-lt"/>
                        </a:rPr>
                        <a:t> </a:t>
                      </a:r>
                      <a:r>
                        <a:rPr sz="1400" b="0" u="none">
                          <a:solidFill>
                            <a:srgbClr val="000000"/>
                          </a:solidFill>
                          <a:latin typeface="+mn-lt"/>
                          <a:ea typeface="+mn-lt"/>
                          <a:cs typeface="+mn-lt"/>
                        </a:rPr>
                        <a:t>làm</a:t>
                      </a:r>
                      <a:r>
                        <a:rPr sz="1400" b="0" u="none">
                          <a:solidFill>
                            <a:srgbClr val="000000"/>
                          </a:solidFill>
                          <a:latin typeface="+mn-lt"/>
                          <a:ea typeface="+mn-lt"/>
                          <a:cs typeface="+mn-lt"/>
                        </a:rPr>
                        <a:t> phi </a:t>
                      </a:r>
                      <a:r>
                        <a:rPr sz="1400" b="0" u="none">
                          <a:solidFill>
                            <a:srgbClr val="000000"/>
                          </a:solidFill>
                          <a:latin typeface="+mn-lt"/>
                          <a:ea typeface="+mn-lt"/>
                          <a:cs typeface="+mn-lt"/>
                        </a:rPr>
                        <a:t>nông</a:t>
                      </a:r>
                      <a:r>
                        <a:rPr sz="1400" b="0" u="none">
                          <a:solidFill>
                            <a:srgbClr val="000000"/>
                          </a:solidFill>
                          <a:latin typeface="+mn-lt"/>
                          <a:ea typeface="+mn-lt"/>
                          <a:cs typeface="+mn-lt"/>
                        </a:rPr>
                        <a:t> </a:t>
                      </a:r>
                      <a:r>
                        <a:rPr sz="1400" b="0" u="none">
                          <a:solidFill>
                            <a:srgbClr val="000000"/>
                          </a:solidFill>
                          <a:latin typeface="+mn-lt"/>
                          <a:ea typeface="+mn-lt"/>
                          <a:cs typeface="+mn-lt"/>
                        </a:rPr>
                        <a:t>nghiệp</a:t>
                      </a:r>
                      <a:r>
                        <a:rPr sz="1400" b="0" u="none">
                          <a:solidFill>
                            <a:srgbClr val="000000"/>
                          </a:solidFill>
                          <a:latin typeface="+mn-lt"/>
                          <a:ea typeface="+mn-lt"/>
                          <a:cs typeface="+mn-lt"/>
                        </a:rPr>
                        <a:t> </a:t>
                      </a:r>
                      <a:r>
                        <a:rPr sz="1400" b="0" u="none">
                          <a:solidFill>
                            <a:srgbClr val="000000"/>
                          </a:solidFill>
                          <a:latin typeface="+mn-lt"/>
                          <a:ea typeface="+mn-lt"/>
                          <a:cs typeface="+mn-lt"/>
                        </a:rPr>
                        <a:t>tháng</a:t>
                      </a:r>
                      <a:r>
                        <a:rPr sz="1400" b="0" u="none">
                          <a:solidFill>
                            <a:srgbClr val="000000"/>
                          </a:solidFill>
                          <a:latin typeface="+mn-lt"/>
                          <a:ea typeface="+mn-lt"/>
                          <a:cs typeface="+mn-lt"/>
                        </a:rPr>
                        <a:t> 7</a:t>
                      </a:r>
                    </a:p>
                  </a:txBody>
                  <a:tcPr marL="45720" marR="45720" marT="45720" marB="45720" anchor="ctr"/>
                </a:tc>
              </a:tr>
              <a:tr h="169612">
                <a:tc>
                  <a:txBody>
                    <a:bodyPr/>
                    <a:lstStyle/>
                    <a:p>
                      <a:pPr algn="l">
                        <a:buNone/>
                      </a:pPr>
                      <a:r>
                        <a:rPr sz="1400" b="0" i="0" u="none">
                          <a:solidFill>
                            <a:srgbClr val="000000"/>
                          </a:solidFill>
                          <a:latin typeface="Calibri"/>
                          <a:ea typeface="Calibri"/>
                          <a:cs typeface="Calibri"/>
                        </a:rPr>
                        <a:t>09/08/2026</a:t>
                      </a: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r>
                        <a:rPr sz="1400" b="0" u="none">
                          <a:solidFill>
                            <a:srgbClr val="000000"/>
                          </a:solidFill>
                          <a:latin typeface="+mn-lt"/>
                          <a:ea typeface="+mn-lt"/>
                          <a:cs typeface="+mn-lt"/>
                        </a:rPr>
                        <a:t>Trung Quốc </a:t>
                      </a:r>
                      <a:r>
                        <a:rPr sz="1400" b="0" u="none">
                          <a:solidFill>
                            <a:srgbClr val="000000"/>
                          </a:solidFill>
                          <a:latin typeface="+mn-lt"/>
                          <a:ea typeface="+mn-lt"/>
                          <a:cs typeface="+mn-lt"/>
                        </a:rPr>
                        <a:t>công</a:t>
                      </a:r>
                      <a:r>
                        <a:rPr sz="1400" b="0" u="none">
                          <a:solidFill>
                            <a:srgbClr val="000000"/>
                          </a:solidFill>
                          <a:latin typeface="+mn-lt"/>
                          <a:ea typeface="+mn-lt"/>
                          <a:cs typeface="+mn-lt"/>
                        </a:rPr>
                        <a:t> </a:t>
                      </a:r>
                      <a:r>
                        <a:rPr sz="1400" b="0" u="none">
                          <a:solidFill>
                            <a:srgbClr val="000000"/>
                          </a:solidFill>
                          <a:latin typeface="+mn-lt"/>
                          <a:ea typeface="+mn-lt"/>
                          <a:cs typeface="+mn-lt"/>
                        </a:rPr>
                        <a:t>bố</a:t>
                      </a:r>
                      <a:r>
                        <a:rPr sz="1400" b="0" u="none">
                          <a:solidFill>
                            <a:srgbClr val="000000"/>
                          </a:solidFill>
                          <a:latin typeface="+mn-lt"/>
                          <a:ea typeface="+mn-lt"/>
                          <a:cs typeface="+mn-lt"/>
                        </a:rPr>
                        <a:t> </a:t>
                      </a:r>
                      <a:r>
                        <a:rPr sz="1400" b="0" u="none">
                          <a:solidFill>
                            <a:srgbClr val="000000"/>
                          </a:solidFill>
                          <a:latin typeface="+mn-lt"/>
                          <a:ea typeface="+mn-lt"/>
                          <a:cs typeface="+mn-lt"/>
                        </a:rPr>
                        <a:t>số</a:t>
                      </a:r>
                      <a:r>
                        <a:rPr sz="1400" b="0" u="none">
                          <a:solidFill>
                            <a:srgbClr val="000000"/>
                          </a:solidFill>
                          <a:latin typeface="+mn-lt"/>
                          <a:ea typeface="+mn-lt"/>
                          <a:cs typeface="+mn-lt"/>
                        </a:rPr>
                        <a:t> </a:t>
                      </a:r>
                      <a:r>
                        <a:rPr sz="1400" b="0" u="none">
                          <a:solidFill>
                            <a:srgbClr val="000000"/>
                          </a:solidFill>
                          <a:latin typeface="+mn-lt"/>
                          <a:ea typeface="+mn-lt"/>
                          <a:cs typeface="+mn-lt"/>
                        </a:rPr>
                        <a:t>liệu</a:t>
                      </a:r>
                      <a:r>
                        <a:rPr sz="1400" b="0" u="none">
                          <a:solidFill>
                            <a:srgbClr val="000000"/>
                          </a:solidFill>
                          <a:latin typeface="+mn-lt"/>
                          <a:ea typeface="+mn-lt"/>
                          <a:cs typeface="+mn-lt"/>
                        </a:rPr>
                        <a:t> </a:t>
                      </a:r>
                      <a:r>
                        <a:rPr sz="1400" b="0" u="none">
                          <a:solidFill>
                            <a:srgbClr val="000000"/>
                          </a:solidFill>
                          <a:latin typeface="+mn-lt"/>
                          <a:ea typeface="+mn-lt"/>
                          <a:cs typeface="+mn-lt"/>
                        </a:rPr>
                        <a:t>lạm</a:t>
                      </a:r>
                      <a:r>
                        <a:rPr sz="1400" b="0" u="none">
                          <a:solidFill>
                            <a:srgbClr val="000000"/>
                          </a:solidFill>
                          <a:latin typeface="+mn-lt"/>
                          <a:ea typeface="+mn-lt"/>
                          <a:cs typeface="+mn-lt"/>
                        </a:rPr>
                        <a:t> </a:t>
                      </a:r>
                      <a:r>
                        <a:rPr sz="1400" b="0" u="none">
                          <a:solidFill>
                            <a:srgbClr val="000000"/>
                          </a:solidFill>
                          <a:latin typeface="+mn-lt"/>
                          <a:ea typeface="+mn-lt"/>
                          <a:cs typeface="+mn-lt"/>
                        </a:rPr>
                        <a:t>phát</a:t>
                      </a:r>
                      <a:r>
                        <a:rPr sz="1400" b="0" u="none">
                          <a:solidFill>
                            <a:srgbClr val="000000"/>
                          </a:solidFill>
                          <a:latin typeface="+mn-lt"/>
                          <a:ea typeface="+mn-lt"/>
                          <a:cs typeface="+mn-lt"/>
                        </a:rPr>
                        <a:t> </a:t>
                      </a:r>
                      <a:r>
                        <a:rPr sz="1400" b="0" u="none">
                          <a:solidFill>
                            <a:srgbClr val="000000"/>
                          </a:solidFill>
                          <a:latin typeface="+mn-lt"/>
                          <a:ea typeface="+mn-lt"/>
                          <a:cs typeface="+mn-lt"/>
                        </a:rPr>
                        <a:t>tháng</a:t>
                      </a:r>
                      <a:r>
                        <a:rPr sz="1400" b="0" u="none">
                          <a:solidFill>
                            <a:srgbClr val="000000"/>
                          </a:solidFill>
                          <a:latin typeface="+mn-lt"/>
                          <a:ea typeface="+mn-lt"/>
                          <a:cs typeface="+mn-lt"/>
                        </a:rPr>
                        <a:t> 7</a:t>
                      </a:r>
                    </a:p>
                  </a:txBody>
                  <a:tcPr marL="45720" marR="45720" marT="45720" marB="45720" anchor="ctr"/>
                </a:tc>
              </a:tr>
              <a:tr h="169612">
                <a:tc>
                  <a:txBody>
                    <a:bodyPr/>
                    <a:lstStyle/>
                    <a:p>
                      <a:pPr algn="l">
                        <a:buNone/>
                      </a:pP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p>
                  </a:txBody>
                  <a:tcPr marL="45720" marR="45720" marT="45720" marB="45720" anchor="ctr"/>
                </a:tc>
              </a:tr>
              <a:tr h="169612">
                <a:tc>
                  <a:txBody>
                    <a:bodyPr/>
                    <a:lstStyle/>
                    <a:p>
                      <a:pPr algn="l">
                        <a:buNone/>
                      </a:pP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p>
                  </a:txBody>
                  <a:tcPr marL="45720" marR="45720" marT="45720" marB="45720" anchor="ctr"/>
                </a:tc>
              </a:tr>
              <a:tr h="169612">
                <a:tc>
                  <a:txBody>
                    <a:bodyPr/>
                    <a:lstStyle/>
                    <a:p>
                      <a:pPr algn="l">
                        <a:buNone/>
                      </a:pPr>
                    </a:p>
                  </a:txBody>
                  <a:tcPr marL="45720" marR="45720" marT="45720" marB="45720" anchor="ctr"/>
                </a:tc>
                <a:tc>
                  <a:txBody>
                    <a:bodyPr/>
                    <a:lstStyle/>
                    <a:p>
                      <a:pPr marL="0" marR="0" lvl="0" indent="0" algn="l" defTabSz="914400">
                        <a:lnSpc>
                          <a:spcPct val="150000"/>
                        </a:lnSpc>
                        <a:spcBef>
                          <a:spcPts val="0"/>
                        </a:spcBef>
                        <a:spcAft>
                          <a:spcPts val="0"/>
                        </a:spcAft>
                        <a:buClrTx/>
                        <a:buSzTx/>
                        <a:buFontTx/>
                        <a:buNone/>
                      </a:pPr>
                    </a:p>
                  </a:txBody>
                  <a:tcPr marL="45720" marR="45720" marT="45720" marB="45720" anchor="ctr"/>
                </a:tc>
              </a:tr>
            </a:tbl>
          </a:graphicData>
        </a:graphic>
      </p:graphicFrame>
      <p:graphicFrame>
        <p:nvGraphicFramePr>
          <p:cNvPr id="29" name="Table 1"/>
          <p:cNvGraphicFramePr/>
          <p:nvPr/>
        </p:nvGraphicFramePr>
        <p:xfrm>
          <a:off xmlns:a="http://schemas.openxmlformats.org/drawingml/2006/main" x="364321" y="1385240"/>
          <a:ext xmlns:a="http://schemas.openxmlformats.org/drawingml/2006/main" cx="11463358" cy="304800"/>
        </p:xfrm>
        <a:graphic xmlns:a="http://schemas.openxmlformats.org/drawingml/2006/main">
          <a:graphicData uri="http://schemas.openxmlformats.org/drawingml/2006/table">
            <a:tbl>
              <a:tblPr bandRow="1">
                <a:tableStyleId>{3B4B98B0-60AC-42C2-AFA5-B58CD77FA1E5}</a:tableStyleId>
              </a:tblPr>
              <a:tblGrid>
                <a:gridCol w="2494208"/>
                <a:gridCol w="8969150"/>
              </a:tblGrid>
              <a:tr h="174337">
                <a:tc>
                  <a:txBody>
                    <a:bodyPr/>
                    <a:lstStyle/>
                    <a:p>
                      <a:pPr algn="l">
                        <a:buNone/>
                      </a:pPr>
                      <a:r>
                        <a:rPr sz="1400" b="1" u="none">
                          <a:solidFill>
                            <a:schemeClr val="tx1"/>
                          </a:solidFill>
                        </a:rPr>
                        <a:t>Ngày</a:t>
                      </a:r>
                    </a:p>
                  </a:txBody>
                  <a:tcPr marL="45720" marR="45720" marT="45720" marB="45720" anchor="ctr"/>
                </a:tc>
                <a:tc>
                  <a:txBody>
                    <a:bodyPr/>
                    <a:lstStyle/>
                    <a:p>
                      <a:pPr algn="ctr">
                        <a:buNone/>
                      </a:pPr>
                      <a:r>
                        <a:rPr sz="1400" b="1" u="none">
                          <a:solidFill>
                            <a:schemeClr val="tx1"/>
                          </a:solidFill>
                        </a:rPr>
                        <a:t>Sự</a:t>
                      </a:r>
                      <a:r>
                        <a:rPr sz="1400" b="1" u="none">
                          <a:solidFill>
                            <a:schemeClr val="tx1"/>
                          </a:solidFill>
                        </a:rPr>
                        <a:t> </a:t>
                      </a:r>
                      <a:r>
                        <a:rPr sz="1400" b="1" u="none">
                          <a:solidFill>
                            <a:schemeClr val="tx1"/>
                          </a:solidFill>
                        </a:rPr>
                        <a:t>kiện</a:t>
                      </a:r>
                    </a:p>
                  </a:txBody>
                  <a:tcPr marL="45720" marR="45720" marT="45720" marB="45720" anchor="ctr"/>
                </a:tc>
              </a:tr>
            </a:tbl>
          </a:graphicData>
        </a:graphic>
      </p:graphicFrame>
    </p:spTree>
    <p:extLst>
      <p:ext uri="{BB962C8B-B14F-4D97-AF65-F5344CB8AC3E}">
        <p14:creationId xmlns:p14="http://schemas.microsoft.com/office/powerpoint/2010/main" val="3350437517"/>
      </p:ext>
    </p:extLst>
  </p:cSld>
</p:sld>
</file>

<file path=ppt/slides/slide8.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0" name="Straight Connector 19">
            <a:extLst xmlns:a="http://schemas.openxmlformats.org/drawingml/2006/main">
              <a:ext uri="{FF2B5EF4-FFF2-40B4-BE49-F238E27FC236}">
                <a16:creationId xmlns:a16="http://schemas.microsoft.com/office/drawing/2014/main" id="{6D1FB1DD-0734-4E9D-BE75-065C21E228D0}"/>
              </a:ext>
            </a:extLst>
          </p:cNvPr>
          <p:cNvSpPr>
            <a:spLocks xmlns:a="http://schemas.openxmlformats.org/drawingml/2006/main" noGrp="1"/>
          </p:cNvSpPr>
          <p:nvPr/>
        </p:nvSpPr>
        <p:spPr>
          <a:xfrm xmlns:a="http://schemas.openxmlformats.org/drawingml/2006/main" flipV="1">
            <a:off x="261122" y="726334"/>
            <a:ext cx="11676878" cy="0"/>
          </a:xfrm>
          <a:prstGeom xmlns:a="http://schemas.openxmlformats.org/drawingml/2006/main" prst="line">
            <a:avLst/>
          </a:prstGeom>
          <a:ln xmlns:a="http://schemas.openxmlformats.org/drawingml/2006/main" w="19050">
            <a:solidFill>
              <a:srgbClr val="163A63"/>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Text Placeholder 7">
            <a:extLst xmlns:a="http://schemas.openxmlformats.org/drawingml/2006/main">
              <a:ext uri="{FF2B5EF4-FFF2-40B4-BE49-F238E27FC236}">
                <a16:creationId xmlns:a16="http://schemas.microsoft.com/office/drawing/2014/main" id="{D1C2EF0C-B614-16E0-B17F-10D8DAD097F5}"/>
              </a:ext>
            </a:extLst>
          </p:cNvPr>
          <p:cNvSpPr>
            <a:spLocks xmlns:a="http://schemas.openxmlformats.org/drawingml/2006/main" noGrp="1"/>
          </p:cNvSpPr>
          <p:nvPr>
            <p:ph type="body" idx="1"/>
          </p:nvPr>
        </p:nvSpPr>
        <p:spPr>
          <a:xfrm xmlns:a="http://schemas.openxmlformats.org/drawingml/2006/main">
            <a:off x="257561" y="914400"/>
            <a:ext cx="11676878" cy="5807075"/>
          </a:xfrm>
        </p:spPr>
        <p:txBody>
          <a:bodyPr xmlns:a="http://schemas.openxmlformats.org/drawingml/2006/main" anchor="t">
            <a:noAutofit/>
          </a:bodyPr>
          <a:lstStyle xmlns:a="http://schemas.openxmlformats.org/drawingml/2006/main"/>
          <a:p xmlns:a="http://schemas.openxmlformats.org/drawingml/2006/main">
            <a:pPr marL="171450" indent="-171450">
              <a:lnSpc>
                <a:spcPct val="150000"/>
              </a:lnSpc>
              <a:buFont typeface="Arial"/>
              <a:buChar char="•"/>
            </a:pPr>
            <a:r>
              <a:rPr sz="1100" b="0">
                <a:solidFill>
                  <a:srgbClr val="263442"/>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xmlns:a="http://schemas.openxmlformats.org/drawingml/2006/main">
            <a:pPr marL="171450" indent="-171450">
              <a:lnSpc>
                <a:spcPct val="150000"/>
              </a:lnSpc>
              <a:buFont typeface="Arial"/>
              <a:buChar char="•"/>
            </a:pPr>
            <a:r>
              <a:rPr sz="1100" b="0">
                <a:solidFill>
                  <a:srgbClr val="263442"/>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xmlns:a="http://schemas.openxmlformats.org/drawingml/2006/main">
            <a:pPr marL="171450" indent="-171450">
              <a:lnSpc>
                <a:spcPct val="150000"/>
              </a:lnSpc>
              <a:buFont typeface="Arial"/>
              <a:buChar char="•"/>
            </a:pPr>
            <a:r>
              <a:rPr sz="1100" b="1">
                <a:solidFill>
                  <a:srgbClr val="1557B0"/>
                </a:solidFill>
              </a:rPr>
              <a:t>Dự báo VNINDEX sẽ dao động chủ yếu trong vùng 1.680 – 1.740 điểm trong tuần sau.</a:t>
            </a:r>
            <a:r>
              <a:rPr sz="1100" b="0">
                <a:solidFill>
                  <a:srgbClr val="263442"/>
                </a:solidFill>
              </a:rPr>
              <a:t> </a:t>
            </a:r>
          </a:p>
          <a:p xmlns:a="http://schemas.openxmlformats.org/drawingml/2006/main">
            <a:pPr marL="171450" indent="-171450">
              <a:lnSpc>
                <a:spcPct val="150000"/>
              </a:lnSpc>
              <a:buFont typeface="Arial"/>
              <a:buChar char="•"/>
            </a:pPr>
          </a:p>
          <a:p xmlns:a="http://schemas.openxmlformats.org/drawingml/2006/main">
            <a:pPr marL="171450" indent="-171450">
              <a:lnSpc>
                <a:spcPct val="150000"/>
              </a:lnSpc>
              <a:buFont typeface="Arial"/>
              <a:buChar char="•"/>
            </a:pPr>
          </a:p>
        </p:txBody>
      </p:sp>
      <p:sp>
        <p:nvSpPr>
          <p:cNvPr id="17" name="Title 5">
            <a:extLst xmlns:a="http://schemas.openxmlformats.org/drawingml/2006/main">
              <a:ext uri="{FF2B5EF4-FFF2-40B4-BE49-F238E27FC236}">
                <a16:creationId xmlns:a16="http://schemas.microsoft.com/office/drawing/2014/main" id="{578E1B08-BF77-124A-880E-8FCBA0C71676}"/>
              </a:ext>
            </a:extLst>
          </p:cNvPr>
          <p:cNvSpPr>
            <a:spLocks xmlns:a="http://schemas.openxmlformats.org/drawingml/2006/main" noGrp="1"/>
          </p:cNvSpPr>
          <p:nvPr/>
        </p:nvSpPr>
        <p:spPr>
          <a:xfrm xmlns:a="http://schemas.openxmlformats.org/drawingml/2006/main">
            <a:off x="291437" y="349186"/>
            <a:ext cx="7991728" cy="355038"/>
          </a:xfrm>
          <a:prstGeom xmlns:a="http://schemas.openxmlformats.org/drawingml/2006/main" prst="rect">
            <a:avLst/>
          </a:prstGeom>
          <a:solidFill xmlns:a="http://schemas.openxmlformats.org/drawingml/2006/main">
            <a:schemeClr val="bg1"/>
          </a:solidFill>
        </p:spPr>
        <p:txBody>
          <a:bodyPr xmlns:a="http://schemas.openxmlformats.org/drawingml/2006/main" vert="horz" lIns="91440" tIns="45720" rIns="91440" bIns="45720" anchor="t">
            <a:noAutofit/>
          </a:bodyPr>
          <a:lstStyle xmlns:a="http://schemas.openxmlformats.org/drawingml/2006/main">
            <a:lvl1pPr algn="l" defTabSz="914400">
              <a:lnSpc>
                <a:spcPct val="90000"/>
              </a:lnSpc>
              <a:spcBef>
                <a:spcPct val="0"/>
              </a:spcBef>
              <a:buNone/>
              <a:defRPr sz="1875" kern="1200">
                <a:solidFill>
                  <a:schemeClr val="accent1"/>
                </a:solidFill>
                <a:latin typeface="+mj-lt"/>
                <a:ea typeface="+mj-lt"/>
                <a:cs typeface="+mj-lt"/>
              </a:defRPr>
            </a:lvl1pPr>
          </a:lstStyle>
          <a:p xmlns:a="http://schemas.openxmlformats.org/drawingml/2006/main">
            <a:pPr>
              <a:lnSpc>
                <a:spcPct val="114000"/>
              </a:lnSpc>
              <a:spcBef>
                <a:spcPts val="300"/>
              </a:spcBef>
              <a:spcAft>
                <a:spcPts val="300"/>
              </a:spcAft>
              <a:buNone/>
              <a:defRPr sz="1425" b="1">
                <a:solidFill>
                  <a:srgbClr val="163A63"/>
                </a:solidFill>
                <a:latin typeface="Arial"/>
                <a:ea typeface="Arial"/>
                <a:cs typeface="Arial"/>
              </a:defRPr>
            </a:pPr>
            <a:r>
              <a:rPr sz="1425" b="1">
                <a:solidFill>
                  <a:srgbClr val="163A63"/>
                </a:solidFill>
                <a:latin typeface="Arial"/>
                <a:ea typeface="Arial"/>
                <a:cs typeface="Arial"/>
              </a:rPr>
              <a:t>NHẬN ĐỊNH THỊ TR</a:t>
            </a:r>
            <a:r>
              <a:rPr sz="1425" b="1">
                <a:solidFill>
                  <a:srgbClr val="163A63"/>
                </a:solidFill>
                <a:latin typeface="Arial"/>
                <a:ea typeface="Arial"/>
                <a:cs typeface="Arial"/>
              </a:rPr>
              <a:t>Ư</a:t>
            </a:r>
            <a:r>
              <a:rPr sz="1425" b="1">
                <a:solidFill>
                  <a:srgbClr val="163A63"/>
                </a:solidFill>
                <a:latin typeface="Arial"/>
                <a:ea typeface="Arial"/>
                <a:cs typeface="Arial"/>
              </a:rPr>
              <a:t>ỜNG TUẦN 03/08 – 07/08/2026</a:t>
            </a:r>
          </a:p>
        </p:txBody>
      </p:sp>
      <p:sp>
        <p:nvSpPr>
          <p:cNvPr id="2" name="Slide Number Placeholder 1">
            <a:extLst xmlns:a="http://schemas.openxmlformats.org/drawingml/2006/main">
              <a:ext uri="{FF2B5EF4-FFF2-40B4-BE49-F238E27FC236}">
                <a16:creationId xmlns:a16="http://schemas.microsoft.com/office/drawing/2014/main" id="{1599392C-D4F1-51F2-AE95-76854FE819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8</a:t>
            </a:fld>
          </a:p>
        </p:txBody>
      </p:sp>
    </p:spTree>
    <p:extLst>
      <p:ext uri="{BB962C8B-B14F-4D97-AF65-F5344CB8AC3E}">
        <p14:creationId xmlns:p14="http://schemas.microsoft.com/office/powerpoint/2010/main" val="996680363"/>
      </p:ext>
    </p:extLst>
  </p:cSld>
</p:sld>
</file>

<file path=ppt/slides/slide9.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0" name="Straight Connector 19">
            <a:extLst xmlns:a="http://schemas.openxmlformats.org/drawingml/2006/main">
              <a:ext uri="{FF2B5EF4-FFF2-40B4-BE49-F238E27FC236}">
                <a16:creationId xmlns:a16="http://schemas.microsoft.com/office/drawing/2014/main" id="{9C1D1EAE-FDC1-4E0F-AB71-64C542C148BE}"/>
              </a:ext>
            </a:extLst>
          </p:cNvPr>
          <p:cNvSpPr>
            <a:spLocks xmlns:a="http://schemas.openxmlformats.org/drawingml/2006/main" noGrp="1"/>
          </p:cNvSpPr>
          <p:nvPr/>
        </p:nvSpPr>
        <p:spPr>
          <a:xfrm xmlns:a="http://schemas.openxmlformats.org/drawingml/2006/main" flipV="1">
            <a:off x="261122" y="726334"/>
            <a:ext cx="11676878" cy="0"/>
          </a:xfrm>
          <a:prstGeom xmlns:a="http://schemas.openxmlformats.org/drawingml/2006/main" prst="line">
            <a:avLst/>
          </a:prstGeom>
          <a:ln xmlns:a="http://schemas.openxmlformats.org/drawingml/2006/main" w="19050">
            <a:solidFill>
              <a:srgbClr val="163A63"/>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Title 5">
            <a:extLst xmlns:a="http://schemas.openxmlformats.org/drawingml/2006/main">
              <a:ext uri="{FF2B5EF4-FFF2-40B4-BE49-F238E27FC236}">
                <a16:creationId xmlns:a16="http://schemas.microsoft.com/office/drawing/2014/main" id="{623AE942-9D6D-ED13-84E7-98B768A2EFD3}"/>
              </a:ext>
            </a:extLst>
          </p:cNvPr>
          <p:cNvSpPr>
            <a:spLocks xmlns:a="http://schemas.openxmlformats.org/drawingml/2006/main" noGrp="1"/>
          </p:cNvSpPr>
          <p:nvPr/>
        </p:nvSpPr>
        <p:spPr>
          <a:xfrm xmlns:a="http://schemas.openxmlformats.org/drawingml/2006/main">
            <a:off x="291437" y="349186"/>
            <a:ext cx="7991728" cy="355038"/>
          </a:xfrm>
          <a:prstGeom xmlns:a="http://schemas.openxmlformats.org/drawingml/2006/main" prst="rect">
            <a:avLst/>
          </a:prstGeom>
          <a:solidFill xmlns:a="http://schemas.openxmlformats.org/drawingml/2006/main">
            <a:schemeClr val="bg1"/>
          </a:solidFill>
        </p:spPr>
        <p:txBody>
          <a:bodyPr xmlns:a="http://schemas.openxmlformats.org/drawingml/2006/main" vert="horz" lIns="91440" tIns="45720" rIns="91440" bIns="45720" anchor="t">
            <a:noAutofit/>
          </a:bodyPr>
          <a:lstStyle xmlns:a="http://schemas.openxmlformats.org/drawingml/2006/main">
            <a:lvl1pPr algn="l" defTabSz="914400">
              <a:lnSpc>
                <a:spcPct val="90000"/>
              </a:lnSpc>
              <a:spcBef>
                <a:spcPct val="0"/>
              </a:spcBef>
              <a:buNone/>
              <a:defRPr sz="1875" kern="1200">
                <a:solidFill>
                  <a:schemeClr val="accent1"/>
                </a:solidFill>
                <a:latin typeface="+mj-lt"/>
                <a:ea typeface="+mj-lt"/>
                <a:cs typeface="+mj-lt"/>
              </a:defRPr>
            </a:lvl1pPr>
          </a:lstStyle>
          <a:p xmlns:a="http://schemas.openxmlformats.org/drawingml/2006/main">
            <a:pPr>
              <a:lnSpc>
                <a:spcPct val="114000"/>
              </a:lnSpc>
              <a:spcBef>
                <a:spcPts val="300"/>
              </a:spcBef>
              <a:spcAft>
                <a:spcPts val="300"/>
              </a:spcAft>
              <a:buNone/>
              <a:defRPr sz="1425" b="1">
                <a:solidFill>
                  <a:srgbClr val="163A63"/>
                </a:solidFill>
                <a:latin typeface="Arial"/>
                <a:ea typeface="Arial"/>
                <a:cs typeface="Arial"/>
              </a:defRPr>
            </a:pPr>
            <a:r>
              <a:rPr sz="1425" b="1">
                <a:solidFill>
                  <a:srgbClr val="163A63"/>
                </a:solidFill>
                <a:latin typeface="Arial"/>
                <a:ea typeface="Arial"/>
                <a:cs typeface="Arial"/>
              </a:rPr>
              <a:t>DANH MỤC CỔ PHIẾU THEO DÕI</a:t>
            </a:r>
          </a:p>
        </p:txBody>
      </p:sp>
      <p:sp>
        <p:nvSpPr>
          <p:cNvPr id="2" name="Text Placeholder 7">
            <a:extLst xmlns:a="http://schemas.openxmlformats.org/drawingml/2006/main">
              <a:ext uri="{FF2B5EF4-FFF2-40B4-BE49-F238E27FC236}">
                <a16:creationId xmlns:a16="http://schemas.microsoft.com/office/drawing/2014/main" id="{24FC048D-159C-5638-DF97-BF8F03F2A6E9}"/>
              </a:ext>
            </a:extLst>
          </p:cNvPr>
          <p:cNvSpPr>
            <a:spLocks xmlns:a="http://schemas.openxmlformats.org/drawingml/2006/main" noGrp="1"/>
          </p:cNvSpPr>
          <p:nvPr/>
        </p:nvSpPr>
        <p:spPr>
          <a:xfrm xmlns:a="http://schemas.openxmlformats.org/drawingml/2006/main">
            <a:off x="261122" y="858133"/>
            <a:ext cx="11676878" cy="5650679"/>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50000"/>
              </a:lnSpc>
              <a:buNone/>
            </a:pPr>
          </a:p>
        </p:txBody>
      </p:sp>
      <p:sp>
        <p:nvSpPr>
          <p:cNvPr id="3" name="Slide Number Placeholder 2">
            <a:extLst xmlns:a="http://schemas.openxmlformats.org/drawingml/2006/main">
              <a:ext uri="{FF2B5EF4-FFF2-40B4-BE49-F238E27FC236}">
                <a16:creationId xmlns:a16="http://schemas.microsoft.com/office/drawing/2014/main" id="{A32486F2-7BBA-4111-65B4-16D1244439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9</a:t>
            </a:fld>
          </a:p>
        </p:txBody>
      </p:sp>
      <p:graphicFrame>
        <p:nvGraphicFramePr>
          <p:cNvPr id="26" name="Table 3"/>
          <p:cNvGraphicFramePr/>
          <p:nvPr/>
        </p:nvGraphicFramePr>
        <p:xfrm>
          <a:off xmlns:a="http://schemas.openxmlformats.org/drawingml/2006/main" x="254000" y="800222"/>
          <a:ext xmlns:a="http://schemas.openxmlformats.org/drawingml/2006/main" cx="11649965" cy="5789639"/>
        </p:xfrm>
        <a:graphic xmlns:a="http://schemas.openxmlformats.org/drawingml/2006/main">
          <a:graphicData uri="http://schemas.openxmlformats.org/drawingml/2006/table">
            <a:tbl>
              <a:tblPr/>
              <a:tblGrid>
                <a:gridCol w="665994"/>
                <a:gridCol w="941463"/>
                <a:gridCol w="1101725"/>
                <a:gridCol w="1013639"/>
                <a:gridCol w="1013639"/>
                <a:gridCol w="1013639"/>
                <a:gridCol w="1013639"/>
                <a:gridCol w="1013639"/>
                <a:gridCol w="968147"/>
                <a:gridCol w="968147"/>
                <a:gridCol w="968147"/>
                <a:gridCol w="968147"/>
              </a:tblGrid>
              <a:tr h="240931">
                <a:tc rowSpan="2">
                  <a:txBody>
                    <a:bodyPr/>
                    <a:lstStyle/>
                    <a:p>
                      <a:pPr algn="ctr">
                        <a:buNone/>
                      </a:pPr>
                      <a:r>
                        <a:rPr sz="1200" b="1" i="0" u="none">
                          <a:solidFill>
                            <a:srgbClr val="FFFFFF"/>
                          </a:solidFill>
                          <a:latin typeface="Arial"/>
                          <a:ea typeface="Arial"/>
                          <a:cs typeface="Arial"/>
                        </a:rPr>
                        <a:t>STT</a:t>
                      </a:r>
                    </a:p>
                  </a:txBody>
                  <a:tcPr marL="8844" marR="8844" marT="8844" marB="0" anchor="ctr">
                    <a:lnL w="6350" cmpd="sng">
                      <a:solidFill>
                        <a:srgbClr val="002060"/>
                      </a:solid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Mã</a:t>
                      </a:r>
                    </a:p>
                  </a:txBody>
                  <a:tcPr marL="8844" marR="8844" marT="8844" marB="0" anchor="ctr">
                    <a:lnL>
                      <a:noFill/>
                    </a:lnL>
                    <a:lnR>
                      <a:noFill/>
                    </a:lnR>
                    <a:lnT w="6350" cmpd="sng">
                      <a:solidFill>
                        <a:srgbClr val="002060"/>
                      </a:solidFill>
                      <a:prstDash val="solid"/>
                    </a:lnT>
                    <a:lnB>
                      <a:noFill/>
                    </a:lnB>
                    <a:solidFill>
                      <a:srgbClr val="0070C0"/>
                    </a:solidFill>
                  </a:tcPr>
                </a:tc>
                <a:tc>
                  <a:txBody>
                    <a:bodyPr/>
                    <a:lstStyle/>
                    <a:p>
                      <a:pPr algn="ctr">
                        <a:buNone/>
                      </a:pPr>
                      <a:r>
                        <a:rPr sz="1200" b="1" i="0" u="none">
                          <a:solidFill>
                            <a:srgbClr val="FFFFFF"/>
                          </a:solidFill>
                          <a:latin typeface="Arial"/>
                          <a:ea typeface="Arial"/>
                          <a:cs typeface="Arial"/>
                        </a:rPr>
                        <a:t>Giá</a:t>
                      </a:r>
                      <a:r>
                        <a:rPr sz="1200" b="1" i="0" u="none">
                          <a:solidFill>
                            <a:srgbClr val="FFFFFF"/>
                          </a:solidFill>
                          <a:latin typeface="Arial"/>
                          <a:ea typeface="Arial"/>
                          <a:cs typeface="Arial"/>
                        </a:rPr>
                        <a:t> </a:t>
                      </a:r>
                      <a:r>
                        <a:rPr sz="1200" b="1" i="0" u="none">
                          <a:solidFill>
                            <a:srgbClr val="FFFFFF"/>
                          </a:solidFill>
                          <a:latin typeface="Arial"/>
                          <a:ea typeface="Arial"/>
                          <a:cs typeface="Arial"/>
                        </a:rPr>
                        <a:t>đóng</a:t>
                      </a:r>
                      <a:r>
                        <a:rPr sz="1200" b="1" i="0" u="none">
                          <a:solidFill>
                            <a:srgbClr val="FFFFFF"/>
                          </a:solidFill>
                          <a:latin typeface="Arial"/>
                          <a:ea typeface="Arial"/>
                          <a:cs typeface="Arial"/>
                        </a:rPr>
                        <a:t> </a:t>
                      </a:r>
                      <a:r>
                        <a:rPr sz="1200" b="1" i="0" u="none">
                          <a:solidFill>
                            <a:srgbClr val="FFFFFF"/>
                          </a:solidFill>
                          <a:latin typeface="Arial"/>
                          <a:ea typeface="Arial"/>
                          <a:cs typeface="Arial"/>
                        </a:rPr>
                        <a:t>cửa</a:t>
                      </a:r>
                    </a:p>
                  </a:txBody>
                  <a:tcPr marL="8844" marR="8844" marT="8844" marB="0" anchor="ctr">
                    <a:lnL>
                      <a:noFill/>
                    </a:lnL>
                    <a:lnR>
                      <a:noFill/>
                    </a:lnR>
                    <a:lnT w="6350" cmpd="sng">
                      <a:solidFill>
                        <a:srgbClr val="002060"/>
                      </a:solidFill>
                      <a:prstDash val="solid"/>
                    </a:lnT>
                    <a:lnB>
                      <a:noFill/>
                    </a:lnB>
                    <a:solidFill>
                      <a:srgbClr val="0070C0"/>
                    </a:solidFill>
                  </a:tcPr>
                </a:tc>
                <a:tc gridSpan="5">
                  <a:txBody>
                    <a:bodyPr/>
                    <a:lstStyle/>
                    <a:p>
                      <a:pPr algn="ctr">
                        <a:buNone/>
                      </a:pPr>
                      <a:r>
                        <a:rPr sz="1200" b="1" i="0" u="none">
                          <a:solidFill>
                            <a:srgbClr val="FFFFFF"/>
                          </a:solidFill>
                          <a:latin typeface="Arial"/>
                          <a:ea typeface="Arial"/>
                          <a:cs typeface="Arial"/>
                        </a:rPr>
                        <a:t>% Thay </a:t>
                      </a:r>
                      <a:r>
                        <a:rPr sz="1200" b="1" i="0" u="none">
                          <a:solidFill>
                            <a:srgbClr val="FFFFFF"/>
                          </a:solidFill>
                          <a:latin typeface="Arial"/>
                          <a:ea typeface="Arial"/>
                          <a:cs typeface="Arial"/>
                        </a:rPr>
                        <a:t>đổi</a:t>
                      </a:r>
                      <a:r>
                        <a:rPr sz="1200" b="1" i="0" u="none">
                          <a:solidFill>
                            <a:srgbClr val="FFFFFF"/>
                          </a:solidFill>
                          <a:latin typeface="Arial"/>
                          <a:ea typeface="Arial"/>
                          <a:cs typeface="Arial"/>
                        </a:rPr>
                        <a:t> </a:t>
                      </a:r>
                      <a:r>
                        <a:rPr sz="1200" b="1" i="0" u="none">
                          <a:solidFill>
                            <a:srgbClr val="FFFFFF"/>
                          </a:solidFill>
                          <a:latin typeface="Arial"/>
                          <a:ea typeface="Arial"/>
                          <a:cs typeface="Arial"/>
                        </a:rPr>
                        <a:t>giá</a:t>
                      </a:r>
                    </a:p>
                  </a:txBody>
                  <a:tcPr marL="8844" marR="8844" marT="8844" marB="0" anchor="ctr">
                    <a:lnL>
                      <a:noFill/>
                    </a:lnL>
                    <a:lnR>
                      <a:noFill/>
                    </a:lnR>
                    <a:lnT w="6350" cmpd="sng">
                      <a:solidFill>
                        <a:srgbClr val="002060"/>
                      </a:solidFill>
                      <a:prstDash val="solid"/>
                    </a:lnT>
                    <a:lnB>
                      <a:noFill/>
                    </a:lnB>
                    <a:solidFill>
                      <a:srgbClr val="0070C0"/>
                    </a:solidFill>
                  </a:tcPr>
                </a:tc>
                <a:tc hMerge="1">
                  <a:txBody>
                    <a:bodyPr/>
                    <a:lstStyle/>
                    <a:p/>
                  </a:txBody>
                  <a:tcPr marL="91440" marR="91440" marT="45720" marB="45720"/>
                </a:tc>
                <a:tc hMerge="1">
                  <a:txBody>
                    <a:bodyPr/>
                    <a:lstStyle/>
                    <a:p/>
                  </a:txBody>
                  <a:tcPr marL="91440" marR="91440" marT="45720" marB="45720"/>
                </a:tc>
                <a:tc hMerge="1">
                  <a:txBody>
                    <a:bodyPr/>
                    <a:lstStyle/>
                    <a:p/>
                  </a:txBody>
                  <a:tcPr marL="91440" marR="91440" marT="45720" marB="45720"/>
                </a:tc>
                <a:tc hMerge="1">
                  <a:txBody>
                    <a:bodyPr/>
                    <a:lstStyle/>
                    <a:p/>
                  </a:txBody>
                  <a:tcPr marL="91440" marR="91440" marT="45720" marB="45720"/>
                </a:tc>
                <a:tc rowSpan="2">
                  <a:txBody>
                    <a:bodyPr/>
                    <a:lstStyle/>
                    <a:p>
                      <a:pPr algn="ctr">
                        <a:buNone/>
                      </a:pPr>
                      <a:r>
                        <a:rPr sz="1200" b="1" i="0" u="none">
                          <a:solidFill>
                            <a:srgbClr val="FFFFFF"/>
                          </a:solidFill>
                          <a:latin typeface="Arial"/>
                          <a:ea typeface="Arial"/>
                          <a:cs typeface="Arial"/>
                        </a:rPr>
                        <a:t>PE</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PB</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a:t>
                      </a:r>
                      <a:r>
                        <a:rPr sz="1200" b="1" i="0" u="none">
                          <a:solidFill>
                            <a:srgbClr val="FFFFFF"/>
                          </a:solidFill>
                          <a:latin typeface="Arial"/>
                          <a:ea typeface="Arial"/>
                          <a:cs typeface="Arial"/>
                        </a:rPr>
                        <a:t>với</a:t>
                      </a:r>
                      <a:r>
                        <a:rPr sz="1200" b="1" i="0" u="none">
                          <a:solidFill>
                            <a:srgbClr val="FFFFFF"/>
                          </a:solidFill>
                          <a:latin typeface="Arial"/>
                          <a:ea typeface="Arial"/>
                          <a:cs typeface="Arial"/>
                        </a:rPr>
                        <a:t> P/E Trung </a:t>
                      </a:r>
                      <a:r>
                        <a:rPr sz="1200" b="1" i="0" u="none">
                          <a:solidFill>
                            <a:srgbClr val="FFFFFF"/>
                          </a:solidFill>
                          <a:latin typeface="Arial"/>
                          <a:ea typeface="Arial"/>
                          <a:cs typeface="Arial"/>
                        </a:rPr>
                        <a:t>vị</a:t>
                      </a:r>
                      <a:r>
                        <a:rPr sz="1200" b="1" i="0" u="none">
                          <a:solidFill>
                            <a:srgbClr val="FFFFFF"/>
                          </a:solidFill>
                          <a:latin typeface="Arial"/>
                          <a:ea typeface="Arial"/>
                          <a:cs typeface="Arial"/>
                        </a:rPr>
                        <a:t> 5 </a:t>
                      </a:r>
                      <a:r>
                        <a:rPr sz="1200" b="1" i="0" u="none">
                          <a:solidFill>
                            <a:srgbClr val="FFFFFF"/>
                          </a:solidFill>
                          <a:latin typeface="Arial"/>
                          <a:ea typeface="Arial"/>
                          <a:cs typeface="Arial"/>
                        </a:rPr>
                        <a:t>năm</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a:t>
                      </a:r>
                      <a:r>
                        <a:rPr sz="1200" b="1" i="0" u="none">
                          <a:solidFill>
                            <a:srgbClr val="FFFFFF"/>
                          </a:solidFill>
                          <a:latin typeface="Arial"/>
                          <a:ea typeface="Arial"/>
                          <a:cs typeface="Arial"/>
                        </a:rPr>
                        <a:t>với</a:t>
                      </a:r>
                      <a:r>
                        <a:rPr sz="1200" b="1" i="0" u="none">
                          <a:solidFill>
                            <a:srgbClr val="FFFFFF"/>
                          </a:solidFill>
                          <a:latin typeface="Arial"/>
                          <a:ea typeface="Arial"/>
                          <a:cs typeface="Arial"/>
                        </a:rPr>
                        <a:t> P/B Trung </a:t>
                      </a:r>
                      <a:r>
                        <a:rPr sz="1200" b="1" i="0" u="none">
                          <a:solidFill>
                            <a:srgbClr val="FFFFFF"/>
                          </a:solidFill>
                          <a:latin typeface="Arial"/>
                          <a:ea typeface="Arial"/>
                          <a:cs typeface="Arial"/>
                        </a:rPr>
                        <a:t>vị</a:t>
                      </a:r>
                      <a:r>
                        <a:rPr sz="1200" b="1" i="0" u="none">
                          <a:solidFill>
                            <a:srgbClr val="FFFFFF"/>
                          </a:solidFill>
                          <a:latin typeface="Arial"/>
                          <a:ea typeface="Arial"/>
                          <a:cs typeface="Arial"/>
                        </a:rPr>
                        <a:t> 5 </a:t>
                      </a:r>
                      <a:r>
                        <a:rPr sz="1200" b="1" i="0" u="none">
                          <a:solidFill>
                            <a:srgbClr val="FFFFFF"/>
                          </a:solidFill>
                          <a:latin typeface="Arial"/>
                          <a:ea typeface="Arial"/>
                          <a:cs typeface="Arial"/>
                        </a:rPr>
                        <a:t>năm</a:t>
                      </a:r>
                    </a:p>
                  </a:txBody>
                  <a:tcPr marL="8844" marR="8844" marT="8844" marB="0" anchor="ctr">
                    <a:lnL>
                      <a:noFill/>
                    </a:lnL>
                    <a:lnR w="6350" cmpd="sng">
                      <a:solidFill>
                        <a:srgbClr val="002060"/>
                      </a:solidFill>
                      <a:prstDash val="solid"/>
                    </a:lnR>
                    <a:lnT w="6350" cmpd="sng">
                      <a:solidFill>
                        <a:srgbClr val="002060"/>
                      </a:solidFill>
                      <a:prstDash val="solid"/>
                    </a:lnT>
                    <a:lnB>
                      <a:noFill/>
                    </a:lnB>
                    <a:solidFill>
                      <a:srgbClr val="0070C0"/>
                    </a:solidFill>
                  </a:tcPr>
                </a:tc>
              </a:tr>
              <a:tr h="199004">
                <a:tc vMerge="1">
                  <a:txBody>
                    <a:bodyPr/>
                    <a:lstStyle/>
                    <a:p/>
                  </a:txBody>
                  <a:tcPr marL="91440" marR="91440" marT="45720" marB="45720"/>
                </a:tc>
                <a:tc vMerge="1">
                  <a:txBody>
                    <a:bodyPr/>
                    <a:lstStyle/>
                    <a:p/>
                  </a:txBody>
                  <a:tcPr marL="91440" marR="91440" marT="45720" marB="45720"/>
                </a:tc>
                <a:tc>
                  <a:txBody>
                    <a:bodyPr/>
                    <a:lstStyle/>
                    <a:p>
                      <a:pPr algn="ctr">
                        <a:buNone/>
                      </a:pPr>
                      <a:r>
                        <a:rPr sz="1200" b="1" i="0" u="none">
                          <a:solidFill>
                            <a:srgbClr val="FFFFFF"/>
                          </a:solidFill>
                          <a:latin typeface="Arial"/>
                          <a:ea typeface="Arial"/>
                          <a:cs typeface="Arial"/>
                        </a:rPr>
                        <a:t>31/07/2026</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a:t>
                      </a:r>
                      <a:r>
                        <a:rPr sz="1200" b="1" i="0" u="none">
                          <a:solidFill>
                            <a:srgbClr val="FFFFFF"/>
                          </a:solidFill>
                          <a:latin typeface="Arial"/>
                          <a:ea typeface="Arial"/>
                          <a:cs typeface="Arial"/>
                        </a:rPr>
                        <a:t>tuần</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a:t>
                      </a:r>
                      <a:r>
                        <a:rPr sz="1200" b="1" i="0" u="none">
                          <a:solidFill>
                            <a:srgbClr val="FFFFFF"/>
                          </a:solidFill>
                          <a:latin typeface="Arial"/>
                          <a:ea typeface="Arial"/>
                          <a:cs typeface="Arial"/>
                        </a:rPr>
                        <a:t>tháng</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YTD</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Cao </a:t>
                      </a:r>
                      <a:r>
                        <a:rPr sz="1200" b="1" i="0" u="none">
                          <a:solidFill>
                            <a:srgbClr val="FFFFFF"/>
                          </a:solidFill>
                          <a:latin typeface="Arial"/>
                          <a:ea typeface="Arial"/>
                          <a:cs typeface="Arial"/>
                        </a:rPr>
                        <a:t>nhất</a:t>
                      </a:r>
                      <a:r>
                        <a:rPr sz="1200" b="1" i="0" u="none">
                          <a:solidFill>
                            <a:srgbClr val="FFFFFF"/>
                          </a:solidFill>
                          <a:latin typeface="Arial"/>
                          <a:ea typeface="Arial"/>
                          <a:cs typeface="Arial"/>
                        </a:rPr>
                        <a:t>  52w</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Thấp</a:t>
                      </a:r>
                      <a:r>
                        <a:rPr sz="1200" b="1" i="0" u="none">
                          <a:solidFill>
                            <a:srgbClr val="FFFFFF"/>
                          </a:solidFill>
                          <a:latin typeface="Arial"/>
                          <a:ea typeface="Arial"/>
                          <a:cs typeface="Arial"/>
                        </a:rPr>
                        <a:t> </a:t>
                      </a:r>
                      <a:r>
                        <a:rPr sz="1200" b="1" i="0" u="none">
                          <a:solidFill>
                            <a:srgbClr val="FFFFFF"/>
                          </a:solidFill>
                          <a:latin typeface="Arial"/>
                          <a:ea typeface="Arial"/>
                          <a:cs typeface="Arial"/>
                        </a:rPr>
                        <a:t>nhất</a:t>
                      </a:r>
                      <a:r>
                        <a:rPr sz="1200" b="1" i="0" u="none">
                          <a:solidFill>
                            <a:srgbClr val="FFFFFF"/>
                          </a:solidFill>
                          <a:latin typeface="Arial"/>
                          <a:ea typeface="Arial"/>
                          <a:cs typeface="Arial"/>
                        </a:rPr>
                        <a:t> 52w</a:t>
                      </a:r>
                    </a:p>
                  </a:txBody>
                  <a:tcPr marL="8844" marR="8844" marT="8844" marB="0" anchor="ctr">
                    <a:lnL>
                      <a:noFill/>
                    </a:lnL>
                    <a:lnR>
                      <a:noFill/>
                    </a:lnR>
                    <a:lnT>
                      <a:noFill/>
                    </a:lnT>
                    <a:lnB>
                      <a:noFill/>
                    </a:lnB>
                    <a:solidFill>
                      <a:srgbClr val="0070C0"/>
                    </a:solidFill>
                  </a:tcPr>
                </a:tc>
                <a:tc vMerge="1">
                  <a:txBody>
                    <a:bodyPr/>
                    <a:lstStyle/>
                    <a:p/>
                  </a:txBody>
                  <a:tcPr marL="91440" marR="91440" marT="45720" marB="45720"/>
                </a:tc>
                <a:tc vMerge="1">
                  <a:txBody>
                    <a:bodyPr/>
                    <a:lstStyle/>
                    <a:p/>
                  </a:txBody>
                  <a:tcPr marL="91440" marR="91440" marT="45720" marB="45720"/>
                </a:tc>
                <a:tc vMerge="1">
                  <a:txBody>
                    <a:bodyPr/>
                    <a:lstStyle/>
                    <a:p/>
                  </a:txBody>
                  <a:tcPr marL="91440" marR="91440" marT="45720" marB="45720"/>
                </a:tc>
                <a:tc vMerge="1">
                  <a:txBody>
                    <a:bodyPr/>
                    <a:lstStyle/>
                    <a:p/>
                  </a:txBody>
                  <a:tcPr marL="91440" marR="91440" marT="45720" marB="45720"/>
                </a:tc>
              </a:tr>
              <a:tr h="199004">
                <a:tc>
                  <a:txBody>
                    <a:bodyPr/>
                    <a:lstStyle/>
                    <a:p>
                      <a:pPr algn="ctr">
                        <a:buNone/>
                      </a:pPr>
                      <a:r>
                        <a:rPr sz="1200" b="0" i="1" u="none">
                          <a:solidFill>
                            <a:srgbClr val="FFFFFF"/>
                          </a:solidFill>
                          <a:latin typeface="Arial"/>
                          <a:ea typeface="Arial"/>
                          <a:cs typeface="Arial"/>
                        </a:rPr>
                        <a:t> </a:t>
                      </a:r>
                    </a:p>
                  </a:txBody>
                  <a:tcPr marL="8844" marR="8844" marT="8844" marB="0" anchor="ctr">
                    <a:lnL w="6350" cmpd="sng">
                      <a:solidFill>
                        <a:srgbClr val="002060"/>
                      </a:solidFill>
                      <a:prstDash val="solid"/>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 </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VNĐ</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w="6350" cmpd="sng">
                      <a:solidFill>
                        <a:srgbClr val="002060"/>
                      </a:solidFill>
                      <a:prstDash val="solid"/>
                    </a:lnR>
                    <a:lnT>
                      <a:noFill/>
                    </a:lnT>
                    <a:lnB>
                      <a:noFill/>
                    </a:lnB>
                    <a:solidFill>
                      <a:srgbClr val="BFBFBF"/>
                    </a:solidFill>
                  </a:tcPr>
                </a:tc>
              </a:tr>
              <a:tr h="199004">
                <a:tc>
                  <a:txBody>
                    <a:bodyPr/>
                    <a:lstStyle/>
                    <a:p>
                      <a:pPr algn="ctr">
                        <a:buNone/>
                      </a:pPr>
                      <a:r>
                        <a:rPr sz="1000" b="0" i="0" u="none">
                          <a:solidFill>
                            <a:srgbClr val="002060"/>
                          </a:solidFill>
                          <a:latin typeface="Arial"/>
                          <a:ea typeface="Arial"/>
                          <a:cs typeface="Arial"/>
                        </a:rPr>
                        <a:t>1</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FRT</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124.400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15,40%</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1,88%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-12,63%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-25,57%</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18,48%</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19,6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4,6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-17,94%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-32,85%</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2</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VHM</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148.100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13,92%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-0,40%</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24,02%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-6,23%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76,97%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7,6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-5,05%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48,10%</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3</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VRE</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24.800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13,24%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-12,37%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-23,69%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-40,83%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16,43%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7,8</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-50,29%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-28,75%</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4</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CTD</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61.000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10,71%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-15,86%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-15,73%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-34,26%</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10,71%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8,7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-59,66%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-8,97%</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5</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VCB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59.300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9,61%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-5,09%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3,99%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-21,32%</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9,81%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-21,09%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-31,85%</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6</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DGW</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36.600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9,25%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-8,73%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-3,88%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-33,06%</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10,41%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9,7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-47,62%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-34,53%</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7</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PVT</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18.300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8,61%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-9,41%</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9,40%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-34,43%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21,26%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6,8</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-24,75%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-15,00%</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8</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VCI</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21.300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7,58%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-14,46%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-16,75%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-39,09%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15,45%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16,0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-28,87%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-37,42%</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9</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VGC</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37.850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7,30%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-8,35%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-3,86%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-37,72%</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8,45%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-29,22%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-20,78%</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10</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FPT</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67.100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6,68%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-7,96%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-28,99%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-36,06%</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7,88%</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-42,54%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-41,97%</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11</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CTG</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30.800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6,21%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-9,08%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-12,52%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-24,64%</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7,13%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-31,77%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-13,67%</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12</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DGC</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39.100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6,11%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-18,37%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-42,92%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-62,18%</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8,61%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7,0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-37,53%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-68,35%</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13</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BSR</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25.350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5,62%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-0,39%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57,45%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-33,03%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100,69%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-32,46%</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37,90%</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14</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BID</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38.000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5,56%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-10,70%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-1,18%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-30,11%</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9,51%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8,4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-30,30%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-30,24%</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15</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GMD</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77.000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5,19%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3,63%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29,89%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-6,12%</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41,49%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12,7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-22,75%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1,70%</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16</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GVR</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27.500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4,96%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-17,04%</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4,96%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-39,89%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10,47%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15,4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-40,79%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-16,13%</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17</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REE</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46.500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4,73%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-6,81%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-10,92%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-25,42%</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6,04%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-13,59%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-20,83%</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18</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MCH</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141.000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4,44%</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0,21%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-21,94%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-22,47%</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66,60%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26,0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9,9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84,17%</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93,15%</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19</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VIX</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13.000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4,42%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-23,98%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-31,58%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-61,13%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10,64%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5,6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-48,98%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-26,52%</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20</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MWG</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69.900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4,39%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-11,27%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-19,70%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-24,24%</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12,14%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10,5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-51,85%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-17,19%</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21</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HPG</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21.700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4,33%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-7,46%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-7,93%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-19,91%</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6,63%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7,9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-42,93%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-17,72%</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22</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NKG</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10.950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4,29%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-9,13%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-18,89%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-39,47%</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5,29%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32,4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0,7</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288,24%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-26,04%</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23</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DPM</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23.550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4,20%</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1,95%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5,84%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-30,74%</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7,29%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9,0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-28,90%</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8,46%</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24</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NLG</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22.200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3,98%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-16,85%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-25,69%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-47,46%</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11,00%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15,8</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-26,03%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-45,57%</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25</a:t>
                      </a:r>
                    </a:p>
                  </a:txBody>
                  <a:tcPr marL="9525" marR="9525" marT="9525" marB="0" anchor="ctr">
                    <a:lnL w="6350" cmpd="sng">
                      <a:solidFill>
                        <a:srgbClr val="002060"/>
                      </a:solidFill>
                      <a:prstDash val="solid"/>
                    </a:lnL>
                    <a:lnR>
                      <a:noFill/>
                    </a:lnR>
                    <a:lnT>
                      <a:noFill/>
                    </a:lnT>
                    <a:lnB w="6350" cmpd="sng">
                      <a:solidFill>
                        <a:srgbClr val="002060"/>
                      </a:solidFill>
                      <a:prstDash val="solid"/>
                    </a:lnB>
                    <a:noFill/>
                  </a:tcPr>
                </a:tc>
                <a:tc>
                  <a:txBody>
                    <a:bodyPr/>
                    <a:lstStyle/>
                    <a:p>
                      <a:pPr algn="ctr">
                        <a:buNone/>
                      </a:pPr>
                      <a:r>
                        <a:rPr sz="1000" b="0" i="0" u="none">
                          <a:solidFill>
                            <a:srgbClr val="002060"/>
                          </a:solidFill>
                          <a:latin typeface="Arial"/>
                          <a:ea typeface="Arial"/>
                          <a:cs typeface="Arial"/>
                        </a:rPr>
                        <a:t>DCM</a:t>
                      </a:r>
                    </a:p>
                  </a:txBody>
                  <a:tcPr marL="9525" marR="9525" marT="9525" marB="0" anchor="ctr">
                    <a:lnL>
                      <a:noFill/>
                    </a:lnL>
                    <a:lnR>
                      <a:noFill/>
                    </a:lnR>
                    <a:lnT>
                      <a:noFill/>
                    </a:lnT>
                    <a:lnB w="6350" cmpd="sng">
                      <a:solidFill>
                        <a:srgbClr val="002060"/>
                      </a:solidFill>
                      <a:prstDash val="solid"/>
                    </a:lnB>
                    <a:noFill/>
                  </a:tcPr>
                </a:tc>
                <a:tc>
                  <a:txBody>
                    <a:bodyPr/>
                    <a:lstStyle/>
                    <a:p>
                      <a:pPr algn="l">
                        <a:buNone/>
                      </a:pPr>
                      <a:r>
                        <a:rPr sz="1000" b="0" i="0" u="none">
                          <a:solidFill>
                            <a:srgbClr val="002060"/>
                          </a:solidFill>
                          <a:latin typeface="Arial"/>
                          <a:ea typeface="Arial"/>
                          <a:cs typeface="Arial"/>
                        </a:rPr>
                        <a:t>          30.700 </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00B050"/>
                          </a:solidFill>
                          <a:latin typeface="Arial"/>
                          <a:ea typeface="Arial"/>
                          <a:cs typeface="Arial"/>
                        </a:rPr>
                        <a:t>3,89%</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-8,66%</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-0,69%</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-35,31%</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00B050"/>
                          </a:solidFill>
                          <a:latin typeface="Arial"/>
                          <a:ea typeface="Arial"/>
                          <a:cs typeface="Arial"/>
                        </a:rPr>
                        <a:t>6,23%</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002060"/>
                          </a:solidFill>
                          <a:latin typeface="Arial"/>
                          <a:ea typeface="Arial"/>
                          <a:cs typeface="Arial"/>
                        </a:rPr>
                        <a:t>6,2</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002060"/>
                          </a:solidFill>
                          <a:latin typeface="Arial"/>
                          <a:ea typeface="Arial"/>
                          <a:cs typeface="Arial"/>
                        </a:rPr>
                        <a:t>1,4</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-43,70%</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-21,33%</a:t>
                      </a:r>
                    </a:p>
                  </a:txBody>
                  <a:tcPr marL="9525" marR="9525" marT="9525" marB="0" anchor="ctr">
                    <a:lnL>
                      <a:noFill/>
                    </a:lnL>
                    <a:lnR w="6350" cmpd="sng">
                      <a:solidFill>
                        <a:srgbClr val="002060"/>
                      </a:solidFill>
                      <a:prstDash val="solid"/>
                    </a:lnR>
                    <a:lnT>
                      <a:noFill/>
                    </a:lnT>
                    <a:lnB w="6350" cmpd="sng">
                      <a:solidFill>
                        <a:srgbClr val="002060"/>
                      </a:solidFill>
                      <a:prstDash val="solid"/>
                    </a:lnB>
                    <a:noFill/>
                  </a:tcPr>
                </a:tc>
              </a:tr>
            </a:tbl>
          </a:graphicData>
        </a:graphic>
      </p:graphicFrame>
    </p:spTree>
    <p:extLst>
      <p:ext uri="{BB962C8B-B14F-4D97-AF65-F5344CB8AC3E}">
        <p14:creationId xmlns:p14="http://schemas.microsoft.com/office/powerpoint/2010/main" val="1446005431"/>
      </p:ext>
    </p:extLst>
  </p:cSld>
</p:sld>
</file>

<file path=ppt/slides/slide10.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0" name="Straight Connector 19">
            <a:extLst xmlns:a="http://schemas.openxmlformats.org/drawingml/2006/main">
              <a:ext uri="{FF2B5EF4-FFF2-40B4-BE49-F238E27FC236}">
                <a16:creationId xmlns:a16="http://schemas.microsoft.com/office/drawing/2014/main" id="{259DBB99-DC7C-4EA5-805B-D5C148AC2E2A}"/>
              </a:ext>
            </a:extLst>
          </p:cNvPr>
          <p:cNvSpPr>
            <a:spLocks xmlns:a="http://schemas.openxmlformats.org/drawingml/2006/main" noGrp="1"/>
          </p:cNvSpPr>
          <p:nvPr/>
        </p:nvSpPr>
        <p:spPr>
          <a:xfrm xmlns:a="http://schemas.openxmlformats.org/drawingml/2006/main" flipV="1">
            <a:off x="261122" y="726334"/>
            <a:ext cx="11676878" cy="0"/>
          </a:xfrm>
          <a:prstGeom xmlns:a="http://schemas.openxmlformats.org/drawingml/2006/main" prst="line">
            <a:avLst/>
          </a:prstGeom>
          <a:ln xmlns:a="http://schemas.openxmlformats.org/drawingml/2006/main" w="19050">
            <a:solidFill>
              <a:srgbClr val="163A63"/>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Title 5">
            <a:extLst xmlns:a="http://schemas.openxmlformats.org/drawingml/2006/main">
              <a:ext uri="{FF2B5EF4-FFF2-40B4-BE49-F238E27FC236}">
                <a16:creationId xmlns:a16="http://schemas.microsoft.com/office/drawing/2014/main" id="{578E1B08-BF77-124A-880E-8FCBA0C71676}"/>
              </a:ext>
            </a:extLst>
          </p:cNvPr>
          <p:cNvSpPr>
            <a:spLocks xmlns:a="http://schemas.openxmlformats.org/drawingml/2006/main" noGrp="1"/>
          </p:cNvSpPr>
          <p:nvPr/>
        </p:nvSpPr>
        <p:spPr>
          <a:xfrm xmlns:a="http://schemas.openxmlformats.org/drawingml/2006/main">
            <a:off x="291437" y="349186"/>
            <a:ext cx="7991728" cy="355038"/>
          </a:xfrm>
          <a:prstGeom xmlns:a="http://schemas.openxmlformats.org/drawingml/2006/main" prst="rect">
            <a:avLst/>
          </a:prstGeom>
          <a:solidFill xmlns:a="http://schemas.openxmlformats.org/drawingml/2006/main">
            <a:schemeClr val="bg1"/>
          </a:solidFill>
        </p:spPr>
        <p:txBody>
          <a:bodyPr xmlns:a="http://schemas.openxmlformats.org/drawingml/2006/main" vert="horz" lIns="91440" tIns="45720" rIns="91440" bIns="45720" anchor="t">
            <a:noAutofit/>
          </a:bodyPr>
          <a:lstStyle xmlns:a="http://schemas.openxmlformats.org/drawingml/2006/main">
            <a:lvl1pPr algn="l" defTabSz="914400">
              <a:lnSpc>
                <a:spcPct val="90000"/>
              </a:lnSpc>
              <a:spcBef>
                <a:spcPct val="0"/>
              </a:spcBef>
              <a:buNone/>
              <a:defRPr sz="1875" kern="1200">
                <a:solidFill>
                  <a:schemeClr val="accent1"/>
                </a:solidFill>
                <a:latin typeface="+mj-lt"/>
                <a:ea typeface="+mj-lt"/>
                <a:cs typeface="+mj-lt"/>
              </a:defRPr>
            </a:lvl1pPr>
          </a:lstStyle>
          <a:p xmlns:a="http://schemas.openxmlformats.org/drawingml/2006/main">
            <a:pPr>
              <a:lnSpc>
                <a:spcPct val="114000"/>
              </a:lnSpc>
              <a:spcBef>
                <a:spcPts val="300"/>
              </a:spcBef>
              <a:spcAft>
                <a:spcPts val="300"/>
              </a:spcAft>
              <a:buNone/>
              <a:defRPr sz="1425" b="1">
                <a:solidFill>
                  <a:srgbClr val="163A63"/>
                </a:solidFill>
                <a:latin typeface="Arial"/>
                <a:ea typeface="Arial"/>
                <a:cs typeface="Arial"/>
              </a:defRPr>
            </a:pPr>
            <a:r>
              <a:rPr sz="1425" b="1">
                <a:solidFill>
                  <a:srgbClr val="163A63"/>
                </a:solidFill>
                <a:latin typeface="Arial"/>
                <a:ea typeface="Arial"/>
                <a:cs typeface="Arial"/>
              </a:rPr>
              <a:t>DANH MỤC CỔ PHIẾU THEO DÕI</a:t>
            </a:r>
          </a:p>
        </p:txBody>
      </p:sp>
      <p:sp>
        <p:nvSpPr>
          <p:cNvPr id="2" name="Text Placeholder 7">
            <a:extLst xmlns:a="http://schemas.openxmlformats.org/drawingml/2006/main">
              <a:ext uri="{FF2B5EF4-FFF2-40B4-BE49-F238E27FC236}">
                <a16:creationId xmlns:a16="http://schemas.microsoft.com/office/drawing/2014/main" id="{E33D6793-C142-1267-CD98-44105357C7FC}"/>
              </a:ext>
            </a:extLst>
          </p:cNvPr>
          <p:cNvSpPr>
            <a:spLocks xmlns:a="http://schemas.openxmlformats.org/drawingml/2006/main" noGrp="1"/>
          </p:cNvSpPr>
          <p:nvPr/>
        </p:nvSpPr>
        <p:spPr>
          <a:xfrm xmlns:a="http://schemas.openxmlformats.org/drawingml/2006/main">
            <a:off x="261122" y="858133"/>
            <a:ext cx="11676878" cy="5650679"/>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50000"/>
              </a:lnSpc>
              <a:buNone/>
            </a:pPr>
          </a:p>
        </p:txBody>
      </p:sp>
      <p:sp>
        <p:nvSpPr>
          <p:cNvPr id="3" name="Slide Number Placeholder 2">
            <a:extLst xmlns:a="http://schemas.openxmlformats.org/drawingml/2006/main">
              <a:ext uri="{FF2B5EF4-FFF2-40B4-BE49-F238E27FC236}">
                <a16:creationId xmlns:a16="http://schemas.microsoft.com/office/drawing/2014/main" id="{76F05E8C-AEDB-2F83-7F33-0859E3AE1D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10</a:t>
            </a:fld>
          </a:p>
        </p:txBody>
      </p:sp>
      <p:graphicFrame>
        <p:nvGraphicFramePr>
          <p:cNvPr id="26" name="Table 8"/>
          <p:cNvGraphicFramePr/>
          <p:nvPr/>
        </p:nvGraphicFramePr>
        <p:xfrm>
          <a:off xmlns:a="http://schemas.openxmlformats.org/drawingml/2006/main" x="254000" y="800222"/>
          <a:ext xmlns:a="http://schemas.openxmlformats.org/drawingml/2006/main" cx="11649965" cy="5789639"/>
        </p:xfrm>
        <a:graphic xmlns:a="http://schemas.openxmlformats.org/drawingml/2006/main">
          <a:graphicData uri="http://schemas.openxmlformats.org/drawingml/2006/table">
            <a:tbl>
              <a:tblPr/>
              <a:tblGrid>
                <a:gridCol w="665994"/>
                <a:gridCol w="941463"/>
                <a:gridCol w="1101725"/>
                <a:gridCol w="1013639"/>
                <a:gridCol w="1013639"/>
                <a:gridCol w="1013639"/>
                <a:gridCol w="1013639"/>
                <a:gridCol w="1013639"/>
                <a:gridCol w="968147"/>
                <a:gridCol w="968147"/>
                <a:gridCol w="968147"/>
                <a:gridCol w="968147"/>
              </a:tblGrid>
              <a:tr h="240931">
                <a:tc rowSpan="2">
                  <a:txBody>
                    <a:bodyPr/>
                    <a:lstStyle/>
                    <a:p>
                      <a:pPr algn="ctr">
                        <a:buNone/>
                      </a:pPr>
                      <a:r>
                        <a:rPr sz="1200" b="1" i="0" u="none">
                          <a:solidFill>
                            <a:srgbClr val="FFFFFF"/>
                          </a:solidFill>
                          <a:latin typeface="Arial"/>
                          <a:ea typeface="Arial"/>
                          <a:cs typeface="Arial"/>
                        </a:rPr>
                        <a:t>STT</a:t>
                      </a:r>
                    </a:p>
                  </a:txBody>
                  <a:tcPr marL="8844" marR="8844" marT="8844" marB="0" anchor="ctr">
                    <a:lnL w="6350" cmpd="sng">
                      <a:solidFill>
                        <a:srgbClr val="002060"/>
                      </a:solid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Mã</a:t>
                      </a:r>
                    </a:p>
                  </a:txBody>
                  <a:tcPr marL="8844" marR="8844" marT="8844" marB="0" anchor="ctr">
                    <a:lnL>
                      <a:noFill/>
                    </a:lnL>
                    <a:lnR>
                      <a:noFill/>
                    </a:lnR>
                    <a:lnT w="6350" cmpd="sng">
                      <a:solidFill>
                        <a:srgbClr val="002060"/>
                      </a:solidFill>
                      <a:prstDash val="solid"/>
                    </a:lnT>
                    <a:lnB>
                      <a:noFill/>
                    </a:lnB>
                    <a:solidFill>
                      <a:srgbClr val="0070C0"/>
                    </a:solidFill>
                  </a:tcPr>
                </a:tc>
                <a:tc>
                  <a:txBody>
                    <a:bodyPr/>
                    <a:lstStyle/>
                    <a:p>
                      <a:pPr algn="ctr">
                        <a:buNone/>
                      </a:pPr>
                      <a:r>
                        <a:rPr sz="1200" b="1" i="0" u="none">
                          <a:solidFill>
                            <a:srgbClr val="FFFFFF"/>
                          </a:solidFill>
                          <a:latin typeface="Arial"/>
                          <a:ea typeface="Arial"/>
                          <a:cs typeface="Arial"/>
                        </a:rPr>
                        <a:t>Giá</a:t>
                      </a:r>
                      <a:r>
                        <a:rPr sz="1200" b="1" i="0" u="none">
                          <a:solidFill>
                            <a:srgbClr val="FFFFFF"/>
                          </a:solidFill>
                          <a:latin typeface="Arial"/>
                          <a:ea typeface="Arial"/>
                          <a:cs typeface="Arial"/>
                        </a:rPr>
                        <a:t> </a:t>
                      </a:r>
                      <a:r>
                        <a:rPr sz="1200" b="1" i="0" u="none">
                          <a:solidFill>
                            <a:srgbClr val="FFFFFF"/>
                          </a:solidFill>
                          <a:latin typeface="Arial"/>
                          <a:ea typeface="Arial"/>
                          <a:cs typeface="Arial"/>
                        </a:rPr>
                        <a:t>đóng</a:t>
                      </a:r>
                      <a:r>
                        <a:rPr sz="1200" b="1" i="0" u="none">
                          <a:solidFill>
                            <a:srgbClr val="FFFFFF"/>
                          </a:solidFill>
                          <a:latin typeface="Arial"/>
                          <a:ea typeface="Arial"/>
                          <a:cs typeface="Arial"/>
                        </a:rPr>
                        <a:t> </a:t>
                      </a:r>
                      <a:r>
                        <a:rPr sz="1200" b="1" i="0" u="none">
                          <a:solidFill>
                            <a:srgbClr val="FFFFFF"/>
                          </a:solidFill>
                          <a:latin typeface="Arial"/>
                          <a:ea typeface="Arial"/>
                          <a:cs typeface="Arial"/>
                        </a:rPr>
                        <a:t>cửa</a:t>
                      </a:r>
                    </a:p>
                  </a:txBody>
                  <a:tcPr marL="8844" marR="8844" marT="8844" marB="0" anchor="ctr">
                    <a:lnL>
                      <a:noFill/>
                    </a:lnL>
                    <a:lnR>
                      <a:noFill/>
                    </a:lnR>
                    <a:lnT w="6350" cmpd="sng">
                      <a:solidFill>
                        <a:srgbClr val="002060"/>
                      </a:solidFill>
                      <a:prstDash val="solid"/>
                    </a:lnT>
                    <a:lnB>
                      <a:noFill/>
                    </a:lnB>
                    <a:solidFill>
                      <a:srgbClr val="0070C0"/>
                    </a:solidFill>
                  </a:tcPr>
                </a:tc>
                <a:tc gridSpan="5">
                  <a:txBody>
                    <a:bodyPr/>
                    <a:lstStyle/>
                    <a:p>
                      <a:pPr algn="ctr">
                        <a:buNone/>
                      </a:pPr>
                      <a:r>
                        <a:rPr sz="1200" b="1" i="0" u="none">
                          <a:solidFill>
                            <a:srgbClr val="FFFFFF"/>
                          </a:solidFill>
                          <a:latin typeface="Arial"/>
                          <a:ea typeface="Arial"/>
                          <a:cs typeface="Arial"/>
                        </a:rPr>
                        <a:t>% Thay </a:t>
                      </a:r>
                      <a:r>
                        <a:rPr sz="1200" b="1" i="0" u="none">
                          <a:solidFill>
                            <a:srgbClr val="FFFFFF"/>
                          </a:solidFill>
                          <a:latin typeface="Arial"/>
                          <a:ea typeface="Arial"/>
                          <a:cs typeface="Arial"/>
                        </a:rPr>
                        <a:t>đổi</a:t>
                      </a:r>
                      <a:r>
                        <a:rPr sz="1200" b="1" i="0" u="none">
                          <a:solidFill>
                            <a:srgbClr val="FFFFFF"/>
                          </a:solidFill>
                          <a:latin typeface="Arial"/>
                          <a:ea typeface="Arial"/>
                          <a:cs typeface="Arial"/>
                        </a:rPr>
                        <a:t> </a:t>
                      </a:r>
                      <a:r>
                        <a:rPr sz="1200" b="1" i="0" u="none">
                          <a:solidFill>
                            <a:srgbClr val="FFFFFF"/>
                          </a:solidFill>
                          <a:latin typeface="Arial"/>
                          <a:ea typeface="Arial"/>
                          <a:cs typeface="Arial"/>
                        </a:rPr>
                        <a:t>giá</a:t>
                      </a:r>
                    </a:p>
                  </a:txBody>
                  <a:tcPr marL="8844" marR="8844" marT="8844" marB="0" anchor="ctr">
                    <a:lnL>
                      <a:noFill/>
                    </a:lnL>
                    <a:lnR>
                      <a:noFill/>
                    </a:lnR>
                    <a:lnT w="6350" cmpd="sng">
                      <a:solidFill>
                        <a:srgbClr val="002060"/>
                      </a:solidFill>
                      <a:prstDash val="solid"/>
                    </a:lnT>
                    <a:lnB>
                      <a:noFill/>
                    </a:lnB>
                    <a:solidFill>
                      <a:srgbClr val="0070C0"/>
                    </a:solidFill>
                  </a:tcPr>
                </a:tc>
                <a:tc hMerge="1">
                  <a:txBody>
                    <a:bodyPr/>
                    <a:lstStyle/>
                    <a:p/>
                  </a:txBody>
                  <a:tcPr marL="91440" marR="91440" marT="45720" marB="45720"/>
                </a:tc>
                <a:tc hMerge="1">
                  <a:txBody>
                    <a:bodyPr/>
                    <a:lstStyle/>
                    <a:p/>
                  </a:txBody>
                  <a:tcPr marL="91440" marR="91440" marT="45720" marB="45720"/>
                </a:tc>
                <a:tc hMerge="1">
                  <a:txBody>
                    <a:bodyPr/>
                    <a:lstStyle/>
                    <a:p/>
                  </a:txBody>
                  <a:tcPr marL="91440" marR="91440" marT="45720" marB="45720"/>
                </a:tc>
                <a:tc hMerge="1">
                  <a:txBody>
                    <a:bodyPr/>
                    <a:lstStyle/>
                    <a:p/>
                  </a:txBody>
                  <a:tcPr marL="91440" marR="91440" marT="45720" marB="45720"/>
                </a:tc>
                <a:tc rowSpan="2">
                  <a:txBody>
                    <a:bodyPr/>
                    <a:lstStyle/>
                    <a:p>
                      <a:pPr algn="ctr">
                        <a:buNone/>
                      </a:pPr>
                      <a:r>
                        <a:rPr sz="1200" b="1" i="0" u="none">
                          <a:solidFill>
                            <a:srgbClr val="FFFFFF"/>
                          </a:solidFill>
                          <a:latin typeface="Arial"/>
                          <a:ea typeface="Arial"/>
                          <a:cs typeface="Arial"/>
                        </a:rPr>
                        <a:t>PE</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PB</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a:t>
                      </a:r>
                      <a:r>
                        <a:rPr sz="1200" b="1" i="0" u="none">
                          <a:solidFill>
                            <a:srgbClr val="FFFFFF"/>
                          </a:solidFill>
                          <a:latin typeface="Arial"/>
                          <a:ea typeface="Arial"/>
                          <a:cs typeface="Arial"/>
                        </a:rPr>
                        <a:t>với</a:t>
                      </a:r>
                      <a:r>
                        <a:rPr sz="1200" b="1" i="0" u="none">
                          <a:solidFill>
                            <a:srgbClr val="FFFFFF"/>
                          </a:solidFill>
                          <a:latin typeface="Arial"/>
                          <a:ea typeface="Arial"/>
                          <a:cs typeface="Arial"/>
                        </a:rPr>
                        <a:t> P/E Trung </a:t>
                      </a:r>
                      <a:r>
                        <a:rPr sz="1200" b="1" i="0" u="none">
                          <a:solidFill>
                            <a:srgbClr val="FFFFFF"/>
                          </a:solidFill>
                          <a:latin typeface="Arial"/>
                          <a:ea typeface="Arial"/>
                          <a:cs typeface="Arial"/>
                        </a:rPr>
                        <a:t>vị</a:t>
                      </a:r>
                      <a:r>
                        <a:rPr sz="1200" b="1" i="0" u="none">
                          <a:solidFill>
                            <a:srgbClr val="FFFFFF"/>
                          </a:solidFill>
                          <a:latin typeface="Arial"/>
                          <a:ea typeface="Arial"/>
                          <a:cs typeface="Arial"/>
                        </a:rPr>
                        <a:t> 5 </a:t>
                      </a:r>
                      <a:r>
                        <a:rPr sz="1200" b="1" i="0" u="none">
                          <a:solidFill>
                            <a:srgbClr val="FFFFFF"/>
                          </a:solidFill>
                          <a:latin typeface="Arial"/>
                          <a:ea typeface="Arial"/>
                          <a:cs typeface="Arial"/>
                        </a:rPr>
                        <a:t>năm</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a:t>
                      </a:r>
                      <a:r>
                        <a:rPr sz="1200" b="1" i="0" u="none">
                          <a:solidFill>
                            <a:srgbClr val="FFFFFF"/>
                          </a:solidFill>
                          <a:latin typeface="Arial"/>
                          <a:ea typeface="Arial"/>
                          <a:cs typeface="Arial"/>
                        </a:rPr>
                        <a:t>với</a:t>
                      </a:r>
                      <a:r>
                        <a:rPr sz="1200" b="1" i="0" u="none">
                          <a:solidFill>
                            <a:srgbClr val="FFFFFF"/>
                          </a:solidFill>
                          <a:latin typeface="Arial"/>
                          <a:ea typeface="Arial"/>
                          <a:cs typeface="Arial"/>
                        </a:rPr>
                        <a:t> P/B Trung </a:t>
                      </a:r>
                      <a:r>
                        <a:rPr sz="1200" b="1" i="0" u="none">
                          <a:solidFill>
                            <a:srgbClr val="FFFFFF"/>
                          </a:solidFill>
                          <a:latin typeface="Arial"/>
                          <a:ea typeface="Arial"/>
                          <a:cs typeface="Arial"/>
                        </a:rPr>
                        <a:t>vị</a:t>
                      </a:r>
                      <a:r>
                        <a:rPr sz="1200" b="1" i="0" u="none">
                          <a:solidFill>
                            <a:srgbClr val="FFFFFF"/>
                          </a:solidFill>
                          <a:latin typeface="Arial"/>
                          <a:ea typeface="Arial"/>
                          <a:cs typeface="Arial"/>
                        </a:rPr>
                        <a:t> 5 </a:t>
                      </a:r>
                      <a:r>
                        <a:rPr sz="1200" b="1" i="0" u="none">
                          <a:solidFill>
                            <a:srgbClr val="FFFFFF"/>
                          </a:solidFill>
                          <a:latin typeface="Arial"/>
                          <a:ea typeface="Arial"/>
                          <a:cs typeface="Arial"/>
                        </a:rPr>
                        <a:t>năm</a:t>
                      </a:r>
                    </a:p>
                  </a:txBody>
                  <a:tcPr marL="8844" marR="8844" marT="8844" marB="0" anchor="ctr">
                    <a:lnL>
                      <a:noFill/>
                    </a:lnL>
                    <a:lnR w="6350" cmpd="sng">
                      <a:solidFill>
                        <a:srgbClr val="002060"/>
                      </a:solidFill>
                      <a:prstDash val="solid"/>
                    </a:lnR>
                    <a:lnT w="6350" cmpd="sng">
                      <a:solidFill>
                        <a:srgbClr val="002060"/>
                      </a:solidFill>
                      <a:prstDash val="solid"/>
                    </a:lnT>
                    <a:lnB>
                      <a:noFill/>
                    </a:lnB>
                    <a:solidFill>
                      <a:srgbClr val="0070C0"/>
                    </a:solidFill>
                  </a:tcPr>
                </a:tc>
              </a:tr>
              <a:tr h="199004">
                <a:tc vMerge="1">
                  <a:txBody>
                    <a:bodyPr/>
                    <a:lstStyle/>
                    <a:p/>
                  </a:txBody>
                  <a:tcPr marL="91440" marR="91440" marT="45720" marB="45720"/>
                </a:tc>
                <a:tc vMerge="1">
                  <a:txBody>
                    <a:bodyPr/>
                    <a:lstStyle/>
                    <a:p/>
                  </a:txBody>
                  <a:tcPr marL="91440" marR="91440" marT="45720" marB="45720"/>
                </a:tc>
                <a:tc>
                  <a:txBody>
                    <a:bodyPr/>
                    <a:lstStyle/>
                    <a:p>
                      <a:pPr algn="ctr">
                        <a:buNone/>
                      </a:pPr>
                      <a:r>
                        <a:rPr sz="1200" b="1" i="0" u="none">
                          <a:solidFill>
                            <a:srgbClr val="FFFFFF"/>
                          </a:solidFill>
                          <a:latin typeface="Arial"/>
                          <a:ea typeface="Arial"/>
                          <a:cs typeface="Arial"/>
                        </a:rPr>
                        <a:t>31/07/2026</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a:t>
                      </a:r>
                      <a:r>
                        <a:rPr sz="1200" b="1" i="0" u="none">
                          <a:solidFill>
                            <a:srgbClr val="FFFFFF"/>
                          </a:solidFill>
                          <a:latin typeface="Arial"/>
                          <a:ea typeface="Arial"/>
                          <a:cs typeface="Arial"/>
                        </a:rPr>
                        <a:t>tuần</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a:t>
                      </a:r>
                      <a:r>
                        <a:rPr sz="1200" b="1" i="0" u="none">
                          <a:solidFill>
                            <a:srgbClr val="FFFFFF"/>
                          </a:solidFill>
                          <a:latin typeface="Arial"/>
                          <a:ea typeface="Arial"/>
                          <a:cs typeface="Arial"/>
                        </a:rPr>
                        <a:t>tháng</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YTD</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Cao </a:t>
                      </a:r>
                      <a:r>
                        <a:rPr sz="1200" b="1" i="0" u="none">
                          <a:solidFill>
                            <a:srgbClr val="FFFFFF"/>
                          </a:solidFill>
                          <a:latin typeface="Arial"/>
                          <a:ea typeface="Arial"/>
                          <a:cs typeface="Arial"/>
                        </a:rPr>
                        <a:t>nhất</a:t>
                      </a:r>
                      <a:r>
                        <a:rPr sz="1200" b="1" i="0" u="none">
                          <a:solidFill>
                            <a:srgbClr val="FFFFFF"/>
                          </a:solidFill>
                          <a:latin typeface="Arial"/>
                          <a:ea typeface="Arial"/>
                          <a:cs typeface="Arial"/>
                        </a:rPr>
                        <a:t>  52w</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Thấp</a:t>
                      </a:r>
                      <a:r>
                        <a:rPr sz="1200" b="1" i="0" u="none">
                          <a:solidFill>
                            <a:srgbClr val="FFFFFF"/>
                          </a:solidFill>
                          <a:latin typeface="Arial"/>
                          <a:ea typeface="Arial"/>
                          <a:cs typeface="Arial"/>
                        </a:rPr>
                        <a:t> </a:t>
                      </a:r>
                      <a:r>
                        <a:rPr sz="1200" b="1" i="0" u="none">
                          <a:solidFill>
                            <a:srgbClr val="FFFFFF"/>
                          </a:solidFill>
                          <a:latin typeface="Arial"/>
                          <a:ea typeface="Arial"/>
                          <a:cs typeface="Arial"/>
                        </a:rPr>
                        <a:t>nhất</a:t>
                      </a:r>
                      <a:r>
                        <a:rPr sz="1200" b="1" i="0" u="none">
                          <a:solidFill>
                            <a:srgbClr val="FFFFFF"/>
                          </a:solidFill>
                          <a:latin typeface="Arial"/>
                          <a:ea typeface="Arial"/>
                          <a:cs typeface="Arial"/>
                        </a:rPr>
                        <a:t> 52w</a:t>
                      </a:r>
                    </a:p>
                  </a:txBody>
                  <a:tcPr marL="8844" marR="8844" marT="8844" marB="0" anchor="ctr">
                    <a:lnL>
                      <a:noFill/>
                    </a:lnL>
                    <a:lnR>
                      <a:noFill/>
                    </a:lnR>
                    <a:lnT>
                      <a:noFill/>
                    </a:lnT>
                    <a:lnB>
                      <a:noFill/>
                    </a:lnB>
                    <a:solidFill>
                      <a:srgbClr val="0070C0"/>
                    </a:solidFill>
                  </a:tcPr>
                </a:tc>
                <a:tc vMerge="1">
                  <a:txBody>
                    <a:bodyPr/>
                    <a:lstStyle/>
                    <a:p/>
                  </a:txBody>
                  <a:tcPr marL="91440" marR="91440" marT="45720" marB="45720"/>
                </a:tc>
                <a:tc vMerge="1">
                  <a:txBody>
                    <a:bodyPr/>
                    <a:lstStyle/>
                    <a:p/>
                  </a:txBody>
                  <a:tcPr marL="91440" marR="91440" marT="45720" marB="45720"/>
                </a:tc>
                <a:tc vMerge="1">
                  <a:txBody>
                    <a:bodyPr/>
                    <a:lstStyle/>
                    <a:p/>
                  </a:txBody>
                  <a:tcPr marL="91440" marR="91440" marT="45720" marB="45720"/>
                </a:tc>
                <a:tc vMerge="1">
                  <a:txBody>
                    <a:bodyPr/>
                    <a:lstStyle/>
                    <a:p/>
                  </a:txBody>
                  <a:tcPr marL="91440" marR="91440" marT="45720" marB="45720"/>
                </a:tc>
              </a:tr>
              <a:tr h="199004">
                <a:tc>
                  <a:txBody>
                    <a:bodyPr/>
                    <a:lstStyle/>
                    <a:p>
                      <a:pPr algn="ctr">
                        <a:buNone/>
                      </a:pPr>
                      <a:r>
                        <a:rPr sz="1200" b="0" i="1" u="none">
                          <a:solidFill>
                            <a:srgbClr val="FFFFFF"/>
                          </a:solidFill>
                          <a:latin typeface="Arial"/>
                          <a:ea typeface="Arial"/>
                          <a:cs typeface="Arial"/>
                        </a:rPr>
                        <a:t> </a:t>
                      </a:r>
                    </a:p>
                  </a:txBody>
                  <a:tcPr marL="8844" marR="8844" marT="8844" marB="0" anchor="ctr">
                    <a:lnL w="6350" cmpd="sng">
                      <a:solidFill>
                        <a:srgbClr val="002060"/>
                      </a:solidFill>
                      <a:prstDash val="solid"/>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 </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VNĐ</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w="6350" cmpd="sng">
                      <a:solidFill>
                        <a:srgbClr val="002060"/>
                      </a:solidFill>
                      <a:prstDash val="solid"/>
                    </a:lnR>
                    <a:lnT>
                      <a:noFill/>
                    </a:lnT>
                    <a:lnB>
                      <a:noFill/>
                    </a:lnB>
                    <a:solidFill>
                      <a:srgbClr val="BFBFBF"/>
                    </a:solidFill>
                  </a:tcPr>
                </a:tc>
              </a:tr>
              <a:tr h="199004">
                <a:tc>
                  <a:txBody>
                    <a:bodyPr/>
                    <a:lstStyle/>
                    <a:p>
                      <a:pPr algn="ctr">
                        <a:buNone/>
                      </a:pPr>
                      <a:r>
                        <a:rPr sz="1000" b="0" i="0" u="none">
                          <a:solidFill>
                            <a:srgbClr val="002060"/>
                          </a:solidFill>
                          <a:latin typeface="Arial"/>
                          <a:ea typeface="Arial"/>
                          <a:cs typeface="Arial"/>
                        </a:rPr>
                        <a:t>26</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MSN</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66.100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3,44%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-8,83%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-14,16%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-25,31%</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3,44%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14,3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-69,61%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-37,48%</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27</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VNM</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60.900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3,40%</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10,33%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2,77%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-14,31%</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14,35%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4,0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-25,67%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-11,53%</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28</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SSI</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23.550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3,29%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-13,42%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-22,15%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-37,63%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7,05%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-35,58%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-31,60%</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29</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GEX</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22.500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3,21%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-27,65%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-25,18%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-50,12%</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10,84%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21,5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-10,71%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-6,29%</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30</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HSG</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10.700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2,39%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-8,94%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-11,68%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-33,60%</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6,47%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13,2</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-7,19%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-28,43%</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31</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GAS</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68.600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2,08%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-12,05%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-5,25%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-46,70%</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22,50%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13,0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-16,18%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-16,61%</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32</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DXG</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10.300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1,98%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-18,90%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-31,33%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-51,48%</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3,31%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56,2</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56,94%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-27,56%</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33</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POW</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13.600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1,87%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-6,85%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7,09%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-17,82%</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24,66%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-66,79%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1,00%</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34</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IJC</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7.180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1,84%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-21,19%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-29,52%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-46,64%</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7,32%</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-34,74%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-44,66%</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35</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ACV</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39.383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1,77%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-10,20%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-19,81%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-41,96%</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2,79%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12,6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-43,62%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-51,28%</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36</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EIB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17.800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1,71%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-15,44%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-16,43%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-42,77%</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7,88%</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67,4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347,16%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-18,83%</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37</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PC1</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21.400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1,42%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-4,89%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-31,74%</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21,25%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7,5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-56,64%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-16,46%</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38</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DBC</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16.300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1,24%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-11,89%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-31,58%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-40,77%</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3,82%</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-38,27%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-39,71%</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39</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TCB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28.950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1,22%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-15,60%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-15,30%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-28,43%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2,99%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7,6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-7,58%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-8,00%</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40</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ANV</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17.050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0,89%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-20,14%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-33,66%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-47,19%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5,57%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5,3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-70,87%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-27,16%</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41</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PNJ</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31.000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0,81%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-50,56%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-51,60%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-63,39%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0,81%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5,5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-63,65%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-62,25%</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42</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VIB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14.500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0,69%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-12,65%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-13,84%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-35,20%</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2,47%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-9,77%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-28,97%</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43</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VND</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16.600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0,61%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-7,78%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-12,19%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-36,27%</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19,44%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9,4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-20,27%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-19,18%</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44</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HAH</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45.250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0,56%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-8,53%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-19,75%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-33,65%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3,08%</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-29,92%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-16,08%</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45</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VIC</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214.100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0,47%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-1,38%</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26,24%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-7,11%</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311,73%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73,3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9,8</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72,92%</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351,61%</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46</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NVL</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13.000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0,39%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3,59%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4,69%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-31,83%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33,10%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10,2</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-35,49%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-15,19%</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47</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KDH</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17.450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0,29%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-20,14%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-44,60%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-52,84%</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6,40%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11,2</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-59,98%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-47,76%</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48</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SAB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43.550 </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0,10%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-0,95%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-13,32%</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10,30%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-37,85%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-8,95%</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49</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HHV</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9.960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-8,67%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-20,47%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-36,06%</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1,63%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8,5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-36,69%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-42,05%</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50</a:t>
                      </a:r>
                    </a:p>
                  </a:txBody>
                  <a:tcPr marL="9525" marR="9525" marT="9525" marB="0" anchor="ctr">
                    <a:lnL w="6350" cmpd="sng">
                      <a:solidFill>
                        <a:srgbClr val="002060"/>
                      </a:solidFill>
                      <a:prstDash val="solid"/>
                    </a:lnL>
                    <a:lnR>
                      <a:noFill/>
                    </a:lnR>
                    <a:lnT>
                      <a:noFill/>
                    </a:lnT>
                    <a:lnB w="6350" cmpd="sng">
                      <a:solidFill>
                        <a:srgbClr val="002060"/>
                      </a:solidFill>
                      <a:prstDash val="solid"/>
                    </a:lnB>
                    <a:noFill/>
                  </a:tcPr>
                </a:tc>
                <a:tc>
                  <a:txBody>
                    <a:bodyPr/>
                    <a:lstStyle/>
                    <a:p>
                      <a:pPr algn="ctr">
                        <a:buNone/>
                      </a:pPr>
                      <a:r>
                        <a:rPr sz="1000" b="0" i="0" u="none">
                          <a:solidFill>
                            <a:srgbClr val="002060"/>
                          </a:solidFill>
                          <a:latin typeface="Arial"/>
                          <a:ea typeface="Arial"/>
                          <a:cs typeface="Arial"/>
                        </a:rPr>
                        <a:t>KBC</a:t>
                      </a:r>
                    </a:p>
                  </a:txBody>
                  <a:tcPr marL="9525" marR="9525" marT="9525" marB="0" anchor="ctr">
                    <a:lnL>
                      <a:noFill/>
                    </a:lnL>
                    <a:lnR>
                      <a:noFill/>
                    </a:lnR>
                    <a:lnT>
                      <a:noFill/>
                    </a:lnT>
                    <a:lnB w="6350" cmpd="sng">
                      <a:solidFill>
                        <a:srgbClr val="002060"/>
                      </a:solidFill>
                      <a:prstDash val="solid"/>
                    </a:lnB>
                    <a:noFill/>
                  </a:tcPr>
                </a:tc>
                <a:tc>
                  <a:txBody>
                    <a:bodyPr/>
                    <a:lstStyle/>
                    <a:p>
                      <a:pPr algn="l">
                        <a:buNone/>
                      </a:pPr>
                      <a:r>
                        <a:rPr sz="1000" b="0" i="0" u="none">
                          <a:solidFill>
                            <a:srgbClr val="002060"/>
                          </a:solidFill>
                          <a:latin typeface="Arial"/>
                          <a:ea typeface="Arial"/>
                          <a:cs typeface="Arial"/>
                        </a:rPr>
                        <a:t>          27.800 </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-0,18%</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-6,71%</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-21,36%</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-32,44%</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00B050"/>
                          </a:solidFill>
                          <a:latin typeface="Arial"/>
                          <a:ea typeface="Arial"/>
                          <a:cs typeface="Arial"/>
                        </a:rPr>
                        <a:t>3,73%</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002060"/>
                          </a:solidFill>
                          <a:latin typeface="Arial"/>
                          <a:ea typeface="Arial"/>
                          <a:cs typeface="Arial"/>
                        </a:rPr>
                        <a:t>22,7</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002060"/>
                          </a:solidFill>
                          <a:latin typeface="Arial"/>
                          <a:ea typeface="Arial"/>
                          <a:cs typeface="Arial"/>
                        </a:rPr>
                        <a:t>1,1</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00B050"/>
                          </a:solidFill>
                          <a:latin typeface="Arial"/>
                          <a:ea typeface="Arial"/>
                          <a:cs typeface="Arial"/>
                        </a:rPr>
                        <a:t>21,73%</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-19,85%</a:t>
                      </a:r>
                    </a:p>
                  </a:txBody>
                  <a:tcPr marL="9525" marR="9525" marT="9525" marB="0" anchor="ctr">
                    <a:lnL>
                      <a:noFill/>
                    </a:lnL>
                    <a:lnR w="6350" cmpd="sng">
                      <a:solidFill>
                        <a:srgbClr val="002060"/>
                      </a:solidFill>
                      <a:prstDash val="solid"/>
                    </a:lnR>
                    <a:lnT>
                      <a:noFill/>
                    </a:lnT>
                    <a:lnB w="6350" cmpd="sng">
                      <a:solidFill>
                        <a:srgbClr val="002060"/>
                      </a:solidFill>
                      <a:prstDash val="solid"/>
                    </a:lnB>
                    <a:noFill/>
                  </a:tcPr>
                </a:tc>
              </a:tr>
            </a:tbl>
          </a:graphicData>
        </a:graphic>
      </p:graphicFrame>
    </p:spTree>
    <p:extLst>
      <p:ext uri="{BB962C8B-B14F-4D97-AF65-F5344CB8AC3E}">
        <p14:creationId xmlns:p14="http://schemas.microsoft.com/office/powerpoint/2010/main" val="2590331451"/>
      </p:ext>
    </p:extLst>
  </p:cSld>
</p:sld>
</file>

<file path=ppt/slides/slide1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0" name="Straight Connector 19">
            <a:extLst xmlns:a="http://schemas.openxmlformats.org/drawingml/2006/main">
              <a:ext uri="{FF2B5EF4-FFF2-40B4-BE49-F238E27FC236}">
                <a16:creationId xmlns:a16="http://schemas.microsoft.com/office/drawing/2014/main" id="{69DCA7AA-51CB-4C04-9EE8-9EC3A1F85696}"/>
              </a:ext>
            </a:extLst>
          </p:cNvPr>
          <p:cNvSpPr>
            <a:spLocks xmlns:a="http://schemas.openxmlformats.org/drawingml/2006/main" noGrp="1"/>
          </p:cNvSpPr>
          <p:nvPr/>
        </p:nvSpPr>
        <p:spPr>
          <a:xfrm xmlns:a="http://schemas.openxmlformats.org/drawingml/2006/main" flipV="1">
            <a:off x="261122" y="726334"/>
            <a:ext cx="11676878" cy="0"/>
          </a:xfrm>
          <a:prstGeom xmlns:a="http://schemas.openxmlformats.org/drawingml/2006/main" prst="line">
            <a:avLst/>
          </a:prstGeom>
          <a:ln xmlns:a="http://schemas.openxmlformats.org/drawingml/2006/main" w="19050">
            <a:solidFill>
              <a:srgbClr val="163A63"/>
            </a:solidFill>
            <a:prstDash val="solid"/>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7" name="Title 5">
            <a:extLst xmlns:a="http://schemas.openxmlformats.org/drawingml/2006/main">
              <a:ext uri="{FF2B5EF4-FFF2-40B4-BE49-F238E27FC236}">
                <a16:creationId xmlns:a16="http://schemas.microsoft.com/office/drawing/2014/main" id="{50C06C6F-9E47-2E51-CCE2-125829A70D57}"/>
              </a:ext>
            </a:extLst>
          </p:cNvPr>
          <p:cNvSpPr>
            <a:spLocks xmlns:a="http://schemas.openxmlformats.org/drawingml/2006/main" noGrp="1"/>
          </p:cNvSpPr>
          <p:nvPr/>
        </p:nvSpPr>
        <p:spPr>
          <a:xfrm xmlns:a="http://schemas.openxmlformats.org/drawingml/2006/main">
            <a:off x="291437" y="349186"/>
            <a:ext cx="7991728" cy="355038"/>
          </a:xfrm>
          <a:prstGeom xmlns:a="http://schemas.openxmlformats.org/drawingml/2006/main" prst="rect">
            <a:avLst/>
          </a:prstGeom>
          <a:solidFill xmlns:a="http://schemas.openxmlformats.org/drawingml/2006/main">
            <a:schemeClr val="bg1"/>
          </a:solidFill>
        </p:spPr>
        <p:txBody>
          <a:bodyPr xmlns:a="http://schemas.openxmlformats.org/drawingml/2006/main" vert="horz" lIns="91440" tIns="45720" rIns="91440" bIns="45720" anchor="t">
            <a:noAutofit/>
          </a:bodyPr>
          <a:lstStyle xmlns:a="http://schemas.openxmlformats.org/drawingml/2006/main">
            <a:lvl1pPr algn="l" defTabSz="914400">
              <a:lnSpc>
                <a:spcPct val="90000"/>
              </a:lnSpc>
              <a:spcBef>
                <a:spcPct val="0"/>
              </a:spcBef>
              <a:buNone/>
              <a:defRPr sz="1875" kern="1200">
                <a:solidFill>
                  <a:schemeClr val="accent1"/>
                </a:solidFill>
                <a:latin typeface="+mj-lt"/>
                <a:ea typeface="+mj-lt"/>
                <a:cs typeface="+mj-lt"/>
              </a:defRPr>
            </a:lvl1pPr>
          </a:lstStyle>
          <a:p xmlns:a="http://schemas.openxmlformats.org/drawingml/2006/main">
            <a:pPr>
              <a:lnSpc>
                <a:spcPct val="114000"/>
              </a:lnSpc>
              <a:spcBef>
                <a:spcPts val="300"/>
              </a:spcBef>
              <a:spcAft>
                <a:spcPts val="300"/>
              </a:spcAft>
              <a:buNone/>
              <a:defRPr sz="1425" b="1">
                <a:solidFill>
                  <a:srgbClr val="163A63"/>
                </a:solidFill>
                <a:latin typeface="Arial"/>
                <a:ea typeface="Arial"/>
                <a:cs typeface="Arial"/>
              </a:defRPr>
            </a:pPr>
            <a:r>
              <a:rPr sz="1425" b="1">
                <a:solidFill>
                  <a:srgbClr val="163A63"/>
                </a:solidFill>
                <a:latin typeface="Arial"/>
                <a:ea typeface="Arial"/>
                <a:cs typeface="Arial"/>
              </a:rPr>
              <a:t>DANH MỤC CỔ PHIẾU THEO DÕI</a:t>
            </a:r>
          </a:p>
        </p:txBody>
      </p:sp>
      <p:sp>
        <p:nvSpPr>
          <p:cNvPr id="2" name="Text Placeholder 7">
            <a:extLst xmlns:a="http://schemas.openxmlformats.org/drawingml/2006/main">
              <a:ext uri="{FF2B5EF4-FFF2-40B4-BE49-F238E27FC236}">
                <a16:creationId xmlns:a16="http://schemas.microsoft.com/office/drawing/2014/main" id="{BE555233-330D-C30B-8BEA-B65C630650DB}"/>
              </a:ext>
            </a:extLst>
          </p:cNvPr>
          <p:cNvSpPr>
            <a:spLocks xmlns:a="http://schemas.openxmlformats.org/drawingml/2006/main" noGrp="1"/>
          </p:cNvSpPr>
          <p:nvPr/>
        </p:nvSpPr>
        <p:spPr>
          <a:xfrm xmlns:a="http://schemas.openxmlformats.org/drawingml/2006/main">
            <a:off x="261122" y="858133"/>
            <a:ext cx="11676878" cy="5650679"/>
          </a:xfrm>
          <a:prstGeom xmlns:a="http://schemas.openxmlformats.org/drawingml/2006/main" prst="rect">
            <a:avLst/>
          </a:prstGeom>
        </p:spPr>
        <p:txBody>
          <a:bodyPr xmlns:a="http://schemas.openxmlformats.org/drawingml/2006/main" vert="horz" lIns="91440" tIns="45720" rIns="91440" bIns="45720" anchor="t">
            <a:noAutofit/>
          </a:bodyPr>
          <a:lstStyle xmlns:a="http://schemas.openxmlformats.org/drawingml/2006/main">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50000"/>
              </a:lnSpc>
              <a:buNone/>
            </a:pPr>
          </a:p>
        </p:txBody>
      </p:sp>
      <p:sp>
        <p:nvSpPr>
          <p:cNvPr id="3" name="Slide Number Placeholder 2">
            <a:extLst xmlns:a="http://schemas.openxmlformats.org/drawingml/2006/main">
              <a:ext uri="{FF2B5EF4-FFF2-40B4-BE49-F238E27FC236}">
                <a16:creationId xmlns:a16="http://schemas.microsoft.com/office/drawing/2014/main" id="{0E23904C-FBE6-E09A-DD1A-2006ECC4D9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defRPr sz="750">
                <a:solidFill>
                  <a:srgbClr val="6B7C8F"/>
                </a:solidFill>
                <a:latin typeface="Arial"/>
                <a:ea typeface="Arial"/>
                <a:cs typeface="Arial"/>
              </a:defRPr>
            </a:pPr>
            <a:fld id="{09BC8EBE-3F66-4987-8598-90D38544136D}" type="slidenum">
              <a:rPr sz="750">
                <a:solidFill>
                  <a:srgbClr val="6B7C8F"/>
                </a:solidFill>
                <a:latin typeface="Arial"/>
                <a:ea typeface="Arial"/>
                <a:cs typeface="Arial"/>
              </a:rPr>
              <a:t>11</a:t>
            </a:fld>
          </a:p>
        </p:txBody>
      </p:sp>
      <p:graphicFrame>
        <p:nvGraphicFramePr>
          <p:cNvPr id="26" name="Table 4"/>
          <p:cNvGraphicFramePr/>
          <p:nvPr/>
        </p:nvGraphicFramePr>
        <p:xfrm>
          <a:off xmlns:a="http://schemas.openxmlformats.org/drawingml/2006/main" x="254000" y="800222"/>
          <a:ext xmlns:a="http://schemas.openxmlformats.org/drawingml/2006/main" cx="11649965" cy="4794619"/>
        </p:xfrm>
        <a:graphic xmlns:a="http://schemas.openxmlformats.org/drawingml/2006/main">
          <a:graphicData uri="http://schemas.openxmlformats.org/drawingml/2006/table">
            <a:tbl>
              <a:tblPr/>
              <a:tblGrid>
                <a:gridCol w="665994"/>
                <a:gridCol w="941463"/>
                <a:gridCol w="1101725"/>
                <a:gridCol w="1013639"/>
                <a:gridCol w="1013639"/>
                <a:gridCol w="1013639"/>
                <a:gridCol w="1013639"/>
                <a:gridCol w="1013639"/>
                <a:gridCol w="968147"/>
                <a:gridCol w="968147"/>
                <a:gridCol w="968147"/>
                <a:gridCol w="968147"/>
              </a:tblGrid>
              <a:tr h="240931">
                <a:tc rowSpan="2">
                  <a:txBody>
                    <a:bodyPr/>
                    <a:lstStyle/>
                    <a:p>
                      <a:pPr algn="ctr">
                        <a:buNone/>
                      </a:pPr>
                      <a:r>
                        <a:rPr sz="1200" b="1" i="0" u="none">
                          <a:solidFill>
                            <a:srgbClr val="FFFFFF"/>
                          </a:solidFill>
                          <a:latin typeface="Arial"/>
                          <a:ea typeface="Arial"/>
                          <a:cs typeface="Arial"/>
                        </a:rPr>
                        <a:t>STT</a:t>
                      </a:r>
                    </a:p>
                  </a:txBody>
                  <a:tcPr marL="8844" marR="8844" marT="8844" marB="0" anchor="ctr">
                    <a:lnL w="6350" cmpd="sng">
                      <a:solidFill>
                        <a:srgbClr val="002060"/>
                      </a:solid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Mã</a:t>
                      </a:r>
                    </a:p>
                  </a:txBody>
                  <a:tcPr marL="8844" marR="8844" marT="8844" marB="0" anchor="ctr">
                    <a:lnL>
                      <a:noFill/>
                    </a:lnL>
                    <a:lnR>
                      <a:noFill/>
                    </a:lnR>
                    <a:lnT w="6350" cmpd="sng">
                      <a:solidFill>
                        <a:srgbClr val="002060"/>
                      </a:solidFill>
                      <a:prstDash val="solid"/>
                    </a:lnT>
                    <a:lnB>
                      <a:noFill/>
                    </a:lnB>
                    <a:solidFill>
                      <a:srgbClr val="0070C0"/>
                    </a:solidFill>
                  </a:tcPr>
                </a:tc>
                <a:tc>
                  <a:txBody>
                    <a:bodyPr/>
                    <a:lstStyle/>
                    <a:p>
                      <a:pPr algn="ctr">
                        <a:buNone/>
                      </a:pPr>
                      <a:r>
                        <a:rPr sz="1200" b="1" i="0" u="none">
                          <a:solidFill>
                            <a:srgbClr val="FFFFFF"/>
                          </a:solidFill>
                          <a:latin typeface="Arial"/>
                          <a:ea typeface="Arial"/>
                          <a:cs typeface="Arial"/>
                        </a:rPr>
                        <a:t>Giá</a:t>
                      </a:r>
                      <a:r>
                        <a:rPr sz="1200" b="1" i="0" u="none">
                          <a:solidFill>
                            <a:srgbClr val="FFFFFF"/>
                          </a:solidFill>
                          <a:latin typeface="Arial"/>
                          <a:ea typeface="Arial"/>
                          <a:cs typeface="Arial"/>
                        </a:rPr>
                        <a:t> </a:t>
                      </a:r>
                      <a:r>
                        <a:rPr sz="1200" b="1" i="0" u="none">
                          <a:solidFill>
                            <a:srgbClr val="FFFFFF"/>
                          </a:solidFill>
                          <a:latin typeface="Arial"/>
                          <a:ea typeface="Arial"/>
                          <a:cs typeface="Arial"/>
                        </a:rPr>
                        <a:t>đóng</a:t>
                      </a:r>
                      <a:r>
                        <a:rPr sz="1200" b="1" i="0" u="none">
                          <a:solidFill>
                            <a:srgbClr val="FFFFFF"/>
                          </a:solidFill>
                          <a:latin typeface="Arial"/>
                          <a:ea typeface="Arial"/>
                          <a:cs typeface="Arial"/>
                        </a:rPr>
                        <a:t> </a:t>
                      </a:r>
                      <a:r>
                        <a:rPr sz="1200" b="1" i="0" u="none">
                          <a:solidFill>
                            <a:srgbClr val="FFFFFF"/>
                          </a:solidFill>
                          <a:latin typeface="Arial"/>
                          <a:ea typeface="Arial"/>
                          <a:cs typeface="Arial"/>
                        </a:rPr>
                        <a:t>cửa</a:t>
                      </a:r>
                    </a:p>
                  </a:txBody>
                  <a:tcPr marL="8844" marR="8844" marT="8844" marB="0" anchor="ctr">
                    <a:lnL>
                      <a:noFill/>
                    </a:lnL>
                    <a:lnR>
                      <a:noFill/>
                    </a:lnR>
                    <a:lnT w="6350" cmpd="sng">
                      <a:solidFill>
                        <a:srgbClr val="002060"/>
                      </a:solidFill>
                      <a:prstDash val="solid"/>
                    </a:lnT>
                    <a:lnB>
                      <a:noFill/>
                    </a:lnB>
                    <a:solidFill>
                      <a:srgbClr val="0070C0"/>
                    </a:solidFill>
                  </a:tcPr>
                </a:tc>
                <a:tc gridSpan="5">
                  <a:txBody>
                    <a:bodyPr/>
                    <a:lstStyle/>
                    <a:p>
                      <a:pPr algn="ctr">
                        <a:buNone/>
                      </a:pPr>
                      <a:r>
                        <a:rPr sz="1200" b="1" i="0" u="none">
                          <a:solidFill>
                            <a:srgbClr val="FFFFFF"/>
                          </a:solidFill>
                          <a:latin typeface="Arial"/>
                          <a:ea typeface="Arial"/>
                          <a:cs typeface="Arial"/>
                        </a:rPr>
                        <a:t>% Thay </a:t>
                      </a:r>
                      <a:r>
                        <a:rPr sz="1200" b="1" i="0" u="none">
                          <a:solidFill>
                            <a:srgbClr val="FFFFFF"/>
                          </a:solidFill>
                          <a:latin typeface="Arial"/>
                          <a:ea typeface="Arial"/>
                          <a:cs typeface="Arial"/>
                        </a:rPr>
                        <a:t>đổi</a:t>
                      </a:r>
                      <a:r>
                        <a:rPr sz="1200" b="1" i="0" u="none">
                          <a:solidFill>
                            <a:srgbClr val="FFFFFF"/>
                          </a:solidFill>
                          <a:latin typeface="Arial"/>
                          <a:ea typeface="Arial"/>
                          <a:cs typeface="Arial"/>
                        </a:rPr>
                        <a:t> </a:t>
                      </a:r>
                      <a:r>
                        <a:rPr sz="1200" b="1" i="0" u="none">
                          <a:solidFill>
                            <a:srgbClr val="FFFFFF"/>
                          </a:solidFill>
                          <a:latin typeface="Arial"/>
                          <a:ea typeface="Arial"/>
                          <a:cs typeface="Arial"/>
                        </a:rPr>
                        <a:t>giá</a:t>
                      </a:r>
                    </a:p>
                  </a:txBody>
                  <a:tcPr marL="8844" marR="8844" marT="8844" marB="0" anchor="ctr">
                    <a:lnL>
                      <a:noFill/>
                    </a:lnL>
                    <a:lnR>
                      <a:noFill/>
                    </a:lnR>
                    <a:lnT w="6350" cmpd="sng">
                      <a:solidFill>
                        <a:srgbClr val="002060"/>
                      </a:solidFill>
                      <a:prstDash val="solid"/>
                    </a:lnT>
                    <a:lnB>
                      <a:noFill/>
                    </a:lnB>
                    <a:solidFill>
                      <a:srgbClr val="0070C0"/>
                    </a:solidFill>
                  </a:tcPr>
                </a:tc>
                <a:tc hMerge="1">
                  <a:txBody>
                    <a:bodyPr/>
                    <a:lstStyle/>
                    <a:p/>
                  </a:txBody>
                  <a:tcPr marL="91440" marR="91440" marT="45720" marB="45720"/>
                </a:tc>
                <a:tc hMerge="1">
                  <a:txBody>
                    <a:bodyPr/>
                    <a:lstStyle/>
                    <a:p/>
                  </a:txBody>
                  <a:tcPr marL="91440" marR="91440" marT="45720" marB="45720"/>
                </a:tc>
                <a:tc hMerge="1">
                  <a:txBody>
                    <a:bodyPr/>
                    <a:lstStyle/>
                    <a:p/>
                  </a:txBody>
                  <a:tcPr marL="91440" marR="91440" marT="45720" marB="45720"/>
                </a:tc>
                <a:tc hMerge="1">
                  <a:txBody>
                    <a:bodyPr/>
                    <a:lstStyle/>
                    <a:p/>
                  </a:txBody>
                  <a:tcPr marL="91440" marR="91440" marT="45720" marB="45720"/>
                </a:tc>
                <a:tc rowSpan="2">
                  <a:txBody>
                    <a:bodyPr/>
                    <a:lstStyle/>
                    <a:p>
                      <a:pPr algn="ctr">
                        <a:buNone/>
                      </a:pPr>
                      <a:r>
                        <a:rPr sz="1200" b="1" i="0" u="none">
                          <a:solidFill>
                            <a:srgbClr val="FFFFFF"/>
                          </a:solidFill>
                          <a:latin typeface="Arial"/>
                          <a:ea typeface="Arial"/>
                          <a:cs typeface="Arial"/>
                        </a:rPr>
                        <a:t>PE</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PB</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a:t>
                      </a:r>
                      <a:r>
                        <a:rPr sz="1200" b="1" i="0" u="none">
                          <a:solidFill>
                            <a:srgbClr val="FFFFFF"/>
                          </a:solidFill>
                          <a:latin typeface="Arial"/>
                          <a:ea typeface="Arial"/>
                          <a:cs typeface="Arial"/>
                        </a:rPr>
                        <a:t>với</a:t>
                      </a:r>
                      <a:r>
                        <a:rPr sz="1200" b="1" i="0" u="none">
                          <a:solidFill>
                            <a:srgbClr val="FFFFFF"/>
                          </a:solidFill>
                          <a:latin typeface="Arial"/>
                          <a:ea typeface="Arial"/>
                          <a:cs typeface="Arial"/>
                        </a:rPr>
                        <a:t> P/E Trung </a:t>
                      </a:r>
                      <a:r>
                        <a:rPr sz="1200" b="1" i="0" u="none">
                          <a:solidFill>
                            <a:srgbClr val="FFFFFF"/>
                          </a:solidFill>
                          <a:latin typeface="Arial"/>
                          <a:ea typeface="Arial"/>
                          <a:cs typeface="Arial"/>
                        </a:rPr>
                        <a:t>vị</a:t>
                      </a:r>
                      <a:r>
                        <a:rPr sz="1200" b="1" i="0" u="none">
                          <a:solidFill>
                            <a:srgbClr val="FFFFFF"/>
                          </a:solidFill>
                          <a:latin typeface="Arial"/>
                          <a:ea typeface="Arial"/>
                          <a:cs typeface="Arial"/>
                        </a:rPr>
                        <a:t> 5 </a:t>
                      </a:r>
                      <a:r>
                        <a:rPr sz="1200" b="1" i="0" u="none">
                          <a:solidFill>
                            <a:srgbClr val="FFFFFF"/>
                          </a:solidFill>
                          <a:latin typeface="Arial"/>
                          <a:ea typeface="Arial"/>
                          <a:cs typeface="Arial"/>
                        </a:rPr>
                        <a:t>năm</a:t>
                      </a:r>
                    </a:p>
                  </a:txBody>
                  <a:tcPr marL="8844" marR="8844" marT="8844" marB="0" anchor="ctr">
                    <a:lnL w="12700" cmpd="sng">
                      <a:noFill/>
                      <a:prstDash val="solid"/>
                    </a:lnL>
                    <a:lnR>
                      <a:noFill/>
                    </a:lnR>
                    <a:lnT w="6350" cmpd="sng">
                      <a:solidFill>
                        <a:srgbClr val="002060"/>
                      </a:solidFill>
                      <a:prstDash val="solid"/>
                    </a:lnT>
                    <a:lnB>
                      <a:noFill/>
                    </a:lnB>
                    <a:solidFill>
                      <a:srgbClr val="0070C0"/>
                    </a:solidFill>
                  </a:tcPr>
                </a:tc>
                <a:tc rowSpan="2">
                  <a:txBody>
                    <a:bodyPr/>
                    <a:lstStyle/>
                    <a:p>
                      <a:pPr algn="ctr">
                        <a:buNone/>
                      </a:pPr>
                      <a:r>
                        <a:rPr sz="1200" b="1" i="0" u="none">
                          <a:solidFill>
                            <a:srgbClr val="FFFFFF"/>
                          </a:solidFill>
                          <a:latin typeface="Arial"/>
                          <a:ea typeface="Arial"/>
                          <a:cs typeface="Arial"/>
                        </a:rPr>
                        <a:t>So </a:t>
                      </a:r>
                      <a:r>
                        <a:rPr sz="1200" b="1" i="0" u="none">
                          <a:solidFill>
                            <a:srgbClr val="FFFFFF"/>
                          </a:solidFill>
                          <a:latin typeface="Arial"/>
                          <a:ea typeface="Arial"/>
                          <a:cs typeface="Arial"/>
                        </a:rPr>
                        <a:t>với</a:t>
                      </a:r>
                      <a:r>
                        <a:rPr sz="1200" b="1" i="0" u="none">
                          <a:solidFill>
                            <a:srgbClr val="FFFFFF"/>
                          </a:solidFill>
                          <a:latin typeface="Arial"/>
                          <a:ea typeface="Arial"/>
                          <a:cs typeface="Arial"/>
                        </a:rPr>
                        <a:t> P/B Trung </a:t>
                      </a:r>
                      <a:r>
                        <a:rPr sz="1200" b="1" i="0" u="none">
                          <a:solidFill>
                            <a:srgbClr val="FFFFFF"/>
                          </a:solidFill>
                          <a:latin typeface="Arial"/>
                          <a:ea typeface="Arial"/>
                          <a:cs typeface="Arial"/>
                        </a:rPr>
                        <a:t>vị</a:t>
                      </a:r>
                      <a:r>
                        <a:rPr sz="1200" b="1" i="0" u="none">
                          <a:solidFill>
                            <a:srgbClr val="FFFFFF"/>
                          </a:solidFill>
                          <a:latin typeface="Arial"/>
                          <a:ea typeface="Arial"/>
                          <a:cs typeface="Arial"/>
                        </a:rPr>
                        <a:t> 5 </a:t>
                      </a:r>
                      <a:r>
                        <a:rPr sz="1200" b="1" i="0" u="none">
                          <a:solidFill>
                            <a:srgbClr val="FFFFFF"/>
                          </a:solidFill>
                          <a:latin typeface="Arial"/>
                          <a:ea typeface="Arial"/>
                          <a:cs typeface="Arial"/>
                        </a:rPr>
                        <a:t>năm</a:t>
                      </a:r>
                    </a:p>
                  </a:txBody>
                  <a:tcPr marL="8844" marR="8844" marT="8844" marB="0" anchor="ctr">
                    <a:lnL>
                      <a:noFill/>
                    </a:lnL>
                    <a:lnR w="6350" cmpd="sng">
                      <a:solidFill>
                        <a:srgbClr val="002060"/>
                      </a:solidFill>
                      <a:prstDash val="solid"/>
                    </a:lnR>
                    <a:lnT w="6350" cmpd="sng">
                      <a:solidFill>
                        <a:srgbClr val="002060"/>
                      </a:solidFill>
                      <a:prstDash val="solid"/>
                    </a:lnT>
                    <a:lnB>
                      <a:noFill/>
                    </a:lnB>
                    <a:solidFill>
                      <a:srgbClr val="0070C0"/>
                    </a:solidFill>
                  </a:tcPr>
                </a:tc>
              </a:tr>
              <a:tr h="199004">
                <a:tc vMerge="1">
                  <a:txBody>
                    <a:bodyPr/>
                    <a:lstStyle/>
                    <a:p/>
                  </a:txBody>
                  <a:tcPr marL="91440" marR="91440" marT="45720" marB="45720"/>
                </a:tc>
                <a:tc vMerge="1">
                  <a:txBody>
                    <a:bodyPr/>
                    <a:lstStyle/>
                    <a:p/>
                  </a:txBody>
                  <a:tcPr marL="91440" marR="91440" marT="45720" marB="45720"/>
                </a:tc>
                <a:tc>
                  <a:txBody>
                    <a:bodyPr/>
                    <a:lstStyle/>
                    <a:p>
                      <a:pPr algn="ctr">
                        <a:buNone/>
                      </a:pPr>
                      <a:r>
                        <a:rPr sz="1200" b="1" i="0" u="none">
                          <a:solidFill>
                            <a:srgbClr val="FFFFFF"/>
                          </a:solidFill>
                          <a:latin typeface="Arial"/>
                          <a:ea typeface="Arial"/>
                          <a:cs typeface="Arial"/>
                        </a:rPr>
                        <a:t>31/07/2026</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a:t>
                      </a:r>
                      <a:r>
                        <a:rPr sz="1200" b="1" i="0" u="none">
                          <a:solidFill>
                            <a:srgbClr val="FFFFFF"/>
                          </a:solidFill>
                          <a:latin typeface="Arial"/>
                          <a:ea typeface="Arial"/>
                          <a:cs typeface="Arial"/>
                        </a:rPr>
                        <a:t>tuần</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1 </a:t>
                      </a:r>
                      <a:r>
                        <a:rPr sz="1200" b="1" i="0" u="none">
                          <a:solidFill>
                            <a:srgbClr val="FFFFFF"/>
                          </a:solidFill>
                          <a:latin typeface="Arial"/>
                          <a:ea typeface="Arial"/>
                          <a:cs typeface="Arial"/>
                        </a:rPr>
                        <a:t>tháng</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YTD</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Cao </a:t>
                      </a:r>
                      <a:r>
                        <a:rPr sz="1200" b="1" i="0" u="none">
                          <a:solidFill>
                            <a:srgbClr val="FFFFFF"/>
                          </a:solidFill>
                          <a:latin typeface="Arial"/>
                          <a:ea typeface="Arial"/>
                          <a:cs typeface="Arial"/>
                        </a:rPr>
                        <a:t>nhất</a:t>
                      </a:r>
                      <a:r>
                        <a:rPr sz="1200" b="1" i="0" u="none">
                          <a:solidFill>
                            <a:srgbClr val="FFFFFF"/>
                          </a:solidFill>
                          <a:latin typeface="Arial"/>
                          <a:ea typeface="Arial"/>
                          <a:cs typeface="Arial"/>
                        </a:rPr>
                        <a:t>  52w</a:t>
                      </a:r>
                    </a:p>
                  </a:txBody>
                  <a:tcPr marL="8844" marR="8844" marT="8844" marB="0" anchor="ctr">
                    <a:lnL>
                      <a:noFill/>
                    </a:lnL>
                    <a:lnR>
                      <a:noFill/>
                    </a:lnR>
                    <a:lnT>
                      <a:noFill/>
                    </a:lnT>
                    <a:lnB>
                      <a:noFill/>
                    </a:lnB>
                    <a:solidFill>
                      <a:srgbClr val="0070C0"/>
                    </a:solidFill>
                  </a:tcPr>
                </a:tc>
                <a:tc>
                  <a:txBody>
                    <a:bodyPr/>
                    <a:lstStyle/>
                    <a:p>
                      <a:pPr algn="ctr">
                        <a:buNone/>
                      </a:pPr>
                      <a:r>
                        <a:rPr sz="1200" b="1" i="0" u="none">
                          <a:solidFill>
                            <a:srgbClr val="FFFFFF"/>
                          </a:solidFill>
                          <a:latin typeface="Arial"/>
                          <a:ea typeface="Arial"/>
                          <a:cs typeface="Arial"/>
                        </a:rPr>
                        <a:t>Thấp</a:t>
                      </a:r>
                      <a:r>
                        <a:rPr sz="1200" b="1" i="0" u="none">
                          <a:solidFill>
                            <a:srgbClr val="FFFFFF"/>
                          </a:solidFill>
                          <a:latin typeface="Arial"/>
                          <a:ea typeface="Arial"/>
                          <a:cs typeface="Arial"/>
                        </a:rPr>
                        <a:t> </a:t>
                      </a:r>
                      <a:r>
                        <a:rPr sz="1200" b="1" i="0" u="none">
                          <a:solidFill>
                            <a:srgbClr val="FFFFFF"/>
                          </a:solidFill>
                          <a:latin typeface="Arial"/>
                          <a:ea typeface="Arial"/>
                          <a:cs typeface="Arial"/>
                        </a:rPr>
                        <a:t>nhất</a:t>
                      </a:r>
                      <a:r>
                        <a:rPr sz="1200" b="1" i="0" u="none">
                          <a:solidFill>
                            <a:srgbClr val="FFFFFF"/>
                          </a:solidFill>
                          <a:latin typeface="Arial"/>
                          <a:ea typeface="Arial"/>
                          <a:cs typeface="Arial"/>
                        </a:rPr>
                        <a:t> 52w</a:t>
                      </a:r>
                    </a:p>
                  </a:txBody>
                  <a:tcPr marL="8844" marR="8844" marT="8844" marB="0" anchor="ctr">
                    <a:lnL>
                      <a:noFill/>
                    </a:lnL>
                    <a:lnR>
                      <a:noFill/>
                    </a:lnR>
                    <a:lnT>
                      <a:noFill/>
                    </a:lnT>
                    <a:lnB>
                      <a:noFill/>
                    </a:lnB>
                    <a:solidFill>
                      <a:srgbClr val="0070C0"/>
                    </a:solidFill>
                  </a:tcPr>
                </a:tc>
                <a:tc vMerge="1">
                  <a:txBody>
                    <a:bodyPr/>
                    <a:lstStyle/>
                    <a:p/>
                  </a:txBody>
                  <a:tcPr marL="91440" marR="91440" marT="45720" marB="45720"/>
                </a:tc>
                <a:tc vMerge="1">
                  <a:txBody>
                    <a:bodyPr/>
                    <a:lstStyle/>
                    <a:p/>
                  </a:txBody>
                  <a:tcPr marL="91440" marR="91440" marT="45720" marB="45720"/>
                </a:tc>
                <a:tc vMerge="1">
                  <a:txBody>
                    <a:bodyPr/>
                    <a:lstStyle/>
                    <a:p/>
                  </a:txBody>
                  <a:tcPr marL="91440" marR="91440" marT="45720" marB="45720"/>
                </a:tc>
                <a:tc vMerge="1">
                  <a:txBody>
                    <a:bodyPr/>
                    <a:lstStyle/>
                    <a:p/>
                  </a:txBody>
                  <a:tcPr marL="91440" marR="91440" marT="45720" marB="45720"/>
                </a:tc>
              </a:tr>
              <a:tr h="199004">
                <a:tc>
                  <a:txBody>
                    <a:bodyPr/>
                    <a:lstStyle/>
                    <a:p>
                      <a:pPr algn="ctr">
                        <a:buNone/>
                      </a:pPr>
                      <a:r>
                        <a:rPr sz="1200" b="0" i="1" u="none">
                          <a:solidFill>
                            <a:srgbClr val="FFFFFF"/>
                          </a:solidFill>
                          <a:latin typeface="Arial"/>
                          <a:ea typeface="Arial"/>
                          <a:cs typeface="Arial"/>
                        </a:rPr>
                        <a:t> </a:t>
                      </a:r>
                    </a:p>
                  </a:txBody>
                  <a:tcPr marL="8844" marR="8844" marT="8844" marB="0" anchor="ctr">
                    <a:lnL w="6350" cmpd="sng">
                      <a:solidFill>
                        <a:srgbClr val="002060"/>
                      </a:solidFill>
                      <a:prstDash val="solid"/>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 </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VNĐ</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Lần</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a:noFill/>
                    </a:lnR>
                    <a:lnT>
                      <a:noFill/>
                    </a:lnT>
                    <a:lnB>
                      <a:noFill/>
                    </a:lnB>
                    <a:solidFill>
                      <a:srgbClr val="BFBFBF"/>
                    </a:solidFill>
                  </a:tcPr>
                </a:tc>
                <a:tc>
                  <a:txBody>
                    <a:bodyPr/>
                    <a:lstStyle/>
                    <a:p>
                      <a:pPr algn="ctr">
                        <a:buNone/>
                      </a:pPr>
                      <a:r>
                        <a:rPr sz="1200" b="0" i="1" u="none">
                          <a:solidFill>
                            <a:srgbClr val="FFFFFF"/>
                          </a:solidFill>
                          <a:latin typeface="Arial"/>
                          <a:ea typeface="Arial"/>
                          <a:cs typeface="Arial"/>
                        </a:rPr>
                        <a:t>%</a:t>
                      </a:r>
                    </a:p>
                  </a:txBody>
                  <a:tcPr marL="8844" marR="8844" marT="8844" marB="0" anchor="ctr">
                    <a:lnL>
                      <a:noFill/>
                    </a:lnL>
                    <a:lnR w="6350" cmpd="sng">
                      <a:solidFill>
                        <a:srgbClr val="002060"/>
                      </a:solidFill>
                      <a:prstDash val="solid"/>
                    </a:lnR>
                    <a:lnT>
                      <a:noFill/>
                    </a:lnT>
                    <a:lnB>
                      <a:noFill/>
                    </a:lnB>
                    <a:solidFill>
                      <a:srgbClr val="BFBFBF"/>
                    </a:solidFill>
                  </a:tcPr>
                </a:tc>
              </a:tr>
              <a:tr h="199004">
                <a:tc>
                  <a:txBody>
                    <a:bodyPr/>
                    <a:lstStyle/>
                    <a:p>
                      <a:pPr algn="ctr">
                        <a:buNone/>
                      </a:pPr>
                      <a:r>
                        <a:rPr sz="1000" b="0" i="0" u="none">
                          <a:solidFill>
                            <a:srgbClr val="002060"/>
                          </a:solidFill>
                          <a:latin typeface="Arial"/>
                          <a:ea typeface="Arial"/>
                          <a:cs typeface="Arial"/>
                        </a:rPr>
                        <a:t>51</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PVS</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34.100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-0,29%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-12,34%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-0,58%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-37,55%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29,38%</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8,3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-56,98%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-5,83%</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52</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VCG</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15.500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-0,32%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-16,73%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-22,81%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-39,00%</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2,65%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-81,13%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-41,14%</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53</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OCB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10.150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-0,49%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-10,96%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-2,33%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-20,05%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12,23%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7,0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-7,18%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-12,12%</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54</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VPB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24.800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-0,60%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-10,47%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-11,90%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-34,69%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5,17%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-41,28%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-17,60%</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55</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TPB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14.100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-0,70%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-15,82%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-17,54%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-32,86%</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1,44%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5,1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-30,98%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-28,57%</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56</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HDG</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16.150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-0,92%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-22,36%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-33,73%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-49,33%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4,19%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9,0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-30,76%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-37,82%</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57</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PLX</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33.300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-1,48%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-11,08%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-5,67%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-52,09%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1,99%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23,8</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1,7</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13,72%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-14,36%</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58</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BVB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12.300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-1,60%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-11,80%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-7,25%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-27,14%</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8,50%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10,1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-53,46%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-6,54%</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59</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IDC</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32.600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-10,19%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2,64%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-27,88%</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15,90%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-36,76%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-37,38%</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60</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HCM</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25.000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-2,34%</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3,19%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31,63%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-3,66%</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51,81%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18,9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7,75%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14,36%</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61</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VHC</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52.600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-2,41%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-12,33%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-6,24%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-23,99%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1,35%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8,2</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-22,16%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-32,37%</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62</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DIG</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10.050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-2,43%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-19,92%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-40,00%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-59,15%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3,72%</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9,6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-81,78%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-58,64%</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63</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HDB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25.200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-2,51%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-5,26%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-15,15%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-15,15%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21,04%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6,6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1,5</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-0,38%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-3,92%</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64</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TCH</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11.400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-2,56%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-21,92%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-37,70%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-53,70%</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3,64%</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33,0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73,84%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-24,58%</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65</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ACB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21.900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-2,67%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-3,31%</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5,91%</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-13,69%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17,13%</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8,1</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1,3</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17,03%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-9,86%</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66</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STB</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71.300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-2,99%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-2,60%</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22,93%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-7,16%</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55,00%</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43,6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2,1</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383,55%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60,90%</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67</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CII</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13.100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-3,68%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-24,93%</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-37,32%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-56,84%</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3,56%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95,6</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128,66%</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-5,21%</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68</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PDR</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11.450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-4,18%</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-22,64%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-39,10%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-56,46%</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2,69%</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18,5</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0,9</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-33,82%</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-49,16%</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69</a:t>
                      </a:r>
                    </a:p>
                  </a:txBody>
                  <a:tcPr marL="9525" marR="9525" marT="9525" marB="0" anchor="ctr">
                    <a:lnL w="6350" cmpd="sng">
                      <a:solidFill>
                        <a:srgbClr val="002060"/>
                      </a:solidFill>
                      <a:prstDash val="solid"/>
                    </a:lnL>
                    <a:lnR>
                      <a:noFill/>
                    </a:lnR>
                    <a:lnT>
                      <a:noFill/>
                    </a:lnT>
                    <a:lnB>
                      <a:noFill/>
                    </a:lnB>
                    <a:noFill/>
                  </a:tcPr>
                </a:tc>
                <a:tc>
                  <a:txBody>
                    <a:bodyPr/>
                    <a:lstStyle/>
                    <a:p>
                      <a:pPr algn="ctr">
                        <a:buNone/>
                      </a:pPr>
                      <a:r>
                        <a:rPr sz="1000" b="0" i="0" u="none">
                          <a:solidFill>
                            <a:srgbClr val="002060"/>
                          </a:solidFill>
                          <a:latin typeface="Arial"/>
                          <a:ea typeface="Arial"/>
                          <a:cs typeface="Arial"/>
                        </a:rPr>
                        <a:t>PVD</a:t>
                      </a:r>
                    </a:p>
                  </a:txBody>
                  <a:tcPr marL="9525" marR="9525" marT="9525" marB="0" anchor="ctr">
                    <a:lnL>
                      <a:noFill/>
                    </a:lnL>
                    <a:lnR>
                      <a:noFill/>
                    </a:lnR>
                    <a:lnT>
                      <a:noFill/>
                    </a:lnT>
                    <a:lnB>
                      <a:noFill/>
                    </a:lnB>
                    <a:noFill/>
                  </a:tcPr>
                </a:tc>
                <a:tc>
                  <a:txBody>
                    <a:bodyPr/>
                    <a:lstStyle/>
                    <a:p>
                      <a:pPr algn="l">
                        <a:buNone/>
                      </a:pPr>
                      <a:r>
                        <a:rPr sz="1000" b="0" i="0" u="none">
                          <a:solidFill>
                            <a:srgbClr val="002060"/>
                          </a:solidFill>
                          <a:latin typeface="Arial"/>
                          <a:ea typeface="Arial"/>
                          <a:cs typeface="Arial"/>
                        </a:rPr>
                        <a:t>          18.150 </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-4,47%</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-9,45%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6,84%</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-32,69%</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60,27%</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14,2</a:t>
                      </a:r>
                    </a:p>
                  </a:txBody>
                  <a:tcPr marL="9525" marR="9525" marT="9525" marB="0" anchor="ctr">
                    <a:lnL>
                      <a:noFill/>
                    </a:lnL>
                    <a:lnR>
                      <a:noFill/>
                    </a:lnR>
                    <a:lnT>
                      <a:noFill/>
                    </a:lnT>
                    <a:lnB>
                      <a:noFill/>
                    </a:lnB>
                    <a:noFill/>
                  </a:tcPr>
                </a:tc>
                <a:tc>
                  <a:txBody>
                    <a:bodyPr/>
                    <a:lstStyle/>
                    <a:p>
                      <a:pPr algn="ctr">
                        <a:buNone/>
                      </a:pPr>
                      <a:r>
                        <a:rPr sz="1000" b="0" i="0" u="none">
                          <a:solidFill>
                            <a:srgbClr val="002060"/>
                          </a:solidFill>
                          <a:latin typeface="Arial"/>
                          <a:ea typeface="Arial"/>
                          <a:cs typeface="Arial"/>
                        </a:rPr>
                        <a:t>1,0</a:t>
                      </a:r>
                    </a:p>
                  </a:txBody>
                  <a:tcPr marL="9525" marR="9525" marT="9525" marB="0" anchor="ctr">
                    <a:lnL>
                      <a:noFill/>
                    </a:lnL>
                    <a:lnR>
                      <a:noFill/>
                    </a:lnR>
                    <a:lnT>
                      <a:noFill/>
                    </a:lnT>
                    <a:lnB>
                      <a:noFill/>
                    </a:lnB>
                    <a:noFill/>
                  </a:tcPr>
                </a:tc>
                <a:tc>
                  <a:txBody>
                    <a:bodyPr/>
                    <a:lstStyle/>
                    <a:p>
                      <a:pPr algn="ctr">
                        <a:buNone/>
                      </a:pPr>
                      <a:r>
                        <a:rPr sz="1000" b="0" i="0" u="none">
                          <a:solidFill>
                            <a:srgbClr val="9C0006"/>
                          </a:solidFill>
                          <a:latin typeface="Arial"/>
                          <a:ea typeface="Arial"/>
                          <a:cs typeface="Arial"/>
                        </a:rPr>
                        <a:t>-41,15%</a:t>
                      </a:r>
                    </a:p>
                  </a:txBody>
                  <a:tcPr marL="9525" marR="9525" marT="9525" marB="0" anchor="ctr">
                    <a:lnL>
                      <a:noFill/>
                    </a:lnL>
                    <a:lnR>
                      <a:noFill/>
                    </a:lnR>
                    <a:lnT>
                      <a:noFill/>
                    </a:lnT>
                    <a:lnB>
                      <a:noFill/>
                    </a:lnB>
                    <a:noFill/>
                  </a:tcPr>
                </a:tc>
                <a:tc>
                  <a:txBody>
                    <a:bodyPr/>
                    <a:lstStyle/>
                    <a:p>
                      <a:pPr algn="ctr">
                        <a:buNone/>
                      </a:pPr>
                      <a:r>
                        <a:rPr sz="1000" b="0" i="0" u="none">
                          <a:solidFill>
                            <a:srgbClr val="00B050"/>
                          </a:solidFill>
                          <a:latin typeface="Arial"/>
                          <a:ea typeface="Arial"/>
                          <a:cs typeface="Arial"/>
                        </a:rPr>
                        <a:t>8,89%</a:t>
                      </a:r>
                    </a:p>
                  </a:txBody>
                  <a:tcPr marL="9525" marR="9525" marT="9525" marB="0" anchor="ctr">
                    <a:lnL>
                      <a:noFill/>
                    </a:lnL>
                    <a:lnR w="6350" cmpd="sng">
                      <a:solidFill>
                        <a:srgbClr val="002060"/>
                      </a:solidFill>
                      <a:prstDash val="solid"/>
                    </a:lnR>
                    <a:lnT>
                      <a:noFill/>
                    </a:lnT>
                    <a:lnB>
                      <a:noFill/>
                    </a:lnB>
                    <a:noFill/>
                  </a:tcPr>
                </a:tc>
              </a:tr>
              <a:tr h="199004">
                <a:tc>
                  <a:txBody>
                    <a:bodyPr/>
                    <a:lstStyle/>
                    <a:p>
                      <a:pPr algn="ctr">
                        <a:buNone/>
                      </a:pPr>
                      <a:r>
                        <a:rPr sz="1000" b="0" i="0" u="none">
                          <a:solidFill>
                            <a:srgbClr val="002060"/>
                          </a:solidFill>
                          <a:latin typeface="Arial"/>
                          <a:ea typeface="Arial"/>
                          <a:cs typeface="Arial"/>
                        </a:rPr>
                        <a:t>70</a:t>
                      </a:r>
                    </a:p>
                  </a:txBody>
                  <a:tcPr marL="9525" marR="9525" marT="9525" marB="0" anchor="ctr">
                    <a:lnL w="6350" cmpd="sng">
                      <a:solidFill>
                        <a:srgbClr val="002060"/>
                      </a:solidFill>
                      <a:prstDash val="solid"/>
                    </a:lnL>
                    <a:lnR>
                      <a:noFill/>
                    </a:lnR>
                    <a:lnT>
                      <a:noFill/>
                    </a:lnT>
                    <a:lnB w="6350" cmpd="sng">
                      <a:solidFill>
                        <a:srgbClr val="002060"/>
                      </a:solidFill>
                      <a:prstDash val="solid"/>
                    </a:lnB>
                    <a:noFill/>
                  </a:tcPr>
                </a:tc>
                <a:tc>
                  <a:txBody>
                    <a:bodyPr/>
                    <a:lstStyle/>
                    <a:p>
                      <a:pPr algn="ctr">
                        <a:buNone/>
                      </a:pPr>
                      <a:r>
                        <a:rPr sz="1000" b="0" i="0" u="none">
                          <a:solidFill>
                            <a:srgbClr val="002060"/>
                          </a:solidFill>
                          <a:latin typeface="Arial"/>
                          <a:ea typeface="Arial"/>
                          <a:cs typeface="Arial"/>
                        </a:rPr>
                        <a:t>BCM</a:t>
                      </a:r>
                    </a:p>
                  </a:txBody>
                  <a:tcPr marL="9525" marR="9525" marT="9525" marB="0" anchor="ctr">
                    <a:lnL>
                      <a:noFill/>
                    </a:lnL>
                    <a:lnR>
                      <a:noFill/>
                    </a:lnR>
                    <a:lnT>
                      <a:noFill/>
                    </a:lnT>
                    <a:lnB w="6350" cmpd="sng">
                      <a:solidFill>
                        <a:srgbClr val="002060"/>
                      </a:solidFill>
                      <a:prstDash val="solid"/>
                    </a:lnB>
                    <a:noFill/>
                  </a:tcPr>
                </a:tc>
                <a:tc>
                  <a:txBody>
                    <a:bodyPr/>
                    <a:lstStyle/>
                    <a:p>
                      <a:pPr algn="l">
                        <a:buNone/>
                      </a:pPr>
                      <a:r>
                        <a:rPr sz="1000" b="0" i="0" u="none">
                          <a:solidFill>
                            <a:srgbClr val="002060"/>
                          </a:solidFill>
                          <a:latin typeface="Arial"/>
                          <a:ea typeface="Arial"/>
                          <a:cs typeface="Arial"/>
                        </a:rPr>
                        <a:t>          35.700 </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-5,31%</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-32,39%</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-41,23%</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-54,60%</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00B050"/>
                          </a:solidFill>
                          <a:latin typeface="Arial"/>
                          <a:ea typeface="Arial"/>
                          <a:cs typeface="Arial"/>
                        </a:rPr>
                        <a:t>2,00%</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002060"/>
                          </a:solidFill>
                          <a:latin typeface="Arial"/>
                          <a:ea typeface="Arial"/>
                          <a:cs typeface="Arial"/>
                        </a:rPr>
                        <a:t>10,8</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002060"/>
                          </a:solidFill>
                          <a:latin typeface="Arial"/>
                          <a:ea typeface="Arial"/>
                          <a:cs typeface="Arial"/>
                        </a:rPr>
                        <a:t>1,7</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-62,45%</a:t>
                      </a:r>
                    </a:p>
                  </a:txBody>
                  <a:tcPr marL="9525" marR="9525" marT="9525" marB="0" anchor="ctr">
                    <a:lnL>
                      <a:noFill/>
                    </a:lnL>
                    <a:lnR>
                      <a:noFill/>
                    </a:lnR>
                    <a:lnT>
                      <a:noFill/>
                    </a:lnT>
                    <a:lnB w="6350" cmpd="sng">
                      <a:solidFill>
                        <a:srgbClr val="002060"/>
                      </a:solidFill>
                      <a:prstDash val="solid"/>
                    </a:lnB>
                    <a:noFill/>
                  </a:tcPr>
                </a:tc>
                <a:tc>
                  <a:txBody>
                    <a:bodyPr/>
                    <a:lstStyle/>
                    <a:p>
                      <a:pPr algn="ctr">
                        <a:buNone/>
                      </a:pPr>
                      <a:r>
                        <a:rPr sz="1000" b="0" i="0" u="none">
                          <a:solidFill>
                            <a:srgbClr val="9C0006"/>
                          </a:solidFill>
                          <a:latin typeface="Arial"/>
                          <a:ea typeface="Arial"/>
                          <a:cs typeface="Arial"/>
                        </a:rPr>
                        <a:t>-54,75%</a:t>
                      </a:r>
                    </a:p>
                  </a:txBody>
                  <a:tcPr marL="9525" marR="9525" marT="9525" marB="0" anchor="ctr">
                    <a:lnL>
                      <a:noFill/>
                    </a:lnL>
                    <a:lnR w="6350" cmpd="sng">
                      <a:solidFill>
                        <a:srgbClr val="002060"/>
                      </a:solidFill>
                      <a:prstDash val="solid"/>
                    </a:lnR>
                    <a:lnT>
                      <a:noFill/>
                    </a:lnT>
                    <a:lnB w="6350" cmpd="sng">
                      <a:solidFill>
                        <a:srgbClr val="002060"/>
                      </a:solidFill>
                      <a:prstDash val="solid"/>
                    </a:lnB>
                    <a:noFill/>
                  </a:tcPr>
                </a:tc>
              </a:tr>
            </a:tbl>
          </a:graphicData>
        </a:graphic>
      </p:graphicFrame>
    </p:spTree>
    <p:extLst>
      <p:ext uri="{BB962C8B-B14F-4D97-AF65-F5344CB8AC3E}">
        <p14:creationId xmlns:p14="http://schemas.microsoft.com/office/powerpoint/2010/main" val="65309480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2026-08-04T09:01:58.5520000Z</dcterms:created>
  <dcterms:modified xsi:type="dcterms:W3CDTF">2026-08-04T09:01:58.5520000Z</dcterms:modified>
</coreProperties>
</file>