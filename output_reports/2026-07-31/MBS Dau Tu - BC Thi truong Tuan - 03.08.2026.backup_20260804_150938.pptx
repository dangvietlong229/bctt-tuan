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handoutMasterIdLst>
    <p:handoutMasterId r:id="rId14"/>
  </p:handoutMasterIdLst>
  <p:sldIdLst>
    <p:sldId id="2691" r:id="rId2"/>
    <p:sldId id="2738" r:id="rId3"/>
    <p:sldId id="2898" r:id="rId4"/>
    <p:sldId id="2922" r:id="rId5"/>
    <p:sldId id="2899" r:id="rId6"/>
    <p:sldId id="2926" r:id="rId7"/>
    <p:sldId id="2920" r:id="rId8"/>
    <p:sldId id="2921" r:id="rId9"/>
    <p:sldId id="2925" r:id="rId10"/>
    <p:sldId id="2915" r:id="rId11"/>
    <p:sldId id="292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C099133-360E-B7FA-5670-27D0F42E245D}" name="Tran Khanh Hien" initials="TKH" userId="4f6d85d472746b13"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Trương Thùy Dương" initials="TTD" lastIdx="12" clrIdx="0"/>
  <p:cmAuthor id="1" name="Trần Thị Khánh Hiền" initials="TKH" lastIdx="7" clrIdx="1">
    <p:extLst>
      <p:ext uri="{19B8F6BF-5375-455C-9EA6-DF929625EA0E}">
        <p15:presenceInfo xmlns:p15="http://schemas.microsoft.com/office/powerpoint/2012/main" userId="4f6d85d472746b1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BCC4"/>
    <a:srgbClr val="07A9F0"/>
    <a:srgbClr val="EB2D4B"/>
    <a:srgbClr val="141ED2"/>
    <a:srgbClr val="54C4AE"/>
    <a:srgbClr val="FF7F0C"/>
    <a:srgbClr val="0000FF"/>
    <a:srgbClr val="2355CA"/>
    <a:srgbClr val="40B3FF"/>
    <a:srgbClr val="88303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3904"/>
  </p:normalViewPr>
  <p:slideViewPr>
    <p:cSldViewPr snapToGrid="0">
      <p:cViewPr varScale="1">
        <p:scale>
          <a:sx n="119" d="100"/>
          <a:sy n="119" d="100"/>
        </p:scale>
        <p:origin x="1512" y="184"/>
      </p:cViewPr>
      <p:guideLst>
        <p:guide orient="horz" pos="2160"/>
        <p:guide pos="3840"/>
      </p:guideLst>
    </p:cSldViewPr>
  </p:slideViewPr>
  <p:notesTextViewPr>
    <p:cViewPr>
      <p:scale>
        <a:sx n="90" d="100"/>
        <a:sy n="9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694628D-3C0F-054D-8791-1E014C81269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Date Placeholder 2">
            <a:extLst>
              <a:ext uri="{FF2B5EF4-FFF2-40B4-BE49-F238E27FC236}">
                <a16:creationId xmlns:a16="http://schemas.microsoft.com/office/drawing/2014/main" id="{38534F8D-CF95-4841-86AD-E6D3A294597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DB8269-38C2-7D4D-A383-B0DE858D0BF5}" type="datetimeFigureOut">
              <a:rPr lang="x-none" smtClean="0"/>
              <a:t>4/8/26</a:t>
            </a:fld>
            <a:endParaRPr lang="x-none"/>
          </a:p>
        </p:txBody>
      </p:sp>
      <p:sp>
        <p:nvSpPr>
          <p:cNvPr id="4" name="Footer Placeholder 3">
            <a:extLst>
              <a:ext uri="{FF2B5EF4-FFF2-40B4-BE49-F238E27FC236}">
                <a16:creationId xmlns:a16="http://schemas.microsoft.com/office/drawing/2014/main" id="{CF80004C-873E-8F4F-9235-C7C87821E3C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E0BFA5B4-0FAA-3343-8A05-50FF71F8AB3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39DF604-DC69-804E-BCB1-065D48F41682}" type="slidenum">
              <a:rPr lang="x-none" smtClean="0"/>
              <a:t>‹#›</a:t>
            </a:fld>
            <a:endParaRPr lang="x-none"/>
          </a:p>
        </p:txBody>
      </p:sp>
    </p:spTree>
    <p:extLst>
      <p:ext uri="{BB962C8B-B14F-4D97-AF65-F5344CB8AC3E}">
        <p14:creationId xmlns:p14="http://schemas.microsoft.com/office/powerpoint/2010/main" val="22802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BFE7D8-6C5D-4769-A7FE-A35B5E589012}" type="datetimeFigureOut">
              <a:rPr lang="en-US" smtClean="0"/>
              <a:t>8/4/26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F6FFC7-E364-467E-B51E-FE8228D3C272}" type="slidenum">
              <a:rPr lang="en-US" smtClean="0"/>
              <a:t>‹#›</a:t>
            </a:fld>
            <a:endParaRPr lang="en-US"/>
          </a:p>
        </p:txBody>
      </p:sp>
    </p:spTree>
    <p:extLst>
      <p:ext uri="{BB962C8B-B14F-4D97-AF65-F5344CB8AC3E}">
        <p14:creationId xmlns:p14="http://schemas.microsoft.com/office/powerpoint/2010/main" val="4087852248"/>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Slide Image Placeholder 1"/>
          <p:cNvSpPr>
            <a:spLocks noGrp="1" noRot="1" noChangeAspect="1" noTextEdit="1"/>
          </p:cNvSpPr>
          <p:nvPr>
            <p:ph type="sldImg"/>
          </p:nvPr>
        </p:nvSpPr>
        <p:spPr bwMode="auto">
          <a:xfrm>
            <a:off x="-223838" y="809625"/>
            <a:ext cx="7185026" cy="4041775"/>
          </a:xfrm>
          <a:noFill/>
          <a:ln>
            <a:solidFill>
              <a:srgbClr val="000000"/>
            </a:solidFill>
            <a:miter lim="800000"/>
            <a:headEnd/>
            <a:tailEnd/>
          </a:ln>
        </p:spPr>
      </p:sp>
      <p:sp>
        <p:nvSpPr>
          <p:cNvPr id="135171" name="Notes Placeholder 2"/>
          <p:cNvSpPr>
            <a:spLocks noGrp="1"/>
          </p:cNvSpPr>
          <p:nvPr>
            <p:ph type="body" idx="1"/>
          </p:nvPr>
        </p:nvSpPr>
        <p:spPr bwMode="auto">
          <a:noFill/>
        </p:spPr>
        <p:txBody>
          <a:bodyPr wrap="square" numCol="1" anchor="t" anchorCtr="0" compatLnSpc="1">
            <a:prstTxWarp prst="textNoShape">
              <a:avLst/>
            </a:prstTxWarp>
          </a:bodyPr>
          <a:lstStyle/>
          <a:p>
            <a:pPr>
              <a:spcBef>
                <a:spcPct val="0"/>
              </a:spcBef>
            </a:pPr>
            <a:endParaRPr lang="en-GB"/>
          </a:p>
        </p:txBody>
      </p:sp>
      <p:sp>
        <p:nvSpPr>
          <p:cNvPr id="135172" name="Slide Number Placeholder 3"/>
          <p:cNvSpPr>
            <a:spLocks noGrp="1"/>
          </p:cNvSpPr>
          <p:nvPr>
            <p:ph type="sldNum" sz="quarter" idx="5"/>
          </p:nvPr>
        </p:nvSpPr>
        <p:spPr bwMode="auto">
          <a:noFill/>
          <a:ln>
            <a:miter lim="800000"/>
            <a:headEnd/>
            <a:tailEnd/>
          </a:ln>
        </p:spPr>
        <p:txBody>
          <a:bodyPr wrap="square" numCol="1" anchorCtr="0" compatLnSpc="1">
            <a:prstTxWarp prst="textNoShape">
              <a:avLst/>
            </a:prstTxWarp>
          </a:bodyPr>
          <a:lstStyle/>
          <a:p>
            <a:pPr fontAlgn="base">
              <a:spcBef>
                <a:spcPct val="0"/>
              </a:spcBef>
              <a:spcAft>
                <a:spcPct val="0"/>
              </a:spcAft>
            </a:pPr>
            <a:fld id="{77B6B41B-6250-4DA8-B3C5-CA30F599117A}" type="slidenum">
              <a:rPr lang="en-GB">
                <a:solidFill>
                  <a:srgbClr val="000000"/>
                </a:solidFill>
              </a:rPr>
              <a:pPr fontAlgn="base">
                <a:spcBef>
                  <a:spcPct val="0"/>
                </a:spcBef>
                <a:spcAft>
                  <a:spcPct val="0"/>
                </a:spcAft>
              </a:pPr>
              <a:t>1</a:t>
            </a:fld>
            <a:endParaRPr lang="en-GB">
              <a:solidFill>
                <a:srgbClr val="000000"/>
              </a:solidFill>
            </a:endParaRPr>
          </a:p>
        </p:txBody>
      </p:sp>
    </p:spTree>
    <p:extLst>
      <p:ext uri="{BB962C8B-B14F-4D97-AF65-F5344CB8AC3E}">
        <p14:creationId xmlns:p14="http://schemas.microsoft.com/office/powerpoint/2010/main" val="259281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p61:notes"/>
          <p:cNvSpPr>
            <a:spLocks noGrp="1" noRot="1" noChangeAspect="1"/>
          </p:cNvSpPr>
          <p:nvPr>
            <p:ph type="sldImg" idx="2"/>
          </p:nvPr>
        </p:nvSpPr>
        <p:spPr>
          <a:xfrm>
            <a:off x="381000" y="687388"/>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153" name="Google Shape;1153;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latin typeface="Tahoma" panose="020B0604030504040204" pitchFamily="34" charset="0"/>
              <a:ea typeface="Tahoma" panose="020B0604030504040204" pitchFamily="34" charset="0"/>
              <a:cs typeface="Tahoma" panose="020B0604030504040204" pitchFamily="34" charset="0"/>
            </a:endParaRPr>
          </a:p>
        </p:txBody>
      </p:sp>
      <p:sp>
        <p:nvSpPr>
          <p:cNvPr id="1154" name="Google Shape;1154;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pPr marL="0" lvl="0" indent="0" algn="r" rtl="0">
                <a:spcBef>
                  <a:spcPts val="0"/>
                </a:spcBef>
                <a:spcAft>
                  <a:spcPts val="0"/>
                </a:spcAft>
                <a:buNone/>
              </a:pPr>
              <a:t>2</a:t>
            </a:fld>
            <a:endParaRPr>
              <a:solidFill>
                <a:srgbClr val="000000"/>
              </a:solidFill>
            </a:endParaRPr>
          </a:p>
        </p:txBody>
      </p:sp>
    </p:spTree>
    <p:extLst>
      <p:ext uri="{BB962C8B-B14F-4D97-AF65-F5344CB8AC3E}">
        <p14:creationId xmlns:p14="http://schemas.microsoft.com/office/powerpoint/2010/main" val="3997893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3</a:t>
            </a:fld>
            <a:endParaRPr lang="en-US"/>
          </a:p>
        </p:txBody>
      </p:sp>
    </p:spTree>
    <p:extLst>
      <p:ext uri="{BB962C8B-B14F-4D97-AF65-F5344CB8AC3E}">
        <p14:creationId xmlns:p14="http://schemas.microsoft.com/office/powerpoint/2010/main" val="334512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VN" dirty="0"/>
          </a:p>
        </p:txBody>
      </p:sp>
      <p:sp>
        <p:nvSpPr>
          <p:cNvPr id="4" name="Slide Number Placeholder 3"/>
          <p:cNvSpPr>
            <a:spLocks noGrp="1"/>
          </p:cNvSpPr>
          <p:nvPr>
            <p:ph type="sldNum" sz="quarter" idx="5"/>
          </p:nvPr>
        </p:nvSpPr>
        <p:spPr/>
        <p:txBody>
          <a:bodyPr/>
          <a:lstStyle/>
          <a:p>
            <a:fld id="{24F6FFC7-E364-467E-B51E-FE8228D3C272}" type="slidenum">
              <a:rPr lang="en-US" smtClean="0"/>
              <a:t>5</a:t>
            </a:fld>
            <a:endParaRPr lang="en-US"/>
          </a:p>
        </p:txBody>
      </p:sp>
    </p:spTree>
    <p:extLst>
      <p:ext uri="{BB962C8B-B14F-4D97-AF65-F5344CB8AC3E}">
        <p14:creationId xmlns:p14="http://schemas.microsoft.com/office/powerpoint/2010/main" val="1099799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7</a:t>
            </a:fld>
            <a:endParaRPr lang="en-GB">
              <a:solidFill>
                <a:prstClr val="black"/>
              </a:solidFill>
            </a:endParaRPr>
          </a:p>
        </p:txBody>
      </p:sp>
    </p:spTree>
    <p:extLst>
      <p:ext uri="{BB962C8B-B14F-4D97-AF65-F5344CB8AC3E}">
        <p14:creationId xmlns:p14="http://schemas.microsoft.com/office/powerpoint/2010/main" val="1977451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8</a:t>
            </a:fld>
            <a:endParaRPr lang="en-GB">
              <a:solidFill>
                <a:prstClr val="black"/>
              </a:solidFill>
            </a:endParaRPr>
          </a:p>
        </p:txBody>
      </p:sp>
    </p:spTree>
    <p:extLst>
      <p:ext uri="{BB962C8B-B14F-4D97-AF65-F5344CB8AC3E}">
        <p14:creationId xmlns:p14="http://schemas.microsoft.com/office/powerpoint/2010/main" val="5219733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FBD5E2-7F34-5282-6559-1ECB96B8A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2ACDFE-1497-52C4-51FE-79E9938C93C4}"/>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1D0D9E50-697A-1197-15C9-5F9544E2DEFE}"/>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5E266EF2-6376-461F-8AC7-4CEF50AA0C3B}"/>
              </a:ext>
            </a:extLst>
          </p:cNvPr>
          <p:cNvSpPr>
            <a:spLocks noGrp="1"/>
          </p:cNvSpPr>
          <p:nvPr>
            <p:ph type="sldNum" sz="quarter" idx="10"/>
          </p:nvPr>
        </p:nvSpPr>
        <p:spPr/>
        <p:txBody>
          <a:bodyPr/>
          <a:lstStyle/>
          <a:p>
            <a:fld id="{C0F4A2C8-6C88-4E71-83EE-698B9D4FE22F}" type="slidenum">
              <a:rPr lang="en-GB" smtClean="0">
                <a:solidFill>
                  <a:prstClr val="black"/>
                </a:solidFill>
              </a:rPr>
              <a:pPr/>
              <a:t>9</a:t>
            </a:fld>
            <a:endParaRPr lang="en-GB">
              <a:solidFill>
                <a:prstClr val="black"/>
              </a:solidFill>
            </a:endParaRPr>
          </a:p>
        </p:txBody>
      </p:sp>
    </p:spTree>
    <p:extLst>
      <p:ext uri="{BB962C8B-B14F-4D97-AF65-F5344CB8AC3E}">
        <p14:creationId xmlns:p14="http://schemas.microsoft.com/office/powerpoint/2010/main" val="3792787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0488" y="746125"/>
            <a:ext cx="6616700" cy="3722688"/>
          </a:xfrm>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C0F4A2C8-6C88-4E71-83EE-698B9D4FE22F}" type="slidenum">
              <a:rPr lang="en-GB" smtClean="0">
                <a:solidFill>
                  <a:prstClr val="black"/>
                </a:solidFill>
              </a:rPr>
              <a:pPr/>
              <a:t>10</a:t>
            </a:fld>
            <a:endParaRPr lang="en-GB">
              <a:solidFill>
                <a:prstClr val="black"/>
              </a:solidFill>
            </a:endParaRPr>
          </a:p>
        </p:txBody>
      </p:sp>
    </p:spTree>
    <p:extLst>
      <p:ext uri="{BB962C8B-B14F-4D97-AF65-F5344CB8AC3E}">
        <p14:creationId xmlns:p14="http://schemas.microsoft.com/office/powerpoint/2010/main" val="22541847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BB4426-FFF4-B44A-FA04-B77C7D9875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8DBB6B-8716-E98D-0D09-DEC016C8464B}"/>
              </a:ext>
            </a:extLst>
          </p:cNvPr>
          <p:cNvSpPr>
            <a:spLocks noGrp="1" noRot="1" noChangeAspect="1"/>
          </p:cNvSpPr>
          <p:nvPr>
            <p:ph type="sldImg"/>
          </p:nvPr>
        </p:nvSpPr>
        <p:spPr>
          <a:xfrm>
            <a:off x="90488" y="746125"/>
            <a:ext cx="6616700" cy="3722688"/>
          </a:xfrm>
        </p:spPr>
      </p:sp>
      <p:sp>
        <p:nvSpPr>
          <p:cNvPr id="3" name="Notes Placeholder 2">
            <a:extLst>
              <a:ext uri="{FF2B5EF4-FFF2-40B4-BE49-F238E27FC236}">
                <a16:creationId xmlns:a16="http://schemas.microsoft.com/office/drawing/2014/main" id="{828F76C0-7D3F-0435-C09E-7B0269222DDB}"/>
              </a:ext>
            </a:extLst>
          </p:cNvPr>
          <p:cNvSpPr>
            <a:spLocks noGrp="1"/>
          </p:cNvSpPr>
          <p:nvPr>
            <p:ph type="body" idx="1"/>
          </p:nvPr>
        </p:nvSpPr>
        <p:spPr/>
        <p:txBody>
          <a:bodyPr>
            <a:normAutofit/>
          </a:bodyPr>
          <a:lstStyle/>
          <a:p>
            <a:endParaRPr lang="en-GB" dirty="0"/>
          </a:p>
        </p:txBody>
      </p:sp>
      <p:sp>
        <p:nvSpPr>
          <p:cNvPr id="4" name="Slide Number Placeholder 3">
            <a:extLst>
              <a:ext uri="{FF2B5EF4-FFF2-40B4-BE49-F238E27FC236}">
                <a16:creationId xmlns:a16="http://schemas.microsoft.com/office/drawing/2014/main" id="{3E9CDAF5-6C87-E27C-8840-F3B244A20AE1}"/>
              </a:ext>
            </a:extLst>
          </p:cNvPr>
          <p:cNvSpPr>
            <a:spLocks noGrp="1"/>
          </p:cNvSpPr>
          <p:nvPr>
            <p:ph type="sldNum" sz="quarter" idx="10"/>
          </p:nvPr>
        </p:nvSpPr>
        <p:spPr/>
        <p:txBody>
          <a:bodyPr/>
          <a:lstStyle/>
          <a:p>
            <a:fld id="{C0F4A2C8-6C88-4E71-83EE-698B9D4FE22F}" type="slidenum">
              <a:rPr lang="en-GB" smtClean="0">
                <a:solidFill>
                  <a:prstClr val="black"/>
                </a:solidFill>
              </a:rPr>
              <a:pPr/>
              <a:t>11</a:t>
            </a:fld>
            <a:endParaRPr lang="en-GB">
              <a:solidFill>
                <a:prstClr val="black"/>
              </a:solidFill>
            </a:endParaRPr>
          </a:p>
        </p:txBody>
      </p:sp>
    </p:spTree>
    <p:extLst>
      <p:ext uri="{BB962C8B-B14F-4D97-AF65-F5344CB8AC3E}">
        <p14:creationId xmlns:p14="http://schemas.microsoft.com/office/powerpoint/2010/main" val="21408056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067FE3-425C-42A1-AE9C-713B30FCD9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7025D80-0906-4C19-AC06-9A76AB6A79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7AF3C1B-D018-41EC-9DD8-35E5925341D8}"/>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2D13718-5FC1-46E3-B40D-F64201D292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1CCA59-DEEA-4AF5-801B-CFEBB5216853}"/>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5079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C136D-F0E5-4FB0-A259-AF1615BE9F4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EF5C46-DC0F-4FBC-AB77-DDA913A52E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6FFCD8-937C-4E51-916A-732F9D02D1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EC6C4CC0-7ED2-4542-B745-AB8F970EE8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BCB079-703F-49FE-8D6D-195218E91B4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321679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9EDAE-A1AC-475C-8AC5-07279944F35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91F99F5-2D96-45B7-8850-A7DA2985C0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7647F52-6459-47BE-933F-90EFB972915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9D6588B8-AFDF-4E5A-A2B3-C521C97CDE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0E6209-CCC2-4ADB-93BA-9F97301A0958}"/>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817939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676752-E32E-4BC1-94E9-319BA091910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77AC5A1-EF86-4A94-B13E-88FE4CAEB2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BAC424-233F-4707-A9A3-929522B8B4C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488A4CF-8853-4052-9790-D4BF4F4C8BD1}"/>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3FBABD7-38E1-41B2-9D10-38464EAB11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2A3BA7-5191-4FB5-92F1-589212245432}"/>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6010036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1F12C-2C78-4094-8663-B3E2980663D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A854BC-E799-481C-B4BE-C171195B569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5A09149-061E-4A65-B1F8-C97FF564E1D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DEEA436-8591-49CB-BB4E-E5CBB7CB9A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E4B6BF6-4AF6-49C1-AFF7-6AE37265E88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C676EBF-F919-49B4-8002-5E87F6C8B6E3}"/>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49D3E8DC-C3E7-4CEF-86C5-0CA0AB27CF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42717F2-7AFC-4FED-8914-FF5716E92FE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7199264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97812-7F36-4618-8CD6-7B412EE0AC2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C52E1C-8F86-4DE2-885F-E6E8D9FD99CC}"/>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B36019F5-EEA6-46E9-BE03-694C83533B4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A009F0-993E-4226-90F5-107C5E1C6859}"/>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23793729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C63E2D-020B-49D4-B656-C478EE3FE99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B1771F2-13AB-47E2-B4BF-E7AFA63BC3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F81DBCA-47AD-46FB-9033-0C38A3E42AD4}"/>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10516372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AD464-3DE3-4E8B-B53F-4DA1750400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520A3-E416-4CD8-8623-A7325A10135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CFCDF86-E1EE-4D6D-835B-D3B1B4C7DF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EFA61-F0D4-4DCB-8E76-639EF5A48A65}"/>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979A2F2-C01F-4896-8633-2983D0CFE33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F4CFC5-BDFE-4D87-AE10-3BCCDBCF4CBA}"/>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84567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394970-9460-4E10-8E98-5EA375BC0A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C5598D2-5974-4407-92C0-3A74B50C2F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4541C1B-5054-4D1E-8537-7EF09D6D20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3B1C9C-90D2-4467-A13B-4F1C4431D66C}"/>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1DCFB0B2-7B8B-413D-8D91-5BB3EFEBD93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CA84AC2-9F95-4ACC-8F44-7EA0955447E5}"/>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1215832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07E74C-8A2E-4504-95D5-2D71303A66B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FC900-DB26-401A-9BA4-6E5D8292AA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D8C0EE-4169-4AAA-BA44-A1CCB133ACC0}"/>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89CE93F-CCFF-4811-AAA5-EDF17F11E8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42352F-13E5-4C33-A32D-D631932BFC0C}"/>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027709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F74B45-594F-4B68-B4D6-0436FBCF633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062B570-CB02-4ACC-BE2E-FBC46954E28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DCCE57-58B7-4E1A-A687-EEB98D67D3D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695271-FB2E-44A4-9272-646D017871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5B3868-1496-4F1F-A048-FAAA02ED27DD}"/>
              </a:ext>
            </a:extLst>
          </p:cNvPr>
          <p:cNvSpPr>
            <a:spLocks noGrp="1"/>
          </p:cNvSpPr>
          <p:nvPr>
            <p:ph type="sldNum" sz="quarter" idx="12"/>
          </p:nvPr>
        </p:nvSpPr>
        <p:spPr/>
        <p:txBody>
          <a:bodyPr/>
          <a:lstStyle/>
          <a:p>
            <a:fld id="{09BC8EBE-3F66-4987-8598-90D38544136D}" type="slidenum">
              <a:rPr lang="en-US" smtClean="0"/>
              <a:t>‹#›</a:t>
            </a:fld>
            <a:endParaRPr lang="en-US"/>
          </a:p>
        </p:txBody>
      </p:sp>
    </p:spTree>
    <p:extLst>
      <p:ext uri="{BB962C8B-B14F-4D97-AF65-F5344CB8AC3E}">
        <p14:creationId xmlns:p14="http://schemas.microsoft.com/office/powerpoint/2010/main" val="37435042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lide 1">
    <p:spTree>
      <p:nvGrpSpPr>
        <p:cNvPr id="1" name=""/>
        <p:cNvGrpSpPr/>
        <p:nvPr/>
      </p:nvGrpSpPr>
      <p:grpSpPr>
        <a:xfrm>
          <a:off x="0" y="0"/>
          <a:ext cx="0" cy="0"/>
          <a:chOff x="0" y="0"/>
          <a:chExt cx="0" cy="0"/>
        </a:xfrm>
      </p:grpSpPr>
      <p:sp>
        <p:nvSpPr>
          <p:cNvPr id="2" name="Title 1"/>
          <p:cNvSpPr>
            <a:spLocks noGrp="1"/>
          </p:cNvSpPr>
          <p:nvPr>
            <p:ph type="ctrTitle"/>
          </p:nvPr>
        </p:nvSpPr>
        <p:spPr>
          <a:xfrm>
            <a:off x="495568" y="1828800"/>
            <a:ext cx="7142913" cy="828000"/>
          </a:xfrm>
        </p:spPr>
        <p:txBody>
          <a:bodyPr>
            <a:noAutofit/>
          </a:bodyPr>
          <a:lstStyle>
            <a:lvl1pPr>
              <a:defRPr sz="1875">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495568" y="4286257"/>
            <a:ext cx="7142913" cy="1500198"/>
          </a:xfrm>
        </p:spPr>
        <p:txBody>
          <a:bodyPr>
            <a:normAutofit/>
          </a:bodyPr>
          <a:lstStyle>
            <a:lvl1pPr marL="0" indent="0" algn="l">
              <a:lnSpc>
                <a:spcPct val="120000"/>
              </a:lnSpc>
              <a:spcBef>
                <a:spcPts val="0"/>
              </a:spcBef>
              <a:spcAft>
                <a:spcPts val="0"/>
              </a:spcAft>
              <a:buNone/>
              <a:defRPr sz="1050" b="0">
                <a:solidFill>
                  <a:schemeClr val="accent5"/>
                </a:solidFill>
              </a:defRPr>
            </a:lvl1pPr>
            <a:lvl2pPr marL="359532" indent="0" algn="ctr">
              <a:buNone/>
              <a:defRPr>
                <a:solidFill>
                  <a:schemeClr val="tx1">
                    <a:tint val="75000"/>
                  </a:schemeClr>
                </a:solidFill>
              </a:defRPr>
            </a:lvl2pPr>
            <a:lvl3pPr marL="719063" indent="0" algn="ctr">
              <a:buNone/>
              <a:defRPr>
                <a:solidFill>
                  <a:schemeClr val="tx1">
                    <a:tint val="75000"/>
                  </a:schemeClr>
                </a:solidFill>
              </a:defRPr>
            </a:lvl3pPr>
            <a:lvl4pPr marL="1078595" indent="0" algn="ctr">
              <a:buNone/>
              <a:defRPr>
                <a:solidFill>
                  <a:schemeClr val="tx1">
                    <a:tint val="75000"/>
                  </a:schemeClr>
                </a:solidFill>
              </a:defRPr>
            </a:lvl4pPr>
            <a:lvl5pPr marL="1438125" indent="0" algn="ctr">
              <a:buNone/>
              <a:defRPr>
                <a:solidFill>
                  <a:schemeClr val="tx1">
                    <a:tint val="75000"/>
                  </a:schemeClr>
                </a:solidFill>
              </a:defRPr>
            </a:lvl5pPr>
            <a:lvl6pPr marL="1797657" indent="0" algn="ctr">
              <a:buNone/>
              <a:defRPr>
                <a:solidFill>
                  <a:schemeClr val="tx1">
                    <a:tint val="75000"/>
                  </a:schemeClr>
                </a:solidFill>
              </a:defRPr>
            </a:lvl6pPr>
            <a:lvl7pPr marL="2157187" indent="0" algn="ctr">
              <a:buNone/>
              <a:defRPr>
                <a:solidFill>
                  <a:schemeClr val="tx1">
                    <a:tint val="75000"/>
                  </a:schemeClr>
                </a:solidFill>
              </a:defRPr>
            </a:lvl7pPr>
            <a:lvl8pPr marL="2516718" indent="0" algn="ctr">
              <a:buNone/>
              <a:defRPr>
                <a:solidFill>
                  <a:schemeClr val="tx1">
                    <a:tint val="75000"/>
                  </a:schemeClr>
                </a:solidFill>
              </a:defRPr>
            </a:lvl8pPr>
            <a:lvl9pPr marL="2876250"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2" y="6408009"/>
            <a:ext cx="1056117" cy="252001"/>
          </a:xfrm>
          <a:prstGeom prst="rect">
            <a:avLst/>
          </a:prstGeom>
        </p:spPr>
        <p:txBody>
          <a:bodyPr vert="horz" lIns="0" tIns="0" rIns="0" bIns="0" rtlCol="0" anchor="ctr" anchorCtr="0"/>
          <a:lstStyle>
            <a:lvl1pPr algn="r">
              <a:defRPr sz="525" b="0">
                <a:solidFill>
                  <a:schemeClr val="tx2"/>
                </a:solidFill>
              </a:defRPr>
            </a:lvl1pPr>
          </a:lstStyle>
          <a:p>
            <a:fld id="{95CC1D26-A9BD-4BDE-BDD9-08EDBAE96860}" type="slidenum">
              <a:rPr lang="en-GB" smtClean="0">
                <a:solidFill>
                  <a:srgbClr val="313131"/>
                </a:solidFill>
              </a:rPr>
              <a:pPr/>
              <a:t>‹#›</a:t>
            </a:fld>
            <a:endParaRPr lang="en-GB">
              <a:solidFill>
                <a:srgbClr val="313131"/>
              </a:solidFill>
            </a:endParaRPr>
          </a:p>
        </p:txBody>
      </p:sp>
      <p:sp>
        <p:nvSpPr>
          <p:cNvPr id="8" name="Text Placeholder 5"/>
          <p:cNvSpPr>
            <a:spLocks noGrp="1"/>
          </p:cNvSpPr>
          <p:nvPr>
            <p:ph type="body" sz="quarter" idx="10"/>
          </p:nvPr>
        </p:nvSpPr>
        <p:spPr>
          <a:xfrm>
            <a:off x="495568" y="2663188"/>
            <a:ext cx="7142913" cy="1623070"/>
          </a:xfrm>
        </p:spPr>
        <p:txBody>
          <a:bodyPr>
            <a:noAutofit/>
          </a:bodyPr>
          <a:lstStyle>
            <a:lvl1pPr marL="0" indent="0">
              <a:buNone/>
              <a:defRPr sz="1875">
                <a:solidFill>
                  <a:schemeClr val="accent2"/>
                </a:solidFill>
              </a:defRPr>
            </a:lvl1pPr>
          </a:lstStyle>
          <a:p>
            <a:pPr lvl="0"/>
            <a:r>
              <a:rPr lang="en-US"/>
              <a:t>Click to edit Master text styles</a:t>
            </a:r>
          </a:p>
        </p:txBody>
      </p:sp>
    </p:spTree>
    <p:extLst>
      <p:ext uri="{BB962C8B-B14F-4D97-AF65-F5344CB8AC3E}">
        <p14:creationId xmlns:p14="http://schemas.microsoft.com/office/powerpoint/2010/main" val="323103845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663AF56-BF11-4CA7-B503-D1FFEC1E58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71B6D12-3677-496D-A39F-DB5E2B4635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7FD4FF2-8384-48B8-88EE-7D7DF329BF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DC26BF04-42FB-45DF-8C3C-1E250DAF7BC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4368EF0-3E78-4DBB-9DA0-2B1EED3E8F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BC8EBE-3F66-4987-8598-90D38544136D}" type="slidenum">
              <a:rPr lang="en-US" smtClean="0"/>
              <a:t>‹#›</a:t>
            </a:fld>
            <a:endParaRPr lang="en-US"/>
          </a:p>
        </p:txBody>
      </p:sp>
      <p:pic>
        <p:nvPicPr>
          <p:cNvPr id="7" name="Picture 6">
            <a:extLst>
              <a:ext uri="{FF2B5EF4-FFF2-40B4-BE49-F238E27FC236}">
                <a16:creationId xmlns:a16="http://schemas.microsoft.com/office/drawing/2014/main" id="{BB4CC494-26F7-44C2-B49D-DC25A759A9B6}"/>
              </a:ext>
            </a:extLst>
          </p:cNvPr>
          <p:cNvPicPr>
            <a:picLocks noChangeAspect="1"/>
          </p:cNvPicPr>
          <p:nvPr/>
        </p:nvPicPr>
        <p:blipFill>
          <a:blip r:embed="rId14">
            <a:extLst>
              <a:ext uri="{28A0092B-C50C-407E-A947-70E740481C1C}">
                <a14:useLocalDpi xmlns:a14="http://schemas.microsoft.com/office/drawing/2010/main" val="0"/>
              </a:ext>
            </a:extLst>
          </a:blip>
          <a:srcRect/>
          <a:stretch/>
        </p:blipFill>
        <p:spPr>
          <a:xfrm>
            <a:off x="10296663" y="106860"/>
            <a:ext cx="1325339" cy="441780"/>
          </a:xfrm>
          <a:prstGeom prst="rect">
            <a:avLst/>
          </a:prstGeom>
        </p:spPr>
      </p:pic>
    </p:spTree>
    <p:extLst>
      <p:ext uri="{BB962C8B-B14F-4D97-AF65-F5344CB8AC3E}">
        <p14:creationId xmlns:p14="http://schemas.microsoft.com/office/powerpoint/2010/main" val="32913809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oogle Shape;1067;p107">
            <a:extLst>
              <a:ext uri="{FF2B5EF4-FFF2-40B4-BE49-F238E27FC236}">
                <a16:creationId xmlns:a16="http://schemas.microsoft.com/office/drawing/2014/main" id="{BD446205-A9C9-145C-FBBE-181C87632E0D}"/>
              </a:ext>
            </a:extLst>
          </p:cNvPr>
          <p:cNvPicPr preferRelativeResize="0"/>
          <p:nvPr/>
        </p:nvPicPr>
        <p:blipFill rotWithShape="1">
          <a:blip r:embed="rId3">
            <a:alphaModFix/>
          </a:blip>
          <a:srcRect/>
          <a:stretch/>
        </p:blipFill>
        <p:spPr>
          <a:xfrm>
            <a:off x="0" y="691115"/>
            <a:ext cx="12192000" cy="6133754"/>
          </a:xfrm>
          <a:prstGeom prst="rect">
            <a:avLst/>
          </a:prstGeom>
          <a:no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cxnSp>
        <p:nvCxnSpPr>
          <p:cNvPr id="20" name="Straight Connector 19"/>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A8882-DBA4-3986-D746-678C5CCE12AF}"/>
              </a:ext>
            </a:extLst>
          </p:cNvPr>
          <p:cNvSpPr txBox="1"/>
          <p:nvPr/>
        </p:nvSpPr>
        <p:spPr>
          <a:xfrm>
            <a:off x="914401" y="3868301"/>
            <a:ext cx="6006352" cy="1815882"/>
          </a:xfrm>
          <a:prstGeom prst="rect">
            <a:avLst/>
          </a:prstGeom>
          <a:noFill/>
          <a:ln w="15875">
            <a:solidFill>
              <a:srgbClr val="141ED2"/>
            </a:solidFill>
          </a:ln>
        </p:spPr>
        <p:txBody>
          <a:bodyPr wrap="square" rtlCol="0">
            <a:spAutoFit/>
          </a:bodyPr>
          <a:lstStyle/>
          <a:p>
            <a:r>
              <a:rPr lang="en-US" sz="2800" dirty="0">
                <a:solidFill>
                  <a:srgbClr val="141ED2"/>
                </a:solidFill>
                <a:ea typeface="Tahoma" panose="020B0604030504040204" pitchFamily="34" charset="0"/>
                <a:cs typeface="Times New Roman" panose="02020603050405020304" pitchFamily="18" charset="0"/>
              </a:rPr>
              <a:t>BÁO CÁO TUẦN</a:t>
            </a:r>
          </a:p>
          <a:p>
            <a:r>
              <a:rPr lang="vi-VN" sz="2800" b="1">
                <a:solidFill>
                  <a:srgbClr val="141ED2"/>
                </a:solidFill>
                <a:ea typeface="Tahoma" panose="020B0604030504040204" pitchFamily="34" charset="0"/>
                <a:cs typeface="Times New Roman" panose="02020603050405020304" pitchFamily="18" charset="0"/>
              </a:rPr>
              <a:t>NHẬN ĐỊNH THỊ TRƯỜNG TUẦN 03/08/2026 – 07/08/2026</a:t>
            </a:r>
          </a:p>
          <a:p>
            <a:endParaRPr lang="en-AU" sz="2800" b="1" dirty="0">
              <a:solidFill>
                <a:srgbClr val="141ED2"/>
              </a:solidFill>
              <a:ea typeface="Tahoma" panose="020B060403050404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0589A8FD-B872-9ACA-6333-0D02A69173C5}"/>
              </a:ext>
            </a:extLst>
          </p:cNvPr>
          <p:cNvSpPr>
            <a:spLocks noGrp="1"/>
          </p:cNvSpPr>
          <p:nvPr>
            <p:ph type="sldNum" sz="quarter" idx="4"/>
          </p:nvPr>
        </p:nvSpPr>
        <p:spPr/>
        <p:txBody>
          <a:bodyPr/>
          <a:lstStyle/>
          <a:p>
            <a:fld id="{95CC1D26-A9BD-4BDE-BDD9-08EDBAE96860}" type="slidenum">
              <a:rPr lang="en-GB" smtClean="0">
                <a:solidFill>
                  <a:srgbClr val="313131"/>
                </a:solidFill>
              </a:rPr>
              <a:pPr/>
              <a:t>1</a:t>
            </a:fld>
            <a:endParaRPr lang="en-GB">
              <a:solidFill>
                <a:srgbClr val="313131"/>
              </a:solidFill>
            </a:endParaRPr>
          </a:p>
        </p:txBody>
      </p:sp>
    </p:spTree>
    <p:extLst>
      <p:ext uri="{BB962C8B-B14F-4D97-AF65-F5344CB8AC3E}">
        <p14:creationId xmlns:p14="http://schemas.microsoft.com/office/powerpoint/2010/main" val="215999991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2" name="AutoShape 2"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4" name="AutoShape 4" descr="data:image/png;base64,iVBORw0KGgoAAAANSUhEUgAACCwAAANqCAYAAABMrkioAAAAAXNSR0IArs4c6QAAIABJREFUeF7s2jENAAAMw7CVP+mxyOURqGTtzM4RIECAAAECBAgQIECAAAECBAgQIECAAAECBAgQIECAAAECBGKBxXvmCBAgQIAAAQIECBAgQIAAAQIECBAgQIAAAQIECBAgQIAAAQInWPAE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Cg2LRYAAAgAElEQVQ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JDqEroAACAASURBV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gAABAgQIECBAgAABAgQIECBAgAABAgQI5AKChZzcIAECBAgQIECAAAECBAgQIECAAAECBAgQIECAAAECBAgQICBY8AMECBAgQIAAAQIECBAgQIAAAQIECBAgQIAAAQIECBAgQIBALiBYyMkNEiBAgAABAgQIECBAgAABAgQIECBAgAABAgQIECBAgAABAoIFP0CAAAECBAgQIECAAAECBAgQIECAAAECBAgQIECAAAECBAjkAoKFnNwgAQIECBAgQIAAAQIECBAgQIAAAQIECBAgQIAAAQIECBAgIFjwAwQIECBAgAABAgQIECBAgAABAgQIECBAgAABAgQIECBAgEAuIFjIyQ0SIECAAAECBAgQIECAAAECBAgQIECAAAECBAgQIECAAAECggU/QIAAAQIECBAgQIAAAQIECBAgQIAAAQIECBAgQIAAAQIECOQCgoWc3CABAgQIECBAgAABAgQIECBAgAABAgQIECBAgAABAgQIECAgWPADBAgQIECAAAECBAgQIECAAAECBAgQIECAAAECBAgQIECAQC4gWMjJDRIgQIAAAQIECBAgQIAAAQIECBAgQIAAAQIECBAgQIAAAQKCBT9AgAABAgQIECBA4Nu1YxIAAACGYf5d10WvKBiEnSV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IgFBkQAAIABJREFU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E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IBgwQcIECBAgAABAgQIECBAgAABAgQIECBAgAABAgQIECBAgACBXUCwsJMbJECAAAECBAgQIECAAAECBAgQIECAAAECBAgQIECAAAECBAQLPkCAAAECBAgQIECAAAECBAgQIECAAAECBAgQIECAAAECBAjsAoKFndwgAQIECBAgQIAAAQIECBAgQIAAAQIECBAgQIAAAQIECBAgIFjwAQIECBAgQIAAAQIECBAgQIAAAQIECBAgQIAAAQIECBAgQGAXECzs5AYJECBAgAABAgQIECBAgAABAgQIECBAgAABAgQIECBAgAABwYIPECBAgAABAgQIECBAgAABAgQIECBAgAABAgQIECBAgAABAruAYGEnN0iAAAECBAgQIECAAAECBAgQIECAAAECBAgQIECAAAECBAgIFnyAAAECBAgQIECAAAECBAgQIECAAAECBAgQIECAAAECBAgQ2AUECzu5QQIECBAgQIAAAQIECBAgQIAAAQIECBAgQIAAAQIECBAgQECw4AMECBAgQIAAAQIECBAgQIAAAQIECBAgQIAAAQIECBAgQIDALiBY2MkNEiBAgAABAgQIECBAgAABAgQIECBAgAABAgQIECBAgAABAoIFHyBAgAABAgQIECBAgAABAgQIECBAgAABAgQIECBAgAABAgR2AcHCTm6QAAECBAgQIECAAAECBAgQIECAAAECBAgQIECAAAECBAgQECz4AAECBAgQIECAAAECBAgQIECAAAECBAgQIECAAAECBAgQILALCBZ2coMECBAgQIAAAQIECBAgQIAAAQIECBAgQIAAAQIECBAgQICAYMEHCBAgQIAAAQIECBAgQIAAAQIECBAgQIAAAQIECBAgQIAAgV1AsLCTGyRAgAABAgQIECBAgAABAgQIECBAgAABAgQIECBAgAABAgQECz5AgAABAgQIECBAgAABAgQIECBAgAABAgQIECBAgAABAgQI7AKChZ3cIAFo29LEAAAEYElEQVQCBAgQIECAAAECBAgQIECAAAECBAgQIECAAAECBAgQICBY8AECBAgQIECAAAECBAgQIECAAAECBAgQIECAAAECBAgQIEBgFxAs7OQGCRAgQIAAAQIECBAgQIAAAQIECBAgQIAAAQIECBAgQIAAAcGCDxAgQIAAAQIECBAgQIAAAQIECBAgQIAAAQIECBAgQIAAAQK7gGBhJzdIgAABAgQIECBAgAABAgQIECBAgAABAgQIECBAgAABAgQICBZ8gAABAgQIECBAgAABAgQIECBAgAABAgQIECBAgAABAgQIENgFBAs7uUECBAgQIECAAAECBAgQIECAAAECBAgQIECAAAECBAgQIEBAsOADBAgQIECAAAECBAgQIECAAAECBAgQIECAAAECBAgQIECAwC4gWNjJDRIgQIAAAQIECBAgQIAAAQIECBAgQIAAAQIECBAgQIAAAQKCBR8gQIAAAQIECBAgQIAAAQIECBAgQIAAAQIECBAgQIAAAQIEdgHBwk5ukAABAgQIECBAgAABAgQIECBAgAABAgQIECBAgAABAgQIEBAs+AABAgQIECBAgAABAgQIECBAgAABAgQIECBAgAABAgQIECCwCwgWdnKDBAgQIECAAAECBAgQIECAAAECBAgQIECAAAECBAgQIECAgGDBBwgQIECAAAECBAgQIECAAAECBAgQIECAAAECBAgQIECAAIFdQLCwkxskQIAAAQIECBAgQIAAAQIECBAgQIAAAQIECBAgQIAAAQIEBAs+QIAAAQIECBAgQIAAAQIECBAgQIAAAQIECBAgQIAAAQIECOwCgoWd3CABAgQIECBAgAABAgQIECBAgAABAgQIECBAgAABAgQIECAgWPABAgQIECBAgAABAgQIECBAgAABAgQIECBAgAABAgQIECBAYBcQLOzkBgkQIECAAAECBAgQIECAAAECBAgQIECAAAECBAgQIECAAAHBgg8QIECAAAECBAgQIECAAAECBAgQIECAAAECBAgQIECAAAECu4BgYSc3SIAAAQIECBAgQIAAAQIECBAgQIAAAQIECBAgQIAAAQIECAgWfIAAAQIECBAgQIAAAQIECBAgQIAAAQIECBAgQIAAAQIECBDYBQQLO7lBAgQIECBAgAABAgQIECBAgAABAgQIECBAgAABAgQIECBAQLDgAwQIECBAgAABAgQIECBAgAABAgQIECBAgAABAgQIECBAgMAuIFjYyQ0SIECAAAECBAgQIECAAAECBAgQIECAAAECBAgQIECAAAECggUfIECAAAECBAgQIECAAAECBAgQIECAAAECBAgQIECAAAECBHYBwcJObpAAAQIECBAgQIAAAQIECBAgQIAAAQIECBAgQIAAAQIECBAQLPgAAQIECBAgQIAAAQIECBAgQIAAAQIECBAgQIAAAQIECBAgsAsIFnZygwQIECBAgAABAgQIECBAgAABAgQIECBAgAABAgQIECBAgEBpCQNrWvFwnAAAAABJRU5ErkJgg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latin typeface="+mj-lt"/>
            </a:endParaRPr>
          </a:p>
        </p:txBody>
      </p:sp>
      <p:cxnSp>
        <p:nvCxnSpPr>
          <p:cNvPr id="3" name="Straight Connector 2">
            <a:extLst>
              <a:ext uri="{FF2B5EF4-FFF2-40B4-BE49-F238E27FC236}">
                <a16:creationId xmlns:a16="http://schemas.microsoft.com/office/drawing/2014/main" id="{BE378D81-16B3-BA0A-CD81-7E78B8D6F2C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itle 5">
            <a:extLst>
              <a:ext uri="{FF2B5EF4-FFF2-40B4-BE49-F238E27FC236}">
                <a16:creationId xmlns:a16="http://schemas.microsoft.com/office/drawing/2014/main" id="{4A4D2A7D-D274-BA45-B498-25785F845D87}"/>
              </a:ext>
            </a:extLst>
          </p:cNvPr>
          <p:cNvSpPr txBox="1">
            <a:spLocks/>
          </p:cNvSpPr>
          <p:nvPr/>
        </p:nvSpPr>
        <p:spPr>
          <a:xfrm>
            <a:off x="261939" y="304973"/>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dirty="0">
                <a:solidFill>
                  <a:srgbClr val="141ED2"/>
                </a:solidFill>
                <a:ea typeface="Tahoma" panose="020B0604030504040204" pitchFamily="34" charset="0"/>
                <a:cs typeface="Times New Roman" panose="02020603050405020304" pitchFamily="18" charset="0"/>
              </a:rPr>
              <a:t>MỤC LỤC</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4994612C-C222-90EB-0421-98AC31DBAA7B}"/>
              </a:ext>
            </a:extLst>
          </p:cNvPr>
          <p:cNvSpPr txBox="1"/>
          <p:nvPr/>
        </p:nvSpPr>
        <p:spPr>
          <a:xfrm>
            <a:off x="307974" y="957047"/>
            <a:ext cx="6570497" cy="4253537"/>
          </a:xfrm>
          <a:prstGeom prst="rect">
            <a:avLst/>
          </a:prstGeom>
          <a:noFill/>
        </p:spPr>
        <p:txBody>
          <a:bodyPr wrap="square" rtlCol="0">
            <a:spAutoFit/>
          </a:bodyPr>
          <a:lstStyle/>
          <a:p>
            <a:pPr>
              <a:lnSpc>
                <a:spcPct val="150000"/>
              </a:lnSpc>
            </a:pPr>
            <a:r>
              <a:rPr lang="vi-VN" sz="1400" b="1">
                <a:solidFill>
                  <a:srgbClr val="141ED2"/>
                </a:solidFill>
                <a:latin typeface="+mj-lt"/>
                <a:cs typeface="Times New Roman" panose="02020603050405020304" pitchFamily="18" charset="0"/>
              </a:rPr>
              <a:t>DIỄN BIẾN THỊ TRƯỜNG TUẦN 27/07 – 31/07/2026</a:t>
            </a:r>
          </a:p>
          <a:p>
            <a:pPr>
              <a:lnSpc>
                <a:spcPct val="150000"/>
              </a:lnSpc>
            </a:pP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a:solidFill>
                  <a:srgbClr val="141ED2"/>
                </a:solidFill>
                <a:latin typeface="+mj-lt"/>
                <a:cs typeface="Times New Roman" panose="02020603050405020304" pitchFamily="18" charset="0"/>
              </a:rPr>
              <a:t>Xu h</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ớng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và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rộng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thị</a:t>
            </a:r>
            <a:r>
              <a:rPr lang="en-US" sz="1400" b="1" dirty="0">
                <a:solidFill>
                  <a:srgbClr val="141ED2"/>
                </a:solidFill>
                <a:latin typeface="+mj-lt"/>
                <a:cs typeface="Times New Roman" panose="02020603050405020304" pitchFamily="18" charset="0"/>
              </a:rPr>
              <a:t> tr</a:t>
            </a:r>
            <a:r>
              <a:rPr lang="vi-VN" sz="1400" b="1" dirty="0">
                <a:solidFill>
                  <a:srgbClr val="141ED2"/>
                </a:solidFill>
                <a:latin typeface="+mj-lt"/>
                <a:cs typeface="Times New Roman" panose="02020603050405020304" pitchFamily="18" charset="0"/>
              </a:rPr>
              <a:t>ư</a:t>
            </a:r>
            <a:r>
              <a:rPr lang="en-US" sz="1400" b="1" dirty="0" err="1">
                <a:solidFill>
                  <a:srgbClr val="141ED2"/>
                </a:solidFill>
                <a:latin typeface="+mj-lt"/>
                <a:cs typeface="Times New Roman" panose="02020603050405020304" pitchFamily="18" charset="0"/>
              </a:rPr>
              <a:t>ờng</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Biến</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động</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ngành</a:t>
            </a:r>
            <a:endParaRPr lang="en-US" sz="1400" b="1" dirty="0">
              <a:solidFill>
                <a:srgbClr val="141ED2"/>
              </a:solidFill>
              <a:latin typeface="+mj-lt"/>
              <a:cs typeface="Times New Roman" panose="02020603050405020304" pitchFamily="18" charset="0"/>
            </a:endParaRPr>
          </a:p>
          <a:p>
            <a:pPr marL="285750" indent="-285750">
              <a:lnSpc>
                <a:spcPct val="150000"/>
              </a:lnSpc>
              <a:buFont typeface="Arial" panose="020B0604020202020204" pitchFamily="34" charset="0"/>
              <a:buChar char="•"/>
            </a:pPr>
            <a:r>
              <a:rPr lang="en-US" sz="1400" b="1" dirty="0" err="1">
                <a:solidFill>
                  <a:srgbClr val="141ED2"/>
                </a:solidFill>
                <a:latin typeface="+mj-lt"/>
                <a:cs typeface="Times New Roman" panose="02020603050405020304" pitchFamily="18" charset="0"/>
              </a:rPr>
              <a:t>Giao</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dịch</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các</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nhóm</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nhà</a:t>
            </a:r>
            <a:r>
              <a:rPr lang="en-US" sz="1400" b="1" dirty="0">
                <a:solidFill>
                  <a:srgbClr val="141ED2"/>
                </a:solidFill>
                <a:latin typeface="+mj-lt"/>
                <a:cs typeface="Times New Roman" panose="02020603050405020304" pitchFamily="18" charset="0"/>
              </a:rPr>
              <a:t> </a:t>
            </a:r>
            <a:r>
              <a:rPr lang="en-US" sz="1400" b="1" dirty="0" err="1">
                <a:solidFill>
                  <a:srgbClr val="141ED2"/>
                </a:solidFill>
                <a:latin typeface="+mj-lt"/>
                <a:cs typeface="Times New Roman" panose="02020603050405020304" pitchFamily="18" charset="0"/>
              </a:rPr>
              <a:t>đầu</a:t>
            </a:r>
            <a:r>
              <a:rPr lang="en-US" sz="1400" b="1" dirty="0">
                <a:solidFill>
                  <a:srgbClr val="141ED2"/>
                </a:solidFill>
                <a:latin typeface="+mj-lt"/>
                <a:cs typeface="Times New Roman" panose="02020603050405020304" pitchFamily="18" charset="0"/>
              </a:rPr>
              <a:t> t</a:t>
            </a:r>
            <a:r>
              <a:rPr lang="vi-VN" sz="1400" b="1" dirty="0">
                <a:solidFill>
                  <a:srgbClr val="141ED2"/>
                </a:solidFill>
                <a:latin typeface="+mj-lt"/>
                <a:cs typeface="Times New Roman" panose="02020603050405020304" pitchFamily="18" charset="0"/>
              </a:rPr>
              <a:t>ư</a:t>
            </a:r>
            <a:endParaRPr lang="en-US" sz="1400" b="1" dirty="0">
              <a:solidFill>
                <a:srgbClr val="141ED2"/>
              </a:solidFill>
              <a:latin typeface="+mj-lt"/>
              <a:cs typeface="Times New Roman" panose="02020603050405020304" pitchFamily="18" charset="0"/>
            </a:endParaRPr>
          </a:p>
          <a:p>
            <a:pPr>
              <a:lnSpc>
                <a:spcPct val="150000"/>
              </a:lnSpc>
            </a:pPr>
            <a:r>
              <a:rPr lang="en-US" sz="1400" b="1">
                <a:solidFill>
                  <a:srgbClr val="141ED2"/>
                </a:solidFill>
                <a:latin typeface="+mj-lt"/>
                <a:cs typeface="Times New Roman" panose="02020603050405020304" pitchFamily="18" charset="0"/>
              </a:rPr>
              <a:t>CÁC SỰ KIỆN DIỄN RA TRONG TUẦN 03/08/2026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vi-VN" sz="1400" b="1">
                <a:solidFill>
                  <a:srgbClr val="141ED2"/>
                </a:solidFill>
                <a:latin typeface="+mj-lt"/>
                <a:cs typeface="Times New Roman" panose="02020603050405020304" pitchFamily="18" charset="0"/>
              </a:rPr>
              <a:t>NHẬN ĐỊNH XU HƯỚNG THỊ TRƯỜNG TUẦN 03/08/2026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NHẬN ĐỊNH XU H</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ỚNG THỊ TR</a:t>
            </a:r>
            <a:r>
              <a:rPr lang="vi-VN" sz="1400" b="1" dirty="0">
                <a:solidFill>
                  <a:srgbClr val="141ED2"/>
                </a:solidFill>
                <a:latin typeface="+mj-lt"/>
                <a:cs typeface="Times New Roman" panose="02020603050405020304" pitchFamily="18" charset="0"/>
              </a:rPr>
              <a:t>Ư</a:t>
            </a:r>
            <a:r>
              <a:rPr lang="en-US" sz="1400" b="1" dirty="0">
                <a:solidFill>
                  <a:srgbClr val="141ED2"/>
                </a:solidFill>
                <a:latin typeface="+mj-lt"/>
                <a:cs typeface="Times New Roman" panose="02020603050405020304" pitchFamily="18" charset="0"/>
              </a:rPr>
              <a:t>ỜNG TUẦN 03/08 – 07/08/2026</a:t>
            </a:r>
          </a:p>
          <a:p>
            <a:pPr>
              <a:lnSpc>
                <a:spcPct val="150000"/>
              </a:lnSpc>
            </a:pPr>
            <a:endParaRPr lang="en-US" sz="1400" b="1" dirty="0">
              <a:solidFill>
                <a:srgbClr val="141ED2"/>
              </a:solidFill>
              <a:latin typeface="+mj-lt"/>
              <a:cs typeface="Times New Roman" panose="02020603050405020304" pitchFamily="18" charset="0"/>
            </a:endParaRPr>
          </a:p>
          <a:p>
            <a:pPr>
              <a:lnSpc>
                <a:spcPct val="150000"/>
              </a:lnSpc>
            </a:pPr>
            <a:r>
              <a:rPr lang="en-US" sz="1400" b="1" dirty="0">
                <a:solidFill>
                  <a:srgbClr val="141ED2"/>
                </a:solidFill>
                <a:latin typeface="+mj-lt"/>
                <a:cs typeface="Times New Roman" panose="02020603050405020304" pitchFamily="18" charset="0"/>
              </a:rPr>
              <a:t>DANH MỤC CỔ PHIẾU CẦN THEO DÕI</a:t>
            </a:r>
          </a:p>
        </p:txBody>
      </p:sp>
      <p:sp>
        <p:nvSpPr>
          <p:cNvPr id="5" name="Slide Number Placeholder 4">
            <a:extLst>
              <a:ext uri="{FF2B5EF4-FFF2-40B4-BE49-F238E27FC236}">
                <a16:creationId xmlns:a16="http://schemas.microsoft.com/office/drawing/2014/main" id="{F6C31D33-6EF9-2BF6-21CD-B166BC5D3156}"/>
              </a:ext>
            </a:extLst>
          </p:cNvPr>
          <p:cNvSpPr>
            <a:spLocks noGrp="1"/>
          </p:cNvSpPr>
          <p:nvPr>
            <p:ph type="sldNum" sz="quarter" idx="12"/>
          </p:nvPr>
        </p:nvSpPr>
        <p:spPr/>
        <p:txBody>
          <a:bodyPr/>
          <a:lstStyle/>
          <a:p>
            <a:fld id="{09BC8EBE-3F66-4987-8598-90D38544136D}" type="slidenum">
              <a:rPr lang="en-US" smtClean="0"/>
              <a:t>2</a:t>
            </a:fld>
            <a:endParaRPr lang="en-US"/>
          </a:p>
        </p:txBody>
      </p:sp>
    </p:spTree>
    <p:extLst>
      <p:ext uri="{BB962C8B-B14F-4D97-AF65-F5344CB8AC3E}">
        <p14:creationId xmlns:p14="http://schemas.microsoft.com/office/powerpoint/2010/main" val="4037875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61121" y="677863"/>
            <a:ext cx="7449864" cy="5941051"/>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15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Xu h</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ớng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và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độ</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rộng</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thị</a:t>
            </a:r>
            <a:r>
              <a:rPr lang="en-US" sz="1400" b="1" dirty="0">
                <a:solidFill>
                  <a:srgbClr val="141ED2"/>
                </a:solidFill>
                <a:latin typeface="+mj-lt"/>
                <a:ea typeface="Tahoma" panose="020B0604030504040204" pitchFamily="34" charset="0"/>
                <a:cs typeface="Tahoma" panose="020B0604030504040204" pitchFamily="34" charset="0"/>
              </a:rPr>
              <a:t> tr</a:t>
            </a:r>
            <a:r>
              <a:rPr lang="vi-VN" sz="1400" b="1" dirty="0">
                <a:solidFill>
                  <a:srgbClr val="141ED2"/>
                </a:solidFill>
                <a:latin typeface="+mj-lt"/>
                <a:ea typeface="Tahoma" panose="020B0604030504040204" pitchFamily="34" charset="0"/>
                <a:cs typeface="Tahoma" panose="020B0604030504040204" pitchFamily="34" charset="0"/>
              </a:rPr>
              <a:t>ư</a:t>
            </a:r>
            <a:r>
              <a:rPr lang="en-US" sz="1400" b="1" dirty="0" err="1">
                <a:solidFill>
                  <a:srgbClr val="141ED2"/>
                </a:solidFill>
                <a:latin typeface="+mj-lt"/>
                <a:ea typeface="Tahoma" panose="020B0604030504040204" pitchFamily="34" charset="0"/>
                <a:cs typeface="Tahoma" panose="020B0604030504040204" pitchFamily="34" charset="0"/>
              </a:rPr>
              <a:t>ờng</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50000"/>
              </a:lnSpc>
              <a:spcBef>
                <a:spcPct val="0"/>
              </a:spcBef>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dirty="0">
                <a:solidFill>
                  <a:schemeClr val="tx1"/>
                </a:solidFill>
              </a:rPr>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Dự báo VNINDEX sẽ dao động chủ yếu trong vùng 1.680 – 1.740 điểm trong tuần sau. </a:t>
            </a:r>
          </a:p>
          <a:p>
            <a:pPr marL="171450" indent="-171450" algn="just">
              <a:lnSpc>
                <a:spcPct val="150000"/>
              </a:lnSpc>
              <a:buFont typeface="Arial" panose="020B0604020202020204" pitchFamily="34" charset="0"/>
              <a:buChar char="•"/>
            </a:pPr>
            <a:r>
              <a:rPr lang="vi-VN" sz="1100" dirty="0">
                <a:solidFill>
                  <a:schemeClr val="tx1"/>
                </a:solidFill>
              </a:rPr>
              <a:t>Xét về đóng góp của nhóm Vingroup vào chỉ số, từ đầu năm 2025 tới hiện tại, nhóm Vingroup đã đóng góp tăng 437 điểm trong tổng mức tăng 469 điểm của VNINDEX, tương ứng 93% mức tăng của chỉ số và cho thấy phần còn lại của thị trường chỉ tăng 32 điểm so với cuối năm 2024. Trong tháng 7, nhóm Vingroup đóng góp giảm 19 điểm so với mức giảm 124 điểm của VNINDEX. Riêng trong tuần này, nhóm Vingroup đóng góp tăng 21 điểm, tương đương khoảng 41% mức tăng của chỉ số. Nếu không tính nhóm Vingroup, VNINDEX hiện tại ở mức 1.299 điểm, tăng 29 điểm so với tuần trước.</a:t>
            </a:r>
          </a:p>
          <a:p>
            <a:pPr marL="171450" indent="-171450" algn="just">
              <a:lnSpc>
                <a:spcPct val="150000"/>
              </a:lnSpc>
              <a:buFont typeface="Arial" panose="020B0604020202020204" pitchFamily="34" charset="0"/>
              <a:buChar char="•"/>
            </a:pPr>
            <a:endParaRPr lang="en-US" sz="1100" dirty="0">
              <a:solidFill>
                <a:schemeClr val="tx1"/>
              </a:solidFill>
            </a:endParaRPr>
          </a:p>
        </p:txBody>
      </p:sp>
      <p:sp>
        <p:nvSpPr>
          <p:cNvPr id="13" name="Slide Number Placeholder 12">
            <a:extLst>
              <a:ext uri="{FF2B5EF4-FFF2-40B4-BE49-F238E27FC236}">
                <a16:creationId xmlns:a16="http://schemas.microsoft.com/office/drawing/2014/main" id="{846BBBE7-79B2-883E-C577-2EC6A3256FAB}"/>
              </a:ext>
            </a:extLst>
          </p:cNvPr>
          <p:cNvSpPr>
            <a:spLocks noGrp="1"/>
          </p:cNvSpPr>
          <p:nvPr>
            <p:ph type="sldNum" sz="quarter" idx="4"/>
          </p:nvPr>
        </p:nvSpPr>
        <p:spPr/>
        <p:txBody>
          <a:bodyPr/>
          <a:lstStyle/>
          <a:p>
            <a:fld id="{95CC1D26-A9BD-4BDE-BDD9-08EDBAE96860}" type="slidenum">
              <a:rPr lang="en-GB" smtClean="0">
                <a:solidFill>
                  <a:srgbClr val="313131"/>
                </a:solidFill>
              </a:rPr>
              <a:pPr/>
              <a:t>3</a:t>
            </a:fld>
            <a:endParaRPr lang="en-GB">
              <a:solidFill>
                <a:srgbClr val="313131"/>
              </a:solidFill>
            </a:endParaRPr>
          </a:p>
        </p:txBody>
      </p:sp>
      <p:pic>
        <p:nvPicPr>
          <p:cNvPr id="2" name="Chart 6 Auto">
            <a:extLst>
              <a:ext uri="{FF2B5EF4-FFF2-40B4-BE49-F238E27FC236}">
                <a16:creationId xmlns:a16="http://schemas.microsoft.com/office/drawing/2014/main" id="{42AD6EB1-DD57-D035-CC13-D9BEA2200462}"/>
              </a:ext>
            </a:extLst>
          </p:cNvPr>
          <p:cNvPicPr>
            <a:picLocks/>
          </p:cNvPicPr>
          <p:nvPr/>
        </p:nvPicPr>
        <p:blipFill>
          <a:blip r:embed="rId3"/>
          <a:stretch>
            <a:fillRect/>
          </a:stretch>
        </p:blipFill>
        <p:spPr>
          <a:xfrm>
            <a:off x="7757279" y="3677493"/>
            <a:ext cx="4248526" cy="2878911"/>
          </a:xfrm>
          <a:prstGeom prst="rect">
            <a:avLst/>
          </a:prstGeom>
        </p:spPr>
      </p:pic>
    </p:spTree>
    <p:extLst>
      <p:ext uri="{BB962C8B-B14F-4D97-AF65-F5344CB8AC3E}">
        <p14:creationId xmlns:p14="http://schemas.microsoft.com/office/powerpoint/2010/main" val="17457659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3" name="Title 5">
            <a:extLst>
              <a:ext uri="{FF2B5EF4-FFF2-40B4-BE49-F238E27FC236}">
                <a16:creationId xmlns:a16="http://schemas.microsoft.com/office/drawing/2014/main" id="{9516C03B-CB8D-022C-BB34-4ECE32498F98}"/>
              </a:ext>
            </a:extLst>
          </p:cNvPr>
          <p:cNvSpPr txBox="1">
            <a:spLocks/>
          </p:cNvSpPr>
          <p:nvPr/>
        </p:nvSpPr>
        <p:spPr>
          <a:xfrm>
            <a:off x="261939" y="30159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endParaRPr lang="en-US" sz="1800" b="1" dirty="0">
              <a:solidFill>
                <a:srgbClr val="141ED2"/>
              </a:solidFill>
              <a:ea typeface="Tahoma" panose="020B0604030504040204" pitchFamily="34" charset="0"/>
              <a:cs typeface="Tahoma" panose="020B0604030504040204" pitchFamily="34" charset="0"/>
            </a:endParaRPr>
          </a:p>
        </p:txBody>
      </p:sp>
      <p:sp>
        <p:nvSpPr>
          <p:cNvPr id="8" name="Text Placeholder 7">
            <a:extLst>
              <a:ext uri="{FF2B5EF4-FFF2-40B4-BE49-F238E27FC236}">
                <a16:creationId xmlns:a16="http://schemas.microsoft.com/office/drawing/2014/main" id="{7A4F60C0-301D-43A6-BB17-648BC55F0C62}"/>
              </a:ext>
            </a:extLst>
          </p:cNvPr>
          <p:cNvSpPr txBox="1">
            <a:spLocks/>
          </p:cNvSpPr>
          <p:nvPr/>
        </p:nvSpPr>
        <p:spPr>
          <a:xfrm>
            <a:off x="275870" y="872464"/>
            <a:ext cx="6773859" cy="5746449"/>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r>
              <a:rPr lang="en-US" sz="1400" b="1" dirty="0">
                <a:solidFill>
                  <a:srgbClr val="141ED2"/>
                </a:solidFill>
                <a:latin typeface="+mj-lt"/>
                <a:ea typeface="Tahoma" panose="020B0604030504040204" pitchFamily="34" charset="0"/>
                <a:cs typeface="Tahoma" panose="020B0604030504040204" pitchFamily="34" charset="0"/>
              </a:rPr>
              <a:t>Biến động các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ngành</a:t>
            </a: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160000"/>
              </a:lnSpc>
            </a:pPr>
            <a:endParaRPr lang="en-US" sz="1100" dirty="0"/>
          </a:p>
          <a:p>
            <a:pPr marL="171450" indent="-171450" algn="just">
              <a:lnSpc>
                <a:spcPct val="150000"/>
              </a:lnSpc>
              <a:buFont typeface="Arial" panose="020B0604020202020204" pitchFamily="34" charset="0"/>
              <a:buChar char="•"/>
            </a:pPr>
            <a:r>
              <a:rPr lang="vi-VN" sz="1100" dirty="0">
                <a:solidFill>
                  <a:schemeClr val="tx1"/>
                </a:solidFill>
              </a:rPr>
              <a:t>Xét về các nhóm ngành, sắc xanh chiếm ưu thế trong tuần với 14/18 nhóm ngành cấp 2 tăng giá và 4/18 nhóm ngành giảm giá. Công nghệ Thông tin và Tài nguyên Cơ bản dẫn đầu, cùng tăng gần 5,9%. Ở chiều ngược lại, Truyền thông và Bán lẻ là hai nhóm diễn biến kém tích cực nhất, lần lượt giảm 3,2% và 3,0%.</a:t>
            </a:r>
          </a:p>
          <a:p>
            <a:pPr marL="171450" indent="-171450" algn="just">
              <a:lnSpc>
                <a:spcPct val="150000"/>
              </a:lnSpc>
              <a:buFont typeface="Arial" panose="020B0604020202020204" pitchFamily="34" charset="0"/>
              <a:buChar char="•"/>
            </a:pPr>
            <a:r>
              <a:rPr lang="vi-VN" sz="1100" dirty="0">
                <a:solidFill>
                  <a:schemeClr val="tx1"/>
                </a:solidFill>
              </a:rPr>
              <a:t>Đà phục hồi đã lan tỏa tương đối rộng giữa các nhóm ngành, trong đó FPT và HPG là hai cổ phiếu vốn hóa lớn nổi bật, góp phần dẫn dắt Công nghệ Thông tin và Tài nguyên Cơ bản. Tuy nhiên, xung lực thị trường có dấu hiệu suy yếu trong phiên cuối tuần khi chỉ còn 7/18 nhóm ngành tăng giá. Đồng thời, xét trong một tháng, 17/18 nhóm ngành vẫn ghi nhận mức giảm, cho thấy nhịp tăng tuần này chủ yếu mang tính phục hồi ngắn hạn và chưa đủ để xác nhận sự đảo chiều của xu hướng.</a:t>
            </a:r>
          </a:p>
        </p:txBody>
      </p:sp>
      <p:graphicFrame>
        <p:nvGraphicFramePr>
          <p:cNvPr id="2" name="Table 1">
            <a:extLst>
              <a:ext uri="{FF2B5EF4-FFF2-40B4-BE49-F238E27FC236}">
                <a16:creationId xmlns:a16="http://schemas.microsoft.com/office/drawing/2014/main" id="{B7B309FE-C3BB-4440-9EE1-CF5913798C99}"/>
              </a:ext>
            </a:extLst>
          </p:cNvPr>
          <p:cNvGraphicFramePr>
            <a:graphicFrameLocks noGrp="1"/>
          </p:cNvGraphicFramePr>
          <p:nvPr>
            <p:extLst>
              <p:ext uri="{D42A27DB-BD31-4B8C-83A1-F6EECF244321}">
                <p14:modId xmlns:p14="http://schemas.microsoft.com/office/powerpoint/2010/main" val="4266043562"/>
              </p:ext>
            </p:extLst>
          </p:nvPr>
        </p:nvGraphicFramePr>
        <p:xfrm>
          <a:off x="7264866" y="1482010"/>
          <a:ext cx="4666012" cy="4123013"/>
        </p:xfrm>
        <a:graphic>
          <a:graphicData uri="http://schemas.openxmlformats.org/drawingml/2006/table">
            <a:tbl>
              <a:tblPr firstRow="1" bandRow="1">
                <a:tableStyleId>{B301B821-A1FF-4177-AEE7-76D212191A09}</a:tableStyleId>
              </a:tblPr>
              <a:tblGrid>
                <a:gridCol w="2070863">
                  <a:extLst>
                    <a:ext uri="{9D8B030D-6E8A-4147-A177-3AD203B41FA5}">
                      <a16:colId xmlns:a16="http://schemas.microsoft.com/office/drawing/2014/main" val="1939264631"/>
                    </a:ext>
                  </a:extLst>
                </a:gridCol>
                <a:gridCol w="796107">
                  <a:extLst>
                    <a:ext uri="{9D8B030D-6E8A-4147-A177-3AD203B41FA5}">
                      <a16:colId xmlns:a16="http://schemas.microsoft.com/office/drawing/2014/main" val="3494045"/>
                    </a:ext>
                  </a:extLst>
                </a:gridCol>
                <a:gridCol w="908078">
                  <a:extLst>
                    <a:ext uri="{9D8B030D-6E8A-4147-A177-3AD203B41FA5}">
                      <a16:colId xmlns:a16="http://schemas.microsoft.com/office/drawing/2014/main" val="1423265677"/>
                    </a:ext>
                  </a:extLst>
                </a:gridCol>
                <a:gridCol w="890964">
                  <a:extLst>
                    <a:ext uri="{9D8B030D-6E8A-4147-A177-3AD203B41FA5}">
                      <a16:colId xmlns:a16="http://schemas.microsoft.com/office/drawing/2014/main" val="3340808993"/>
                    </a:ext>
                  </a:extLst>
                </a:gridCol>
              </a:tblGrid>
              <a:tr h="162859">
                <a:tc rowSpan="2">
                  <a:txBody>
                    <a:bodyPr/>
                    <a:lstStyle/>
                    <a:p>
                      <a:pPr algn="l" fontAlgn="ctr"/>
                      <a:r>
                        <a:rPr lang="en-US" sz="1000" b="1" u="none" strike="noStrike" dirty="0" err="1">
                          <a:solidFill>
                            <a:srgbClr val="FFFFFF"/>
                          </a:solidFill>
                          <a:effectLst/>
                        </a:rPr>
                        <a:t>Ngành</a:t>
                      </a:r>
                      <a:endParaRPr lang="en-US" sz="1000" b="1" i="0" u="none" strike="noStrike" dirty="0">
                        <a:solidFill>
                          <a:srgbClr val="FFFFFF"/>
                        </a:solidFill>
                        <a:effectLst/>
                        <a:latin typeface="+mj-lt"/>
                      </a:endParaRPr>
                    </a:p>
                  </a:txBody>
                  <a:tcPr marL="18000" marR="9525" marT="18000" marB="0" anchor="ctr"/>
                </a:tc>
                <a:tc gridSpan="3">
                  <a:txBody>
                    <a:bodyPr/>
                    <a:lstStyle/>
                    <a:p>
                      <a:pPr algn="ctr" fontAlgn="ctr"/>
                      <a:r>
                        <a:rPr lang="en-US" sz="1000" b="1" u="none" strike="noStrike" dirty="0">
                          <a:solidFill>
                            <a:srgbClr val="FFFFFF"/>
                          </a:solidFill>
                          <a:effectLst/>
                        </a:rPr>
                        <a:t>% Thay </a:t>
                      </a:r>
                      <a:r>
                        <a:rPr lang="en-US" sz="1000" b="1" u="none" strike="noStrike" dirty="0" err="1">
                          <a:solidFill>
                            <a:srgbClr val="FFFFFF"/>
                          </a:solidFill>
                          <a:effectLst/>
                        </a:rPr>
                        <a:t>đổi</a:t>
                      </a:r>
                      <a:r>
                        <a:rPr lang="en-US" sz="1000" b="1" u="none" strike="noStrike" dirty="0">
                          <a:solidFill>
                            <a:srgbClr val="FFFFFF"/>
                          </a:solidFill>
                          <a:effectLst/>
                        </a:rPr>
                        <a:t> </a:t>
                      </a:r>
                      <a:r>
                        <a:rPr lang="en-US" sz="1000" b="1" u="none" strike="noStrike" dirty="0" err="1">
                          <a:solidFill>
                            <a:srgbClr val="FFFFFF"/>
                          </a:solidFill>
                          <a:effectLst/>
                        </a:rPr>
                        <a:t>giá</a:t>
                      </a:r>
                      <a:endParaRPr lang="en-US" sz="1000" b="1" i="0" u="none" strike="noStrike" dirty="0">
                        <a:solidFill>
                          <a:srgbClr val="FFFFFF"/>
                        </a:solidFill>
                        <a:effectLst/>
                        <a:latin typeface="Trebuchet MS" panose="020B0603020202020204" pitchFamily="34" charset="0"/>
                      </a:endParaRPr>
                    </a:p>
                  </a:txBody>
                  <a:tcPr marL="18000" marR="9525" marT="18000" marB="0" anchor="ct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31326659"/>
                  </a:ext>
                </a:extLst>
              </a:tr>
              <a:tr h="199952">
                <a:tc vMerge="1">
                  <a:txBody>
                    <a:bodyPr/>
                    <a:lstStyle/>
                    <a:p>
                      <a:endParaRPr lang="en-US"/>
                    </a:p>
                  </a:txBody>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ngày</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u="none" strike="noStrike" dirty="0">
                          <a:solidFill>
                            <a:schemeClr val="bg1"/>
                          </a:solidFill>
                          <a:effectLst/>
                        </a:rPr>
                        <a:t>1 </a:t>
                      </a:r>
                      <a:r>
                        <a:rPr lang="en-US" sz="1000" b="1" u="none" strike="noStrike" dirty="0" err="1">
                          <a:solidFill>
                            <a:schemeClr val="bg1"/>
                          </a:solidFill>
                          <a:effectLst/>
                        </a:rPr>
                        <a:t>tuần</a:t>
                      </a:r>
                      <a:endParaRPr lang="en-US" sz="1000" b="1" i="0" u="none" strike="noStrike" dirty="0">
                        <a:solidFill>
                          <a:schemeClr val="bg1"/>
                        </a:solidFill>
                        <a:effectLst/>
                        <a:latin typeface="+mj-lt"/>
                      </a:endParaRPr>
                    </a:p>
                  </a:txBody>
                  <a:tcPr marL="18000" marR="9525" marT="18000" marB="0" anchor="ctr">
                    <a:solidFill>
                      <a:schemeClr val="accent1"/>
                    </a:solidFill>
                  </a:tcPr>
                </a:tc>
                <a:tc>
                  <a:txBody>
                    <a:bodyPr/>
                    <a:lstStyle/>
                    <a:p>
                      <a:pPr algn="ctr" fontAlgn="ctr"/>
                      <a:r>
                        <a:rPr lang="en-US" sz="1000" b="1" i="0" u="none" strike="noStrike" dirty="0">
                          <a:solidFill>
                            <a:schemeClr val="bg1"/>
                          </a:solidFill>
                          <a:effectLst/>
                          <a:latin typeface="+mj-lt"/>
                        </a:rPr>
                        <a:t>1 </a:t>
                      </a:r>
                      <a:r>
                        <a:rPr lang="en-US" sz="1000" b="1" i="0" u="none" strike="noStrike" dirty="0" err="1">
                          <a:solidFill>
                            <a:schemeClr val="bg1"/>
                          </a:solidFill>
                          <a:effectLst/>
                          <a:latin typeface="+mj-lt"/>
                        </a:rPr>
                        <a:t>tháng</a:t>
                      </a:r>
                      <a:endParaRPr lang="en-US" sz="1000" b="1" i="0" u="none" strike="noStrike" dirty="0">
                        <a:solidFill>
                          <a:schemeClr val="bg1"/>
                        </a:solidFill>
                        <a:effectLst/>
                        <a:latin typeface="+mj-lt"/>
                      </a:endParaRPr>
                    </a:p>
                  </a:txBody>
                  <a:tcPr marL="18000" marR="9525" marT="18000" marB="0" anchor="ctr">
                    <a:solidFill>
                      <a:schemeClr val="accent1"/>
                    </a:solidFill>
                  </a:tcPr>
                </a:tc>
                <a:extLst>
                  <a:ext uri="{0D108BD9-81ED-4DB2-BD59-A6C34878D82A}">
                    <a16:rowId xmlns:a16="http://schemas.microsoft.com/office/drawing/2014/main" val="768512050"/>
                  </a:ext>
                </a:extLst>
              </a:tr>
              <a:tr h="209950">
                <a:tc>
                  <a:txBody>
                    <a:bodyPr/>
                    <a:lstStyle/>
                    <a:p>
                      <a:pPr algn="l" fontAlgn="ctr"/>
                      <a:r>
                        <a:rPr lang="en-US" sz="1100" b="0" i="0" u="none" strike="noStrike">
                          <a:solidFill>
                            <a:srgbClr val="000000"/>
                          </a:solidFill>
                          <a:effectLst/>
                          <a:latin typeface="Calibri" panose="020F0502020204030204" pitchFamily="34" charset="0"/>
                        </a:rPr>
                        <a:t>Công nghệ Thông tin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5,88%</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-4,69%</a:t>
                      </a:r>
                    </a:p>
                  </a:txBody>
                  <a:tcPr marL="9525" marR="9525" marT="9525" marB="0" anchor="ctr"/>
                </a:tc>
                <a:extLst>
                  <a:ext uri="{0D108BD9-81ED-4DB2-BD59-A6C34878D82A}">
                    <a16:rowId xmlns:a16="http://schemas.microsoft.com/office/drawing/2014/main" val="3015288796"/>
                  </a:ext>
                </a:extLst>
              </a:tr>
              <a:tr h="209950">
                <a:tc>
                  <a:txBody>
                    <a:bodyPr/>
                    <a:lstStyle/>
                    <a:p>
                      <a:pPr algn="l" fontAlgn="ctr"/>
                      <a:r>
                        <a:rPr lang="vi-VN" sz="1100" b="0" i="0" u="none" strike="noStrike">
                          <a:solidFill>
                            <a:srgbClr val="000000"/>
                          </a:solidFill>
                          <a:effectLst/>
                          <a:latin typeface="Calibri" panose="020F0502020204030204" pitchFamily="34" charset="0"/>
                        </a:rPr>
                        <a:t>Tài nguyên Cơ bản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5,87%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-3,88%</a:t>
                      </a:r>
                    </a:p>
                  </a:txBody>
                  <a:tcPr marL="9525" marR="9525" marT="9525" marB="0" anchor="ctr"/>
                </a:tc>
                <a:extLst>
                  <a:ext uri="{0D108BD9-81ED-4DB2-BD59-A6C34878D82A}">
                    <a16:rowId xmlns:a16="http://schemas.microsoft.com/office/drawing/2014/main" val="3895598061"/>
                  </a:ext>
                </a:extLst>
              </a:tr>
              <a:tr h="183511">
                <a:tc>
                  <a:txBody>
                    <a:bodyPr/>
                    <a:lstStyle/>
                    <a:p>
                      <a:pPr algn="l" fontAlgn="ctr"/>
                      <a:r>
                        <a:rPr lang="en-US" sz="1100" b="0" i="0" u="none" strike="noStrike">
                          <a:solidFill>
                            <a:srgbClr val="000000"/>
                          </a:solidFill>
                          <a:effectLst/>
                          <a:latin typeface="Calibri" panose="020F0502020204030204" pitchFamily="34" charset="0"/>
                        </a:rPr>
                        <a:t>Hóa chất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-0,24%</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-11,14%</a:t>
                      </a:r>
                    </a:p>
                  </a:txBody>
                  <a:tcPr marL="9525" marR="9525" marT="9525" marB="0" anchor="ctr"/>
                </a:tc>
                <a:extLst>
                  <a:ext uri="{0D108BD9-81ED-4DB2-BD59-A6C34878D82A}">
                    <a16:rowId xmlns:a16="http://schemas.microsoft.com/office/drawing/2014/main" val="3893026902"/>
                  </a:ext>
                </a:extLst>
              </a:tr>
              <a:tr h="209950">
                <a:tc>
                  <a:txBody>
                    <a:bodyPr/>
                    <a:lstStyle/>
                    <a:p>
                      <a:pPr algn="l" fontAlgn="ctr"/>
                      <a:r>
                        <a:rPr lang="en-US" sz="1100" b="0" i="0" u="none" strike="noStrike">
                          <a:solidFill>
                            <a:srgbClr val="000000"/>
                          </a:solidFill>
                          <a:effectLst/>
                          <a:latin typeface="Calibri" panose="020F0502020204030204" pitchFamily="34" charset="0"/>
                        </a:rPr>
                        <a:t>Bất động sản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-4,14%</a:t>
                      </a:r>
                    </a:p>
                  </a:txBody>
                  <a:tcPr marL="9525" marR="9525" marT="9525" marB="0" anchor="ctr"/>
                </a:tc>
                <a:extLst>
                  <a:ext uri="{0D108BD9-81ED-4DB2-BD59-A6C34878D82A}">
                    <a16:rowId xmlns:a16="http://schemas.microsoft.com/office/drawing/2014/main" val="2445266804"/>
                  </a:ext>
                </a:extLst>
              </a:tr>
              <a:tr h="209950">
                <a:tc>
                  <a:txBody>
                    <a:bodyPr/>
                    <a:lstStyle/>
                    <a:p>
                      <a:pPr algn="l" fontAlgn="ctr"/>
                      <a:r>
                        <a:rPr lang="en-US" sz="1100" b="0" i="0" u="none" strike="noStrike">
                          <a:solidFill>
                            <a:srgbClr val="000000"/>
                          </a:solidFill>
                          <a:effectLst/>
                          <a:latin typeface="Calibri" panose="020F0502020204030204" pitchFamily="34" charset="0"/>
                        </a:rPr>
                        <a:t>Bảo hiểm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-5,24%</a:t>
                      </a:r>
                    </a:p>
                  </a:txBody>
                  <a:tcPr marL="9525" marR="9525" marT="9525" marB="0" anchor="ctr"/>
                </a:tc>
                <a:extLst>
                  <a:ext uri="{0D108BD9-81ED-4DB2-BD59-A6C34878D82A}">
                    <a16:rowId xmlns:a16="http://schemas.microsoft.com/office/drawing/2014/main" val="553390970"/>
                  </a:ext>
                </a:extLst>
              </a:tr>
              <a:tr h="209950">
                <a:tc>
                  <a:txBody>
                    <a:bodyPr/>
                    <a:lstStyle/>
                    <a:p>
                      <a:pPr algn="l" fontAlgn="ctr"/>
                      <a:r>
                        <a:rPr lang="en-US" sz="1100" b="0" i="0" u="none" strike="noStrike">
                          <a:solidFill>
                            <a:srgbClr val="000000"/>
                          </a:solidFill>
                          <a:effectLst/>
                          <a:latin typeface="Calibri" panose="020F0502020204030204" pitchFamily="34" charset="0"/>
                        </a:rPr>
                        <a:t>Du lịch và Giải trí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-0,05%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-9,93%</a:t>
                      </a:r>
                    </a:p>
                  </a:txBody>
                  <a:tcPr marL="9525" marR="9525" marT="9525" marB="0" anchor="ctr"/>
                </a:tc>
                <a:extLst>
                  <a:ext uri="{0D108BD9-81ED-4DB2-BD59-A6C34878D82A}">
                    <a16:rowId xmlns:a16="http://schemas.microsoft.com/office/drawing/2014/main" val="1105675849"/>
                  </a:ext>
                </a:extLst>
              </a:tr>
              <a:tr h="209950">
                <a:tc>
                  <a:txBody>
                    <a:bodyPr/>
                    <a:lstStyle/>
                    <a:p>
                      <a:pPr algn="l" fontAlgn="ctr"/>
                      <a:r>
                        <a:rPr lang="en-US" sz="1100" b="0" i="0" u="none" strike="noStrike">
                          <a:solidFill>
                            <a:srgbClr val="000000"/>
                          </a:solidFill>
                          <a:effectLst/>
                          <a:latin typeface="Calibri" panose="020F0502020204030204" pitchFamily="34" charset="0"/>
                        </a:rPr>
                        <a:t>Ngân hàng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-6,84%</a:t>
                      </a:r>
                    </a:p>
                  </a:txBody>
                  <a:tcPr marL="9525" marR="9525" marT="9525" marB="0" anchor="ctr"/>
                </a:tc>
                <a:extLst>
                  <a:ext uri="{0D108BD9-81ED-4DB2-BD59-A6C34878D82A}">
                    <a16:rowId xmlns:a16="http://schemas.microsoft.com/office/drawing/2014/main" val="591055151"/>
                  </a:ext>
                </a:extLst>
              </a:tr>
              <a:tr h="209950">
                <a:tc>
                  <a:txBody>
                    <a:bodyPr/>
                    <a:lstStyle/>
                    <a:p>
                      <a:pPr algn="l" fontAlgn="ctr"/>
                      <a:r>
                        <a:rPr lang="en-US" sz="1100" b="0" i="0" u="none" strike="noStrike">
                          <a:solidFill>
                            <a:srgbClr val="000000"/>
                          </a:solidFill>
                          <a:effectLst/>
                          <a:latin typeface="Calibri" panose="020F0502020204030204" pitchFamily="34" charset="0"/>
                        </a:rPr>
                        <a:t>Dịch vụ tài chính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-0,57%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-8,99%</a:t>
                      </a:r>
                    </a:p>
                  </a:txBody>
                  <a:tcPr marL="9525" marR="9525" marT="9525" marB="0" anchor="ctr"/>
                </a:tc>
                <a:extLst>
                  <a:ext uri="{0D108BD9-81ED-4DB2-BD59-A6C34878D82A}">
                    <a16:rowId xmlns:a16="http://schemas.microsoft.com/office/drawing/2014/main" val="1380095949"/>
                  </a:ext>
                </a:extLst>
              </a:tr>
              <a:tr h="209950">
                <a:tc>
                  <a:txBody>
                    <a:bodyPr/>
                    <a:lstStyle/>
                    <a:p>
                      <a:pPr algn="l" fontAlgn="ctr"/>
                      <a:r>
                        <a:rPr lang="en-US" sz="1100" b="0" i="0" u="none" strike="noStrike">
                          <a:solidFill>
                            <a:srgbClr val="000000"/>
                          </a:solidFill>
                          <a:effectLst/>
                          <a:latin typeface="Calibri" panose="020F0502020204030204" pitchFamily="34" charset="0"/>
                        </a:rPr>
                        <a:t>Xây dựng và Vật liệu</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-2,95%</a:t>
                      </a:r>
                    </a:p>
                  </a:txBody>
                  <a:tcPr marL="9525" marR="9525" marT="9525" marB="0" anchor="ctr"/>
                </a:tc>
                <a:extLst>
                  <a:ext uri="{0D108BD9-81ED-4DB2-BD59-A6C34878D82A}">
                    <a16:rowId xmlns:a16="http://schemas.microsoft.com/office/drawing/2014/main" val="2773460031"/>
                  </a:ext>
                </a:extLst>
              </a:tr>
              <a:tr h="209950">
                <a:tc>
                  <a:txBody>
                    <a:bodyPr/>
                    <a:lstStyle/>
                    <a:p>
                      <a:pPr algn="l" fontAlgn="ctr"/>
                      <a:r>
                        <a:rPr lang="en-US" sz="1100" b="0" i="0" u="none" strike="noStrike">
                          <a:solidFill>
                            <a:srgbClr val="000000"/>
                          </a:solidFill>
                          <a:effectLst/>
                          <a:latin typeface="Calibri" panose="020F0502020204030204" pitchFamily="34" charset="0"/>
                        </a:rPr>
                        <a:t>Dầu khí</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-1,66%</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-0,99%</a:t>
                      </a:r>
                    </a:p>
                  </a:txBody>
                  <a:tcPr marL="9525" marR="9525" marT="9525" marB="0" anchor="ctr"/>
                </a:tc>
                <a:extLst>
                  <a:ext uri="{0D108BD9-81ED-4DB2-BD59-A6C34878D82A}">
                    <a16:rowId xmlns:a16="http://schemas.microsoft.com/office/drawing/2014/main" val="1622140904"/>
                  </a:ext>
                </a:extLst>
              </a:tr>
              <a:tr h="209950">
                <a:tc>
                  <a:txBody>
                    <a:bodyPr/>
                    <a:lstStyle/>
                    <a:p>
                      <a:pPr algn="l" fontAlgn="ctr"/>
                      <a:r>
                        <a:rPr lang="en-US" sz="1100" b="0" i="0" u="none" strike="noStrike">
                          <a:solidFill>
                            <a:srgbClr val="000000"/>
                          </a:solidFill>
                          <a:effectLst/>
                          <a:latin typeface="Calibri" panose="020F0502020204030204" pitchFamily="34" charset="0"/>
                        </a:rPr>
                        <a:t>Hàng &amp; Dịch vụ Công nghiệp</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0,82%</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-8,51%</a:t>
                      </a:r>
                    </a:p>
                  </a:txBody>
                  <a:tcPr marL="9525" marR="9525" marT="9525" marB="0" anchor="ctr"/>
                </a:tc>
                <a:extLst>
                  <a:ext uri="{0D108BD9-81ED-4DB2-BD59-A6C34878D82A}">
                    <a16:rowId xmlns:a16="http://schemas.microsoft.com/office/drawing/2014/main" val="3496151128"/>
                  </a:ext>
                </a:extLst>
              </a:tr>
              <a:tr h="209950">
                <a:tc>
                  <a:txBody>
                    <a:bodyPr/>
                    <a:lstStyle/>
                    <a:p>
                      <a:pPr algn="l" fontAlgn="ctr"/>
                      <a:r>
                        <a:rPr lang="en-US" sz="1100" b="0" i="0" u="none" strike="noStrike">
                          <a:solidFill>
                            <a:srgbClr val="000000"/>
                          </a:solidFill>
                          <a:effectLst/>
                          <a:latin typeface="Calibri" panose="020F0502020204030204" pitchFamily="34" charset="0"/>
                        </a:rPr>
                        <a:t>Hàng cá nhân &amp; Gia dụng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a:t>
                      </a:r>
                    </a:p>
                  </a:txBody>
                  <a:tcPr marL="9525" marR="9525" marT="9525" marB="0" anchor="ctr"/>
                </a:tc>
                <a:extLst>
                  <a:ext uri="{0D108BD9-81ED-4DB2-BD59-A6C34878D82A}">
                    <a16:rowId xmlns:a16="http://schemas.microsoft.com/office/drawing/2014/main" val="3553183893"/>
                  </a:ext>
                </a:extLst>
              </a:tr>
              <a:tr h="209950">
                <a:tc>
                  <a:txBody>
                    <a:bodyPr/>
                    <a:lstStyle/>
                    <a:p>
                      <a:pPr algn="l" fontAlgn="ctr"/>
                      <a:r>
                        <a:rPr lang="vi-VN" sz="1100" b="0" i="0" u="none" strike="noStrike">
                          <a:solidFill>
                            <a:srgbClr val="000000"/>
                          </a:solidFill>
                          <a:effectLst/>
                          <a:latin typeface="Calibri" panose="020F0502020204030204" pitchFamily="34" charset="0"/>
                        </a:rPr>
                        <a:t>Điện, nước &amp; xăng dầu khí đốt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0,17%</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-6,60%</a:t>
                      </a:r>
                    </a:p>
                  </a:txBody>
                  <a:tcPr marL="9525" marR="9525" marT="9525" marB="0" anchor="ctr"/>
                </a:tc>
                <a:extLst>
                  <a:ext uri="{0D108BD9-81ED-4DB2-BD59-A6C34878D82A}">
                    <a16:rowId xmlns:a16="http://schemas.microsoft.com/office/drawing/2014/main" val="3975693035"/>
                  </a:ext>
                </a:extLst>
              </a:tr>
              <a:tr h="209950">
                <a:tc>
                  <a:txBody>
                    <a:bodyPr/>
                    <a:lstStyle/>
                    <a:p>
                      <a:pPr algn="l" fontAlgn="ctr"/>
                      <a:r>
                        <a:rPr lang="en-US" sz="1100" b="0" i="0" u="none" strike="noStrike">
                          <a:solidFill>
                            <a:srgbClr val="000000"/>
                          </a:solidFill>
                          <a:effectLst/>
                          <a:latin typeface="Calibri" panose="020F0502020204030204" pitchFamily="34" charset="0"/>
                        </a:rPr>
                        <a:t>Thực phẩm và đồ uống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1,99%</a:t>
                      </a:r>
                    </a:p>
                  </a:txBody>
                  <a:tcPr marL="9525" marR="9525" marT="9525" marB="0" anchor="ctr"/>
                </a:tc>
                <a:extLst>
                  <a:ext uri="{0D108BD9-81ED-4DB2-BD59-A6C34878D82A}">
                    <a16:rowId xmlns:a16="http://schemas.microsoft.com/office/drawing/2014/main" val="1653198948"/>
                  </a:ext>
                </a:extLst>
              </a:tr>
              <a:tr h="209950">
                <a:tc>
                  <a:txBody>
                    <a:bodyPr/>
                    <a:lstStyle/>
                    <a:p>
                      <a:pPr algn="l" fontAlgn="ctr"/>
                      <a:r>
                        <a:rPr lang="en-US" sz="1100" b="0" i="0" u="none" strike="noStrike">
                          <a:solidFill>
                            <a:srgbClr val="000000"/>
                          </a:solidFill>
                          <a:effectLst/>
                          <a:latin typeface="Calibri" panose="020F0502020204030204" pitchFamily="34" charset="0"/>
                        </a:rPr>
                        <a:t>Ô tô và phụ tùng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0,13%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-0,63%</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-3,05%</a:t>
                      </a:r>
                    </a:p>
                  </a:txBody>
                  <a:tcPr marL="9525" marR="9525" marT="9525" marB="0" anchor="ctr"/>
                </a:tc>
                <a:extLst>
                  <a:ext uri="{0D108BD9-81ED-4DB2-BD59-A6C34878D82A}">
                    <a16:rowId xmlns:a16="http://schemas.microsoft.com/office/drawing/2014/main" val="1201709414"/>
                  </a:ext>
                </a:extLst>
              </a:tr>
              <a:tr h="209950">
                <a:tc>
                  <a:txBody>
                    <a:bodyPr/>
                    <a:lstStyle/>
                    <a:p>
                      <a:pPr algn="l" fontAlgn="ctr"/>
                      <a:r>
                        <a:rPr lang="en-US" sz="1100" b="0" i="0" u="none" strike="noStrike">
                          <a:solidFill>
                            <a:srgbClr val="000000"/>
                          </a:solidFill>
                          <a:effectLst/>
                          <a:latin typeface="Calibri" panose="020F0502020204030204" pitchFamily="34" charset="0"/>
                        </a:rPr>
                        <a:t>Y tế</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-0,65%</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-4,29%</a:t>
                      </a:r>
                    </a:p>
                  </a:txBody>
                  <a:tcPr marL="9525" marR="9525" marT="9525" marB="0" anchor="ctr"/>
                </a:tc>
                <a:extLst>
                  <a:ext uri="{0D108BD9-81ED-4DB2-BD59-A6C34878D82A}">
                    <a16:rowId xmlns:a16="http://schemas.microsoft.com/office/drawing/2014/main" val="3701904298"/>
                  </a:ext>
                </a:extLst>
              </a:tr>
              <a:tr h="209950">
                <a:tc>
                  <a:txBody>
                    <a:bodyPr/>
                    <a:lstStyle/>
                    <a:p>
                      <a:pPr algn="l" fontAlgn="ctr"/>
                      <a:r>
                        <a:rPr lang="en-US" sz="1100" b="0" i="0" u="none" strike="noStrike">
                          <a:solidFill>
                            <a:srgbClr val="000000"/>
                          </a:solidFill>
                          <a:effectLst/>
                          <a:latin typeface="Calibri" panose="020F0502020204030204" pitchFamily="34" charset="0"/>
                        </a:rPr>
                        <a:t>Bán lẻ</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0,70%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-5,60%</a:t>
                      </a:r>
                    </a:p>
                  </a:txBody>
                  <a:tcPr marL="9525" marR="9525" marT="9525" marB="0" anchor="ctr"/>
                </a:tc>
                <a:extLst>
                  <a:ext uri="{0D108BD9-81ED-4DB2-BD59-A6C34878D82A}">
                    <a16:rowId xmlns:a16="http://schemas.microsoft.com/office/drawing/2014/main" val="549587826"/>
                  </a:ext>
                </a:extLst>
              </a:tr>
              <a:tr h="209950">
                <a:tc>
                  <a:txBody>
                    <a:bodyPr/>
                    <a:lstStyle/>
                    <a:p>
                      <a:pPr algn="l" fontAlgn="ctr"/>
                      <a:r>
                        <a:rPr lang="en-US" sz="1100" b="0" i="0" u="none" strike="noStrike">
                          <a:solidFill>
                            <a:srgbClr val="000000"/>
                          </a:solidFill>
                          <a:effectLst/>
                          <a:latin typeface="Calibri" panose="020F0502020204030204" pitchFamily="34" charset="0"/>
                        </a:rPr>
                        <a:t>Truyền thông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-3,18%</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-10,24%</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08716273"/>
                  </a:ext>
                </a:extLst>
              </a:tr>
            </a:tbl>
          </a:graphicData>
        </a:graphic>
      </p:graphicFrame>
      <p:sp>
        <p:nvSpPr>
          <p:cNvPr id="4" name="Slide Number Placeholder 3">
            <a:extLst>
              <a:ext uri="{FF2B5EF4-FFF2-40B4-BE49-F238E27FC236}">
                <a16:creationId xmlns:a16="http://schemas.microsoft.com/office/drawing/2014/main" id="{DA2F8204-603B-9BA4-6DCB-6299323F0CDB}"/>
              </a:ext>
            </a:extLst>
          </p:cNvPr>
          <p:cNvSpPr>
            <a:spLocks noGrp="1"/>
          </p:cNvSpPr>
          <p:nvPr>
            <p:ph type="sldNum" sz="quarter" idx="4"/>
          </p:nvPr>
        </p:nvSpPr>
        <p:spPr/>
        <p:txBody>
          <a:bodyPr/>
          <a:lstStyle/>
          <a:p>
            <a:fld id="{95CC1D26-A9BD-4BDE-BDD9-08EDBAE96860}" type="slidenum">
              <a:rPr lang="en-GB" smtClean="0">
                <a:solidFill>
                  <a:srgbClr val="313131"/>
                </a:solidFill>
              </a:rPr>
              <a:pPr/>
              <a:t>4</a:t>
            </a:fld>
            <a:endParaRPr lang="en-GB">
              <a:solidFill>
                <a:srgbClr val="313131"/>
              </a:solidFill>
            </a:endParaRPr>
          </a:p>
        </p:txBody>
      </p:sp>
    </p:spTree>
    <p:extLst>
      <p:ext uri="{BB962C8B-B14F-4D97-AF65-F5344CB8AC3E}">
        <p14:creationId xmlns:p14="http://schemas.microsoft.com/office/powerpoint/2010/main" val="85287250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F6D2BB2A-EEE2-3747-A4B7-A68C71ED55D3}"/>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C7B400DF-E852-3B21-5B29-27FBDA5499ED}"/>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vi-VN" sz="1800" b="1">
                <a:solidFill>
                  <a:srgbClr val="141ED2"/>
                </a:solidFill>
                <a:ea typeface="Tahoma" panose="020B0604030504040204" pitchFamily="34" charset="0"/>
                <a:cs typeface="Tahoma" panose="020B0604030504040204" pitchFamily="34" charset="0"/>
              </a:rPr>
              <a:t>DIỄN BIẾN THỊ TRƯỜNG TUẦN 27/07 – 31/07/2026</a:t>
            </a:r>
            <a:endParaRPr lang="en-US" sz="1800" b="1" dirty="0">
              <a:solidFill>
                <a:srgbClr val="141ED2"/>
              </a:solidFill>
              <a:ea typeface="Tahoma" panose="020B0604030504040204" pitchFamily="34" charset="0"/>
              <a:cs typeface="Tahoma" panose="020B0604030504040204" pitchFamily="34" charset="0"/>
            </a:endParaRPr>
          </a:p>
        </p:txBody>
      </p:sp>
      <p:sp>
        <p:nvSpPr>
          <p:cNvPr id="21" name="Text Placeholder 7">
            <a:extLst>
              <a:ext uri="{FF2B5EF4-FFF2-40B4-BE49-F238E27FC236}">
                <a16:creationId xmlns:a16="http://schemas.microsoft.com/office/drawing/2014/main" id="{D2477056-2295-443A-AA08-60DBDA6FCCAD}"/>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mj-lt"/>
              <a:ea typeface="Tahoma" panose="020B0604030504040204" pitchFamily="34" charset="0"/>
              <a:cs typeface="Tahoma" panose="020B0604030504040204" pitchFamily="34" charset="0"/>
            </a:endParaRPr>
          </a:p>
          <a:p>
            <a:pPr>
              <a:lnSpc>
                <a:spcPct val="90000"/>
              </a:lnSpc>
              <a:spcBef>
                <a:spcPct val="0"/>
              </a:spcBef>
            </a:pPr>
            <a:r>
              <a:rPr lang="en-US" sz="1400" b="1" dirty="0" err="1">
                <a:solidFill>
                  <a:srgbClr val="141ED2"/>
                </a:solidFill>
                <a:latin typeface="+mj-lt"/>
                <a:ea typeface="Tahoma" panose="020B0604030504040204" pitchFamily="34" charset="0"/>
                <a:cs typeface="Tahoma" panose="020B0604030504040204" pitchFamily="34" charset="0"/>
              </a:rPr>
              <a:t>Giao</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dịch</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các</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nhóm</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nhà</a:t>
            </a:r>
            <a:r>
              <a:rPr lang="en-US" sz="1400" b="1" dirty="0">
                <a:solidFill>
                  <a:srgbClr val="141ED2"/>
                </a:solidFill>
                <a:latin typeface="+mj-lt"/>
                <a:ea typeface="Tahoma" panose="020B0604030504040204" pitchFamily="34" charset="0"/>
                <a:cs typeface="Tahoma" panose="020B0604030504040204" pitchFamily="34" charset="0"/>
              </a:rPr>
              <a:t> </a:t>
            </a:r>
            <a:r>
              <a:rPr lang="en-US" sz="1400" b="1" dirty="0" err="1">
                <a:solidFill>
                  <a:srgbClr val="141ED2"/>
                </a:solidFill>
                <a:latin typeface="+mj-lt"/>
                <a:ea typeface="Tahoma" panose="020B0604030504040204" pitchFamily="34" charset="0"/>
                <a:cs typeface="Tahoma" panose="020B0604030504040204" pitchFamily="34" charset="0"/>
              </a:rPr>
              <a:t>đầu</a:t>
            </a:r>
            <a:r>
              <a:rPr lang="en-US" sz="1400" b="1" dirty="0">
                <a:solidFill>
                  <a:srgbClr val="141ED2"/>
                </a:solidFill>
                <a:latin typeface="+mj-lt"/>
                <a:ea typeface="Tahoma" panose="020B0604030504040204" pitchFamily="34" charset="0"/>
                <a:cs typeface="Tahoma" panose="020B0604030504040204" pitchFamily="34" charset="0"/>
              </a:rPr>
              <a:t> t</a:t>
            </a:r>
            <a:r>
              <a:rPr lang="vi-VN" sz="1400" b="1" dirty="0">
                <a:solidFill>
                  <a:srgbClr val="141ED2"/>
                </a:solidFill>
                <a:latin typeface="+mj-lt"/>
                <a:ea typeface="Tahoma" panose="020B0604030504040204" pitchFamily="34" charset="0"/>
                <a:cs typeface="Tahoma" panose="020B0604030504040204" pitchFamily="34" charset="0"/>
              </a:rPr>
              <a:t>ư</a:t>
            </a:r>
            <a:endParaRPr lang="en-US" sz="1100" dirty="0">
              <a:solidFill>
                <a:schemeClr val="tx1"/>
              </a:solidFill>
            </a:endParaRPr>
          </a:p>
          <a:p>
            <a:pPr marL="171450" indent="-171450">
              <a:lnSpc>
                <a:spcPct val="160000"/>
              </a:lnSpc>
              <a:buFont typeface="Arial" panose="020B0604020202020204" pitchFamily="34" charset="0"/>
              <a:buChar char="•"/>
            </a:pPr>
            <a:r>
              <a:rPr lang="en-US" sz="1100" dirty="0" err="1">
                <a:solidFill>
                  <a:schemeClr val="tx1"/>
                </a:solidFill>
              </a:rPr>
              <a:t>Trên</a:t>
            </a:r>
            <a:r>
              <a:rPr lang="en-US" sz="1100" dirty="0">
                <a:solidFill>
                  <a:schemeClr val="tx1"/>
                </a:solidFill>
              </a:rPr>
              <a:t> HOSE, </a:t>
            </a:r>
            <a:r>
              <a:rPr lang="en-US" sz="1100" dirty="0" err="1">
                <a:solidFill>
                  <a:schemeClr val="tx1"/>
                </a:solidFill>
              </a:rPr>
              <a:t>trong</a:t>
            </a:r>
            <a:r>
              <a:rPr lang="en-US" sz="1100" dirty="0">
                <a:solidFill>
                  <a:schemeClr val="tx1"/>
                </a:solidFill>
              </a:rPr>
              <a:t> </a:t>
            </a:r>
            <a:r>
              <a:rPr lang="en-US" sz="1100" dirty="0" err="1">
                <a:solidFill>
                  <a:schemeClr val="tx1"/>
                </a:solidFill>
              </a:rPr>
              <a:t>giai</a:t>
            </a:r>
            <a:r>
              <a:rPr lang="en-US" sz="1100" dirty="0">
                <a:solidFill>
                  <a:schemeClr val="tx1"/>
                </a:solidFill>
              </a:rPr>
              <a:t> </a:t>
            </a:r>
            <a:r>
              <a:rPr lang="en-US" sz="1100" dirty="0" err="1">
                <a:solidFill>
                  <a:schemeClr val="tx1"/>
                </a:solidFill>
              </a:rPr>
              <a:t>đoạn</a:t>
            </a:r>
            <a:r>
              <a:rPr lang="en-US" sz="1100" dirty="0">
                <a:solidFill>
                  <a:schemeClr val="tx1"/>
                </a:solidFill>
              </a:rPr>
              <a:t> 27/07-31/07/2026,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r>
              <a:rPr lang="en-US" sz="1100" dirty="0">
                <a:solidFill>
                  <a:schemeClr val="tx1"/>
                </a:solidFill>
              </a:rPr>
              <a:t> </a:t>
            </a:r>
            <a:r>
              <a:rPr lang="en-US" sz="1100" dirty="0" err="1">
                <a:solidFill>
                  <a:schemeClr val="tx1"/>
                </a:solidFill>
              </a:rPr>
              <a:t>mua</a:t>
            </a:r>
            <a:r>
              <a:rPr lang="en-US" sz="1100" dirty="0">
                <a:solidFill>
                  <a:schemeClr val="tx1"/>
                </a:solidFill>
              </a:rPr>
              <a:t> </a:t>
            </a:r>
            <a:r>
              <a:rPr lang="en-US" sz="1100" dirty="0" err="1">
                <a:solidFill>
                  <a:schemeClr val="tx1"/>
                </a:solidFill>
              </a:rPr>
              <a:t>ròng</a:t>
            </a:r>
            <a:r>
              <a:rPr lang="en-US" sz="1100" dirty="0">
                <a:solidFill>
                  <a:schemeClr val="tx1"/>
                </a:solidFill>
              </a:rPr>
              <a:t> 681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r>
              <a:rPr lang="en-US" sz="1100" dirty="0">
                <a:solidFill>
                  <a:schemeClr val="tx1"/>
                </a:solidFill>
              </a:rPr>
              <a:t> </a:t>
            </a:r>
            <a:r>
              <a:rPr lang="en-US" sz="1100" dirty="0" err="1">
                <a:solidFill>
                  <a:schemeClr val="tx1"/>
                </a:solidFill>
              </a:rPr>
              <a:t>bán</a:t>
            </a:r>
            <a:r>
              <a:rPr lang="en-US" sz="1100" dirty="0">
                <a:solidFill>
                  <a:schemeClr val="tx1"/>
                </a:solidFill>
              </a:rPr>
              <a:t> </a:t>
            </a:r>
            <a:r>
              <a:rPr lang="en-US" sz="1100" dirty="0" err="1">
                <a:solidFill>
                  <a:schemeClr val="tx1"/>
                </a:solidFill>
              </a:rPr>
              <a:t>ròng</a:t>
            </a:r>
            <a:r>
              <a:rPr lang="en-US" sz="1100" dirty="0">
                <a:solidFill>
                  <a:schemeClr val="tx1"/>
                </a:solidFill>
              </a:rPr>
              <a:t> 384 </a:t>
            </a:r>
            <a:r>
              <a:rPr lang="en-US" sz="1100" dirty="0" err="1">
                <a:solidFill>
                  <a:schemeClr val="tx1"/>
                </a:solidFill>
              </a:rPr>
              <a:t>tỷ</a:t>
            </a:r>
            <a:r>
              <a:rPr lang="en-US" sz="1100" dirty="0">
                <a:solidFill>
                  <a:schemeClr val="tx1"/>
                </a:solidFill>
              </a:rPr>
              <a:t> </a:t>
            </a:r>
            <a:r>
              <a:rPr lang="en-US" sz="1100" dirty="0" err="1">
                <a:solidFill>
                  <a:schemeClr val="tx1"/>
                </a:solidFill>
              </a:rPr>
              <a:t>đồng</a:t>
            </a:r>
            <a:r>
              <a:rPr lang="en-US" sz="1100" dirty="0">
                <a:solidFill>
                  <a:schemeClr val="tx1"/>
                </a:solidFill>
              </a:rPr>
              <a:t>.</a:t>
            </a:r>
          </a:p>
          <a:p>
            <a:pPr>
              <a:lnSpc>
                <a:spcPct val="160000"/>
              </a:lnSpc>
            </a:pPr>
            <a:endParaRPr lang="en-US" sz="1100" dirty="0">
              <a:solidFill>
                <a:schemeClr val="tx1"/>
              </a:solidFill>
            </a:endParaRPr>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Tự</a:t>
            </a:r>
            <a:r>
              <a:rPr lang="en-US" sz="1100" dirty="0">
                <a:solidFill>
                  <a:schemeClr val="tx1"/>
                </a:solidFill>
              </a:rPr>
              <a:t> </a:t>
            </a:r>
            <a:r>
              <a:rPr lang="en-US" sz="1100" dirty="0" err="1">
                <a:solidFill>
                  <a:schemeClr val="tx1"/>
                </a:solidFill>
              </a:rPr>
              <a:t>doanh</a:t>
            </a: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marL="171450" indent="-171450">
              <a:lnSpc>
                <a:spcPct val="160000"/>
              </a:lnSpc>
              <a:buFont typeface="Arial" panose="020B0604020202020204" pitchFamily="34" charset="0"/>
              <a:buChar char="•"/>
            </a:pPr>
            <a:endParaRPr lang="en-US" sz="1100" dirty="0">
              <a:solidFill>
                <a:schemeClr val="tx1"/>
              </a:solidFill>
            </a:endParaRPr>
          </a:p>
          <a:p>
            <a:pPr>
              <a:lnSpc>
                <a:spcPct val="160000"/>
              </a:lnSpc>
            </a:pPr>
            <a:endParaRPr lang="en-US" sz="1800" dirty="0"/>
          </a:p>
          <a:p>
            <a:pPr>
              <a:lnSpc>
                <a:spcPct val="160000"/>
              </a:lnSpc>
            </a:pPr>
            <a:endParaRPr lang="en-US" sz="1100" dirty="0"/>
          </a:p>
          <a:p>
            <a:pPr>
              <a:lnSpc>
                <a:spcPct val="160000"/>
              </a:lnSpc>
            </a:pPr>
            <a:endParaRPr lang="en-US" sz="1100" dirty="0"/>
          </a:p>
          <a:p>
            <a:pPr marL="171450" indent="-171450">
              <a:lnSpc>
                <a:spcPct val="160000"/>
              </a:lnSpc>
              <a:buFont typeface="Arial" panose="020B0604020202020204" pitchFamily="34" charset="0"/>
              <a:buChar char="•"/>
            </a:pPr>
            <a:endParaRPr lang="en-US" sz="1100" dirty="0"/>
          </a:p>
          <a:p>
            <a:pPr marL="171450" indent="-171450">
              <a:lnSpc>
                <a:spcPct val="160000"/>
              </a:lnSpc>
              <a:buFont typeface="Arial" panose="020B0604020202020204" pitchFamily="34" charset="0"/>
              <a:buChar char="•"/>
            </a:pPr>
            <a:endParaRPr lang="en-US" sz="1100" dirty="0"/>
          </a:p>
          <a:p>
            <a:pPr>
              <a:lnSpc>
                <a:spcPct val="160000"/>
              </a:lnSpc>
            </a:pPr>
            <a:endParaRPr lang="en-US" sz="1400" dirty="0"/>
          </a:p>
          <a:p>
            <a:pPr marL="171450" indent="-171450">
              <a:lnSpc>
                <a:spcPct val="160000"/>
              </a:lnSpc>
              <a:buFont typeface="Arial" panose="020B0604020202020204" pitchFamily="34" charset="0"/>
              <a:buChar char="•"/>
            </a:pPr>
            <a:r>
              <a:rPr lang="en-US" sz="1100" dirty="0">
                <a:solidFill>
                  <a:schemeClr val="tx1"/>
                </a:solidFill>
              </a:rPr>
              <a:t>GD </a:t>
            </a:r>
            <a:r>
              <a:rPr lang="en-US" sz="1100" dirty="0" err="1">
                <a:solidFill>
                  <a:schemeClr val="tx1"/>
                </a:solidFill>
              </a:rPr>
              <a:t>Khối</a:t>
            </a:r>
            <a:r>
              <a:rPr lang="en-US" sz="1100" dirty="0">
                <a:solidFill>
                  <a:schemeClr val="tx1"/>
                </a:solidFill>
              </a:rPr>
              <a:t> </a:t>
            </a:r>
            <a:r>
              <a:rPr lang="en-US" sz="1100" dirty="0" err="1">
                <a:solidFill>
                  <a:schemeClr val="tx1"/>
                </a:solidFill>
              </a:rPr>
              <a:t>ngoại</a:t>
            </a:r>
            <a:endParaRPr lang="en-US" sz="1100" dirty="0">
              <a:solidFill>
                <a:schemeClr val="tx1"/>
              </a:solidFill>
            </a:endParaRPr>
          </a:p>
        </p:txBody>
      </p:sp>
      <p:graphicFrame>
        <p:nvGraphicFramePr>
          <p:cNvPr id="17" name="Table 16">
            <a:extLst>
              <a:ext uri="{FF2B5EF4-FFF2-40B4-BE49-F238E27FC236}">
                <a16:creationId xmlns:a16="http://schemas.microsoft.com/office/drawing/2014/main" id="{5A8BC4CC-9D0A-423C-A157-B4DF37B19036}"/>
              </a:ext>
            </a:extLst>
          </p:cNvPr>
          <p:cNvGraphicFramePr>
            <a:graphicFrameLocks noGrp="1"/>
          </p:cNvGraphicFramePr>
          <p:nvPr>
            <p:extLst>
              <p:ext uri="{D42A27DB-BD31-4B8C-83A1-F6EECF244321}">
                <p14:modId xmlns:p14="http://schemas.microsoft.com/office/powerpoint/2010/main" val="3587801961"/>
              </p:ext>
            </p:extLst>
          </p:nvPr>
        </p:nvGraphicFramePr>
        <p:xfrm>
          <a:off x="517525" y="1935413"/>
          <a:ext cx="4729594" cy="2214465"/>
        </p:xfrm>
        <a:graphic>
          <a:graphicData uri="http://schemas.openxmlformats.org/drawingml/2006/table">
            <a:tbl>
              <a:tblPr firstRow="1" bandRow="1">
                <a:tableStyleId>{B301B821-A1FF-4177-AEE7-76D212191A09}</a:tableStyleId>
              </a:tblPr>
              <a:tblGrid>
                <a:gridCol w="840220">
                  <a:extLst>
                    <a:ext uri="{9D8B030D-6E8A-4147-A177-3AD203B41FA5}">
                      <a16:colId xmlns:a16="http://schemas.microsoft.com/office/drawing/2014/main" val="476193012"/>
                    </a:ext>
                  </a:extLst>
                </a:gridCol>
                <a:gridCol w="941075">
                  <a:extLst>
                    <a:ext uri="{9D8B030D-6E8A-4147-A177-3AD203B41FA5}">
                      <a16:colId xmlns:a16="http://schemas.microsoft.com/office/drawing/2014/main" val="3541350674"/>
                    </a:ext>
                  </a:extLst>
                </a:gridCol>
                <a:gridCol w="1375873">
                  <a:extLst>
                    <a:ext uri="{9D8B030D-6E8A-4147-A177-3AD203B41FA5}">
                      <a16:colId xmlns:a16="http://schemas.microsoft.com/office/drawing/2014/main" val="373586832"/>
                    </a:ext>
                  </a:extLst>
                </a:gridCol>
                <a:gridCol w="1572426">
                  <a:extLst>
                    <a:ext uri="{9D8B030D-6E8A-4147-A177-3AD203B41FA5}">
                      <a16:colId xmlns:a16="http://schemas.microsoft.com/office/drawing/2014/main" val="149220529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9525" marT="18000" marB="0" anchor="ctr"/>
                </a:tc>
                <a:tc>
                  <a:txBody>
                    <a:bodyPr/>
                    <a:lstStyle/>
                    <a:p>
                      <a:pPr algn="r" fontAlgn="ctr"/>
                      <a:r>
                        <a:rPr lang="en-US" sz="1000" b="1" u="none" strike="noStrike">
                          <a:solidFill>
                            <a:srgbClr val="FFFFFF"/>
                          </a:solidFill>
                          <a:effectLst/>
                        </a:rPr>
                        <a:t>Tỷ trọng bán của Khối</a:t>
                      </a:r>
                    </a:p>
                    <a:p>
                      <a:pPr algn="r" fontAlgn="ctr"/>
                      <a:r>
                        <a:rPr lang="en-US" sz="1000" b="1" u="none" strike="noStrike">
                          <a:solidFill>
                            <a:srgbClr val="FFFFFF"/>
                          </a:solidFill>
                          <a:effectLst/>
                        </a:rPr>
                        <a:t> Tự doanh</a:t>
                      </a:r>
                      <a:endParaRPr lang="en-US" sz="1000" b="1" i="0" u="none" strike="noStrike" dirty="0">
                        <a:solidFill>
                          <a:srgbClr val="FFFFFF"/>
                        </a:solidFill>
                        <a:effectLst/>
                        <a:latin typeface="Calibri" panose="020F0502020204030204" pitchFamily="34" charset="0"/>
                      </a:endParaRPr>
                    </a:p>
                  </a:txBody>
                  <a:tcPr marL="18000" marR="9525" marT="18000" marB="0" anchor="ctr"/>
                </a:tc>
                <a:extLst>
                  <a:ext uri="{0D108BD9-81ED-4DB2-BD59-A6C34878D82A}">
                    <a16:rowId xmlns:a16="http://schemas.microsoft.com/office/drawing/2014/main" val="4153642203"/>
                  </a:ext>
                </a:extLst>
              </a:tr>
              <a:tr h="158628">
                <a:tc>
                  <a:txBody>
                    <a:bodyPr/>
                    <a:lstStyle/>
                    <a:p>
                      <a:pPr algn="l" fontAlgn="ctr"/>
                      <a:r>
                        <a:rPr lang="en-US" sz="1100" b="0" i="0" u="none" strike="noStrike">
                          <a:solidFill>
                            <a:srgbClr val="000000"/>
                          </a:solidFill>
                          <a:effectLst/>
                          <a:latin typeface="Calibri" panose="020F0502020204030204" pitchFamily="34" charset="0"/>
                        </a:rPr>
                        <a:t>POW</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13.600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-133.837.690.000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8,32%</a:t>
                      </a:r>
                    </a:p>
                  </a:txBody>
                  <a:tcPr marL="9525" marR="9525" marT="9525" marB="0" anchor="ctr"/>
                </a:tc>
                <a:extLst>
                  <a:ext uri="{0D108BD9-81ED-4DB2-BD59-A6C34878D82A}">
                    <a16:rowId xmlns:a16="http://schemas.microsoft.com/office/drawing/2014/main" val="1830539495"/>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-115.044.020.000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3,97%</a:t>
                      </a:r>
                    </a:p>
                  </a:txBody>
                  <a:tcPr marL="9525" marR="9525" marT="9525" marB="0" anchor="ctr"/>
                </a:tc>
                <a:extLst>
                  <a:ext uri="{0D108BD9-81ED-4DB2-BD59-A6C34878D82A}">
                    <a16:rowId xmlns:a16="http://schemas.microsoft.com/office/drawing/2014/main" val="3252662491"/>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-79.504.650.000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9,96%</a:t>
                      </a:r>
                    </a:p>
                  </a:txBody>
                  <a:tcPr marL="9525" marR="9525" marT="9525" marB="0" anchor="ctr"/>
                </a:tc>
                <a:extLst>
                  <a:ext uri="{0D108BD9-81ED-4DB2-BD59-A6C34878D82A}">
                    <a16:rowId xmlns:a16="http://schemas.microsoft.com/office/drawing/2014/main" val="3933181617"/>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-78.434.940.000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12,89%</a:t>
                      </a:r>
                    </a:p>
                  </a:txBody>
                  <a:tcPr marL="9525" marR="9525" marT="9525" marB="0" anchor="ctr"/>
                </a:tc>
                <a:extLst>
                  <a:ext uri="{0D108BD9-81ED-4DB2-BD59-A6C34878D82A}">
                    <a16:rowId xmlns:a16="http://schemas.microsoft.com/office/drawing/2014/main" val="244560680"/>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-71.242.630.000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9,85%</a:t>
                      </a:r>
                    </a:p>
                  </a:txBody>
                  <a:tcPr marL="9525" marR="9525" marT="9525" marB="0" anchor="ctr"/>
                </a:tc>
                <a:extLst>
                  <a:ext uri="{0D108BD9-81ED-4DB2-BD59-A6C34878D82A}">
                    <a16:rowId xmlns:a16="http://schemas.microsoft.com/office/drawing/2014/main" val="2635700921"/>
                  </a:ext>
                </a:extLst>
              </a:tr>
              <a:tr h="190500">
                <a:tc>
                  <a:txBody>
                    <a:bodyPr/>
                    <a:lstStyle/>
                    <a:p>
                      <a:pPr algn="l" fontAlgn="ctr"/>
                      <a:r>
                        <a:rPr lang="en-US" sz="1100" b="0" i="0" u="none" strike="noStrike">
                          <a:solidFill>
                            <a:srgbClr val="000000"/>
                          </a:solidFill>
                          <a:effectLst/>
                          <a:latin typeface="Calibri" panose="020F0502020204030204" pitchFamily="34" charset="0"/>
                        </a:rPr>
                        <a:t>CTG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-51.252.425.000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9,73%</a:t>
                      </a:r>
                    </a:p>
                  </a:txBody>
                  <a:tcPr marL="9525" marR="9525" marT="9525" marB="0" anchor="ctr"/>
                </a:tc>
                <a:extLst>
                  <a:ext uri="{0D108BD9-81ED-4DB2-BD59-A6C34878D82A}">
                    <a16:rowId xmlns:a16="http://schemas.microsoft.com/office/drawing/2014/main" val="3348839886"/>
                  </a:ext>
                </a:extLst>
              </a:tr>
              <a:tr h="190500">
                <a:tc>
                  <a:txBody>
                    <a:bodyPr/>
                    <a:lstStyle/>
                    <a:p>
                      <a:pPr algn="l" fontAlgn="ctr"/>
                      <a:r>
                        <a:rPr lang="en-US" sz="1100" b="0" i="0" u="none" strike="noStrike">
                          <a:solidFill>
                            <a:srgbClr val="000000"/>
                          </a:solidFill>
                          <a:effectLst/>
                          <a:latin typeface="Calibri" panose="020F0502020204030204" pitchFamily="34" charset="0"/>
                        </a:rPr>
                        <a:t>VJC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125.000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-47.052.790.000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6,68%</a:t>
                      </a:r>
                    </a:p>
                  </a:txBody>
                  <a:tcPr marL="9525" marR="9525" marT="9525" marB="0" anchor="ctr"/>
                </a:tc>
                <a:extLst>
                  <a:ext uri="{0D108BD9-81ED-4DB2-BD59-A6C34878D82A}">
                    <a16:rowId xmlns:a16="http://schemas.microsoft.com/office/drawing/2014/main" val="2648804254"/>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-39.589.604.000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9,46%</a:t>
                      </a:r>
                    </a:p>
                  </a:txBody>
                  <a:tcPr marL="9525" marR="9525" marT="9525" marB="0" anchor="ctr"/>
                </a:tc>
                <a:extLst>
                  <a:ext uri="{0D108BD9-81ED-4DB2-BD59-A6C34878D82A}">
                    <a16:rowId xmlns:a16="http://schemas.microsoft.com/office/drawing/2014/main" val="1898481737"/>
                  </a:ext>
                </a:extLst>
              </a:tr>
              <a:tr h="190500">
                <a:tc>
                  <a:txBody>
                    <a:bodyPr/>
                    <a:lstStyle/>
                    <a:p>
                      <a:pPr algn="l" fontAlgn="ctr"/>
                      <a:r>
                        <a:rPr lang="en-US" sz="1100" b="0" i="0" u="none" strike="noStrike">
                          <a:solidFill>
                            <a:srgbClr val="000000"/>
                          </a:solidFill>
                          <a:effectLst/>
                          <a:latin typeface="Calibri" panose="020F0502020204030204" pitchFamily="34" charset="0"/>
                        </a:rPr>
                        <a:t>FUEVFVND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32.440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-38.107.090.000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36,40%</a:t>
                      </a:r>
                    </a:p>
                  </a:txBody>
                  <a:tcPr marL="9525" marR="9525" marT="9525" marB="0" anchor="ctr"/>
                </a:tc>
                <a:extLst>
                  <a:ext uri="{0D108BD9-81ED-4DB2-BD59-A6C34878D82A}">
                    <a16:rowId xmlns:a16="http://schemas.microsoft.com/office/drawing/2014/main" val="2496103962"/>
                  </a:ext>
                </a:extLst>
              </a:tr>
              <a:tr h="190500">
                <a:tc>
                  <a:txBody>
                    <a:bodyPr/>
                    <a:lstStyle/>
                    <a:p>
                      <a:pPr algn="l" fontAlgn="ctr"/>
                      <a:r>
                        <a:rPr lang="en-US" sz="1100" b="0" i="0" u="none" strike="noStrike">
                          <a:solidFill>
                            <a:srgbClr val="000000"/>
                          </a:solidFill>
                          <a:effectLst/>
                          <a:latin typeface="Calibri" panose="020F0502020204030204" pitchFamily="34" charset="0"/>
                        </a:rPr>
                        <a:t>E1VFVN30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33.700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-35.818.329.000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53,01%</a:t>
                      </a:r>
                    </a:p>
                  </a:txBody>
                  <a:tcPr marL="9525" marR="9525" marT="9525" marB="0" anchor="ctr"/>
                </a:tc>
                <a:extLst>
                  <a:ext uri="{0D108BD9-81ED-4DB2-BD59-A6C34878D82A}">
                    <a16:rowId xmlns:a16="http://schemas.microsoft.com/office/drawing/2014/main" val="2974253128"/>
                  </a:ext>
                </a:extLst>
              </a:tr>
            </a:tbl>
          </a:graphicData>
        </a:graphic>
      </p:graphicFrame>
      <p:graphicFrame>
        <p:nvGraphicFramePr>
          <p:cNvPr id="24" name="Table 23">
            <a:extLst>
              <a:ext uri="{FF2B5EF4-FFF2-40B4-BE49-F238E27FC236}">
                <a16:creationId xmlns:a16="http://schemas.microsoft.com/office/drawing/2014/main" id="{35F517E2-A8B1-49E1-9B1E-1D5C00CE0778}"/>
              </a:ext>
            </a:extLst>
          </p:cNvPr>
          <p:cNvGraphicFramePr>
            <a:graphicFrameLocks noGrp="1"/>
          </p:cNvGraphicFramePr>
          <p:nvPr>
            <p:extLst>
              <p:ext uri="{D42A27DB-BD31-4B8C-83A1-F6EECF244321}">
                <p14:modId xmlns:p14="http://schemas.microsoft.com/office/powerpoint/2010/main" val="2611736124"/>
              </p:ext>
            </p:extLst>
          </p:nvPr>
        </p:nvGraphicFramePr>
        <p:xfrm>
          <a:off x="6082353" y="1929390"/>
          <a:ext cx="4729594" cy="2247470"/>
        </p:xfrm>
        <a:graphic>
          <a:graphicData uri="http://schemas.openxmlformats.org/drawingml/2006/table">
            <a:tbl>
              <a:tblPr firstRow="1" bandRow="1">
                <a:tableStyleId>{B301B821-A1FF-4177-AEE7-76D212191A09}</a:tableStyleId>
              </a:tblPr>
              <a:tblGrid>
                <a:gridCol w="937189">
                  <a:extLst>
                    <a:ext uri="{9D8B030D-6E8A-4147-A177-3AD203B41FA5}">
                      <a16:colId xmlns:a16="http://schemas.microsoft.com/office/drawing/2014/main" val="682583455"/>
                    </a:ext>
                  </a:extLst>
                </a:gridCol>
                <a:gridCol w="880217">
                  <a:extLst>
                    <a:ext uri="{9D8B030D-6E8A-4147-A177-3AD203B41FA5}">
                      <a16:colId xmlns:a16="http://schemas.microsoft.com/office/drawing/2014/main" val="1140088890"/>
                    </a:ext>
                  </a:extLst>
                </a:gridCol>
                <a:gridCol w="1418601">
                  <a:extLst>
                    <a:ext uri="{9D8B030D-6E8A-4147-A177-3AD203B41FA5}">
                      <a16:colId xmlns:a16="http://schemas.microsoft.com/office/drawing/2014/main" val="3285455083"/>
                    </a:ext>
                  </a:extLst>
                </a:gridCol>
                <a:gridCol w="1493587">
                  <a:extLst>
                    <a:ext uri="{9D8B030D-6E8A-4147-A177-3AD203B41FA5}">
                      <a16:colId xmlns:a16="http://schemas.microsoft.com/office/drawing/2014/main" val="2755322544"/>
                    </a:ext>
                  </a:extLst>
                </a:gridCol>
              </a:tblGrid>
              <a:tr h="317571">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err="1">
                          <a:solidFill>
                            <a:srgbClr val="FFFFFF"/>
                          </a:solidFill>
                          <a:effectLst/>
                        </a:rPr>
                        <a:t>Mua</a:t>
                      </a:r>
                      <a:r>
                        <a:rPr lang="en-US" sz="1000" b="1" u="none" strike="noStrike" dirty="0">
                          <a:solidFill>
                            <a:srgbClr val="FFFFFF"/>
                          </a:solidFill>
                          <a:effectLst/>
                        </a:rPr>
                        <a:t>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18000" marR="0" marT="18000" marB="0" anchor="ctr"/>
                </a:tc>
                <a:tc>
                  <a:txBody>
                    <a:bodyPr/>
                    <a:lstStyle/>
                    <a:p>
                      <a:pPr algn="r" fontAlgn="ctr"/>
                      <a:r>
                        <a:rPr lang="en-US" sz="1000" b="1" u="none" strike="noStrike" dirty="0">
                          <a:solidFill>
                            <a:srgbClr val="FFFFFF"/>
                          </a:solidFill>
                          <a:effectLst/>
                        </a:rPr>
                        <a:t>Tỷ </a:t>
                      </a:r>
                      <a:r>
                        <a:rPr lang="en-US" sz="1000" b="1" u="none" strike="noStrike" dirty="0" err="1">
                          <a:solidFill>
                            <a:srgbClr val="FFFFFF"/>
                          </a:solidFill>
                          <a:effectLst/>
                        </a:rPr>
                        <a:t>trọng</a:t>
                      </a:r>
                      <a:r>
                        <a:rPr lang="en-US" sz="1000" b="1" u="none" strike="noStrike" dirty="0">
                          <a:solidFill>
                            <a:srgbClr val="FFFFFF"/>
                          </a:solidFill>
                          <a:effectLst/>
                        </a:rPr>
                        <a:t> </a:t>
                      </a:r>
                      <a:r>
                        <a:rPr lang="en-US" sz="1000" b="1" u="none" strike="noStrike" dirty="0" err="1">
                          <a:solidFill>
                            <a:srgbClr val="FFFFFF"/>
                          </a:solidFill>
                          <a:effectLst/>
                        </a:rPr>
                        <a:t>mua</a:t>
                      </a:r>
                      <a:r>
                        <a:rPr lang="en-US" sz="1000" b="1" u="none" strike="noStrike" dirty="0">
                          <a:solidFill>
                            <a:srgbClr val="FFFFFF"/>
                          </a:solidFill>
                          <a:effectLst/>
                        </a:rPr>
                        <a:t> của </a:t>
                      </a:r>
                      <a:r>
                        <a:rPr lang="en-US" sz="1000" b="1" u="none" strike="noStrike" dirty="0" err="1">
                          <a:solidFill>
                            <a:srgbClr val="FFFFFF"/>
                          </a:solidFill>
                          <a:effectLst/>
                        </a:rPr>
                        <a:t>Khối</a:t>
                      </a:r>
                      <a:endParaRPr lang="en-US" sz="1000" b="1" u="none" strike="noStrike" dirty="0">
                        <a:solidFill>
                          <a:srgbClr val="FFFFFF"/>
                        </a:solidFill>
                        <a:effectLst/>
                      </a:endParaRPr>
                    </a:p>
                    <a:p>
                      <a:pPr algn="r" fontAlgn="ctr"/>
                      <a:r>
                        <a:rPr lang="en-US" sz="1000" b="1" u="none" strike="noStrike" dirty="0">
                          <a:solidFill>
                            <a:srgbClr val="FFFFFF"/>
                          </a:solidFill>
                          <a:effectLst/>
                        </a:rPr>
                        <a:t> </a:t>
                      </a:r>
                      <a:r>
                        <a:rPr lang="en-US" sz="1000" b="1" u="none" strike="noStrike" dirty="0" err="1">
                          <a:solidFill>
                            <a:srgbClr val="FFFFFF"/>
                          </a:solidFill>
                          <a:effectLst/>
                        </a:rPr>
                        <a:t>Tự</a:t>
                      </a:r>
                      <a:r>
                        <a:rPr lang="en-US" sz="1000" b="1" u="none" strike="noStrike" dirty="0">
                          <a:solidFill>
                            <a:srgbClr val="FFFFFF"/>
                          </a:solidFill>
                          <a:effectLst/>
                        </a:rPr>
                        <a:t> doanh</a:t>
                      </a:r>
                      <a:endParaRPr lang="en-US" sz="1000" b="1" i="0" u="none" strike="noStrike" dirty="0">
                        <a:solidFill>
                          <a:srgbClr val="FFFFFF"/>
                        </a:solidFill>
                        <a:effectLst/>
                        <a:latin typeface="Calibri" panose="020F0502020204030204" pitchFamily="34" charset="0"/>
                      </a:endParaRPr>
                    </a:p>
                  </a:txBody>
                  <a:tcPr marL="18000" marR="0" marT="18000" marB="0" anchor="ctr"/>
                </a:tc>
                <a:extLst>
                  <a:ext uri="{0D108BD9-81ED-4DB2-BD59-A6C34878D82A}">
                    <a16:rowId xmlns:a16="http://schemas.microsoft.com/office/drawing/2014/main" val="901127028"/>
                  </a:ext>
                </a:extLst>
              </a:tr>
              <a:tr h="192467">
                <a:tc>
                  <a:txBody>
                    <a:bodyPr/>
                    <a:lstStyle/>
                    <a:p>
                      <a:pPr algn="l" fontAlgn="ctr"/>
                      <a:r>
                        <a:rPr lang="en-US" sz="1100" b="0" i="0" u="none" strike="noStrike">
                          <a:solidFill>
                            <a:srgbClr val="000000"/>
                          </a:solidFill>
                          <a:effectLst/>
                          <a:latin typeface="Calibri" panose="020F0502020204030204" pitchFamily="34" charset="0"/>
                        </a:rPr>
                        <a:t>VPX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577.171.900.000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45,55%</a:t>
                      </a:r>
                    </a:p>
                  </a:txBody>
                  <a:tcPr marL="9525" marR="9525" marT="9525" marB="0" anchor="ctr"/>
                </a:tc>
                <a:extLst>
                  <a:ext uri="{0D108BD9-81ED-4DB2-BD59-A6C34878D82A}">
                    <a16:rowId xmlns:a16="http://schemas.microsoft.com/office/drawing/2014/main" val="2098757191"/>
                  </a:ext>
                </a:extLst>
              </a:tr>
              <a:tr h="192467">
                <a:tc>
                  <a:txBody>
                    <a:bodyPr/>
                    <a:lstStyle/>
                    <a:p>
                      <a:pPr algn="l" fontAlgn="ctr"/>
                      <a:r>
                        <a:rPr lang="en-US" sz="1100" b="0" i="0" u="none" strike="noStrike">
                          <a:solidFill>
                            <a:srgbClr val="000000"/>
                          </a:solidFill>
                          <a:effectLst/>
                          <a:latin typeface="Calibri" panose="020F0502020204030204" pitchFamily="34" charset="0"/>
                        </a:rPr>
                        <a:t>GMD</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77.000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110.050.100.000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12,27%</a:t>
                      </a:r>
                    </a:p>
                  </a:txBody>
                  <a:tcPr marL="9525" marR="9525" marT="9525" marB="0" anchor="ctr"/>
                </a:tc>
                <a:extLst>
                  <a:ext uri="{0D108BD9-81ED-4DB2-BD59-A6C34878D82A}">
                    <a16:rowId xmlns:a16="http://schemas.microsoft.com/office/drawing/2014/main" val="2688216377"/>
                  </a:ext>
                </a:extLst>
              </a:tr>
              <a:tr h="192467">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56.268.401.000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a:t>
                      </a:r>
                    </a:p>
                  </a:txBody>
                  <a:tcPr marL="9525" marR="9525" marT="9525" marB="0" anchor="ctr"/>
                </a:tc>
                <a:extLst>
                  <a:ext uri="{0D108BD9-81ED-4DB2-BD59-A6C34878D82A}">
                    <a16:rowId xmlns:a16="http://schemas.microsoft.com/office/drawing/2014/main" val="370757996"/>
                  </a:ext>
                </a:extLst>
              </a:tr>
              <a:tr h="19246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49.617.640.000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2,80%</a:t>
                      </a:r>
                    </a:p>
                  </a:txBody>
                  <a:tcPr marL="9525" marR="9525" marT="9525" marB="0" anchor="ctr"/>
                </a:tc>
                <a:extLst>
                  <a:ext uri="{0D108BD9-81ED-4DB2-BD59-A6C34878D82A}">
                    <a16:rowId xmlns:a16="http://schemas.microsoft.com/office/drawing/2014/main" val="1912016339"/>
                  </a:ext>
                </a:extLst>
              </a:tr>
              <a:tr h="192467">
                <a:tc>
                  <a:txBody>
                    <a:bodyPr/>
                    <a:lstStyle/>
                    <a:p>
                      <a:pPr algn="l" fontAlgn="ctr"/>
                      <a:r>
                        <a:rPr lang="en-US" sz="1100" b="0" i="0" u="none" strike="noStrike">
                          <a:solidFill>
                            <a:srgbClr val="000000"/>
                          </a:solidFill>
                          <a:effectLst/>
                          <a:latin typeface="Calibri" panose="020F0502020204030204" pitchFamily="34" charset="0"/>
                        </a:rPr>
                        <a:t>REE</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46.500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38.159.400.000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14,75%</a:t>
                      </a:r>
                    </a:p>
                  </a:txBody>
                  <a:tcPr marL="9525" marR="9525" marT="9525" marB="0" anchor="ctr"/>
                </a:tc>
                <a:extLst>
                  <a:ext uri="{0D108BD9-81ED-4DB2-BD59-A6C34878D82A}">
                    <a16:rowId xmlns:a16="http://schemas.microsoft.com/office/drawing/2014/main" val="1871833493"/>
                  </a:ext>
                </a:extLst>
              </a:tr>
              <a:tr h="192467">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33.983.990.000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8,54%</a:t>
                      </a:r>
                    </a:p>
                  </a:txBody>
                  <a:tcPr marL="9525" marR="9525" marT="9525" marB="0" anchor="ctr"/>
                </a:tc>
                <a:extLst>
                  <a:ext uri="{0D108BD9-81ED-4DB2-BD59-A6C34878D82A}">
                    <a16:rowId xmlns:a16="http://schemas.microsoft.com/office/drawing/2014/main" val="83566206"/>
                  </a:ext>
                </a:extLst>
              </a:tr>
              <a:tr h="192467">
                <a:tc>
                  <a:txBody>
                    <a:bodyPr/>
                    <a:lstStyle/>
                    <a:p>
                      <a:pPr algn="l" fontAlgn="ctr"/>
                      <a:r>
                        <a:rPr lang="en-US" sz="1100" b="0" i="0" u="none" strike="noStrike">
                          <a:solidFill>
                            <a:srgbClr val="000000"/>
                          </a:solidFill>
                          <a:effectLst/>
                          <a:latin typeface="Calibri" panose="020F0502020204030204" pitchFamily="34" charset="0"/>
                        </a:rPr>
                        <a:t>NLG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32.946.787.000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6,39%</a:t>
                      </a:r>
                    </a:p>
                  </a:txBody>
                  <a:tcPr marL="9525" marR="9525" marT="9525" marB="0" anchor="ctr"/>
                </a:tc>
                <a:extLst>
                  <a:ext uri="{0D108BD9-81ED-4DB2-BD59-A6C34878D82A}">
                    <a16:rowId xmlns:a16="http://schemas.microsoft.com/office/drawing/2014/main" val="3372218016"/>
                  </a:ext>
                </a:extLst>
              </a:tr>
              <a:tr h="192467">
                <a:tc>
                  <a:txBody>
                    <a:bodyPr/>
                    <a:lstStyle/>
                    <a:p>
                      <a:pPr algn="l" fontAlgn="ctr"/>
                      <a:r>
                        <a:rPr lang="en-US" sz="1100" b="0" i="0" u="none" strike="noStrike">
                          <a:solidFill>
                            <a:srgbClr val="000000"/>
                          </a:solidFill>
                          <a:effectLst/>
                          <a:latin typeface="Calibri" panose="020F0502020204030204" pitchFamily="34" charset="0"/>
                        </a:rPr>
                        <a:t>FUEMAV30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23.190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27.172.518.000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49,98%</a:t>
                      </a:r>
                    </a:p>
                  </a:txBody>
                  <a:tcPr marL="9525" marR="9525" marT="9525" marB="0" anchor="ctr"/>
                </a:tc>
                <a:extLst>
                  <a:ext uri="{0D108BD9-81ED-4DB2-BD59-A6C34878D82A}">
                    <a16:rowId xmlns:a16="http://schemas.microsoft.com/office/drawing/2014/main" val="2628515178"/>
                  </a:ext>
                </a:extLst>
              </a:tr>
              <a:tr h="192467">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21.850.054.000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15,60%</a:t>
                      </a:r>
                    </a:p>
                  </a:txBody>
                  <a:tcPr marL="9525" marR="9525" marT="9525" marB="0" anchor="ctr"/>
                </a:tc>
                <a:extLst>
                  <a:ext uri="{0D108BD9-81ED-4DB2-BD59-A6C34878D82A}">
                    <a16:rowId xmlns:a16="http://schemas.microsoft.com/office/drawing/2014/main" val="686965531"/>
                  </a:ext>
                </a:extLst>
              </a:tr>
              <a:tr h="192467">
                <a:tc>
                  <a:txBody>
                    <a:bodyPr/>
                    <a:lstStyle/>
                    <a:p>
                      <a:pPr algn="l" fontAlgn="ctr"/>
                      <a:r>
                        <a:rPr lang="en-US" sz="1100" b="0" i="0" u="none" strike="noStrike">
                          <a:solidFill>
                            <a:srgbClr val="000000"/>
                          </a:solidFill>
                          <a:effectLst/>
                          <a:latin typeface="Calibri" panose="020F0502020204030204" pitchFamily="34" charset="0"/>
                        </a:rPr>
                        <a:t>TCX</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19.679.225.000</a:t>
                      </a:r>
                    </a:p>
                  </a:txBody>
                  <a:tcPr marL="9525" marR="9525" marT="9525" marB="0" anchor="ctr"/>
                </a:tc>
                <a:tc>
                  <a:txBody>
                    <a:bodyPr/>
                    <a:lstStyle/>
                    <a:p>
                      <a:pPr algn="r" fontAlgn="ctr"/>
                      <a:r>
                        <a:rPr lang="en-VN" sz="1100" b="0" i="0" u="none" strike="noStrike" dirty="0">
                          <a:solidFill>
                            <a:srgbClr val="000000"/>
                          </a:solidFill>
                          <a:effectLst/>
                          <a:latin typeface="Calibri" panose="020F0502020204030204" pitchFamily="34" charset="0"/>
                        </a:rPr>
                        <a:t>3,74%</a:t>
                      </a:r>
                    </a:p>
                  </a:txBody>
                  <a:tcPr marL="9525" marR="9525" marT="9525" marB="0" anchor="ctr"/>
                </a:tc>
                <a:extLst>
                  <a:ext uri="{0D108BD9-81ED-4DB2-BD59-A6C34878D82A}">
                    <a16:rowId xmlns:a16="http://schemas.microsoft.com/office/drawing/2014/main" val="3140895381"/>
                  </a:ext>
                </a:extLst>
              </a:tr>
            </a:tbl>
          </a:graphicData>
        </a:graphic>
      </p:graphicFrame>
      <p:graphicFrame>
        <p:nvGraphicFramePr>
          <p:cNvPr id="25" name="Table 24">
            <a:extLst>
              <a:ext uri="{FF2B5EF4-FFF2-40B4-BE49-F238E27FC236}">
                <a16:creationId xmlns:a16="http://schemas.microsoft.com/office/drawing/2014/main" id="{F8EC5B45-3871-449D-AA94-FF528E886F38}"/>
              </a:ext>
            </a:extLst>
          </p:cNvPr>
          <p:cNvGraphicFramePr>
            <a:graphicFrameLocks noGrp="1"/>
          </p:cNvGraphicFramePr>
          <p:nvPr>
            <p:extLst>
              <p:ext uri="{D42A27DB-BD31-4B8C-83A1-F6EECF244321}">
                <p14:modId xmlns:p14="http://schemas.microsoft.com/office/powerpoint/2010/main" val="1967364167"/>
              </p:ext>
            </p:extLst>
          </p:nvPr>
        </p:nvGraphicFramePr>
        <p:xfrm>
          <a:off x="6096000" y="4625975"/>
          <a:ext cx="4729594" cy="2095500"/>
        </p:xfrm>
        <a:graphic>
          <a:graphicData uri="http://schemas.openxmlformats.org/drawingml/2006/table">
            <a:tbl>
              <a:tblPr firstRow="1" bandRow="1">
                <a:tableStyleId>{B301B821-A1FF-4177-AEE7-76D212191A09}</a:tableStyleId>
              </a:tblPr>
              <a:tblGrid>
                <a:gridCol w="791322">
                  <a:extLst>
                    <a:ext uri="{9D8B030D-6E8A-4147-A177-3AD203B41FA5}">
                      <a16:colId xmlns:a16="http://schemas.microsoft.com/office/drawing/2014/main" val="263410430"/>
                    </a:ext>
                  </a:extLst>
                </a:gridCol>
                <a:gridCol w="968188">
                  <a:extLst>
                    <a:ext uri="{9D8B030D-6E8A-4147-A177-3AD203B41FA5}">
                      <a16:colId xmlns:a16="http://schemas.microsoft.com/office/drawing/2014/main" val="1620157925"/>
                    </a:ext>
                  </a:extLst>
                </a:gridCol>
                <a:gridCol w="1457302">
                  <a:extLst>
                    <a:ext uri="{9D8B030D-6E8A-4147-A177-3AD203B41FA5}">
                      <a16:colId xmlns:a16="http://schemas.microsoft.com/office/drawing/2014/main" val="4010576076"/>
                    </a:ext>
                  </a:extLst>
                </a:gridCol>
                <a:gridCol w="1512782">
                  <a:extLst>
                    <a:ext uri="{9D8B030D-6E8A-4147-A177-3AD203B41FA5}">
                      <a16:colId xmlns:a16="http://schemas.microsoft.com/office/drawing/2014/main" val="2122668605"/>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i="0" u="none" strike="noStrike" dirty="0">
                          <a:solidFill>
                            <a:srgbClr val="FFFFFF"/>
                          </a:solidFill>
                          <a:effectLst/>
                          <a:latin typeface="Calibri" panose="020F0502020204030204" pitchFamily="34" charset="0"/>
                        </a:rPr>
                        <a:t>Mua </a:t>
                      </a:r>
                      <a:r>
                        <a:rPr lang="en-US" sz="1000" b="1" i="0" u="none" strike="noStrike" dirty="0" err="1">
                          <a:solidFill>
                            <a:srgbClr val="FFFFFF"/>
                          </a:solidFill>
                          <a:effectLst/>
                          <a:latin typeface="Calibri" panose="020F0502020204030204" pitchFamily="34" charset="0"/>
                        </a:rPr>
                        <a:t>ròng</a:t>
                      </a:r>
                      <a:r>
                        <a:rPr lang="en-US" sz="1000" b="1" i="0" u="none" strike="noStrike" dirty="0">
                          <a:solidFill>
                            <a:srgbClr val="FFFFFF"/>
                          </a:solidFill>
                          <a:effectLst/>
                          <a:latin typeface="Calibri" panose="020F0502020204030204" pitchFamily="34" charset="0"/>
                        </a:rPr>
                        <a:t> (GT)</a:t>
                      </a: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791457121"/>
                  </a:ext>
                </a:extLst>
              </a:tr>
              <a:tr h="190500">
                <a:tc>
                  <a:txBody>
                    <a:bodyPr/>
                    <a:lstStyle/>
                    <a:p>
                      <a:pPr algn="l" fontAlgn="ctr"/>
                      <a:r>
                        <a:rPr lang="en-US" sz="1100" b="0" i="0" u="none" strike="noStrike">
                          <a:solidFill>
                            <a:srgbClr val="000000"/>
                          </a:solidFill>
                          <a:effectLst/>
                          <a:latin typeface="Calibri" panose="020F0502020204030204" pitchFamily="34" charset="0"/>
                        </a:rPr>
                        <a:t>VIC</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214.100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453.206.561.200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3,16%</a:t>
                      </a:r>
                    </a:p>
                  </a:txBody>
                  <a:tcPr marL="9525" marR="9525" marT="9525" marB="0" anchor="ctr"/>
                </a:tc>
                <a:extLst>
                  <a:ext uri="{0D108BD9-81ED-4DB2-BD59-A6C34878D82A}">
                    <a16:rowId xmlns:a16="http://schemas.microsoft.com/office/drawing/2014/main" val="355010146"/>
                  </a:ext>
                </a:extLst>
              </a:tr>
              <a:tr h="190500">
                <a:tc>
                  <a:txBody>
                    <a:bodyPr/>
                    <a:lstStyle/>
                    <a:p>
                      <a:pPr algn="l" fontAlgn="ctr"/>
                      <a:r>
                        <a:rPr lang="en-US" sz="1100" b="0" i="0" u="none" strike="noStrike">
                          <a:solidFill>
                            <a:srgbClr val="000000"/>
                          </a:solidFill>
                          <a:effectLst/>
                          <a:latin typeface="Calibri" panose="020F0502020204030204" pitchFamily="34" charset="0"/>
                        </a:rPr>
                        <a:t>VNM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60.900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360.929.511.400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49,48%</a:t>
                      </a:r>
                    </a:p>
                  </a:txBody>
                  <a:tcPr marL="9525" marR="9525" marT="9525" marB="0" anchor="ctr"/>
                </a:tc>
                <a:extLst>
                  <a:ext uri="{0D108BD9-81ED-4DB2-BD59-A6C34878D82A}">
                    <a16:rowId xmlns:a16="http://schemas.microsoft.com/office/drawing/2014/main" val="3773070796"/>
                  </a:ext>
                </a:extLst>
              </a:tr>
              <a:tr h="190500">
                <a:tc>
                  <a:txBody>
                    <a:bodyPr/>
                    <a:lstStyle/>
                    <a:p>
                      <a:pPr algn="l" fontAlgn="ctr"/>
                      <a:r>
                        <a:rPr lang="en-US" sz="1100" b="0" i="0" u="none" strike="noStrike">
                          <a:solidFill>
                            <a:srgbClr val="000000"/>
                          </a:solidFill>
                          <a:effectLst/>
                          <a:latin typeface="Calibri" panose="020F0502020204030204" pitchFamily="34" charset="0"/>
                        </a:rPr>
                        <a:t>HPG</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334.575.454.150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21,55%</a:t>
                      </a:r>
                    </a:p>
                  </a:txBody>
                  <a:tcPr marL="9525" marR="9525" marT="9525" marB="0" anchor="ctr"/>
                </a:tc>
                <a:extLst>
                  <a:ext uri="{0D108BD9-81ED-4DB2-BD59-A6C34878D82A}">
                    <a16:rowId xmlns:a16="http://schemas.microsoft.com/office/drawing/2014/main" val="1137231984"/>
                  </a:ext>
                </a:extLst>
              </a:tr>
              <a:tr h="190500">
                <a:tc>
                  <a:txBody>
                    <a:bodyPr/>
                    <a:lstStyle/>
                    <a:p>
                      <a:pPr algn="l" fontAlgn="ctr"/>
                      <a:r>
                        <a:rPr lang="en-US" sz="1100" b="0" i="0" u="none" strike="noStrike">
                          <a:solidFill>
                            <a:srgbClr val="000000"/>
                          </a:solidFill>
                          <a:effectLst/>
                          <a:latin typeface="Calibri" panose="020F0502020204030204" pitchFamily="34" charset="0"/>
                        </a:rPr>
                        <a:t>FPT</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308.275.896.900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27,06%</a:t>
                      </a:r>
                    </a:p>
                  </a:txBody>
                  <a:tcPr marL="9525" marR="9525" marT="9525" marB="0" anchor="ctr"/>
                </a:tc>
                <a:extLst>
                  <a:ext uri="{0D108BD9-81ED-4DB2-BD59-A6C34878D82A}">
                    <a16:rowId xmlns:a16="http://schemas.microsoft.com/office/drawing/2014/main" val="2616671248"/>
                  </a:ext>
                </a:extLst>
              </a:tr>
              <a:tr h="190500">
                <a:tc>
                  <a:txBody>
                    <a:bodyPr/>
                    <a:lstStyle/>
                    <a:p>
                      <a:pPr algn="l" fontAlgn="ctr"/>
                      <a:r>
                        <a:rPr lang="en-US" sz="1100" b="0" i="0" u="none" strike="noStrike">
                          <a:solidFill>
                            <a:srgbClr val="000000"/>
                          </a:solidFill>
                          <a:effectLst/>
                          <a:latin typeface="Calibri" panose="020F0502020204030204" pitchFamily="34" charset="0"/>
                        </a:rPr>
                        <a:t>VCB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59.300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262.715.524.800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20,06%</a:t>
                      </a:r>
                    </a:p>
                  </a:txBody>
                  <a:tcPr marL="9525" marR="9525" marT="9525" marB="0" anchor="ctr"/>
                </a:tc>
                <a:extLst>
                  <a:ext uri="{0D108BD9-81ED-4DB2-BD59-A6C34878D82A}">
                    <a16:rowId xmlns:a16="http://schemas.microsoft.com/office/drawing/2014/main" val="4049652463"/>
                  </a:ext>
                </a:extLst>
              </a:tr>
              <a:tr h="190500">
                <a:tc>
                  <a:txBody>
                    <a:bodyPr/>
                    <a:lstStyle/>
                    <a:p>
                      <a:pPr algn="l" fontAlgn="ctr"/>
                      <a:r>
                        <a:rPr lang="en-US" sz="1100" b="0" i="0" u="none" strike="noStrike">
                          <a:solidFill>
                            <a:srgbClr val="000000"/>
                          </a:solidFill>
                          <a:effectLst/>
                          <a:latin typeface="Calibri" panose="020F0502020204030204" pitchFamily="34" charset="0"/>
                        </a:rPr>
                        <a:t>MSN</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66.100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253.465.305.100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24,10%</a:t>
                      </a:r>
                    </a:p>
                  </a:txBody>
                  <a:tcPr marL="9525" marR="9525" marT="9525" marB="0" anchor="ctr"/>
                </a:tc>
                <a:extLst>
                  <a:ext uri="{0D108BD9-81ED-4DB2-BD59-A6C34878D82A}">
                    <a16:rowId xmlns:a16="http://schemas.microsoft.com/office/drawing/2014/main" val="2745756713"/>
                  </a:ext>
                </a:extLst>
              </a:tr>
              <a:tr h="190500">
                <a:tc>
                  <a:txBody>
                    <a:bodyPr/>
                    <a:lstStyle/>
                    <a:p>
                      <a:pPr algn="l" fontAlgn="ctr"/>
                      <a:r>
                        <a:rPr lang="en-US" sz="1100" b="0" i="0" u="none" strike="noStrike">
                          <a:solidFill>
                            <a:srgbClr val="000000"/>
                          </a:solidFill>
                          <a:effectLst/>
                          <a:latin typeface="Calibri" panose="020F0502020204030204" pitchFamily="34" charset="0"/>
                        </a:rPr>
                        <a:t>PNJ</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249.209.847.100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42,64%</a:t>
                      </a:r>
                    </a:p>
                  </a:txBody>
                  <a:tcPr marL="9525" marR="9525" marT="9525" marB="0" anchor="ctr"/>
                </a:tc>
                <a:extLst>
                  <a:ext uri="{0D108BD9-81ED-4DB2-BD59-A6C34878D82A}">
                    <a16:rowId xmlns:a16="http://schemas.microsoft.com/office/drawing/2014/main" val="2443298820"/>
                  </a:ext>
                </a:extLst>
              </a:tr>
              <a:tr h="190500">
                <a:tc>
                  <a:txBody>
                    <a:bodyPr/>
                    <a:lstStyle/>
                    <a:p>
                      <a:pPr algn="l" fontAlgn="ctr"/>
                      <a:r>
                        <a:rPr lang="en-US" sz="1100" b="0" i="0" u="none" strike="noStrike">
                          <a:solidFill>
                            <a:srgbClr val="000000"/>
                          </a:solidFill>
                          <a:effectLst/>
                          <a:latin typeface="Calibri" panose="020F0502020204030204" pitchFamily="34" charset="0"/>
                        </a:rPr>
                        <a:t>MCH</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141.000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168.397.080.500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15,57%</a:t>
                      </a:r>
                    </a:p>
                  </a:txBody>
                  <a:tcPr marL="9525" marR="9525" marT="9525" marB="0" anchor="ctr"/>
                </a:tc>
                <a:extLst>
                  <a:ext uri="{0D108BD9-81ED-4DB2-BD59-A6C34878D82A}">
                    <a16:rowId xmlns:a16="http://schemas.microsoft.com/office/drawing/2014/main" val="2718328760"/>
                  </a:ext>
                </a:extLst>
              </a:tr>
              <a:tr h="190500">
                <a:tc>
                  <a:txBody>
                    <a:bodyPr/>
                    <a:lstStyle/>
                    <a:p>
                      <a:pPr algn="l" fontAlgn="ctr"/>
                      <a:r>
                        <a:rPr lang="en-US" sz="1100" b="0" i="0" u="none" strike="noStrike">
                          <a:solidFill>
                            <a:srgbClr val="000000"/>
                          </a:solidFill>
                          <a:effectLst/>
                          <a:latin typeface="Calibri" panose="020F0502020204030204" pitchFamily="34" charset="0"/>
                        </a:rPr>
                        <a:t>LPB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167.693.860.000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1,24%</a:t>
                      </a:r>
                    </a:p>
                  </a:txBody>
                  <a:tcPr marL="9525" marR="9525" marT="9525" marB="0" anchor="ctr"/>
                </a:tc>
                <a:extLst>
                  <a:ext uri="{0D108BD9-81ED-4DB2-BD59-A6C34878D82A}">
                    <a16:rowId xmlns:a16="http://schemas.microsoft.com/office/drawing/2014/main" val="4080730015"/>
                  </a:ext>
                </a:extLst>
              </a:tr>
              <a:tr h="190500">
                <a:tc>
                  <a:txBody>
                    <a:bodyPr/>
                    <a:lstStyle/>
                    <a:p>
                      <a:pPr algn="l" fontAlgn="ctr"/>
                      <a:r>
                        <a:rPr lang="en-US" sz="1100" b="0" i="0" u="none" strike="noStrike">
                          <a:solidFill>
                            <a:srgbClr val="000000"/>
                          </a:solidFill>
                          <a:effectLst/>
                          <a:latin typeface="Calibri" panose="020F0502020204030204" pitchFamily="34" charset="0"/>
                        </a:rPr>
                        <a:t>BSR</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25.350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116.760.717.850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1,10%</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578613862"/>
                  </a:ext>
                </a:extLst>
              </a:tr>
            </a:tbl>
          </a:graphicData>
        </a:graphic>
      </p:graphicFrame>
      <p:graphicFrame>
        <p:nvGraphicFramePr>
          <p:cNvPr id="26" name="Table 25">
            <a:extLst>
              <a:ext uri="{FF2B5EF4-FFF2-40B4-BE49-F238E27FC236}">
                <a16:creationId xmlns:a16="http://schemas.microsoft.com/office/drawing/2014/main" id="{38D254E8-9BE5-4B20-AD2E-FE0C3AEEAAE0}"/>
              </a:ext>
            </a:extLst>
          </p:cNvPr>
          <p:cNvGraphicFramePr>
            <a:graphicFrameLocks noGrp="1"/>
          </p:cNvGraphicFramePr>
          <p:nvPr>
            <p:extLst>
              <p:ext uri="{D42A27DB-BD31-4B8C-83A1-F6EECF244321}">
                <p14:modId xmlns:p14="http://schemas.microsoft.com/office/powerpoint/2010/main" val="1263306767"/>
              </p:ext>
            </p:extLst>
          </p:nvPr>
        </p:nvGraphicFramePr>
        <p:xfrm>
          <a:off x="531172" y="4599948"/>
          <a:ext cx="4729594" cy="2121527"/>
        </p:xfrm>
        <a:graphic>
          <a:graphicData uri="http://schemas.openxmlformats.org/drawingml/2006/table">
            <a:tbl>
              <a:tblPr firstRow="1" bandRow="1">
                <a:tableStyleId>{B301B821-A1FF-4177-AEE7-76D212191A09}</a:tableStyleId>
              </a:tblPr>
              <a:tblGrid>
                <a:gridCol w="851647">
                  <a:extLst>
                    <a:ext uri="{9D8B030D-6E8A-4147-A177-3AD203B41FA5}">
                      <a16:colId xmlns:a16="http://schemas.microsoft.com/office/drawing/2014/main" val="1197368528"/>
                    </a:ext>
                  </a:extLst>
                </a:gridCol>
                <a:gridCol w="968188">
                  <a:extLst>
                    <a:ext uri="{9D8B030D-6E8A-4147-A177-3AD203B41FA5}">
                      <a16:colId xmlns:a16="http://schemas.microsoft.com/office/drawing/2014/main" val="3730308002"/>
                    </a:ext>
                  </a:extLst>
                </a:gridCol>
                <a:gridCol w="1395083">
                  <a:extLst>
                    <a:ext uri="{9D8B030D-6E8A-4147-A177-3AD203B41FA5}">
                      <a16:colId xmlns:a16="http://schemas.microsoft.com/office/drawing/2014/main" val="62363021"/>
                    </a:ext>
                  </a:extLst>
                </a:gridCol>
                <a:gridCol w="1514676">
                  <a:extLst>
                    <a:ext uri="{9D8B030D-6E8A-4147-A177-3AD203B41FA5}">
                      <a16:colId xmlns:a16="http://schemas.microsoft.com/office/drawing/2014/main" val="4121892183"/>
                    </a:ext>
                  </a:extLst>
                </a:gridCol>
              </a:tblGrid>
              <a:tr h="190500">
                <a:tc>
                  <a:txBody>
                    <a:bodyPr/>
                    <a:lstStyle/>
                    <a:p>
                      <a:pPr algn="l" fontAlgn="ctr"/>
                      <a:r>
                        <a:rPr lang="en-US" sz="1000" b="1" u="none" strike="noStrike" dirty="0" err="1">
                          <a:solidFill>
                            <a:srgbClr val="FFFFFF"/>
                          </a:solidFill>
                          <a:effectLst/>
                        </a:rPr>
                        <a:t>Mã</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err="1">
                          <a:solidFill>
                            <a:srgbClr val="FFFFFF"/>
                          </a:solidFill>
                          <a:effectLst/>
                        </a:rPr>
                        <a:t>Giá</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Bán </a:t>
                      </a:r>
                      <a:r>
                        <a:rPr lang="en-US" sz="1000" b="1" u="none" strike="noStrike" dirty="0" err="1">
                          <a:solidFill>
                            <a:srgbClr val="FFFFFF"/>
                          </a:solidFill>
                          <a:effectLst/>
                        </a:rPr>
                        <a:t>ròng</a:t>
                      </a:r>
                      <a:r>
                        <a:rPr lang="en-US" sz="1000" b="1" u="none" strike="noStrike" dirty="0">
                          <a:solidFill>
                            <a:srgbClr val="FFFFFF"/>
                          </a:solidFill>
                          <a:effectLst/>
                        </a:rPr>
                        <a:t> (GT)</a:t>
                      </a:r>
                      <a:endParaRPr lang="en-US" sz="1000" b="1" i="0" u="none" strike="noStrike" dirty="0">
                        <a:solidFill>
                          <a:srgbClr val="FFFFFF"/>
                        </a:solidFill>
                        <a:effectLst/>
                        <a:latin typeface="Calibri" panose="020F0502020204030204" pitchFamily="34" charset="0"/>
                      </a:endParaRPr>
                    </a:p>
                  </a:txBody>
                  <a:tcPr marL="9525" marR="9525" marT="9525" marB="0" anchor="ctr"/>
                </a:tc>
                <a:tc>
                  <a:txBody>
                    <a:bodyPr/>
                    <a:lstStyle/>
                    <a:p>
                      <a:pPr algn="r" fontAlgn="ctr"/>
                      <a:r>
                        <a:rPr lang="en-US" sz="1000" b="1" u="none" strike="noStrike" dirty="0">
                          <a:solidFill>
                            <a:srgbClr val="FFFFFF"/>
                          </a:solidFill>
                          <a:effectLst/>
                        </a:rPr>
                        <a:t>% NN </a:t>
                      </a:r>
                      <a:r>
                        <a:rPr lang="en-US" sz="1000" b="1" u="none" strike="noStrike" dirty="0" err="1">
                          <a:solidFill>
                            <a:srgbClr val="FFFFFF"/>
                          </a:solidFill>
                          <a:effectLst/>
                        </a:rPr>
                        <a:t>Sở</a:t>
                      </a:r>
                      <a:r>
                        <a:rPr lang="en-US" sz="1000" b="1" u="none" strike="noStrike" dirty="0">
                          <a:solidFill>
                            <a:srgbClr val="FFFFFF"/>
                          </a:solidFill>
                          <a:effectLst/>
                        </a:rPr>
                        <a:t> </a:t>
                      </a:r>
                      <a:r>
                        <a:rPr lang="en-US" sz="1000" b="1" u="none" strike="noStrike" dirty="0" err="1">
                          <a:solidFill>
                            <a:srgbClr val="FFFFFF"/>
                          </a:solidFill>
                          <a:effectLst/>
                        </a:rPr>
                        <a:t>hữu</a:t>
                      </a:r>
                      <a:endParaRPr lang="en-US" sz="1000" b="1" i="0" u="none" strike="noStrike" dirty="0">
                        <a:solidFill>
                          <a:srgbClr val="FFFFFF"/>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1648978472"/>
                  </a:ext>
                </a:extLst>
              </a:tr>
              <a:tr h="216527">
                <a:tc>
                  <a:txBody>
                    <a:bodyPr/>
                    <a:lstStyle/>
                    <a:p>
                      <a:pPr algn="l" fontAlgn="ctr"/>
                      <a:r>
                        <a:rPr lang="en-US" sz="1100" b="0" i="0" u="none" strike="noStrike">
                          <a:solidFill>
                            <a:srgbClr val="000000"/>
                          </a:solidFill>
                          <a:effectLst/>
                          <a:latin typeface="Calibri" panose="020F0502020204030204" pitchFamily="34" charset="0"/>
                        </a:rPr>
                        <a:t>VHM</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148.100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-3.445.478.678.100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6,93%</a:t>
                      </a:r>
                    </a:p>
                  </a:txBody>
                  <a:tcPr marL="9525" marR="9525" marT="9525" marB="0" anchor="ctr"/>
                </a:tc>
                <a:extLst>
                  <a:ext uri="{0D108BD9-81ED-4DB2-BD59-A6C34878D82A}">
                    <a16:rowId xmlns:a16="http://schemas.microsoft.com/office/drawing/2014/main" val="2742479542"/>
                  </a:ext>
                </a:extLst>
              </a:tr>
              <a:tr h="190500">
                <a:tc>
                  <a:txBody>
                    <a:bodyPr/>
                    <a:lstStyle/>
                    <a:p>
                      <a:pPr algn="l" fontAlgn="ctr"/>
                      <a:r>
                        <a:rPr lang="en-US" sz="1100" b="0" i="0" u="none" strike="noStrike">
                          <a:solidFill>
                            <a:srgbClr val="000000"/>
                          </a:solidFill>
                          <a:effectLst/>
                          <a:latin typeface="Calibri" panose="020F0502020204030204" pitchFamily="34" charset="0"/>
                        </a:rPr>
                        <a:t>TCB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28.950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-376.569.390.550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21,13%</a:t>
                      </a:r>
                    </a:p>
                  </a:txBody>
                  <a:tcPr marL="9525" marR="9525" marT="9525" marB="0" anchor="ctr"/>
                </a:tc>
                <a:extLst>
                  <a:ext uri="{0D108BD9-81ED-4DB2-BD59-A6C34878D82A}">
                    <a16:rowId xmlns:a16="http://schemas.microsoft.com/office/drawing/2014/main" val="2759843780"/>
                  </a:ext>
                </a:extLst>
              </a:tr>
              <a:tr h="190500">
                <a:tc>
                  <a:txBody>
                    <a:bodyPr/>
                    <a:lstStyle/>
                    <a:p>
                      <a:pPr algn="l" fontAlgn="ctr"/>
                      <a:r>
                        <a:rPr lang="en-US" sz="1100" b="0" i="0" u="none" strike="noStrike">
                          <a:solidFill>
                            <a:srgbClr val="000000"/>
                          </a:solidFill>
                          <a:effectLst/>
                          <a:latin typeface="Calibri" panose="020F0502020204030204" pitchFamily="34" charset="0"/>
                        </a:rPr>
                        <a:t>VPB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24.800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-278.784.238.950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23,35%</a:t>
                      </a:r>
                    </a:p>
                  </a:txBody>
                  <a:tcPr marL="9525" marR="9525" marT="9525" marB="0" anchor="ctr"/>
                </a:tc>
                <a:extLst>
                  <a:ext uri="{0D108BD9-81ED-4DB2-BD59-A6C34878D82A}">
                    <a16:rowId xmlns:a16="http://schemas.microsoft.com/office/drawing/2014/main" val="638375612"/>
                  </a:ext>
                </a:extLst>
              </a:tr>
              <a:tr h="190500">
                <a:tc>
                  <a:txBody>
                    <a:bodyPr/>
                    <a:lstStyle/>
                    <a:p>
                      <a:pPr algn="l" fontAlgn="ctr"/>
                      <a:r>
                        <a:rPr lang="en-US" sz="1100" b="0" i="0" u="none" strike="noStrike">
                          <a:solidFill>
                            <a:srgbClr val="000000"/>
                          </a:solidFill>
                          <a:effectLst/>
                          <a:latin typeface="Calibri" panose="020F0502020204030204" pitchFamily="34" charset="0"/>
                        </a:rPr>
                        <a:t>VIX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-243.482.009.400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6,70%</a:t>
                      </a:r>
                    </a:p>
                  </a:txBody>
                  <a:tcPr marL="9525" marR="9525" marT="9525" marB="0" anchor="ctr"/>
                </a:tc>
                <a:extLst>
                  <a:ext uri="{0D108BD9-81ED-4DB2-BD59-A6C34878D82A}">
                    <a16:rowId xmlns:a16="http://schemas.microsoft.com/office/drawing/2014/main" val="2595544499"/>
                  </a:ext>
                </a:extLst>
              </a:tr>
              <a:tr h="190500">
                <a:tc>
                  <a:txBody>
                    <a:bodyPr/>
                    <a:lstStyle/>
                    <a:p>
                      <a:pPr algn="l" fontAlgn="ctr"/>
                      <a:r>
                        <a:rPr lang="en-US" sz="1100" b="0" i="0" u="none" strike="noStrike">
                          <a:solidFill>
                            <a:srgbClr val="000000"/>
                          </a:solidFill>
                          <a:effectLst/>
                          <a:latin typeface="Calibri" panose="020F0502020204030204" pitchFamily="34" charset="0"/>
                        </a:rPr>
                        <a:t>ACB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21.900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-209.489.006.300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24,34%</a:t>
                      </a:r>
                    </a:p>
                  </a:txBody>
                  <a:tcPr marL="9525" marR="9525" marT="9525" marB="0" anchor="ctr"/>
                </a:tc>
                <a:extLst>
                  <a:ext uri="{0D108BD9-81ED-4DB2-BD59-A6C34878D82A}">
                    <a16:rowId xmlns:a16="http://schemas.microsoft.com/office/drawing/2014/main" val="1042191813"/>
                  </a:ext>
                </a:extLst>
              </a:tr>
              <a:tr h="190500">
                <a:tc>
                  <a:txBody>
                    <a:bodyPr/>
                    <a:lstStyle/>
                    <a:p>
                      <a:pPr algn="l" fontAlgn="ctr"/>
                      <a:r>
                        <a:rPr lang="en-US" sz="1100" b="0" i="0" u="none" strike="noStrike">
                          <a:solidFill>
                            <a:srgbClr val="000000"/>
                          </a:solidFill>
                          <a:effectLst/>
                          <a:latin typeface="Calibri" panose="020F0502020204030204" pitchFamily="34" charset="0"/>
                        </a:rPr>
                        <a:t>NVL</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-207.581.893.150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4,92%</a:t>
                      </a:r>
                    </a:p>
                  </a:txBody>
                  <a:tcPr marL="9525" marR="9525" marT="9525" marB="0" anchor="ctr"/>
                </a:tc>
                <a:extLst>
                  <a:ext uri="{0D108BD9-81ED-4DB2-BD59-A6C34878D82A}">
                    <a16:rowId xmlns:a16="http://schemas.microsoft.com/office/drawing/2014/main" val="3326198427"/>
                  </a:ext>
                </a:extLst>
              </a:tr>
              <a:tr h="190500">
                <a:tc>
                  <a:txBody>
                    <a:bodyPr/>
                    <a:lstStyle/>
                    <a:p>
                      <a:pPr algn="l" fontAlgn="ctr"/>
                      <a:r>
                        <a:rPr lang="en-US" sz="1100" b="0" i="0" u="none" strike="noStrike">
                          <a:solidFill>
                            <a:srgbClr val="000000"/>
                          </a:solidFill>
                          <a:effectLst/>
                          <a:latin typeface="Calibri" panose="020F0502020204030204" pitchFamily="34" charset="0"/>
                        </a:rPr>
                        <a:t>GEX</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22.500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-138.865.045.700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6,50%</a:t>
                      </a:r>
                    </a:p>
                  </a:txBody>
                  <a:tcPr marL="9525" marR="9525" marT="9525" marB="0" anchor="ctr"/>
                </a:tc>
                <a:extLst>
                  <a:ext uri="{0D108BD9-81ED-4DB2-BD59-A6C34878D82A}">
                    <a16:rowId xmlns:a16="http://schemas.microsoft.com/office/drawing/2014/main" val="3017137515"/>
                  </a:ext>
                </a:extLst>
              </a:tr>
              <a:tr h="190500">
                <a:tc>
                  <a:txBody>
                    <a:bodyPr/>
                    <a:lstStyle/>
                    <a:p>
                      <a:pPr algn="l" fontAlgn="ctr"/>
                      <a:r>
                        <a:rPr lang="en-US" sz="1100" b="0" i="0" u="none" strike="noStrike">
                          <a:solidFill>
                            <a:srgbClr val="000000"/>
                          </a:solidFill>
                          <a:effectLst/>
                          <a:latin typeface="Calibri" panose="020F0502020204030204" pitchFamily="34" charset="0"/>
                        </a:rPr>
                        <a:t>SSI</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23.550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-113.275.752.300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29,90%</a:t>
                      </a:r>
                    </a:p>
                  </a:txBody>
                  <a:tcPr marL="9525" marR="9525" marT="9525" marB="0" anchor="ctr"/>
                </a:tc>
                <a:extLst>
                  <a:ext uri="{0D108BD9-81ED-4DB2-BD59-A6C34878D82A}">
                    <a16:rowId xmlns:a16="http://schemas.microsoft.com/office/drawing/2014/main" val="1367150368"/>
                  </a:ext>
                </a:extLst>
              </a:tr>
              <a:tr h="190500">
                <a:tc>
                  <a:txBody>
                    <a:bodyPr/>
                    <a:lstStyle/>
                    <a:p>
                      <a:pPr algn="l" fontAlgn="ctr"/>
                      <a:r>
                        <a:rPr lang="en-US" sz="1100" b="0" i="0" u="none" strike="noStrike">
                          <a:solidFill>
                            <a:srgbClr val="000000"/>
                          </a:solidFill>
                          <a:effectLst/>
                          <a:latin typeface="Calibri" panose="020F0502020204030204" pitchFamily="34" charset="0"/>
                        </a:rPr>
                        <a:t>HDB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25.200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-101.722.392.350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21,56%</a:t>
                      </a:r>
                    </a:p>
                  </a:txBody>
                  <a:tcPr marL="9525" marR="9525" marT="9525" marB="0" anchor="ctr"/>
                </a:tc>
                <a:extLst>
                  <a:ext uri="{0D108BD9-81ED-4DB2-BD59-A6C34878D82A}">
                    <a16:rowId xmlns:a16="http://schemas.microsoft.com/office/drawing/2014/main" val="612648100"/>
                  </a:ext>
                </a:extLst>
              </a:tr>
              <a:tr h="190500">
                <a:tc>
                  <a:txBody>
                    <a:bodyPr/>
                    <a:lstStyle/>
                    <a:p>
                      <a:pPr algn="l" fontAlgn="ctr"/>
                      <a:r>
                        <a:rPr lang="en-US" sz="1100" b="0" i="0" u="none" strike="noStrike">
                          <a:solidFill>
                            <a:srgbClr val="000000"/>
                          </a:solidFill>
                          <a:effectLst/>
                          <a:latin typeface="Calibri" panose="020F0502020204030204" pitchFamily="34" charset="0"/>
                        </a:rPr>
                        <a:t>EIB</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17.800</a:t>
                      </a:r>
                      <a:endParaRPr lang="en-VN" sz="1100" b="0" i="0" u="none" strike="noStrike" dirty="0">
                        <a:solidFill>
                          <a:srgbClr val="000000"/>
                        </a:solidFill>
                        <a:effectLst/>
                        <a:latin typeface="Calibri" panose="020F0502020204030204" pitchFamily="34" charset="0"/>
                      </a:endParaRP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-51.607.960.000</a:t>
                      </a:r>
                    </a:p>
                  </a:txBody>
                  <a:tcPr marL="9525" marR="9525" marT="9525" marB="0" anchor="ctr"/>
                </a:tc>
                <a:tc>
                  <a:txBody>
                    <a:bodyPr/>
                    <a:lstStyle/>
                    <a:p>
                      <a:pPr algn="r" fontAlgn="ctr"/>
                      <a:r>
                        <a:rPr lang="en-VN" sz="1100" b="0" i="0" u="none" strike="noStrike">
                          <a:solidFill>
                            <a:srgbClr val="000000"/>
                          </a:solidFill>
                          <a:effectLst/>
                          <a:latin typeface="Calibri" panose="020F0502020204030204" pitchFamily="34" charset="0"/>
                        </a:rPr>
                        <a:t>1,52%</a:t>
                      </a:r>
                      <a:endParaRPr lang="en-VN" sz="1100" b="0" i="0" u="none" strike="noStrike" dirty="0">
                        <a:solidFill>
                          <a:srgbClr val="000000"/>
                        </a:solidFill>
                        <a:effectLst/>
                        <a:latin typeface="Calibri" panose="020F0502020204030204" pitchFamily="34" charset="0"/>
                      </a:endParaRPr>
                    </a:p>
                  </a:txBody>
                  <a:tcPr marL="9525" marR="9525" marT="9525" marB="0" anchor="ctr"/>
                </a:tc>
                <a:extLst>
                  <a:ext uri="{0D108BD9-81ED-4DB2-BD59-A6C34878D82A}">
                    <a16:rowId xmlns:a16="http://schemas.microsoft.com/office/drawing/2014/main" val="2563434553"/>
                  </a:ext>
                </a:extLst>
              </a:tr>
            </a:tbl>
          </a:graphicData>
        </a:graphic>
      </p:graphicFrame>
      <p:sp>
        <p:nvSpPr>
          <p:cNvPr id="2" name="Slide Number Placeholder 1">
            <a:extLst>
              <a:ext uri="{FF2B5EF4-FFF2-40B4-BE49-F238E27FC236}">
                <a16:creationId xmlns:a16="http://schemas.microsoft.com/office/drawing/2014/main" id="{C278591D-EBD3-4A78-A389-694F47B20B9A}"/>
              </a:ext>
            </a:extLst>
          </p:cNvPr>
          <p:cNvSpPr>
            <a:spLocks noGrp="1"/>
          </p:cNvSpPr>
          <p:nvPr>
            <p:ph type="sldNum" sz="quarter" idx="12"/>
          </p:nvPr>
        </p:nvSpPr>
        <p:spPr/>
        <p:txBody>
          <a:bodyPr/>
          <a:lstStyle/>
          <a:p>
            <a:fld id="{09BC8EBE-3F66-4987-8598-90D38544136D}" type="slidenum">
              <a:rPr lang="en-US" smtClean="0"/>
              <a:t>5</a:t>
            </a:fld>
            <a:endParaRPr lang="en-US"/>
          </a:p>
        </p:txBody>
      </p:sp>
    </p:spTree>
    <p:extLst>
      <p:ext uri="{BB962C8B-B14F-4D97-AF65-F5344CB8AC3E}">
        <p14:creationId xmlns:p14="http://schemas.microsoft.com/office/powerpoint/2010/main" val="10382044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5BC5E1-222D-5D88-9964-4A8FF259A951}"/>
            </a:ext>
          </a:extLst>
        </p:cNvPr>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ED5383B4-C0C0-C437-0842-ECBE904CDC74}"/>
              </a:ext>
            </a:extLst>
          </p:cNvPr>
          <p:cNvCxnSpPr/>
          <p:nvPr/>
        </p:nvCxnSpPr>
        <p:spPr>
          <a:xfrm flipV="1">
            <a:off x="261939" y="677863"/>
            <a:ext cx="1167606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Title 5">
            <a:extLst>
              <a:ext uri="{FF2B5EF4-FFF2-40B4-BE49-F238E27FC236}">
                <a16:creationId xmlns:a16="http://schemas.microsoft.com/office/drawing/2014/main" id="{BB5C97C4-862A-269F-A388-3BA6E6A2B487}"/>
              </a:ext>
            </a:extLst>
          </p:cNvPr>
          <p:cNvSpPr txBox="1">
            <a:spLocks/>
          </p:cNvSpPr>
          <p:nvPr/>
        </p:nvSpPr>
        <p:spPr>
          <a:xfrm>
            <a:off x="261939" y="288876"/>
            <a:ext cx="7991728" cy="355038"/>
          </a:xfrm>
          <a:prstGeom prst="rect">
            <a:avLst/>
          </a:prstGeom>
          <a:no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r>
              <a:rPr lang="en-US" sz="1800" b="1">
                <a:solidFill>
                  <a:srgbClr val="141ED2"/>
                </a:solidFill>
                <a:latin typeface="Arial" panose="020B0604020202020204" pitchFamily="34" charset="0"/>
                <a:ea typeface="Tahoma" panose="020B0604030504040204" pitchFamily="34" charset="0"/>
                <a:cs typeface="Arial" panose="020B0604020202020204" pitchFamily="34" charset="0"/>
              </a:rPr>
              <a:t>DIỄN BIẾN DANH MỤC THEO DÕI TUẦN 27/07 – 31/07/2026</a:t>
            </a:r>
            <a:endParaRPr lang="en-US" sz="1800" b="1" dirty="0">
              <a:solidFill>
                <a:srgbClr val="141ED2"/>
              </a:solidFill>
              <a:latin typeface="Arial" panose="020B0604020202020204" pitchFamily="34" charset="0"/>
              <a:ea typeface="Tahoma" panose="020B0604030504040204" pitchFamily="34" charset="0"/>
              <a:cs typeface="Arial" panose="020B0604020202020204" pitchFamily="34" charset="0"/>
            </a:endParaRPr>
          </a:p>
        </p:txBody>
      </p:sp>
      <p:sp>
        <p:nvSpPr>
          <p:cNvPr id="21" name="Text Placeholder 7">
            <a:extLst>
              <a:ext uri="{FF2B5EF4-FFF2-40B4-BE49-F238E27FC236}">
                <a16:creationId xmlns:a16="http://schemas.microsoft.com/office/drawing/2014/main" id="{EC378252-A32A-9839-7495-0D5F68F1E791}"/>
              </a:ext>
            </a:extLst>
          </p:cNvPr>
          <p:cNvSpPr txBox="1">
            <a:spLocks/>
          </p:cNvSpPr>
          <p:nvPr/>
        </p:nvSpPr>
        <p:spPr>
          <a:xfrm>
            <a:off x="261940" y="677864"/>
            <a:ext cx="10725608" cy="5891260"/>
          </a:xfrm>
          <a:prstGeom prst="rect">
            <a:avLst/>
          </a:prstGeom>
        </p:spPr>
        <p:txBody>
          <a:bodyPr vert="horz" lIns="91440" tIns="45720" rIns="91440" bIns="45720" rtlCol="0">
            <a:noAutofit/>
          </a:bodyPr>
          <a:lstStyle>
            <a:lvl1pPr marL="0" indent="0" algn="l" defTabSz="914400" rtl="0" eaLnBrk="1" latinLnBrk="0" hangingPunct="1">
              <a:lnSpc>
                <a:spcPct val="120000"/>
              </a:lnSpc>
              <a:spcBef>
                <a:spcPts val="0"/>
              </a:spcBef>
              <a:spcAft>
                <a:spcPts val="0"/>
              </a:spcAft>
              <a:buFont typeface="Arial" panose="020B0604020202020204" pitchFamily="34" charset="0"/>
              <a:buNone/>
              <a:defRPr sz="1050" b="0" kern="1200">
                <a:solidFill>
                  <a:schemeClr val="accent5"/>
                </a:solidFill>
                <a:latin typeface="+mn-lt"/>
                <a:ea typeface="+mn-ea"/>
                <a:cs typeface="+mn-cs"/>
              </a:defRPr>
            </a:lvl1pPr>
            <a:lvl2pPr marL="359532" indent="0" algn="ctr" defTabSz="914400" rtl="0" eaLnBrk="1" latinLnBrk="0" hangingPunct="1">
              <a:lnSpc>
                <a:spcPct val="90000"/>
              </a:lnSpc>
              <a:spcBef>
                <a:spcPts val="500"/>
              </a:spcBef>
              <a:buFont typeface="Arial" panose="020B0604020202020204" pitchFamily="34" charset="0"/>
              <a:buNone/>
              <a:defRPr sz="2400" kern="1200">
                <a:solidFill>
                  <a:schemeClr val="tx1">
                    <a:tint val="75000"/>
                  </a:schemeClr>
                </a:solidFill>
                <a:latin typeface="+mn-lt"/>
                <a:ea typeface="+mn-ea"/>
                <a:cs typeface="+mn-cs"/>
              </a:defRPr>
            </a:lvl2pPr>
            <a:lvl3pPr marL="719063" indent="0" algn="ctr" defTabSz="914400" rtl="0" eaLnBrk="1" latinLnBrk="0" hangingPunct="1">
              <a:lnSpc>
                <a:spcPct val="90000"/>
              </a:lnSpc>
              <a:spcBef>
                <a:spcPts val="500"/>
              </a:spcBef>
              <a:buFont typeface="Arial" panose="020B0604020202020204" pitchFamily="34" charset="0"/>
              <a:buNone/>
              <a:defRPr sz="2000" kern="1200">
                <a:solidFill>
                  <a:schemeClr val="tx1">
                    <a:tint val="75000"/>
                  </a:schemeClr>
                </a:solidFill>
                <a:latin typeface="+mn-lt"/>
                <a:ea typeface="+mn-ea"/>
                <a:cs typeface="+mn-cs"/>
              </a:defRPr>
            </a:lvl3pPr>
            <a:lvl4pPr marL="107859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4pPr>
            <a:lvl5pPr marL="1438125"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5pPr>
            <a:lvl6pPr marL="179765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6pPr>
            <a:lvl7pPr marL="2157187"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7pPr>
            <a:lvl8pPr marL="2516718"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8pPr>
            <a:lvl9pPr marL="2876250" indent="0" algn="ctr" defTabSz="914400" rtl="0" eaLnBrk="1" latinLnBrk="0" hangingPunct="1">
              <a:lnSpc>
                <a:spcPct val="90000"/>
              </a:lnSpc>
              <a:spcBef>
                <a:spcPts val="500"/>
              </a:spcBef>
              <a:buFont typeface="Arial" panose="020B0604020202020204" pitchFamily="34" charset="0"/>
              <a:buNone/>
              <a:defRPr sz="1800" kern="1200">
                <a:solidFill>
                  <a:schemeClr val="tx1">
                    <a:tint val="75000"/>
                  </a:schemeClr>
                </a:solidFill>
                <a:latin typeface="+mn-lt"/>
                <a:ea typeface="+mn-ea"/>
                <a:cs typeface="+mn-cs"/>
              </a:defRPr>
            </a:lvl9pPr>
          </a:lstStyle>
          <a:p>
            <a:pPr>
              <a:lnSpc>
                <a:spcPct val="90000"/>
              </a:lnSpc>
              <a:spcBef>
                <a:spcPct val="0"/>
              </a:spcBef>
            </a:pPr>
            <a:endPar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Sự</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kiện</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doanh</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nghiệp</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trong</a:t>
            </a:r>
            <a:r>
              <a:rPr lang="en-US" sz="1400" b="1" dirty="0">
                <a:solidFill>
                  <a:srgbClr val="141ED2"/>
                </a:solidFill>
                <a:latin typeface="Arial" panose="020B0604020202020204" pitchFamily="34" charset="0"/>
                <a:ea typeface="Tahoma" panose="020B0604030504040204" pitchFamily="34" charset="0"/>
                <a:cs typeface="Arial" panose="020B0604020202020204" pitchFamily="34" charset="0"/>
              </a:rPr>
              <a:t> </a:t>
            </a:r>
            <a:r>
              <a:rPr lang="en-US" sz="1400" b="1" dirty="0" err="1">
                <a:solidFill>
                  <a:srgbClr val="141ED2"/>
                </a:solidFill>
                <a:latin typeface="Arial" panose="020B0604020202020204" pitchFamily="34" charset="0"/>
                <a:ea typeface="Tahoma" panose="020B0604030504040204" pitchFamily="34" charset="0"/>
                <a:cs typeface="Arial" panose="020B0604020202020204" pitchFamily="34" charset="0"/>
              </a:rPr>
              <a:t>tuần</a:t>
            </a: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endPar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endParaRPr>
          </a:p>
          <a:p>
            <a:pPr>
              <a:lnSpc>
                <a:spcPct val="90000"/>
              </a:lnSpc>
              <a:spcBef>
                <a:spcPct val="0"/>
              </a:spcBef>
            </a:pPr>
            <a:r>
              <a:rPr lang="vi-VN" sz="1400" b="1" dirty="0">
                <a:solidFill>
                  <a:srgbClr val="141ED2"/>
                </a:solidFill>
                <a:latin typeface="Arial" panose="020B0604020202020204" pitchFamily="34" charset="0"/>
                <a:ea typeface="Tahoma" panose="020B0604030504040204" pitchFamily="34" charset="0"/>
                <a:cs typeface="Arial" panose="020B0604020202020204" pitchFamily="34" charset="0"/>
              </a:rPr>
              <a:t>Diễn biến giao dịch NDTNN </a:t>
            </a:r>
            <a:endParaRPr lang="en-US" sz="1100" dirty="0">
              <a:solidFill>
                <a:schemeClr val="tx1"/>
              </a:solidFill>
              <a:latin typeface="Arial" panose="020B0604020202020204" pitchFamily="34" charset="0"/>
              <a:cs typeface="Arial" panose="020B0604020202020204" pitchFamily="34" charset="0"/>
            </a:endParaRPr>
          </a:p>
          <a:p>
            <a:pPr marL="171450" indent="-171450">
              <a:lnSpc>
                <a:spcPct val="160000"/>
              </a:lnSpc>
              <a:buFont typeface="Arial" panose="020B0604020202020204" pitchFamily="34" charset="0"/>
              <a:buChar char="•"/>
            </a:pPr>
            <a:r>
              <a:rPr lang="en-US" sz="1100" dirty="0">
                <a:solidFill>
                  <a:schemeClr val="tx1"/>
                </a:solidFill>
                <a:latin typeface="Arial" panose="020B0604020202020204" pitchFamily="34" charset="0"/>
                <a:cs typeface="Arial" panose="020B0604020202020204" pitchFamily="34" charset="0"/>
              </a:rPr>
              <a:t>Trong </a:t>
            </a:r>
            <a:r>
              <a:rPr lang="en-US" sz="1100" dirty="0" err="1">
                <a:solidFill>
                  <a:schemeClr val="tx1"/>
                </a:solidFill>
                <a:latin typeface="Arial" panose="020B0604020202020204" pitchFamily="34" charset="0"/>
                <a:cs typeface="Arial" panose="020B0604020202020204" pitchFamily="34" charset="0"/>
              </a:rPr>
              <a:t>tháng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này</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khối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ngoại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đã</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127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r>
              <a:rPr lang="en-US" sz="1100" dirty="0" err="1">
                <a:solidFill>
                  <a:schemeClr val="tx1"/>
                </a:solidFill>
                <a:latin typeface="Arial" panose="020B0604020202020204" pitchFamily="34" charset="0"/>
                <a:cs typeface="Arial" panose="020B0604020202020204" pitchFamily="34" charset="0"/>
              </a:rPr>
              <a:t>đối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với</a:t>
            </a:r>
            <a:r>
              <a:rPr lang="en-US" sz="1100" dirty="0">
                <a:solidFill>
                  <a:schemeClr val="tx1"/>
                </a:solidFill>
                <a:latin typeface="Arial" panose="020B0604020202020204" pitchFamily="34" charset="0"/>
                <a:cs typeface="Arial" panose="020B0604020202020204" pitchFamily="34" charset="0"/>
              </a:rPr>
              <a:t> 4 </a:t>
            </a:r>
            <a:r>
              <a:rPr lang="en-US" sz="1100" dirty="0" err="1">
                <a:solidFill>
                  <a:schemeClr val="tx1"/>
                </a:solidFill>
                <a:latin typeface="Arial" panose="020B0604020202020204" pitchFamily="34" charset="0"/>
                <a:cs typeface="Arial" panose="020B0604020202020204" pitchFamily="34" charset="0"/>
              </a:rPr>
              <a:t>ngân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hàng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theo</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dõi</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Tính</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từ</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đầu</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năm</a:t>
            </a:r>
            <a:r>
              <a:rPr lang="en-US" sz="1100" dirty="0">
                <a:solidFill>
                  <a:schemeClr val="tx1"/>
                </a:solidFill>
                <a:latin typeface="Arial" panose="020B0604020202020204" pitchFamily="34" charset="0"/>
                <a:cs typeface="Arial" panose="020B0604020202020204" pitchFamily="34" charset="0"/>
              </a:rPr>
              <a:t>, NDTNN </a:t>
            </a:r>
            <a:r>
              <a:rPr lang="en-US" sz="1100" dirty="0" err="1">
                <a:solidFill>
                  <a:schemeClr val="tx1"/>
                </a:solidFill>
                <a:latin typeface="Arial" panose="020B0604020202020204" pitchFamily="34" charset="0"/>
                <a:cs typeface="Arial" panose="020B0604020202020204" pitchFamily="34" charset="0"/>
              </a:rPr>
              <a:t>bán</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ròng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tổng</a:t>
            </a:r>
            <a:r>
              <a:rPr lang="en-US" sz="1100" dirty="0">
                <a:solidFill>
                  <a:schemeClr val="tx1"/>
                </a:solidFill>
                <a:latin typeface="Arial" panose="020B0604020202020204" pitchFamily="34" charset="0"/>
                <a:cs typeface="Arial" panose="020B0604020202020204" pitchFamily="34" charset="0"/>
              </a:rPr>
              <a:t> </a:t>
            </a:r>
            <a:r>
              <a:rPr lang="en-US" sz="1100" dirty="0" err="1">
                <a:solidFill>
                  <a:schemeClr val="tx1"/>
                </a:solidFill>
                <a:latin typeface="Arial" panose="020B0604020202020204" pitchFamily="34" charset="0"/>
                <a:cs typeface="Arial" panose="020B0604020202020204" pitchFamily="34" charset="0"/>
              </a:rPr>
              <a:t>số</a:t>
            </a:r>
            <a:r>
              <a:rPr lang="en-US" sz="1100" dirty="0">
                <a:solidFill>
                  <a:schemeClr val="tx1"/>
                </a:solidFill>
                <a:latin typeface="Arial" panose="020B0604020202020204" pitchFamily="34" charset="0"/>
                <a:cs typeface="Arial" panose="020B0604020202020204" pitchFamily="34" charset="0"/>
              </a:rPr>
              <a:t> 493 </a:t>
            </a:r>
            <a:r>
              <a:rPr lang="en-US" sz="1100" dirty="0" err="1">
                <a:solidFill>
                  <a:schemeClr val="tx1"/>
                </a:solidFill>
                <a:latin typeface="Arial" panose="020B0604020202020204" pitchFamily="34" charset="0"/>
                <a:cs typeface="Arial" panose="020B0604020202020204" pitchFamily="34" charset="0"/>
              </a:rPr>
              <a:t>triệu</a:t>
            </a:r>
            <a:r>
              <a:rPr lang="en-US" sz="1100" dirty="0">
                <a:solidFill>
                  <a:schemeClr val="tx1"/>
                </a:solidFill>
                <a:latin typeface="Arial" panose="020B0604020202020204" pitchFamily="34" charset="0"/>
                <a:cs typeface="Arial" panose="020B0604020202020204" pitchFamily="34" charset="0"/>
              </a:rPr>
              <a:t> cp. </a:t>
            </a:r>
          </a:p>
        </p:txBody>
      </p:sp>
      <p:sp>
        <p:nvSpPr>
          <p:cNvPr id="2" name="Slide Number Placeholder 1">
            <a:extLst>
              <a:ext uri="{FF2B5EF4-FFF2-40B4-BE49-F238E27FC236}">
                <a16:creationId xmlns:a16="http://schemas.microsoft.com/office/drawing/2014/main" id="{4DF5E438-760F-A277-DDDD-CB26F7549F77}"/>
              </a:ext>
            </a:extLst>
          </p:cNvPr>
          <p:cNvSpPr>
            <a:spLocks noGrp="1"/>
          </p:cNvSpPr>
          <p:nvPr>
            <p:ph type="sldNum" sz="quarter" idx="12"/>
          </p:nvPr>
        </p:nvSpPr>
        <p:spPr/>
        <p:txBody>
          <a:bodyPr/>
          <a:lstStyle/>
          <a:p>
            <a:fld id="{09BC8EBE-3F66-4987-8598-90D38544136D}" type="slidenum">
              <a:rPr lang="en-US" smtClean="0">
                <a:latin typeface="Arial" panose="020B0604020202020204" pitchFamily="34" charset="0"/>
                <a:cs typeface="Arial" panose="020B0604020202020204" pitchFamily="34" charset="0"/>
              </a:rPr>
              <a:t>6</a:t>
            </a:fld>
            <a:endParaRPr lang="en-US">
              <a:latin typeface="Arial" panose="020B0604020202020204" pitchFamily="34" charset="0"/>
              <a:cs typeface="Arial" panose="020B0604020202020204" pitchFamily="34" charset="0"/>
            </a:endParaRPr>
          </a:p>
        </p:txBody>
      </p:sp>
      <p:graphicFrame>
        <p:nvGraphicFramePr>
          <p:cNvPr id="3" name="Table 2">
            <a:extLst>
              <a:ext uri="{FF2B5EF4-FFF2-40B4-BE49-F238E27FC236}">
                <a16:creationId xmlns:a16="http://schemas.microsoft.com/office/drawing/2014/main" id="{5AB2CB95-BB19-5CE2-096D-C942A23B07EF}"/>
              </a:ext>
            </a:extLst>
          </p:cNvPr>
          <p:cNvGraphicFramePr>
            <a:graphicFrameLocks noGrp="1"/>
          </p:cNvGraphicFramePr>
          <p:nvPr>
            <p:extLst>
              <p:ext uri="{D42A27DB-BD31-4B8C-83A1-F6EECF244321}">
                <p14:modId xmlns:p14="http://schemas.microsoft.com/office/powerpoint/2010/main" val="2895738148"/>
              </p:ext>
            </p:extLst>
          </p:nvPr>
        </p:nvGraphicFramePr>
        <p:xfrm>
          <a:off x="364321" y="1265121"/>
          <a:ext cx="11463359" cy="1532892"/>
        </p:xfrm>
        <a:graphic>
          <a:graphicData uri="http://schemas.openxmlformats.org/drawingml/2006/table">
            <a:tbl>
              <a:tblPr bandRow="1">
                <a:tableStyleId>{3B4B98B0-60AC-42C2-AFA5-B58CD77FA1E5}</a:tableStyleId>
              </a:tblPr>
              <a:tblGrid>
                <a:gridCol w="1399339">
                  <a:extLst>
                    <a:ext uri="{9D8B030D-6E8A-4147-A177-3AD203B41FA5}">
                      <a16:colId xmlns:a16="http://schemas.microsoft.com/office/drawing/2014/main" val="20000"/>
                    </a:ext>
                  </a:extLst>
                </a:gridCol>
                <a:gridCol w="809858">
                  <a:extLst>
                    <a:ext uri="{9D8B030D-6E8A-4147-A177-3AD203B41FA5}">
                      <a16:colId xmlns:a16="http://schemas.microsoft.com/office/drawing/2014/main" val="3086632694"/>
                    </a:ext>
                  </a:extLst>
                </a:gridCol>
                <a:gridCol w="9254162">
                  <a:extLst>
                    <a:ext uri="{9D8B030D-6E8A-4147-A177-3AD203B41FA5}">
                      <a16:colId xmlns:a16="http://schemas.microsoft.com/office/drawing/2014/main" val="20001"/>
                    </a:ext>
                  </a:extLst>
                </a:gridCol>
              </a:tblGrid>
              <a:tr h="174337">
                <a:tc>
                  <a:txBody>
                    <a:bodyPr/>
                    <a:lstStyle/>
                    <a:p>
                      <a:pPr algn="l" fontAlgn="b"/>
                      <a:r>
                        <a:rPr lang="en-US" sz="1200" b="1" u="none" strike="noStrike" dirty="0" err="1">
                          <a:solidFill>
                            <a:schemeClr val="tx1"/>
                          </a:solidFill>
                          <a:effectLst/>
                          <a:latin typeface="Arial" panose="020B0604020202020204" pitchFamily="34" charset="0"/>
                          <a:cs typeface="Arial" panose="020B0604020202020204" pitchFamily="34" charset="0"/>
                        </a:rPr>
                        <a:t>Ngày</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l" fontAlgn="b"/>
                      <a:r>
                        <a:rPr lang="en-US" sz="1200" b="1" i="0" u="none" strike="noStrike" dirty="0" err="1">
                          <a:solidFill>
                            <a:schemeClr val="tx1"/>
                          </a:solidFill>
                          <a:effectLst/>
                          <a:latin typeface="Arial" panose="020B0604020202020204" pitchFamily="34" charset="0"/>
                          <a:cs typeface="Arial" panose="020B0604020202020204" pitchFamily="34" charset="0"/>
                        </a:rPr>
                        <a:t>Mã</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tc>
                  <a:txBody>
                    <a:bodyPr/>
                    <a:lstStyle/>
                    <a:p>
                      <a:pPr algn="ctr" fontAlgn="b"/>
                      <a:r>
                        <a:rPr lang="en-US" sz="1200" b="1" u="none" strike="noStrike" dirty="0" err="1">
                          <a:solidFill>
                            <a:schemeClr val="tx1"/>
                          </a:solidFill>
                          <a:effectLst/>
                          <a:latin typeface="Arial" panose="020B0604020202020204" pitchFamily="34" charset="0"/>
                          <a:cs typeface="Arial" panose="020B0604020202020204" pitchFamily="34" charset="0"/>
                        </a:rPr>
                        <a:t>Sự</a:t>
                      </a:r>
                      <a:r>
                        <a:rPr lang="en-US" sz="1200" b="1" u="none" strike="noStrike" dirty="0">
                          <a:solidFill>
                            <a:schemeClr val="tx1"/>
                          </a:solidFill>
                          <a:effectLst/>
                          <a:latin typeface="Arial" panose="020B0604020202020204" pitchFamily="34" charset="0"/>
                          <a:cs typeface="Arial" panose="020B0604020202020204" pitchFamily="34" charset="0"/>
                        </a:rPr>
                        <a:t> </a:t>
                      </a:r>
                      <a:r>
                        <a:rPr lang="en-US" sz="1200" b="1" u="none" strike="noStrike" dirty="0" err="1">
                          <a:solidFill>
                            <a:schemeClr val="tx1"/>
                          </a:solidFill>
                          <a:effectLst/>
                          <a:latin typeface="Arial" panose="020B0604020202020204" pitchFamily="34" charset="0"/>
                          <a:cs typeface="Arial" panose="020B0604020202020204" pitchFamily="34" charset="0"/>
                        </a:rPr>
                        <a:t>kiện</a:t>
                      </a:r>
                      <a:endParaRPr lang="en-US" sz="1200" b="1" i="0" u="none" strike="noStrike" dirty="0">
                        <a:solidFill>
                          <a:schemeClr val="tx1"/>
                        </a:solidFill>
                        <a:effectLst/>
                        <a:latin typeface="Arial" panose="020B0604020202020204" pitchFamily="34" charset="0"/>
                        <a:cs typeface="Arial" panose="020B060402020202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31/07/2026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Báo cáo tình hình Quản trị công ty 6 tháng đầu năm 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30/07/2026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Nghị quyết HĐQT số 3411 ngày 28/07/2026</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936472446"/>
                  </a:ext>
                </a:extLst>
              </a:tr>
              <a:tr h="169612">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29/07/2026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200" b="0" u="none" strike="noStrike" kern="1200">
                          <a:solidFill>
                            <a:srgbClr val="000000"/>
                          </a:solidFill>
                          <a:effectLst/>
                          <a:latin typeface="Arial" panose="020B0604020202020204" pitchFamily="34" charset="0"/>
                          <a:ea typeface="+mn-ea"/>
                          <a:cs typeface="Arial" panose="020B0604020202020204" pitchFamily="34" charset="0"/>
                        </a:rPr>
                        <a:t>ACB: Điều lệ công ty sửa đổi</a:t>
                      </a: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879009439"/>
                  </a:ext>
                </a:extLst>
              </a:tr>
              <a:tr h="169612">
                <a:tc>
                  <a:txBody>
                    <a:bodyPr/>
                    <a:lstStyle/>
                    <a:p>
                      <a:pPr algn="l" fontAlgn="b"/>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200" b="0" u="none" strike="noStrike" kern="1200" dirty="0">
                        <a:solidFill>
                          <a:srgbClr val="000000"/>
                        </a:solidFill>
                        <a:effectLst/>
                        <a:latin typeface="Arial" panose="020B0604020202020204" pitchFamily="34" charset="0"/>
                        <a:ea typeface="+mn-ea"/>
                        <a:cs typeface="Arial" panose="020B0604020202020204" pitchFamily="34" charset="0"/>
                      </a:endParaRPr>
                    </a:p>
                  </a:txBody>
                  <a:tcPr marL="45720" marR="45720" anchor="ctr"/>
                </a:tc>
                <a:extLst>
                  <a:ext uri="{0D108BD9-81ED-4DB2-BD59-A6C34878D82A}">
                    <a16:rowId xmlns:a16="http://schemas.microsoft.com/office/drawing/2014/main" val="1400684122"/>
                  </a:ext>
                </a:extLst>
              </a:tr>
            </a:tbl>
          </a:graphicData>
        </a:graphic>
      </p:graphicFrame>
      <p:graphicFrame>
        <p:nvGraphicFramePr>
          <p:cNvPr id="7" name="Table 6">
            <a:extLst>
              <a:ext uri="{FF2B5EF4-FFF2-40B4-BE49-F238E27FC236}">
                <a16:creationId xmlns:a16="http://schemas.microsoft.com/office/drawing/2014/main" id="{BF3DB183-A5CC-8AA9-CAC4-E0699E1A76A9}"/>
              </a:ext>
            </a:extLst>
          </p:cNvPr>
          <p:cNvGraphicFramePr>
            <a:graphicFrameLocks noGrp="1"/>
          </p:cNvGraphicFramePr>
          <p:nvPr>
            <p:extLst>
              <p:ext uri="{D42A27DB-BD31-4B8C-83A1-F6EECF244321}">
                <p14:modId xmlns:p14="http://schemas.microsoft.com/office/powerpoint/2010/main" val="1708244055"/>
              </p:ext>
            </p:extLst>
          </p:nvPr>
        </p:nvGraphicFramePr>
        <p:xfrm>
          <a:off x="364321" y="4048812"/>
          <a:ext cx="7733305" cy="1625298"/>
        </p:xfrm>
        <a:graphic>
          <a:graphicData uri="http://schemas.openxmlformats.org/drawingml/2006/table">
            <a:tbl>
              <a:tblPr firstRow="1" bandRow="1">
                <a:tableStyleId>{B301B821-A1FF-4177-AEE7-76D212191A09}</a:tableStyleId>
              </a:tblPr>
              <a:tblGrid>
                <a:gridCol w="1546661">
                  <a:extLst>
                    <a:ext uri="{9D8B030D-6E8A-4147-A177-3AD203B41FA5}">
                      <a16:colId xmlns:a16="http://schemas.microsoft.com/office/drawing/2014/main" val="476193012"/>
                    </a:ext>
                  </a:extLst>
                </a:gridCol>
                <a:gridCol w="1546661">
                  <a:extLst>
                    <a:ext uri="{9D8B030D-6E8A-4147-A177-3AD203B41FA5}">
                      <a16:colId xmlns:a16="http://schemas.microsoft.com/office/drawing/2014/main" val="3541350674"/>
                    </a:ext>
                  </a:extLst>
                </a:gridCol>
                <a:gridCol w="1546661">
                  <a:extLst>
                    <a:ext uri="{9D8B030D-6E8A-4147-A177-3AD203B41FA5}">
                      <a16:colId xmlns:a16="http://schemas.microsoft.com/office/drawing/2014/main" val="373586832"/>
                    </a:ext>
                  </a:extLst>
                </a:gridCol>
                <a:gridCol w="1546661">
                  <a:extLst>
                    <a:ext uri="{9D8B030D-6E8A-4147-A177-3AD203B41FA5}">
                      <a16:colId xmlns:a16="http://schemas.microsoft.com/office/drawing/2014/main" val="1492205293"/>
                    </a:ext>
                  </a:extLst>
                </a:gridCol>
                <a:gridCol w="1546661">
                  <a:extLst>
                    <a:ext uri="{9D8B030D-6E8A-4147-A177-3AD203B41FA5}">
                      <a16:colId xmlns:a16="http://schemas.microsoft.com/office/drawing/2014/main" val="3276923108"/>
                    </a:ext>
                  </a:extLst>
                </a:gridCol>
              </a:tblGrid>
              <a:tr h="270883">
                <a:tc>
                  <a:txBody>
                    <a:bodyPr/>
                    <a:lstStyle/>
                    <a:p>
                      <a:pPr algn="l" fontAlgn="b"/>
                      <a:r>
                        <a:rPr lang="en-VN" sz="1200" b="1" i="0" u="none" strike="noStrike" dirty="0">
                          <a:solidFill>
                            <a:schemeClr val="bg1"/>
                          </a:solidFill>
                          <a:effectLst/>
                          <a:latin typeface="Arial" panose="020B0604020202020204" pitchFamily="34" charset="0"/>
                          <a:cs typeface="Arial" panose="020B0604020202020204" pitchFamily="34" charset="0"/>
                        </a:rPr>
                        <a:t>KLGD NDTNN</a:t>
                      </a:r>
                    </a:p>
                  </a:txBody>
                  <a:tcPr marL="9525" marR="9525" marT="9525" marB="0" anchor="b"/>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ACB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VIB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VPB</a:t>
                      </a:r>
                    </a:p>
                  </a:txBody>
                  <a:tcPr marL="9525" marR="9525" marT="9525" marB="0" anchor="ctr"/>
                </a:tc>
                <a:tc>
                  <a:txBody>
                    <a:bodyPr/>
                    <a:lstStyle/>
                    <a:p>
                      <a:pPr algn="r" fontAlgn="ctr"/>
                      <a:r>
                        <a:rPr lang="en-US" sz="1200" b="1" i="0" u="none" strike="noStrike" dirty="0">
                          <a:solidFill>
                            <a:srgbClr val="FFFFFF"/>
                          </a:solidFill>
                          <a:effectLst/>
                          <a:latin typeface="Arial" panose="020B0604020202020204" pitchFamily="34" charset="0"/>
                          <a:cs typeface="Arial" panose="020B0604020202020204" pitchFamily="34" charset="0"/>
                        </a:rPr>
                        <a:t>TCB</a:t>
                      </a:r>
                    </a:p>
                  </a:txBody>
                  <a:tcPr marL="9525" marR="9525" marT="9525" marB="0" anchor="ctr"/>
                </a:tc>
                <a:extLst>
                  <a:ext uri="{0D108BD9-81ED-4DB2-BD59-A6C34878D82A}">
                    <a16:rowId xmlns:a16="http://schemas.microsoft.com/office/drawing/2014/main" val="4153642203"/>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5</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-17.370.861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-17.860.342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-41.923.991</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-38.085.620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1830539495"/>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6</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4.293.512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-16.017.491</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-32.182.660</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-32.762.639</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252662491"/>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Tháng 7</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-20.044.268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-25.052.808</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-39.496.132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-43.747.657</a:t>
                      </a:r>
                    </a:p>
                  </a:txBody>
                  <a:tcPr marL="9525" marR="9525" marT="9525" marB="0" anchor="b"/>
                </a:tc>
                <a:extLst>
                  <a:ext uri="{0D108BD9-81ED-4DB2-BD59-A6C34878D82A}">
                    <a16:rowId xmlns:a16="http://schemas.microsoft.com/office/drawing/2014/main" val="3933181617"/>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Từ đầu năm</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-228.820.850</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-53.116.009</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-103.383.042</a:t>
                      </a: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-108.872.152</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244560680"/>
                  </a:ext>
                </a:extLst>
              </a:tr>
              <a:tr h="270883">
                <a:tc>
                  <a:txBody>
                    <a:bodyPr/>
                    <a:lstStyle/>
                    <a:p>
                      <a:pPr algn="l" fontAlgn="b"/>
                      <a:r>
                        <a:rPr lang="en-US" sz="1200" b="0" i="0" u="none" strike="noStrike">
                          <a:solidFill>
                            <a:srgbClr val="000000"/>
                          </a:solidFill>
                          <a:effectLst/>
                          <a:latin typeface="Arial" panose="020B0604020202020204" pitchFamily="34" charset="0"/>
                          <a:cs typeface="Arial" panose="020B0604020202020204" pitchFamily="34" charset="0"/>
                        </a:rPr>
                        <a:t>Room NN còn lại</a:t>
                      </a:r>
                      <a:endParaRPr lang="en-US"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1,5%</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6,7%</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tc>
                  <a:txBody>
                    <a:bodyPr/>
                    <a:lstStyle/>
                    <a:p>
                      <a:pPr algn="r" fontAlgn="b"/>
                      <a:r>
                        <a:rPr lang="en-VN" sz="1200" b="0" i="0" u="none" strike="noStrike">
                          <a:solidFill>
                            <a:srgbClr val="000000"/>
                          </a:solidFill>
                          <a:effectLst/>
                          <a:latin typeface="Arial" panose="020B0604020202020204" pitchFamily="34" charset="0"/>
                          <a:cs typeface="Arial" panose="020B0604020202020204" pitchFamily="34" charset="0"/>
                        </a:rPr>
                        <a:t>1,4%</a:t>
                      </a:r>
                      <a:endParaRPr lang="en-VN" sz="1200" b="0" i="0" u="none" strike="noStrike" dirty="0">
                        <a:solidFill>
                          <a:srgbClr val="000000"/>
                        </a:solidFill>
                        <a:effectLst/>
                        <a:latin typeface="Arial" panose="020B0604020202020204" pitchFamily="34" charset="0"/>
                        <a:cs typeface="Arial" panose="020B0604020202020204" pitchFamily="34" charset="0"/>
                      </a:endParaRPr>
                    </a:p>
                  </a:txBody>
                  <a:tcPr marL="9525" marR="9525" marT="9525" marB="0" anchor="b"/>
                </a:tc>
                <a:extLst>
                  <a:ext uri="{0D108BD9-81ED-4DB2-BD59-A6C34878D82A}">
                    <a16:rowId xmlns:a16="http://schemas.microsoft.com/office/drawing/2014/main" val="3127387990"/>
                  </a:ext>
                </a:extLst>
              </a:tr>
            </a:tbl>
          </a:graphicData>
        </a:graphic>
      </p:graphicFrame>
    </p:spTree>
    <p:extLst>
      <p:ext uri="{BB962C8B-B14F-4D97-AF65-F5344CB8AC3E}">
        <p14:creationId xmlns:p14="http://schemas.microsoft.com/office/powerpoint/2010/main" val="1246020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a:solidFill>
                  <a:srgbClr val="141ED2"/>
                </a:solidFill>
                <a:ea typeface="Tahoma" panose="020B0604030504040204" pitchFamily="34" charset="0"/>
                <a:cs typeface="Times New Roman" panose="02020603050405020304" pitchFamily="18" charset="0"/>
              </a:rPr>
              <a:t>CÁC SỰ KIỆN DIỄN RA TRONG TUẦN 03/08/2026 – 07/08/2026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14" name="TextBox 13">
            <a:extLst>
              <a:ext uri="{FF2B5EF4-FFF2-40B4-BE49-F238E27FC236}">
                <a16:creationId xmlns:a16="http://schemas.microsoft.com/office/drawing/2014/main" id="{2A5735BD-8F3E-4D76-B4E3-A85529B82324}"/>
              </a:ext>
            </a:extLst>
          </p:cNvPr>
          <p:cNvSpPr txBox="1"/>
          <p:nvPr/>
        </p:nvSpPr>
        <p:spPr>
          <a:xfrm>
            <a:off x="306595" y="922013"/>
            <a:ext cx="11493675" cy="375552"/>
          </a:xfrm>
          <a:prstGeom prst="rect">
            <a:avLst/>
          </a:prstGeom>
          <a:noFill/>
        </p:spPr>
        <p:txBody>
          <a:bodyPr wrap="square" rtlCol="0">
            <a:spAutoFit/>
          </a:bodyPr>
          <a:lstStyle/>
          <a:p>
            <a:pPr>
              <a:lnSpc>
                <a:spcPct val="150000"/>
              </a:lnSpc>
            </a:pPr>
            <a:r>
              <a:rPr lang="en-US" sz="1400" b="1" dirty="0" err="1">
                <a:solidFill>
                  <a:srgbClr val="141ED2"/>
                </a:solidFill>
                <a:latin typeface="+mj-lt"/>
                <a:cs typeface="Times New Roman" panose="02020603050405020304" pitchFamily="18" charset="0"/>
              </a:rPr>
              <a:t>Trong</a:t>
            </a:r>
            <a:r>
              <a:rPr lang="en-US" sz="1400" b="1" dirty="0">
                <a:solidFill>
                  <a:srgbClr val="141ED2"/>
                </a:solidFill>
                <a:latin typeface="+mj-lt"/>
                <a:cs typeface="Times New Roman" panose="02020603050405020304" pitchFamily="18" charset="0"/>
              </a:rPr>
              <a:t> n</a:t>
            </a:r>
            <a:r>
              <a:rPr lang="vi-VN" sz="1400" b="1">
                <a:solidFill>
                  <a:srgbClr val="141ED2"/>
                </a:solidFill>
                <a:latin typeface="+mj-lt"/>
                <a:cs typeface="Times New Roman" panose="02020603050405020304" pitchFamily="18" charset="0"/>
              </a:rPr>
              <a:t>ư</a:t>
            </a:r>
            <a:r>
              <a:rPr lang="en-US" sz="1400" b="1">
                <a:solidFill>
                  <a:srgbClr val="141ED2"/>
                </a:solidFill>
                <a:latin typeface="+mj-lt"/>
                <a:cs typeface="Times New Roman" panose="02020603050405020304" pitchFamily="18" charset="0"/>
              </a:rPr>
              <a:t>ớc</a:t>
            </a:r>
          </a:p>
        </p:txBody>
      </p:sp>
      <p:sp>
        <p:nvSpPr>
          <p:cNvPr id="9" name="TextBox 8">
            <a:extLst>
              <a:ext uri="{FF2B5EF4-FFF2-40B4-BE49-F238E27FC236}">
                <a16:creationId xmlns:a16="http://schemas.microsoft.com/office/drawing/2014/main" id="{CF780BA3-FEDF-45F2-A2CF-3F69BACA285D}"/>
              </a:ext>
            </a:extLst>
          </p:cNvPr>
          <p:cNvSpPr txBox="1"/>
          <p:nvPr/>
        </p:nvSpPr>
        <p:spPr>
          <a:xfrm>
            <a:off x="306595" y="3124233"/>
            <a:ext cx="11493675" cy="698717"/>
          </a:xfrm>
          <a:prstGeom prst="rect">
            <a:avLst/>
          </a:prstGeom>
          <a:noFill/>
        </p:spPr>
        <p:txBody>
          <a:bodyPr wrap="square" rtlCol="0">
            <a:spAutoFit/>
          </a:bodyPr>
          <a:lstStyle/>
          <a:p>
            <a:pPr>
              <a:lnSpc>
                <a:spcPct val="150000"/>
              </a:lnSpc>
            </a:pPr>
            <a:r>
              <a:rPr lang="en-US" sz="1400" b="1" dirty="0">
                <a:solidFill>
                  <a:srgbClr val="141ED2"/>
                </a:solidFill>
                <a:latin typeface="+mj-lt"/>
                <a:cs typeface="Times New Roman" panose="02020603050405020304" pitchFamily="18" charset="0"/>
              </a:rPr>
              <a:t>Quốc </a:t>
            </a:r>
            <a:r>
              <a:rPr lang="en-US" sz="1400" b="1" dirty="0" err="1">
                <a:solidFill>
                  <a:srgbClr val="141ED2"/>
                </a:solidFill>
                <a:latin typeface="+mj-lt"/>
                <a:cs typeface="Times New Roman" panose="02020603050405020304" pitchFamily="18" charset="0"/>
              </a:rPr>
              <a:t>tế</a:t>
            </a:r>
            <a:endParaRPr lang="en-US" sz="1400" b="1" dirty="0">
              <a:solidFill>
                <a:srgbClr val="141ED2"/>
              </a:solidFill>
              <a:latin typeface="+mj-lt"/>
              <a:cs typeface="Times New Roman" panose="02020603050405020304" pitchFamily="18" charset="0"/>
            </a:endParaRPr>
          </a:p>
          <a:p>
            <a:pPr>
              <a:lnSpc>
                <a:spcPct val="150000"/>
              </a:lnSpc>
            </a:pPr>
            <a:endParaRPr lang="en-US" sz="1400" dirty="0">
              <a:latin typeface="+mj-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BD6E5AEA-65D3-A6C9-7C6A-63F9481C9DA8}"/>
              </a:ext>
            </a:extLst>
          </p:cNvPr>
          <p:cNvSpPr>
            <a:spLocks noGrp="1"/>
          </p:cNvSpPr>
          <p:nvPr>
            <p:ph type="sldNum" sz="quarter" idx="12"/>
          </p:nvPr>
        </p:nvSpPr>
        <p:spPr/>
        <p:txBody>
          <a:bodyPr/>
          <a:lstStyle/>
          <a:p>
            <a:fld id="{09BC8EBE-3F66-4987-8598-90D38544136D}" type="slidenum">
              <a:rPr lang="en-US" smtClean="0"/>
              <a:t>7</a:t>
            </a:fld>
            <a:endParaRPr lang="en-US"/>
          </a:p>
        </p:txBody>
      </p:sp>
      <p:graphicFrame>
        <p:nvGraphicFramePr>
          <p:cNvPr id="3" name="Table 2">
            <a:extLst>
              <a:ext uri="{FF2B5EF4-FFF2-40B4-BE49-F238E27FC236}">
                <a16:creationId xmlns:a16="http://schemas.microsoft.com/office/drawing/2014/main" id="{E543C129-FA9E-58D6-50EA-AE21A11F02DA}"/>
              </a:ext>
            </a:extLst>
          </p:cNvPr>
          <p:cNvGraphicFramePr>
            <a:graphicFrameLocks noGrp="1"/>
          </p:cNvGraphicFramePr>
          <p:nvPr>
            <p:extLst>
              <p:ext uri="{D42A27DB-BD31-4B8C-83A1-F6EECF244321}">
                <p14:modId xmlns:p14="http://schemas.microsoft.com/office/powerpoint/2010/main" val="4008172330"/>
              </p:ext>
            </p:extLst>
          </p:nvPr>
        </p:nvGraphicFramePr>
        <p:xfrm>
          <a:off x="364321" y="3577080"/>
          <a:ext cx="11463358" cy="206375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r h="169612">
                <a:tc>
                  <a:txBody>
                    <a:bodyPr/>
                    <a:lstStyle/>
                    <a:p>
                      <a:pPr algn="l" fontAlgn="b"/>
                      <a:r>
                        <a:rPr lang="en-US" sz="1400" b="0" i="0" u="none" strike="noStrike">
                          <a:solidFill>
                            <a:srgbClr val="000000"/>
                          </a:solidFill>
                          <a:effectLst/>
                          <a:latin typeface="Calibri" panose="020F0502020204030204" pitchFamily="34" charset="0"/>
                        </a:rPr>
                        <a:t>07/08/2026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[United States] Non Farm Payrolls</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0001"/>
                  </a:ext>
                </a:extLst>
              </a:tr>
              <a:tr h="169612">
                <a:tc>
                  <a:txBody>
                    <a:bodyPr/>
                    <a:lstStyle/>
                    <a:p>
                      <a:pPr algn="l" fontAlgn="b"/>
                      <a:r>
                        <a:rPr lang="en-US" sz="1400" b="0" i="0" u="none" strike="noStrike">
                          <a:solidFill>
                            <a:srgbClr val="000000"/>
                          </a:solidFill>
                          <a:effectLst/>
                          <a:latin typeface="Calibri" panose="020F0502020204030204" pitchFamily="34" charset="0"/>
                        </a:rPr>
                        <a:t>09/08/2026</a:t>
                      </a:r>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r>
                        <a:rPr lang="en-US" sz="1400" b="0" u="none" strike="noStrike" kern="1200">
                          <a:solidFill>
                            <a:srgbClr val="000000"/>
                          </a:solidFill>
                          <a:effectLst/>
                          <a:latin typeface="+mn-lt"/>
                          <a:ea typeface="+mn-ea"/>
                          <a:cs typeface="+mn-cs"/>
                        </a:rPr>
                        <a:t>[China] Inflation Rate YoY</a:t>
                      </a: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568331513"/>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936472446"/>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2703509514"/>
                  </a:ext>
                </a:extLst>
              </a:tr>
              <a:tr h="169612">
                <a:tc>
                  <a:txBody>
                    <a:bodyPr/>
                    <a:lstStyle/>
                    <a:p>
                      <a:pPr algn="l" fontAlgn="b"/>
                      <a:endParaRPr lang="en-US" sz="1400" b="0" i="0" u="none" strike="noStrike" dirty="0">
                        <a:solidFill>
                          <a:srgbClr val="000000"/>
                        </a:solidFill>
                        <a:effectLst/>
                        <a:latin typeface="Calibri" panose="020F0502020204030204" pitchFamily="34" charset="0"/>
                      </a:endParaRPr>
                    </a:p>
                  </a:txBody>
                  <a:tcPr marL="45720" marR="45720" anchor="ctr"/>
                </a:tc>
                <a:tc>
                  <a:txBody>
                    <a:bodyPr/>
                    <a:lstStyle/>
                    <a:p>
                      <a:pPr marL="0" marR="0" lvl="0" indent="0" algn="l" defTabSz="914400" rtl="0" eaLnBrk="1" fontAlgn="b" latinLnBrk="0" hangingPunct="1">
                        <a:lnSpc>
                          <a:spcPct val="150000"/>
                        </a:lnSpc>
                        <a:spcBef>
                          <a:spcPts val="0"/>
                        </a:spcBef>
                        <a:spcAft>
                          <a:spcPts val="0"/>
                        </a:spcAft>
                        <a:buClrTx/>
                        <a:buSzTx/>
                        <a:buFontTx/>
                        <a:buNone/>
                        <a:tabLst/>
                        <a:defRPr/>
                      </a:pPr>
                      <a:endParaRPr lang="en-US" sz="1400" b="0" u="none" strike="noStrike" kern="1200" dirty="0">
                        <a:solidFill>
                          <a:srgbClr val="000000"/>
                        </a:solidFill>
                        <a:effectLst/>
                        <a:latin typeface="+mn-lt"/>
                        <a:ea typeface="+mn-ea"/>
                        <a:cs typeface="+mn-cs"/>
                      </a:endParaRPr>
                    </a:p>
                  </a:txBody>
                  <a:tcPr marL="45720" marR="45720" anchor="ctr"/>
                </a:tc>
                <a:extLst>
                  <a:ext uri="{0D108BD9-81ED-4DB2-BD59-A6C34878D82A}">
                    <a16:rowId xmlns:a16="http://schemas.microsoft.com/office/drawing/2014/main" val="1879009439"/>
                  </a:ext>
                </a:extLst>
              </a:tr>
            </a:tbl>
          </a:graphicData>
        </a:graphic>
      </p:graphicFrame>
      <p:graphicFrame>
        <p:nvGraphicFramePr>
          <p:cNvPr id="2" name="Table 1">
            <a:extLst>
              <a:ext uri="{FF2B5EF4-FFF2-40B4-BE49-F238E27FC236}">
                <a16:creationId xmlns:a16="http://schemas.microsoft.com/office/drawing/2014/main" id="{1AD4413C-9908-D492-D53F-AD247402BDE3}"/>
              </a:ext>
            </a:extLst>
          </p:cNvPr>
          <p:cNvGraphicFramePr>
            <a:graphicFrameLocks noGrp="1"/>
          </p:cNvGraphicFramePr>
          <p:nvPr>
            <p:extLst>
              <p:ext uri="{D42A27DB-BD31-4B8C-83A1-F6EECF244321}">
                <p14:modId xmlns:p14="http://schemas.microsoft.com/office/powerpoint/2010/main" val="169393774"/>
              </p:ext>
            </p:extLst>
          </p:nvPr>
        </p:nvGraphicFramePr>
        <p:xfrm>
          <a:off x="364321" y="1385240"/>
          <a:ext cx="11463358" cy="304800"/>
        </p:xfrm>
        <a:graphic>
          <a:graphicData uri="http://schemas.openxmlformats.org/drawingml/2006/table">
            <a:tbl>
              <a:tblPr bandRow="1">
                <a:tableStyleId>{3B4B98B0-60AC-42C2-AFA5-B58CD77FA1E5}</a:tableStyleId>
              </a:tblPr>
              <a:tblGrid>
                <a:gridCol w="2494208">
                  <a:extLst>
                    <a:ext uri="{9D8B030D-6E8A-4147-A177-3AD203B41FA5}">
                      <a16:colId xmlns:a16="http://schemas.microsoft.com/office/drawing/2014/main" val="20000"/>
                    </a:ext>
                  </a:extLst>
                </a:gridCol>
                <a:gridCol w="8969150">
                  <a:extLst>
                    <a:ext uri="{9D8B030D-6E8A-4147-A177-3AD203B41FA5}">
                      <a16:colId xmlns:a16="http://schemas.microsoft.com/office/drawing/2014/main" val="20001"/>
                    </a:ext>
                  </a:extLst>
                </a:gridCol>
              </a:tblGrid>
              <a:tr h="174337">
                <a:tc>
                  <a:txBody>
                    <a:bodyPr/>
                    <a:lstStyle/>
                    <a:p>
                      <a:pPr algn="l" fontAlgn="b"/>
                      <a:r>
                        <a:rPr lang="en-US" sz="1400" b="1" u="none" strike="noStrike" dirty="0" err="1">
                          <a:solidFill>
                            <a:schemeClr val="tx1"/>
                          </a:solidFill>
                          <a:effectLst/>
                        </a:rPr>
                        <a:t>Ngày</a:t>
                      </a:r>
                      <a:endParaRPr lang="en-US" sz="1400" b="1" i="0" u="none" strike="noStrike" dirty="0">
                        <a:solidFill>
                          <a:schemeClr val="tx1"/>
                        </a:solidFill>
                        <a:effectLst/>
                        <a:latin typeface="Calibri" panose="020F0502020204030204" pitchFamily="34" charset="0"/>
                      </a:endParaRPr>
                    </a:p>
                  </a:txBody>
                  <a:tcPr marL="45720" marR="45720" anchor="ctr"/>
                </a:tc>
                <a:tc>
                  <a:txBody>
                    <a:bodyPr/>
                    <a:lstStyle/>
                    <a:p>
                      <a:pPr algn="ctr" fontAlgn="b"/>
                      <a:r>
                        <a:rPr lang="en-US" sz="1400" b="1" u="none" strike="noStrike" dirty="0" err="1">
                          <a:solidFill>
                            <a:schemeClr val="tx1"/>
                          </a:solidFill>
                          <a:effectLst/>
                        </a:rPr>
                        <a:t>Sự</a:t>
                      </a:r>
                      <a:r>
                        <a:rPr lang="en-US" sz="1400" b="1" u="none" strike="noStrike" dirty="0">
                          <a:solidFill>
                            <a:schemeClr val="tx1"/>
                          </a:solidFill>
                          <a:effectLst/>
                        </a:rPr>
                        <a:t> </a:t>
                      </a:r>
                      <a:r>
                        <a:rPr lang="en-US" sz="1400" b="1" u="none" strike="noStrike" dirty="0" err="1">
                          <a:solidFill>
                            <a:schemeClr val="tx1"/>
                          </a:solidFill>
                          <a:effectLst/>
                        </a:rPr>
                        <a:t>kiện</a:t>
                      </a:r>
                      <a:endParaRPr lang="en-US" sz="1400" b="1" i="0" u="none" strike="noStrike" dirty="0">
                        <a:solidFill>
                          <a:schemeClr val="tx1"/>
                        </a:solidFill>
                        <a:effectLst/>
                        <a:latin typeface="Calibri" panose="020F0502020204030204" pitchFamily="34" charset="0"/>
                      </a:endParaRPr>
                    </a:p>
                  </a:txBody>
                  <a:tcPr marL="45720" marR="45720" anchor="ct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3504375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8" name="Text Placeholder 7">
            <a:extLst>
              <a:ext uri="{FF2B5EF4-FFF2-40B4-BE49-F238E27FC236}">
                <a16:creationId xmlns:a16="http://schemas.microsoft.com/office/drawing/2014/main" id="{D1C2EF0C-B614-16E0-B17F-10D8DAD097F5}"/>
              </a:ext>
            </a:extLst>
          </p:cNvPr>
          <p:cNvSpPr>
            <a:spLocks noGrp="1"/>
          </p:cNvSpPr>
          <p:nvPr>
            <p:ph type="body" idx="1"/>
          </p:nvPr>
        </p:nvSpPr>
        <p:spPr>
          <a:xfrm>
            <a:off x="257561" y="914400"/>
            <a:ext cx="11676878" cy="5807075"/>
          </a:xfrm>
        </p:spPr>
        <p:txBody>
          <a:bodyPr anchor="t">
            <a:noAutofit/>
          </a:bodyPr>
          <a:lstStyle/>
          <a:p>
            <a:pPr marL="171450" indent="-171450" algn="just">
              <a:lnSpc>
                <a:spcPct val="150000"/>
              </a:lnSpc>
              <a:buFont typeface="Arial" panose="020B0604020202020204" pitchFamily="34" charset="0"/>
              <a:buChar char="•"/>
            </a:pPr>
            <a:r>
              <a:rPr lang="vi-VN" sz="1100" b="0" dirty="0"/>
              <a:t>Trong tuần 27/07–31/07/2026, VNINDEX tăng 50 điểm (2,9%) lên 1.736 điểm, trong khi thanh khoản giảm 14% so với tuần trước. VN30 tăng 43 điểm (2,3%) lên 1.872 điểm với thanh khoản giảm 16%. Độ rộng thị trường cải thiện rõ rệt với 232/427 mã tăng giá, 168 mã giảm và 27 mã đứng giá, tích cực hơn đáng kể so với tuần trước chỉ có 58/426 mã tăng giá. Thị trường giảm 1,0% ngay trong phiên đầu tuần xuống 1.669 điểm, sau đó phục hồi liên tiếp trong ba phiên 28–30/07 với tổng mức tăng gần 76 điểm, đưa VNINDEX lên 1.745 điểm. Nhìn chung, nhịp hồi đã có sự lan tỏa tốt hơn về mặt độ rộng, tuy nhiên thanh khoản suy giảm cho thấy dòng tiền vẫn thận trọng và chưa xác nhận một xu hướng tăng bền vững. Đặc biệt, VNINDEX mở cửa tăng 20 điểm sau đó đóng cửa giảm 9 điểm trong phiên cuối tuần cho thấy khả năng thị trường quay đầu giảm trong tuần sau. </a:t>
            </a:r>
          </a:p>
          <a:p>
            <a:pPr marL="171450" indent="-171450" algn="just">
              <a:lnSpc>
                <a:spcPct val="150000"/>
              </a:lnSpc>
              <a:buFont typeface="Arial" panose="020B0604020202020204" pitchFamily="34" charset="0"/>
              <a:buChar char="•"/>
            </a:pPr>
            <a:r>
              <a:rPr lang="vi-VN" sz="1100" b="0" dirty="0"/>
              <a:t>Về vĩ mô trong nước, GDP 6 tháng đầu năm tăng 8,18%, tạo nền tảng hỗ trợ cho thị trường, dù CPI bình quân tăng 4,38% khiến dư địa nới lỏng chính sách tiền tệ cần được cân nhắc thận trọng. Trên thế giới, Fed giữ nguyên lãi suất ở mức 3,5%–3,75% trong bối cảnh lạm phát vẫn cao hơn mục tiêu, và GDP Mỹ quý II chỉ tăng 1,5%, thấp hơn consensus 1,8%, phản ánh rủi ro tăng trưởng chậm lại. Căng thẳng Mỹ – Iran tạm thời hạ nhiệt khi hai bên ngừng các đợt tấn công và nối lại nỗ lực đàm phán, qua đó giúp giảm bớt phần bù rủi ro trên thị trường năng lượng. Giá dầu Brent trong tuần giảm gần 6%, từ 92 USD/thùng xuống 86 USD/thùng. </a:t>
            </a:r>
          </a:p>
          <a:p>
            <a:pPr marL="171450" indent="-171450" algn="just">
              <a:lnSpc>
                <a:spcPct val="150000"/>
              </a:lnSpc>
              <a:buFont typeface="Arial" panose="020B0604020202020204" pitchFamily="34" charset="0"/>
              <a:buChar char="•"/>
            </a:pPr>
            <a:r>
              <a:rPr lang="vi-VN" sz="1100" b="0" dirty="0"/>
              <a:t>Dự báo VNINDEX sẽ dao động chủ yếu trong vùng 1.680 – 1.740 điểm trong tuần sau. </a:t>
            </a:r>
          </a:p>
          <a:p>
            <a:pPr marL="171450" indent="-171450" algn="just">
              <a:lnSpc>
                <a:spcPct val="150000"/>
              </a:lnSpc>
              <a:buFont typeface="Arial" panose="020B0604020202020204" pitchFamily="34" charset="0"/>
              <a:buChar char="•"/>
            </a:pPr>
            <a:endParaRPr lang="vi-VN" sz="1100" b="0" dirty="0"/>
          </a:p>
          <a:p>
            <a:pPr marL="171450" indent="-171450" algn="just">
              <a:lnSpc>
                <a:spcPct val="150000"/>
              </a:lnSpc>
              <a:buFont typeface="Arial" panose="020B0604020202020204" pitchFamily="34" charset="0"/>
              <a:buChar char="•"/>
            </a:pPr>
            <a:endParaRPr lang="vi-VN" sz="1100" b="0" dirty="0"/>
          </a:p>
        </p:txBody>
      </p: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vi-VN" sz="1800" b="1">
                <a:solidFill>
                  <a:srgbClr val="141ED2"/>
                </a:solidFill>
                <a:ea typeface="Tahoma" panose="020B0604030504040204" pitchFamily="34" charset="0"/>
                <a:cs typeface="Times New Roman" panose="02020603050405020304" pitchFamily="18" charset="0"/>
              </a:rPr>
              <a:t>NHẬN ĐỊNH THỊ TRƯỜNG TUẦN 03/08/2026 – 07/08/2026</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1599392C-D4F1-51F2-AE95-76854FE8196C}"/>
              </a:ext>
            </a:extLst>
          </p:cNvPr>
          <p:cNvSpPr>
            <a:spLocks noGrp="1"/>
          </p:cNvSpPr>
          <p:nvPr>
            <p:ph type="sldNum" sz="quarter" idx="12"/>
          </p:nvPr>
        </p:nvSpPr>
        <p:spPr/>
        <p:txBody>
          <a:bodyPr/>
          <a:lstStyle/>
          <a:p>
            <a:fld id="{09BC8EBE-3F66-4987-8598-90D38544136D}" type="slidenum">
              <a:rPr lang="en-US" smtClean="0"/>
              <a:t>8</a:t>
            </a:fld>
            <a:endParaRPr lang="en-US"/>
          </a:p>
        </p:txBody>
      </p:sp>
    </p:spTree>
    <p:extLst>
      <p:ext uri="{BB962C8B-B14F-4D97-AF65-F5344CB8AC3E}">
        <p14:creationId xmlns:p14="http://schemas.microsoft.com/office/powerpoint/2010/main" val="9966803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0CF2F-2891-B675-F483-98B3FC69F0BA}"/>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ADC42DA8-CC49-FACB-ED37-68E72B51C25C}"/>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623AE942-9D6D-ED13-84E7-98B768A2EFD3}"/>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24FC048D-159C-5638-DF97-BF8F03F2A6E9}"/>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A32486F2-7BBA-4111-65B4-16D1244439B6}"/>
              </a:ext>
            </a:extLst>
          </p:cNvPr>
          <p:cNvSpPr>
            <a:spLocks noGrp="1"/>
          </p:cNvSpPr>
          <p:nvPr>
            <p:ph type="sldNum" sz="quarter" idx="12"/>
          </p:nvPr>
        </p:nvSpPr>
        <p:spPr/>
        <p:txBody>
          <a:bodyPr/>
          <a:lstStyle/>
          <a:p>
            <a:fld id="{09BC8EBE-3F66-4987-8598-90D38544136D}" type="slidenum">
              <a:rPr lang="en-US" smtClean="0"/>
              <a:t>9</a:t>
            </a:fld>
            <a:endParaRPr lang="en-US" dirty="0"/>
          </a:p>
        </p:txBody>
      </p:sp>
      <p:graphicFrame>
        <p:nvGraphicFramePr>
          <p:cNvPr id="4" name="Table 3">
            <a:extLst>
              <a:ext uri="{FF2B5EF4-FFF2-40B4-BE49-F238E27FC236}">
                <a16:creationId xmlns:a16="http://schemas.microsoft.com/office/drawing/2014/main" id="{84DA4063-CA1C-ACAF-5ED4-A58412D18276}"/>
              </a:ext>
            </a:extLst>
          </p:cNvPr>
          <p:cNvGraphicFramePr>
            <a:graphicFrameLocks noGrp="1"/>
          </p:cNvGraphicFramePr>
          <p:nvPr>
            <p:extLst>
              <p:ext uri="{D42A27DB-BD31-4B8C-83A1-F6EECF244321}">
                <p14:modId xmlns:p14="http://schemas.microsoft.com/office/powerpoint/2010/main" val="2044866656"/>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30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FRT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124.400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49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148.100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76,97%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48,10%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VRE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-28,75%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41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59.300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36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46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28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37.850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-20,78%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FPT</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67.100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54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CTG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30.800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DGC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-18,37%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-68,35%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35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BSR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25.350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57,45%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47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BID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38.000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-30,24%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GMD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77.000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GVR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27.500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REE</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46.500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93,15%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-26,52%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16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MWG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69.900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HPG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-17,72%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NKG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288,24%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DPM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NLG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-45,57%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42</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DCM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30.700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3,89%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-8,66%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-0,69%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6,23%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-43,70%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-21,33%</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14460054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F319F68D-5A43-40F5-8D46-9A0989284A32}"/>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78E1B08-BF77-124A-880E-8FCBA0C71676}"/>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E33D6793-C142-1267-CD98-44105357C7FC}"/>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76F05E8C-AEDB-2F83-7F33-0859E3AE1D72}"/>
              </a:ext>
            </a:extLst>
          </p:cNvPr>
          <p:cNvSpPr>
            <a:spLocks noGrp="1"/>
          </p:cNvSpPr>
          <p:nvPr>
            <p:ph type="sldNum" sz="quarter" idx="12"/>
          </p:nvPr>
        </p:nvSpPr>
        <p:spPr/>
        <p:txBody>
          <a:bodyPr/>
          <a:lstStyle/>
          <a:p>
            <a:fld id="{09BC8EBE-3F66-4987-8598-90D38544136D}" type="slidenum">
              <a:rPr lang="en-US" smtClean="0"/>
              <a:t>10</a:t>
            </a:fld>
            <a:endParaRPr lang="en-US" dirty="0"/>
          </a:p>
        </p:txBody>
      </p:sp>
      <p:graphicFrame>
        <p:nvGraphicFramePr>
          <p:cNvPr id="9" name="Table 8">
            <a:extLst>
              <a:ext uri="{FF2B5EF4-FFF2-40B4-BE49-F238E27FC236}">
                <a16:creationId xmlns:a16="http://schemas.microsoft.com/office/drawing/2014/main" id="{FBBA8233-D1FC-43BF-8E94-2CA691EC02E6}"/>
              </a:ext>
            </a:extLst>
          </p:cNvPr>
          <p:cNvGraphicFramePr>
            <a:graphicFrameLocks noGrp="1"/>
          </p:cNvGraphicFramePr>
          <p:nvPr>
            <p:extLst>
              <p:ext uri="{D42A27DB-BD31-4B8C-83A1-F6EECF244321}">
                <p14:modId xmlns:p14="http://schemas.microsoft.com/office/powerpoint/2010/main" val="945741475"/>
              </p:ext>
            </p:extLst>
          </p:nvPr>
        </p:nvGraphicFramePr>
        <p:xfrm>
          <a:off x="254000" y="800222"/>
          <a:ext cx="11649965" cy="578963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MSN</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66.100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-69,61%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-37,48%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60.900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-11,53%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SSI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57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GEX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22.500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18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HSG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10.700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GAS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68.600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DXG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56,94%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-27,56%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POW</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-66,79%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65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IJC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-29,52%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34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39.383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2,79%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-43,62%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-51,28%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45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EIB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347,16%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-18,83%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PC1</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-31,74%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-16,46%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DBC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-38,27%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-39,71%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37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28.950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-8,00%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62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ANV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-70,87%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64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PNJ</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31.000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-62,25%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88257623"/>
                  </a:ext>
                </a:extLst>
              </a:tr>
              <a:tr h="199004">
                <a:tc>
                  <a:txBody>
                    <a:bodyPr/>
                    <a:lstStyle/>
                    <a:p>
                      <a:pPr algn="ctr" fontAlgn="ctr"/>
                      <a:r>
                        <a:rPr lang="en-VN" sz="1000" b="0" i="0" u="none" strike="noStrike">
                          <a:solidFill>
                            <a:srgbClr val="002060"/>
                          </a:solidFill>
                          <a:effectLst/>
                          <a:latin typeface="Arial" panose="020B0604020202020204" pitchFamily="34" charset="0"/>
                        </a:rPr>
                        <a:t>43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-9,77%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-28,97%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14088501"/>
                  </a:ext>
                </a:extLst>
              </a:tr>
              <a:tr h="199004">
                <a:tc>
                  <a:txBody>
                    <a:bodyPr/>
                    <a:lstStyle/>
                    <a:p>
                      <a:pPr algn="ctr" fontAlgn="ctr"/>
                      <a:r>
                        <a:rPr lang="en-VN" sz="1000" b="0" i="0" u="none" strike="noStrike">
                          <a:solidFill>
                            <a:srgbClr val="002060"/>
                          </a:solidFill>
                          <a:effectLst/>
                          <a:latin typeface="Arial" panose="020B0604020202020204" pitchFamily="34" charset="0"/>
                        </a:rPr>
                        <a:t>22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VND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0,61%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-19,18%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999025141"/>
                  </a:ext>
                </a:extLst>
              </a:tr>
              <a:tr h="199004">
                <a:tc>
                  <a:txBody>
                    <a:bodyPr/>
                    <a:lstStyle/>
                    <a:p>
                      <a:pPr algn="ctr" fontAlgn="ctr"/>
                      <a:r>
                        <a:rPr lang="en-VN" sz="1000" b="0" i="0" u="none" strike="noStrike">
                          <a:solidFill>
                            <a:srgbClr val="002060"/>
                          </a:solidFill>
                          <a:effectLst/>
                          <a:latin typeface="Arial" panose="020B0604020202020204" pitchFamily="34" charset="0"/>
                        </a:rPr>
                        <a:t>58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HAH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45.250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-8,53%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1682995"/>
                  </a:ext>
                </a:extLst>
              </a:tr>
              <a:tr h="199004">
                <a:tc>
                  <a:txBody>
                    <a:bodyPr/>
                    <a:lstStyle/>
                    <a:p>
                      <a:pPr algn="ctr" fontAlgn="ctr"/>
                      <a:r>
                        <a:rPr lang="en-VN" sz="1000" b="0" i="0" u="none" strike="noStrike">
                          <a:solidFill>
                            <a:srgbClr val="002060"/>
                          </a:solidFill>
                          <a:effectLst/>
                          <a:latin typeface="Arial" panose="020B0604020202020204" pitchFamily="34" charset="0"/>
                        </a:rPr>
                        <a:t>24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VIC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311,73%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72,92%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351,61%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717489564"/>
                  </a:ext>
                </a:extLst>
              </a:tr>
              <a:tr h="199004">
                <a:tc>
                  <a:txBody>
                    <a:bodyPr/>
                    <a:lstStyle/>
                    <a:p>
                      <a:pPr algn="ctr" fontAlgn="ctr"/>
                      <a:r>
                        <a:rPr lang="en-VN" sz="1000" b="0" i="0" u="none" strike="noStrike">
                          <a:solidFill>
                            <a:srgbClr val="002060"/>
                          </a:solidFill>
                          <a:effectLst/>
                          <a:latin typeface="Arial" panose="020B0604020202020204" pitchFamily="34" charset="0"/>
                        </a:rPr>
                        <a:t>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NVL</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0,39%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-31,83%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33,10%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-35,49%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67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KDH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17.450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6,40%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-47,76%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SAB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43.550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10,30%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-8,95%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44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HHV</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9.960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-36,06%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-42,05%</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31</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KBC</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27.800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-0,18%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-6,71%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-21,36%</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-32,44%</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3,73%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22,7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21,73%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-19,85%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2590331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EB6B6-4C21-BB2C-0DCA-53F6BA9DC7E5}"/>
            </a:ext>
          </a:extLst>
        </p:cNvPr>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EF08F11E-ED6A-DABE-4118-1E1609DB07F7}"/>
              </a:ext>
            </a:extLst>
          </p:cNvPr>
          <p:cNvCxnSpPr/>
          <p:nvPr/>
        </p:nvCxnSpPr>
        <p:spPr>
          <a:xfrm flipV="1">
            <a:off x="261122" y="726334"/>
            <a:ext cx="11676878" cy="0"/>
          </a:xfrm>
          <a:prstGeom prst="line">
            <a:avLst/>
          </a:prstGeom>
          <a:ln>
            <a:solidFill>
              <a:srgbClr val="141EDC"/>
            </a:solidFill>
          </a:ln>
        </p:spPr>
        <p:style>
          <a:lnRef idx="1">
            <a:schemeClr val="accent1"/>
          </a:lnRef>
          <a:fillRef idx="0">
            <a:schemeClr val="accent1"/>
          </a:fillRef>
          <a:effectRef idx="0">
            <a:schemeClr val="accent1"/>
          </a:effectRef>
          <a:fontRef idx="minor">
            <a:schemeClr val="tx1"/>
          </a:fontRef>
        </p:style>
      </p:cxnSp>
      <p:sp>
        <p:nvSpPr>
          <p:cNvPr id="17" name="Title 5">
            <a:extLst>
              <a:ext uri="{FF2B5EF4-FFF2-40B4-BE49-F238E27FC236}">
                <a16:creationId xmlns:a16="http://schemas.microsoft.com/office/drawing/2014/main" id="{50C06C6F-9E47-2E51-CCE2-125829A70D57}"/>
              </a:ext>
            </a:extLst>
          </p:cNvPr>
          <p:cNvSpPr txBox="1">
            <a:spLocks/>
          </p:cNvSpPr>
          <p:nvPr/>
        </p:nvSpPr>
        <p:spPr>
          <a:xfrm>
            <a:off x="291437" y="349186"/>
            <a:ext cx="7991728" cy="355038"/>
          </a:xfrm>
          <a:prstGeom prst="rect">
            <a:avLst/>
          </a:prstGeom>
          <a:solidFill>
            <a:schemeClr val="bg1"/>
          </a:solidFill>
        </p:spPr>
        <p:txBody>
          <a:bodyPr vert="horz" lIns="91440" tIns="45720" rIns="91440" bIns="45720" rtlCol="0" anchor="t">
            <a:noAutofit/>
          </a:bodyPr>
          <a:lstStyle>
            <a:lvl1pPr algn="l" defTabSz="914400" rtl="0" eaLnBrk="1" latinLnBrk="0" hangingPunct="1">
              <a:lnSpc>
                <a:spcPct val="90000"/>
              </a:lnSpc>
              <a:spcBef>
                <a:spcPct val="0"/>
              </a:spcBef>
              <a:buNone/>
              <a:defRPr sz="1875" kern="1200">
                <a:solidFill>
                  <a:schemeClr val="accent1"/>
                </a:solidFill>
                <a:latin typeface="+mj-lt"/>
                <a:ea typeface="+mj-ea"/>
                <a:cs typeface="+mj-cs"/>
              </a:defRPr>
            </a:lvl1pPr>
          </a:lstStyle>
          <a:p>
            <a:pPr>
              <a:lnSpc>
                <a:spcPct val="114000"/>
              </a:lnSpc>
              <a:spcBef>
                <a:spcPts val="300"/>
              </a:spcBef>
              <a:spcAft>
                <a:spcPts val="300"/>
              </a:spcAft>
            </a:pPr>
            <a:r>
              <a:rPr lang="en-US" sz="1800" b="1" dirty="0">
                <a:solidFill>
                  <a:srgbClr val="141ED2"/>
                </a:solidFill>
                <a:ea typeface="Tahoma" panose="020B0604030504040204" pitchFamily="34" charset="0"/>
                <a:cs typeface="Times New Roman" panose="02020603050405020304" pitchFamily="18" charset="0"/>
              </a:rPr>
              <a:t>DANH MỤC CỔ PHIẾU THEO DÕI</a:t>
            </a:r>
            <a:endParaRPr lang="en-AU" sz="1800" b="1" dirty="0">
              <a:solidFill>
                <a:srgbClr val="141ED2"/>
              </a:solidFill>
              <a:ea typeface="Tahoma" panose="020B0604030504040204" pitchFamily="34" charset="0"/>
              <a:cs typeface="Times New Roman" panose="02020603050405020304" pitchFamily="18" charset="0"/>
            </a:endParaRPr>
          </a:p>
        </p:txBody>
      </p:sp>
      <p:sp>
        <p:nvSpPr>
          <p:cNvPr id="2" name="Text Placeholder 7">
            <a:extLst>
              <a:ext uri="{FF2B5EF4-FFF2-40B4-BE49-F238E27FC236}">
                <a16:creationId xmlns:a16="http://schemas.microsoft.com/office/drawing/2014/main" id="{BE555233-330D-C30B-8BEA-B65C630650DB}"/>
              </a:ext>
            </a:extLst>
          </p:cNvPr>
          <p:cNvSpPr txBox="1">
            <a:spLocks/>
          </p:cNvSpPr>
          <p:nvPr/>
        </p:nvSpPr>
        <p:spPr>
          <a:xfrm>
            <a:off x="261122" y="858133"/>
            <a:ext cx="11676878" cy="5650679"/>
          </a:xfrm>
          <a:prstGeom prst="rect">
            <a:avLst/>
          </a:prstGeom>
        </p:spPr>
        <p:txBody>
          <a:bodyPr vert="horz" lIns="91440" tIns="45720" rIns="91440" bIns="45720" rtlCol="0" anchor="t">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None/>
            </a:pPr>
            <a:endParaRPr lang="vi-VN" sz="1100" dirty="0"/>
          </a:p>
        </p:txBody>
      </p:sp>
      <p:sp>
        <p:nvSpPr>
          <p:cNvPr id="3" name="Slide Number Placeholder 2">
            <a:extLst>
              <a:ext uri="{FF2B5EF4-FFF2-40B4-BE49-F238E27FC236}">
                <a16:creationId xmlns:a16="http://schemas.microsoft.com/office/drawing/2014/main" id="{0E23904C-FBE6-E09A-DD1A-2006ECC4D97B}"/>
              </a:ext>
            </a:extLst>
          </p:cNvPr>
          <p:cNvSpPr>
            <a:spLocks noGrp="1"/>
          </p:cNvSpPr>
          <p:nvPr>
            <p:ph type="sldNum" sz="quarter" idx="12"/>
          </p:nvPr>
        </p:nvSpPr>
        <p:spPr/>
        <p:txBody>
          <a:bodyPr/>
          <a:lstStyle/>
          <a:p>
            <a:fld id="{09BC8EBE-3F66-4987-8598-90D38544136D}" type="slidenum">
              <a:rPr lang="en-US" smtClean="0"/>
              <a:t>11</a:t>
            </a:fld>
            <a:endParaRPr lang="en-US"/>
          </a:p>
        </p:txBody>
      </p:sp>
      <p:graphicFrame>
        <p:nvGraphicFramePr>
          <p:cNvPr id="5" name="Table 4">
            <a:extLst>
              <a:ext uri="{FF2B5EF4-FFF2-40B4-BE49-F238E27FC236}">
                <a16:creationId xmlns:a16="http://schemas.microsoft.com/office/drawing/2014/main" id="{D6A6A812-72CB-162F-0BBD-281F70701BD7}"/>
              </a:ext>
            </a:extLst>
          </p:cNvPr>
          <p:cNvGraphicFramePr>
            <a:graphicFrameLocks noGrp="1"/>
          </p:cNvGraphicFramePr>
          <p:nvPr>
            <p:extLst>
              <p:ext uri="{D42A27DB-BD31-4B8C-83A1-F6EECF244321}">
                <p14:modId xmlns:p14="http://schemas.microsoft.com/office/powerpoint/2010/main" val="2113392359"/>
              </p:ext>
            </p:extLst>
          </p:nvPr>
        </p:nvGraphicFramePr>
        <p:xfrm>
          <a:off x="254000" y="800222"/>
          <a:ext cx="11649965" cy="4794619"/>
        </p:xfrm>
        <a:graphic>
          <a:graphicData uri="http://schemas.openxmlformats.org/drawingml/2006/table">
            <a:tbl>
              <a:tblPr/>
              <a:tblGrid>
                <a:gridCol w="665994">
                  <a:extLst>
                    <a:ext uri="{9D8B030D-6E8A-4147-A177-3AD203B41FA5}">
                      <a16:colId xmlns:a16="http://schemas.microsoft.com/office/drawing/2014/main" val="3609177296"/>
                    </a:ext>
                  </a:extLst>
                </a:gridCol>
                <a:gridCol w="941463">
                  <a:extLst>
                    <a:ext uri="{9D8B030D-6E8A-4147-A177-3AD203B41FA5}">
                      <a16:colId xmlns:a16="http://schemas.microsoft.com/office/drawing/2014/main" val="11533311"/>
                    </a:ext>
                  </a:extLst>
                </a:gridCol>
                <a:gridCol w="1101725">
                  <a:extLst>
                    <a:ext uri="{9D8B030D-6E8A-4147-A177-3AD203B41FA5}">
                      <a16:colId xmlns:a16="http://schemas.microsoft.com/office/drawing/2014/main" val="1170135006"/>
                    </a:ext>
                  </a:extLst>
                </a:gridCol>
                <a:gridCol w="1013639">
                  <a:extLst>
                    <a:ext uri="{9D8B030D-6E8A-4147-A177-3AD203B41FA5}">
                      <a16:colId xmlns:a16="http://schemas.microsoft.com/office/drawing/2014/main" val="694206273"/>
                    </a:ext>
                  </a:extLst>
                </a:gridCol>
                <a:gridCol w="1013639">
                  <a:extLst>
                    <a:ext uri="{9D8B030D-6E8A-4147-A177-3AD203B41FA5}">
                      <a16:colId xmlns:a16="http://schemas.microsoft.com/office/drawing/2014/main" val="1939204059"/>
                    </a:ext>
                  </a:extLst>
                </a:gridCol>
                <a:gridCol w="1013639">
                  <a:extLst>
                    <a:ext uri="{9D8B030D-6E8A-4147-A177-3AD203B41FA5}">
                      <a16:colId xmlns:a16="http://schemas.microsoft.com/office/drawing/2014/main" val="3710238209"/>
                    </a:ext>
                  </a:extLst>
                </a:gridCol>
                <a:gridCol w="1013639">
                  <a:extLst>
                    <a:ext uri="{9D8B030D-6E8A-4147-A177-3AD203B41FA5}">
                      <a16:colId xmlns:a16="http://schemas.microsoft.com/office/drawing/2014/main" val="237221063"/>
                    </a:ext>
                  </a:extLst>
                </a:gridCol>
                <a:gridCol w="1013639">
                  <a:extLst>
                    <a:ext uri="{9D8B030D-6E8A-4147-A177-3AD203B41FA5}">
                      <a16:colId xmlns:a16="http://schemas.microsoft.com/office/drawing/2014/main" val="633372328"/>
                    </a:ext>
                  </a:extLst>
                </a:gridCol>
                <a:gridCol w="968147">
                  <a:extLst>
                    <a:ext uri="{9D8B030D-6E8A-4147-A177-3AD203B41FA5}">
                      <a16:colId xmlns:a16="http://schemas.microsoft.com/office/drawing/2014/main" val="4122321103"/>
                    </a:ext>
                  </a:extLst>
                </a:gridCol>
                <a:gridCol w="968147">
                  <a:extLst>
                    <a:ext uri="{9D8B030D-6E8A-4147-A177-3AD203B41FA5}">
                      <a16:colId xmlns:a16="http://schemas.microsoft.com/office/drawing/2014/main" val="3938216600"/>
                    </a:ext>
                  </a:extLst>
                </a:gridCol>
                <a:gridCol w="968147">
                  <a:extLst>
                    <a:ext uri="{9D8B030D-6E8A-4147-A177-3AD203B41FA5}">
                      <a16:colId xmlns:a16="http://schemas.microsoft.com/office/drawing/2014/main" val="2087766250"/>
                    </a:ext>
                  </a:extLst>
                </a:gridCol>
                <a:gridCol w="968147">
                  <a:extLst>
                    <a:ext uri="{9D8B030D-6E8A-4147-A177-3AD203B41FA5}">
                      <a16:colId xmlns:a16="http://schemas.microsoft.com/office/drawing/2014/main" val="136835508"/>
                    </a:ext>
                  </a:extLst>
                </a:gridCol>
              </a:tblGrid>
              <a:tr h="240931">
                <a:tc rowSpan="2">
                  <a:txBody>
                    <a:bodyPr/>
                    <a:lstStyle/>
                    <a:p>
                      <a:pPr algn="ctr" fontAlgn="ctr"/>
                      <a:r>
                        <a:rPr lang="en-US" sz="1200" b="1" i="0" u="none" strike="noStrike" dirty="0">
                          <a:solidFill>
                            <a:srgbClr val="FFFFFF"/>
                          </a:solidFill>
                          <a:effectLst/>
                          <a:latin typeface="Arial" panose="020B0604020202020204" pitchFamily="34" charset="0"/>
                        </a:rPr>
                        <a:t>STT</a:t>
                      </a:r>
                    </a:p>
                  </a:txBody>
                  <a:tcPr marL="8844" marR="8844" marT="8844" marB="0" anchor="ctr">
                    <a:lnL w="6350" cap="flat" cmpd="sng" algn="ctr">
                      <a:solidFill>
                        <a:srgbClr val="002060"/>
                      </a:solidFill>
                      <a:prstDash val="solid"/>
                      <a:round/>
                      <a:headEnd type="none" w="med" len="med"/>
                      <a:tailEnd type="none" w="med" len="me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a:solidFill>
                            <a:srgbClr val="FFFFFF"/>
                          </a:solidFill>
                          <a:effectLst/>
                          <a:latin typeface="Arial" panose="020B0604020202020204" pitchFamily="34" charset="0"/>
                        </a:rPr>
                        <a:t>31/07/2026</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Giá</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đóng</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cửa</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gridSpan="5">
                  <a:txBody>
                    <a:bodyPr/>
                    <a:lstStyle/>
                    <a:p>
                      <a:pPr algn="ctr" fontAlgn="ctr"/>
                      <a:r>
                        <a:rPr lang="en-US" sz="1200" b="1" i="0" u="none" strike="noStrike" dirty="0">
                          <a:solidFill>
                            <a:srgbClr val="FFFFFF"/>
                          </a:solidFill>
                          <a:effectLst/>
                          <a:latin typeface="Arial" panose="020B0604020202020204" pitchFamily="34" charset="0"/>
                        </a:rPr>
                        <a:t>% Thay </a:t>
                      </a:r>
                      <a:r>
                        <a:rPr lang="en-US" sz="1200" b="1" i="0" u="none" strike="noStrike" dirty="0" err="1">
                          <a:solidFill>
                            <a:srgbClr val="FFFFFF"/>
                          </a:solidFill>
                          <a:effectLst/>
                          <a:latin typeface="Arial" panose="020B0604020202020204" pitchFamily="34" charset="0"/>
                        </a:rPr>
                        <a:t>đổi</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giá</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w="6350" cap="flat" cmpd="sng" algn="ctr">
                      <a:solidFill>
                        <a:srgbClr val="002060"/>
                      </a:solidFill>
                      <a:prstDash val="solid"/>
                      <a:round/>
                      <a:headEnd type="none" w="med" len="med"/>
                      <a:tailEnd type="none" w="med" len="med"/>
                    </a:lnT>
                    <a:lnB>
                      <a:noFill/>
                    </a:lnB>
                    <a:solidFill>
                      <a:srgbClr val="0070C0"/>
                    </a:solidFill>
                  </a:tcPr>
                </a:tc>
                <a:tc hMerge="1">
                  <a:txBody>
                    <a:bodyPr/>
                    <a:lstStyle/>
                    <a:p>
                      <a:endParaRPr lang="en-VN"/>
                    </a:p>
                  </a:txBody>
                  <a:tcPr/>
                </a:tc>
                <a:tc hMerge="1">
                  <a:txBody>
                    <a:bodyPr/>
                    <a:lstStyle/>
                    <a:p>
                      <a:endParaRPr lang="en-VN"/>
                    </a:p>
                  </a:txBody>
                  <a:tcPr/>
                </a:tc>
                <a:tc hMerge="1">
                  <a:txBody>
                    <a:bodyPr/>
                    <a:lstStyle/>
                    <a:p>
                      <a:endParaRPr lang="en-US"/>
                    </a:p>
                  </a:txBody>
                  <a:tcPr/>
                </a:tc>
                <a:tc hMerge="1">
                  <a:txBody>
                    <a:bodyPr/>
                    <a:lstStyle/>
                    <a:p>
                      <a:endParaRPr lang="en-US"/>
                    </a:p>
                  </a:txBody>
                  <a:tcPr/>
                </a:tc>
                <a:tc rowSpan="2">
                  <a:txBody>
                    <a:bodyPr/>
                    <a:lstStyle/>
                    <a:p>
                      <a:pPr algn="ctr" fontAlgn="ctr"/>
                      <a:r>
                        <a:rPr lang="en-US" sz="1200" b="1" i="0" u="none" strike="noStrike" dirty="0">
                          <a:solidFill>
                            <a:srgbClr val="FFFFFF"/>
                          </a:solidFill>
                          <a:effectLst/>
                          <a:latin typeface="Arial" panose="020B0604020202020204" pitchFamily="34" charset="0"/>
                        </a:rPr>
                        <a:t>PE</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PB</a:t>
                      </a: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P/E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w="12700" cmpd="sng">
                      <a:noFill/>
                      <a:prstDash val="solid"/>
                    </a:lnL>
                    <a:lnR>
                      <a:noFill/>
                    </a:lnR>
                    <a:lnT w="6350" cap="flat" cmpd="sng" algn="ctr">
                      <a:solidFill>
                        <a:srgbClr val="002060"/>
                      </a:solidFill>
                      <a:prstDash val="solid"/>
                      <a:round/>
                      <a:headEnd type="none" w="med" len="med"/>
                      <a:tailEnd type="none" w="med" len="med"/>
                    </a:lnT>
                    <a:lnB>
                      <a:noFill/>
                    </a:lnB>
                    <a:solidFill>
                      <a:srgbClr val="0070C0"/>
                    </a:solidFill>
                  </a:tcPr>
                </a:tc>
                <a:tc rowSpan="2">
                  <a:txBody>
                    <a:bodyPr/>
                    <a:lstStyle/>
                    <a:p>
                      <a:pPr algn="ctr" fontAlgn="ctr"/>
                      <a:r>
                        <a:rPr lang="en-US" sz="1200" b="1" i="0" u="none" strike="noStrike" dirty="0">
                          <a:solidFill>
                            <a:srgbClr val="FFFFFF"/>
                          </a:solidFill>
                          <a:effectLst/>
                          <a:latin typeface="Arial" panose="020B0604020202020204" pitchFamily="34" charset="0"/>
                        </a:rPr>
                        <a:t>So </a:t>
                      </a:r>
                      <a:r>
                        <a:rPr lang="en-US" sz="1200" b="1" i="0" u="none" strike="noStrike" dirty="0" err="1">
                          <a:solidFill>
                            <a:srgbClr val="FFFFFF"/>
                          </a:solidFill>
                          <a:effectLst/>
                          <a:latin typeface="Arial" panose="020B0604020202020204" pitchFamily="34" charset="0"/>
                        </a:rPr>
                        <a:t>với</a:t>
                      </a:r>
                      <a:r>
                        <a:rPr lang="en-US" sz="1200" b="1" i="0" u="none" strike="noStrike" dirty="0">
                          <a:solidFill>
                            <a:srgbClr val="FFFFFF"/>
                          </a:solidFill>
                          <a:effectLst/>
                          <a:latin typeface="Arial" panose="020B0604020202020204" pitchFamily="34" charset="0"/>
                        </a:rPr>
                        <a:t> P/B Trung </a:t>
                      </a:r>
                      <a:r>
                        <a:rPr lang="en-US" sz="1200" b="1" i="0" u="none" strike="noStrike" dirty="0" err="1">
                          <a:solidFill>
                            <a:srgbClr val="FFFFFF"/>
                          </a:solidFill>
                          <a:effectLst/>
                          <a:latin typeface="Arial" panose="020B0604020202020204" pitchFamily="34" charset="0"/>
                        </a:rPr>
                        <a:t>vị</a:t>
                      </a:r>
                      <a:r>
                        <a:rPr lang="en-US" sz="1200" b="1" i="0" u="none" strike="noStrike" dirty="0">
                          <a:solidFill>
                            <a:srgbClr val="FFFFFF"/>
                          </a:solidFill>
                          <a:effectLst/>
                          <a:latin typeface="Arial" panose="020B0604020202020204" pitchFamily="34" charset="0"/>
                        </a:rPr>
                        <a:t> 5 </a:t>
                      </a:r>
                      <a:r>
                        <a:rPr lang="en-US" sz="1200" b="1" i="0" u="none" strike="noStrike" dirty="0" err="1">
                          <a:solidFill>
                            <a:srgbClr val="FFFFFF"/>
                          </a:solidFill>
                          <a:effectLst/>
                          <a:latin typeface="Arial" panose="020B0604020202020204" pitchFamily="34" charset="0"/>
                        </a:rPr>
                        <a:t>năm</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w="6350" cap="flat" cmpd="sng" algn="ctr">
                      <a:solidFill>
                        <a:srgbClr val="002060"/>
                      </a:solidFill>
                      <a:prstDash val="solid"/>
                      <a:round/>
                      <a:headEnd type="none" w="med" len="med"/>
                      <a:tailEnd type="none" w="med" len="med"/>
                    </a:lnR>
                    <a:lnT w="6350" cap="flat" cmpd="sng" algn="ctr">
                      <a:solidFill>
                        <a:srgbClr val="002060"/>
                      </a:solidFill>
                      <a:prstDash val="solid"/>
                      <a:round/>
                      <a:headEnd type="none" w="med" len="med"/>
                      <a:tailEnd type="none" w="med" len="med"/>
                    </a:lnT>
                    <a:lnB>
                      <a:noFill/>
                    </a:lnB>
                    <a:solidFill>
                      <a:srgbClr val="0070C0"/>
                    </a:solidFill>
                  </a:tcPr>
                </a:tc>
                <a:extLst>
                  <a:ext uri="{0D108BD9-81ED-4DB2-BD59-A6C34878D82A}">
                    <a16:rowId xmlns:a16="http://schemas.microsoft.com/office/drawing/2014/main" val="2473982292"/>
                  </a:ext>
                </a:extLst>
              </a:tr>
              <a:tr h="199004">
                <a:tc vMerge="1">
                  <a:txBody>
                    <a:bodyPr/>
                    <a:lstStyle/>
                    <a:p>
                      <a:endParaRPr lang="en-US"/>
                    </a:p>
                  </a:txBody>
                  <a:tcPr/>
                </a:tc>
                <a:tc vMerge="1">
                  <a:txBody>
                    <a:bodyPr/>
                    <a:lstStyle/>
                    <a:p>
                      <a:endParaRPr lang="en-US"/>
                    </a:p>
                  </a:txBody>
                  <a:tcPr/>
                </a:tc>
                <a:tc>
                  <a:txBody>
                    <a:bodyPr/>
                    <a:lstStyle/>
                    <a:p>
                      <a:pPr algn="ctr" fontAlgn="ctr"/>
                      <a:r>
                        <a:rPr lang="en-US" sz="1200" b="1" i="0" u="none" strike="noStrike" dirty="0">
                          <a:solidFill>
                            <a:srgbClr val="FFFFFF"/>
                          </a:solidFill>
                          <a:effectLst/>
                          <a:latin typeface="Arial" panose="020B0604020202020204" pitchFamily="34" charset="0"/>
                        </a:rPr>
                        <a:t>31/07/2026</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tuần</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1 </a:t>
                      </a:r>
                      <a:r>
                        <a:rPr lang="en-US" sz="1200" b="1" i="0" u="none" strike="noStrike" dirty="0" err="1">
                          <a:solidFill>
                            <a:srgbClr val="FFFFFF"/>
                          </a:solidFill>
                          <a:effectLst/>
                          <a:latin typeface="Arial" panose="020B0604020202020204" pitchFamily="34" charset="0"/>
                        </a:rPr>
                        <a:t>tháng</a:t>
                      </a:r>
                      <a:endParaRPr lang="en-US" sz="1200" b="1" i="0"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YTD</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a:solidFill>
                            <a:srgbClr val="FFFFFF"/>
                          </a:solidFill>
                          <a:effectLst/>
                          <a:latin typeface="Arial" panose="020B0604020202020204" pitchFamily="34" charset="0"/>
                        </a:rPr>
                        <a:t>Cao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a:txBody>
                    <a:bodyPr/>
                    <a:lstStyle/>
                    <a:p>
                      <a:pPr algn="ctr" fontAlgn="ctr"/>
                      <a:r>
                        <a:rPr lang="en-US" sz="1200" b="1" i="0" u="none" strike="noStrike" dirty="0" err="1">
                          <a:solidFill>
                            <a:srgbClr val="FFFFFF"/>
                          </a:solidFill>
                          <a:effectLst/>
                          <a:latin typeface="Arial" panose="020B0604020202020204" pitchFamily="34" charset="0"/>
                        </a:rPr>
                        <a:t>Thấp</a:t>
                      </a:r>
                      <a:r>
                        <a:rPr lang="en-US" sz="1200" b="1" i="0" u="none" strike="noStrike" dirty="0">
                          <a:solidFill>
                            <a:srgbClr val="FFFFFF"/>
                          </a:solidFill>
                          <a:effectLst/>
                          <a:latin typeface="Arial" panose="020B0604020202020204" pitchFamily="34" charset="0"/>
                        </a:rPr>
                        <a:t> </a:t>
                      </a:r>
                      <a:r>
                        <a:rPr lang="en-US" sz="1200" b="1" i="0" u="none" strike="noStrike" dirty="0" err="1">
                          <a:solidFill>
                            <a:srgbClr val="FFFFFF"/>
                          </a:solidFill>
                          <a:effectLst/>
                          <a:latin typeface="Arial" panose="020B0604020202020204" pitchFamily="34" charset="0"/>
                        </a:rPr>
                        <a:t>nhất</a:t>
                      </a:r>
                      <a:r>
                        <a:rPr lang="en-US" sz="1200" b="1" i="0" u="none" strike="noStrike" dirty="0">
                          <a:solidFill>
                            <a:srgbClr val="FFFFFF"/>
                          </a:solidFill>
                          <a:effectLst/>
                          <a:latin typeface="Arial" panose="020B0604020202020204" pitchFamily="34" charset="0"/>
                        </a:rPr>
                        <a:t> 52w</a:t>
                      </a:r>
                    </a:p>
                  </a:txBody>
                  <a:tcPr marL="8844" marR="8844" marT="8844" marB="0" anchor="ctr">
                    <a:lnL>
                      <a:noFill/>
                    </a:lnL>
                    <a:lnR>
                      <a:noFill/>
                    </a:lnR>
                    <a:lnT>
                      <a:noFill/>
                    </a:lnT>
                    <a:lnB>
                      <a:noFill/>
                    </a:lnB>
                    <a:solidFill>
                      <a:srgbClr val="0070C0"/>
                    </a:solid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3163775102"/>
                  </a:ext>
                </a:extLst>
              </a:tr>
              <a:tr h="199004">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w="6350" cap="flat" cmpd="sng" algn="ctr">
                      <a:solidFill>
                        <a:srgbClr val="002060"/>
                      </a:solidFill>
                      <a:prstDash val="solid"/>
                      <a:round/>
                      <a:headEnd type="none" w="med" len="med"/>
                      <a:tailEnd type="none" w="med" len="med"/>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 </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VNĐ</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a:solidFill>
                            <a:srgbClr val="FFFFFF"/>
                          </a:solidFill>
                          <a:effectLst/>
                          <a:latin typeface="Arial" panose="020B0604020202020204" pitchFamily="34" charset="0"/>
                        </a:rPr>
                        <a:t>Lần</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err="1">
                          <a:solidFill>
                            <a:srgbClr val="FFFFFF"/>
                          </a:solidFill>
                          <a:effectLst/>
                          <a:latin typeface="Arial" panose="020B0604020202020204" pitchFamily="34" charset="0"/>
                        </a:rPr>
                        <a:t>Lần</a:t>
                      </a:r>
                      <a:endParaRPr lang="en-US" sz="1200" b="0" i="1" u="none" strike="noStrike" dirty="0">
                        <a:solidFill>
                          <a:srgbClr val="FFFFFF"/>
                        </a:solidFill>
                        <a:effectLst/>
                        <a:latin typeface="Arial" panose="020B0604020202020204" pitchFamily="34" charset="0"/>
                      </a:endParaRP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a:noFill/>
                    </a:lnR>
                    <a:lnT>
                      <a:noFill/>
                    </a:lnT>
                    <a:lnB>
                      <a:noFill/>
                    </a:lnB>
                    <a:solidFill>
                      <a:srgbClr val="BFBFBF"/>
                    </a:solidFill>
                  </a:tcPr>
                </a:tc>
                <a:tc>
                  <a:txBody>
                    <a:bodyPr/>
                    <a:lstStyle/>
                    <a:p>
                      <a:pPr algn="ctr" fontAlgn="ctr"/>
                      <a:r>
                        <a:rPr lang="en-US" sz="1200" b="0" i="1" u="none" strike="noStrike" dirty="0">
                          <a:solidFill>
                            <a:srgbClr val="FFFFFF"/>
                          </a:solidFill>
                          <a:effectLst/>
                          <a:latin typeface="Arial" panose="020B0604020202020204" pitchFamily="34" charset="0"/>
                        </a:rPr>
                        <a:t>%</a:t>
                      </a:r>
                    </a:p>
                  </a:txBody>
                  <a:tcPr marL="8844" marR="8844" marT="8844" marB="0" anchor="ctr">
                    <a:lnL>
                      <a:noFill/>
                    </a:lnL>
                    <a:lnR w="6350" cap="flat" cmpd="sng" algn="ctr">
                      <a:solidFill>
                        <a:srgbClr val="002060"/>
                      </a:solidFill>
                      <a:prstDash val="solid"/>
                      <a:round/>
                      <a:headEnd type="none" w="med" len="med"/>
                      <a:tailEnd type="none" w="med" len="med"/>
                    </a:lnR>
                    <a:lnT>
                      <a:noFill/>
                    </a:lnT>
                    <a:lnB>
                      <a:noFill/>
                    </a:lnB>
                    <a:solidFill>
                      <a:srgbClr val="BFBFBF"/>
                    </a:solidFill>
                  </a:tcPr>
                </a:tc>
                <a:extLst>
                  <a:ext uri="{0D108BD9-81ED-4DB2-BD59-A6C34878D82A}">
                    <a16:rowId xmlns:a16="http://schemas.microsoft.com/office/drawing/2014/main" val="2657183603"/>
                  </a:ext>
                </a:extLst>
              </a:tr>
              <a:tr h="199004">
                <a:tc>
                  <a:txBody>
                    <a:bodyPr/>
                    <a:lstStyle/>
                    <a:p>
                      <a:pPr algn="ctr" fontAlgn="ctr"/>
                      <a:r>
                        <a:rPr lang="en-VN" sz="1000" b="0" i="0" u="none" strike="noStrike">
                          <a:solidFill>
                            <a:srgbClr val="002060"/>
                          </a:solidFill>
                          <a:effectLst/>
                          <a:latin typeface="Arial" panose="020B0604020202020204" pitchFamily="34" charset="0"/>
                        </a:rPr>
                        <a:t>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PVS</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-0,29%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-0,58%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29,38%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-5,83%</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64403804"/>
                  </a:ext>
                </a:extLst>
              </a:tr>
              <a:tr h="199004">
                <a:tc>
                  <a:txBody>
                    <a:bodyPr/>
                    <a:lstStyle/>
                    <a:p>
                      <a:pPr algn="ctr" fontAlgn="ctr"/>
                      <a:r>
                        <a:rPr lang="en-VN" sz="1000" b="0" i="0" u="none" strike="noStrike">
                          <a:solidFill>
                            <a:srgbClr val="002060"/>
                          </a:solidFill>
                          <a:effectLst/>
                          <a:latin typeface="Arial" panose="020B0604020202020204" pitchFamily="34" charset="0"/>
                        </a:rPr>
                        <a:t>61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VCG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106721901"/>
                  </a:ext>
                </a:extLst>
              </a:tr>
              <a:tr h="199004">
                <a:tc>
                  <a:txBody>
                    <a:bodyPr/>
                    <a:lstStyle/>
                    <a:p>
                      <a:pPr algn="ctr" fontAlgn="ctr"/>
                      <a:r>
                        <a:rPr lang="en-VN" sz="1000" b="0" i="0" u="none" strike="noStrike">
                          <a:solidFill>
                            <a:srgbClr val="002060"/>
                          </a:solidFill>
                          <a:effectLst/>
                          <a:latin typeface="Arial" panose="020B0604020202020204" pitchFamily="34" charset="0"/>
                        </a:rPr>
                        <a:t>25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OCB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-0,49%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-20,05%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-12,12%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3437227"/>
                  </a:ext>
                </a:extLst>
              </a:tr>
              <a:tr h="199004">
                <a:tc>
                  <a:txBody>
                    <a:bodyPr/>
                    <a:lstStyle/>
                    <a:p>
                      <a:pPr algn="ctr" fontAlgn="ctr"/>
                      <a:r>
                        <a:rPr lang="en-VN" sz="1000" b="0" i="0" u="none" strike="noStrike">
                          <a:solidFill>
                            <a:srgbClr val="002060"/>
                          </a:solidFill>
                          <a:effectLst/>
                          <a:latin typeface="Arial" panose="020B0604020202020204" pitchFamily="34" charset="0"/>
                        </a:rPr>
                        <a:t>40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24.800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-34,69%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-41,28%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-17,60%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891528111"/>
                  </a:ext>
                </a:extLst>
              </a:tr>
              <a:tr h="199004">
                <a:tc>
                  <a:txBody>
                    <a:bodyPr/>
                    <a:lstStyle/>
                    <a:p>
                      <a:pPr algn="ctr" fontAlgn="ctr"/>
                      <a:r>
                        <a:rPr lang="en-VN" sz="1000" b="0" i="0" u="none" strike="noStrike">
                          <a:solidFill>
                            <a:srgbClr val="002060"/>
                          </a:solidFill>
                          <a:effectLst/>
                          <a:latin typeface="Arial" panose="020B0604020202020204" pitchFamily="34" charset="0"/>
                        </a:rPr>
                        <a:t>50</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TPB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14.100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-17,54%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-32,86%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-30,98%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-28,57%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83133494"/>
                  </a:ext>
                </a:extLst>
              </a:tr>
              <a:tr h="199004">
                <a:tc>
                  <a:txBody>
                    <a:bodyPr/>
                    <a:lstStyle/>
                    <a:p>
                      <a:pPr algn="ctr" fontAlgn="ctr"/>
                      <a:r>
                        <a:rPr lang="en-VN" sz="1000" b="0" i="0" u="none" strike="noStrike">
                          <a:solidFill>
                            <a:srgbClr val="002060"/>
                          </a:solidFill>
                          <a:effectLst/>
                          <a:latin typeface="Arial" panose="020B0604020202020204" pitchFamily="34" charset="0"/>
                        </a:rPr>
                        <a:t>56</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16.150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-33,73%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4,19%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-30,76%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-37,82%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995756186"/>
                  </a:ext>
                </a:extLst>
              </a:tr>
              <a:tr h="199004">
                <a:tc>
                  <a:txBody>
                    <a:bodyPr/>
                    <a:lstStyle/>
                    <a:p>
                      <a:pPr algn="ctr" fontAlgn="ctr"/>
                      <a:r>
                        <a:rPr lang="en-VN" sz="1000" b="0" i="0" u="none" strike="noStrike">
                          <a:solidFill>
                            <a:srgbClr val="002060"/>
                          </a:solidFill>
                          <a:effectLst/>
                          <a:latin typeface="Arial" panose="020B0604020202020204" pitchFamily="34" charset="0"/>
                        </a:rPr>
                        <a:t>33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PLX</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33.300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4818362"/>
                  </a:ext>
                </a:extLst>
              </a:tr>
              <a:tr h="199004">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BVB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12.300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-11,80%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-7,25%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-27,14%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-6,54%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90985760"/>
                  </a:ext>
                </a:extLst>
              </a:tr>
              <a:tr h="199004">
                <a:tc>
                  <a:txBody>
                    <a:bodyPr/>
                    <a:lstStyle/>
                    <a:p>
                      <a:pPr algn="ctr" fontAlgn="ctr"/>
                      <a:r>
                        <a:rPr lang="en-VN" sz="1000" b="0" i="0" u="none" strike="noStrike">
                          <a:solidFill>
                            <a:srgbClr val="002060"/>
                          </a:solidFill>
                          <a:effectLst/>
                          <a:latin typeface="Arial" panose="020B0604020202020204" pitchFamily="34" charset="0"/>
                        </a:rPr>
                        <a:t>52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IDC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32.600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-10,19%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-27,88%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15,90%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-36,76%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620855603"/>
                  </a:ext>
                </a:extLst>
              </a:tr>
              <a:tr h="199004">
                <a:tc>
                  <a:txBody>
                    <a:bodyPr/>
                    <a:lstStyle/>
                    <a:p>
                      <a:pPr algn="ctr" fontAlgn="ctr"/>
                      <a:r>
                        <a:rPr lang="en-VN" sz="1000" b="0" i="0" u="none" strike="noStrike">
                          <a:solidFill>
                            <a:srgbClr val="002060"/>
                          </a:solidFill>
                          <a:effectLst/>
                          <a:latin typeface="Arial" panose="020B0604020202020204" pitchFamily="34" charset="0"/>
                        </a:rPr>
                        <a:t>1</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HCM</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31,63%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51,81%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7,75%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14,36%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08004324"/>
                  </a:ext>
                </a:extLst>
              </a:tr>
              <a:tr h="199004">
                <a:tc>
                  <a:txBody>
                    <a:bodyPr/>
                    <a:lstStyle/>
                    <a:p>
                      <a:pPr algn="ctr" fontAlgn="ctr"/>
                      <a:r>
                        <a:rPr lang="en-VN" sz="1000" b="0" i="0" u="none" strike="noStrike">
                          <a:solidFill>
                            <a:srgbClr val="002060"/>
                          </a:solidFill>
                          <a:effectLst/>
                          <a:latin typeface="Arial" panose="020B0604020202020204" pitchFamily="34" charset="0"/>
                        </a:rPr>
                        <a:t>19</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VHC</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52.600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-12,33%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-6,24%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-23,99%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1,35%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-32,37%</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751931769"/>
                  </a:ext>
                </a:extLst>
              </a:tr>
              <a:tr h="199004">
                <a:tc>
                  <a:txBody>
                    <a:bodyPr/>
                    <a:lstStyle/>
                    <a:p>
                      <a:pPr algn="ctr" fontAlgn="ctr"/>
                      <a:r>
                        <a:rPr lang="en-VN" sz="1000" b="0" i="0" u="none" strike="noStrike">
                          <a:solidFill>
                            <a:srgbClr val="002060"/>
                          </a:solidFill>
                          <a:effectLst/>
                          <a:latin typeface="Arial" panose="020B0604020202020204" pitchFamily="34" charset="0"/>
                        </a:rPr>
                        <a:t>32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DIG</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10.050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-19,92%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-40,00%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-59,15%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3,72%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-81,78%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-58,64%</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600647074"/>
                  </a:ext>
                </a:extLst>
              </a:tr>
              <a:tr h="199004">
                <a:tc>
                  <a:txBody>
                    <a:bodyPr/>
                    <a:lstStyle/>
                    <a:p>
                      <a:pPr algn="ctr" fontAlgn="ctr"/>
                      <a:r>
                        <a:rPr lang="en-VN" sz="1000" b="0" i="0" u="none" strike="noStrike">
                          <a:solidFill>
                            <a:srgbClr val="002060"/>
                          </a:solidFill>
                          <a:effectLst/>
                          <a:latin typeface="Arial" panose="020B0604020202020204" pitchFamily="34" charset="0"/>
                        </a:rPr>
                        <a:t>12</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HDB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25.200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-15,15%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21,04%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-0,38%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-3,92%</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449033898"/>
                  </a:ext>
                </a:extLst>
              </a:tr>
              <a:tr h="199004">
                <a:tc>
                  <a:txBody>
                    <a:bodyPr/>
                    <a:lstStyle/>
                    <a:p>
                      <a:pPr algn="ctr" fontAlgn="ctr"/>
                      <a:r>
                        <a:rPr lang="en-VN" sz="1000" b="0" i="0" u="none" strike="noStrike">
                          <a:solidFill>
                            <a:srgbClr val="002060"/>
                          </a:solidFill>
                          <a:effectLst/>
                          <a:latin typeface="Arial" panose="020B0604020202020204" pitchFamily="34" charset="0"/>
                        </a:rPr>
                        <a:t>27</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TCH</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-21,92%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-53,70%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33,0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73,84%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-24,58%</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16149121"/>
                  </a:ext>
                </a:extLst>
              </a:tr>
              <a:tr h="199004">
                <a:tc>
                  <a:txBody>
                    <a:bodyPr/>
                    <a:lstStyle/>
                    <a:p>
                      <a:pPr algn="ctr" fontAlgn="ctr"/>
                      <a:r>
                        <a:rPr lang="en-VN" sz="1000" b="0" i="0" u="none" strike="noStrike">
                          <a:solidFill>
                            <a:srgbClr val="002060"/>
                          </a:solidFill>
                          <a:effectLst/>
                          <a:latin typeface="Arial" panose="020B0604020202020204" pitchFamily="34" charset="0"/>
                        </a:rPr>
                        <a:t>4</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ACB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21.900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5,91%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-13,69%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8,1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17,03%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-9,86%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299798017"/>
                  </a:ext>
                </a:extLst>
              </a:tr>
              <a:tr h="199004">
                <a:tc>
                  <a:txBody>
                    <a:bodyPr/>
                    <a:lstStyle/>
                    <a:p>
                      <a:pPr algn="ctr" fontAlgn="ctr"/>
                      <a:r>
                        <a:rPr lang="en-VN" sz="1000" b="0" i="0" u="none" strike="noStrike">
                          <a:solidFill>
                            <a:srgbClr val="002060"/>
                          </a:solidFill>
                          <a:effectLst/>
                          <a:latin typeface="Arial" panose="020B0604020202020204" pitchFamily="34" charset="0"/>
                        </a:rPr>
                        <a:t>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STB</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71.300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-2,99%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-2,60%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22,93%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-7,16%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55,00%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43,6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2,1</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383,55%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60,90%</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2057473534"/>
                  </a:ext>
                </a:extLst>
              </a:tr>
              <a:tr h="199004">
                <a:tc>
                  <a:txBody>
                    <a:bodyPr/>
                    <a:lstStyle/>
                    <a:p>
                      <a:pPr algn="ctr" fontAlgn="ctr"/>
                      <a:r>
                        <a:rPr lang="en-VN" sz="1000" b="0" i="0" u="none" strike="noStrike">
                          <a:solidFill>
                            <a:srgbClr val="002060"/>
                          </a:solidFill>
                          <a:effectLst/>
                          <a:latin typeface="Arial" panose="020B0604020202020204" pitchFamily="34" charset="0"/>
                        </a:rPr>
                        <a:t>53</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CII</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13.100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-3,68%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-24,93%</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-37,32%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3,56%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95,6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128,66%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-5,21%</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961114889"/>
                  </a:ext>
                </a:extLst>
              </a:tr>
              <a:tr h="199004">
                <a:tc>
                  <a:txBody>
                    <a:bodyPr/>
                    <a:lstStyle/>
                    <a:p>
                      <a:pPr algn="ctr" fontAlgn="ctr"/>
                      <a:r>
                        <a:rPr lang="en-VN" sz="1000" b="0" i="0" u="none" strike="noStrike">
                          <a:solidFill>
                            <a:srgbClr val="002060"/>
                          </a:solidFill>
                          <a:effectLst/>
                          <a:latin typeface="Arial" panose="020B0604020202020204" pitchFamily="34" charset="0"/>
                        </a:rPr>
                        <a:t>48</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PDR</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11.450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-4,18%</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-22,64%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-39,10%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-56,46%</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18,5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0,9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-33,82%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-49,16%</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1788859191"/>
                  </a:ext>
                </a:extLst>
              </a:tr>
              <a:tr h="199004">
                <a:tc>
                  <a:txBody>
                    <a:bodyPr/>
                    <a:lstStyle/>
                    <a:p>
                      <a:pPr algn="ctr" fontAlgn="ctr"/>
                      <a:r>
                        <a:rPr lang="en-VN" sz="1000" b="0" i="0" u="none" strike="noStrike">
                          <a:solidFill>
                            <a:srgbClr val="002060"/>
                          </a:solidFill>
                          <a:effectLst/>
                          <a:latin typeface="Arial" panose="020B0604020202020204" pitchFamily="34" charset="0"/>
                        </a:rPr>
                        <a:t>15</a:t>
                      </a:r>
                    </a:p>
                  </a:txBody>
                  <a:tcPr marL="9525" marR="9525" marT="9525" marB="0" anchor="ctr">
                    <a:lnL w="6350" cap="flat" cmpd="sng" algn="ctr">
                      <a:solidFill>
                        <a:srgbClr val="002060"/>
                      </a:solidFill>
                      <a:prstDash val="solid"/>
                      <a:round/>
                      <a:headEnd type="none" w="med" len="med"/>
                      <a:tailEnd type="none" w="med" len="med"/>
                    </a:lnL>
                    <a:lnR>
                      <a:noFill/>
                    </a:lnR>
                    <a:lnT>
                      <a:noFill/>
                    </a:lnT>
                    <a:lnB>
                      <a:noFill/>
                    </a:lnB>
                    <a:noFill/>
                  </a:tcPr>
                </a:tc>
                <a:tc>
                  <a:txBody>
                    <a:bodyPr/>
                    <a:lstStyle/>
                    <a:p>
                      <a:pPr algn="ctr" fontAlgn="ctr"/>
                      <a:r>
                        <a:rPr lang="en-US" sz="1000" b="0" i="0" u="none" strike="noStrike">
                          <a:solidFill>
                            <a:srgbClr val="002060"/>
                          </a:solidFill>
                          <a:effectLst/>
                          <a:latin typeface="Arial" panose="020B0604020202020204" pitchFamily="34" charset="0"/>
                        </a:rPr>
                        <a:t>PVD</a:t>
                      </a:r>
                    </a:p>
                  </a:txBody>
                  <a:tcPr marL="9525" marR="9525" marT="9525" marB="0" anchor="ctr">
                    <a:lnL>
                      <a:noFill/>
                    </a:lnL>
                    <a:lnR>
                      <a:noFill/>
                    </a:lnR>
                    <a:lnT>
                      <a:noFill/>
                    </a:lnT>
                    <a:lnB>
                      <a:noFill/>
                    </a:lnB>
                    <a:noFill/>
                  </a:tcPr>
                </a:tc>
                <a:tc>
                  <a:txBody>
                    <a:bodyPr/>
                    <a:lstStyle/>
                    <a:p>
                      <a:pPr algn="l" fontAlgn="ctr"/>
                      <a:r>
                        <a:rPr lang="en-VN" sz="1000" b="0" i="0" u="none" strike="noStrike">
                          <a:solidFill>
                            <a:srgbClr val="002060"/>
                          </a:solidFill>
                          <a:effectLst/>
                          <a:latin typeface="Arial" panose="020B0604020202020204" pitchFamily="34" charset="0"/>
                        </a:rPr>
                        <a:t>18.150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-4,47%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-9,45%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6,84%</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-32,69%</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60,27%</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14,2</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2060"/>
                          </a:solidFill>
                          <a:effectLst/>
                          <a:latin typeface="Arial" panose="020B0604020202020204" pitchFamily="34" charset="0"/>
                        </a:rPr>
                        <a:t>1,0</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9C0006"/>
                          </a:solidFill>
                          <a:effectLst/>
                          <a:latin typeface="Arial" panose="020B0604020202020204" pitchFamily="34" charset="0"/>
                        </a:rPr>
                        <a:t>-41,15%</a:t>
                      </a:r>
                    </a:p>
                  </a:txBody>
                  <a:tcPr marL="9525" marR="9525" marT="9525" marB="0" anchor="ctr">
                    <a:lnL>
                      <a:noFill/>
                    </a:lnL>
                    <a:lnR>
                      <a:noFill/>
                    </a:lnR>
                    <a:lnT>
                      <a:noFill/>
                    </a:lnT>
                    <a:lnB>
                      <a:noFill/>
                    </a:lnB>
                    <a:noFill/>
                  </a:tcPr>
                </a:tc>
                <a:tc>
                  <a:txBody>
                    <a:bodyPr/>
                    <a:lstStyle/>
                    <a:p>
                      <a:pPr algn="ctr" fontAlgn="ctr"/>
                      <a:r>
                        <a:rPr lang="en-VN" sz="1000" b="0" i="0" u="none" strike="noStrike">
                          <a:solidFill>
                            <a:srgbClr val="00B050"/>
                          </a:solidFill>
                          <a:effectLst/>
                          <a:latin typeface="Arial" panose="020B0604020202020204" pitchFamily="34" charset="0"/>
                        </a:rPr>
                        <a:t>8,89%</a:t>
                      </a:r>
                    </a:p>
                  </a:txBody>
                  <a:tcPr marL="9525" marR="9525" marT="9525" marB="0" anchor="ctr">
                    <a:lnL>
                      <a:noFill/>
                    </a:lnL>
                    <a:lnR w="6350" cap="flat" cmpd="sng" algn="ctr">
                      <a:solidFill>
                        <a:srgbClr val="002060"/>
                      </a:solidFill>
                      <a:prstDash val="solid"/>
                      <a:round/>
                      <a:headEnd type="none" w="med" len="med"/>
                      <a:tailEnd type="none" w="med" len="med"/>
                    </a:lnR>
                    <a:lnT>
                      <a:noFill/>
                    </a:lnT>
                    <a:lnB>
                      <a:noFill/>
                    </a:lnB>
                    <a:noFill/>
                  </a:tcPr>
                </a:tc>
                <a:extLst>
                  <a:ext uri="{0D108BD9-81ED-4DB2-BD59-A6C34878D82A}">
                    <a16:rowId xmlns:a16="http://schemas.microsoft.com/office/drawing/2014/main" val="3154578391"/>
                  </a:ext>
                </a:extLst>
              </a:tr>
              <a:tr h="199004">
                <a:tc>
                  <a:txBody>
                    <a:bodyPr/>
                    <a:lstStyle/>
                    <a:p>
                      <a:pPr algn="ctr" fontAlgn="ctr"/>
                      <a:r>
                        <a:rPr lang="en-VN" sz="1000" b="0" i="0" u="none" strike="noStrike">
                          <a:solidFill>
                            <a:srgbClr val="002060"/>
                          </a:solidFill>
                          <a:effectLst/>
                          <a:latin typeface="Arial" panose="020B0604020202020204" pitchFamily="34" charset="0"/>
                        </a:rPr>
                        <a:t>68</a:t>
                      </a:r>
                    </a:p>
                  </a:txBody>
                  <a:tcPr marL="9525" marR="9525" marT="9525" marB="0" anchor="ctr">
                    <a:lnL w="6350" cap="flat" cmpd="sng" algn="ctr">
                      <a:solidFill>
                        <a:srgbClr val="002060"/>
                      </a:solidFill>
                      <a:prstDash val="solid"/>
                      <a:round/>
                      <a:headEnd type="none" w="med" len="med"/>
                      <a:tailEnd type="none" w="med" len="med"/>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US" sz="1000" b="0" i="0" u="none" strike="noStrike">
                          <a:solidFill>
                            <a:srgbClr val="002060"/>
                          </a:solidFill>
                          <a:effectLst/>
                          <a:latin typeface="Arial" panose="020B0604020202020204" pitchFamily="34" charset="0"/>
                        </a:rPr>
                        <a:t>BCM</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l" fontAlgn="ctr"/>
                      <a:r>
                        <a:rPr lang="en-VN" sz="1000" b="0" i="0" u="none" strike="noStrike">
                          <a:solidFill>
                            <a:srgbClr val="002060"/>
                          </a:solidFill>
                          <a:effectLst/>
                          <a:latin typeface="Arial" panose="020B0604020202020204" pitchFamily="34" charset="0"/>
                        </a:rPr>
                        <a:t>35.700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-5,31%</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-32,39%</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-41,23%</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-54,60%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B050"/>
                          </a:solidFill>
                          <a:effectLst/>
                          <a:latin typeface="Arial" panose="020B0604020202020204" pitchFamily="34" charset="0"/>
                        </a:rPr>
                        <a:t>2,00%</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10,8</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002060"/>
                          </a:solidFill>
                          <a:effectLst/>
                          <a:latin typeface="Arial" panose="020B0604020202020204" pitchFamily="34" charset="0"/>
                        </a:rPr>
                        <a:t>1,7</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-62,45%</a:t>
                      </a:r>
                    </a:p>
                  </a:txBody>
                  <a:tcPr marL="9525" marR="9525" marT="9525" marB="0" anchor="ctr">
                    <a:lnL>
                      <a:noFill/>
                    </a:lnL>
                    <a:lnR>
                      <a:noFill/>
                    </a:lnR>
                    <a:lnT>
                      <a:noFill/>
                    </a:lnT>
                    <a:lnB w="6350" cap="flat" cmpd="sng" algn="ctr">
                      <a:solidFill>
                        <a:srgbClr val="002060"/>
                      </a:solidFill>
                      <a:prstDash val="solid"/>
                      <a:round/>
                      <a:headEnd type="none" w="med" len="med"/>
                      <a:tailEnd type="none" w="med" len="med"/>
                    </a:lnB>
                    <a:noFill/>
                  </a:tcPr>
                </a:tc>
                <a:tc>
                  <a:txBody>
                    <a:bodyPr/>
                    <a:lstStyle/>
                    <a:p>
                      <a:pPr algn="ctr" fontAlgn="ctr"/>
                      <a:r>
                        <a:rPr lang="en-VN" sz="1000" b="0" i="0" u="none" strike="noStrike">
                          <a:solidFill>
                            <a:srgbClr val="9C0006"/>
                          </a:solidFill>
                          <a:effectLst/>
                          <a:latin typeface="Arial" panose="020B0604020202020204" pitchFamily="34" charset="0"/>
                        </a:rPr>
                        <a:t>-54,75%</a:t>
                      </a:r>
                      <a:endParaRPr lang="en-VN" sz="1000" b="0" i="0" u="none" strike="noStrike" dirty="0">
                        <a:solidFill>
                          <a:srgbClr val="9C0006"/>
                        </a:solidFill>
                        <a:effectLst/>
                        <a:latin typeface="Arial" panose="020B0604020202020204" pitchFamily="34" charset="0"/>
                      </a:endParaRPr>
                    </a:p>
                  </a:txBody>
                  <a:tcPr marL="9525" marR="9525" marT="9525" marB="0" anchor="ctr">
                    <a:lnL>
                      <a:noFill/>
                    </a:lnL>
                    <a:lnR w="6350" cap="flat" cmpd="sng" algn="ctr">
                      <a:solidFill>
                        <a:srgbClr val="002060"/>
                      </a:solidFill>
                      <a:prstDash val="solid"/>
                      <a:round/>
                      <a:headEnd type="none" w="med" len="med"/>
                      <a:tailEnd type="none" w="med" len="med"/>
                    </a:lnR>
                    <a:lnT>
                      <a:noFill/>
                    </a:lnT>
                    <a:lnB w="6350" cap="flat" cmpd="sng" algn="ctr">
                      <a:solidFill>
                        <a:srgbClr val="002060"/>
                      </a:solidFill>
                      <a:prstDash val="solid"/>
                      <a:round/>
                      <a:headEnd type="none" w="med" len="med"/>
                      <a:tailEnd type="none" w="med" len="med"/>
                    </a:lnB>
                    <a:noFill/>
                  </a:tcPr>
                </a:tc>
                <a:extLst>
                  <a:ext uri="{0D108BD9-81ED-4DB2-BD59-A6C34878D82A}">
                    <a16:rowId xmlns:a16="http://schemas.microsoft.com/office/drawing/2014/main" val="3918686169"/>
                  </a:ext>
                </a:extLst>
              </a:tr>
            </a:tbl>
          </a:graphicData>
        </a:graphic>
      </p:graphicFrame>
    </p:spTree>
    <p:extLst>
      <p:ext uri="{BB962C8B-B14F-4D97-AF65-F5344CB8AC3E}">
        <p14:creationId xmlns:p14="http://schemas.microsoft.com/office/powerpoint/2010/main" val="6530948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87551</TotalTime>
  <Words>3761</Words>
  <Application>Microsoft Macintosh PowerPoint</Application>
  <PresentationFormat>Widescreen</PresentationFormat>
  <Paragraphs>1312</Paragraphs>
  <Slides>11</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Tahoma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Dương Thiện Chí</dc:creator>
  <cp:lastModifiedBy>Long Dang</cp:lastModifiedBy>
  <cp:revision>3857</cp:revision>
  <dcterms:created xsi:type="dcterms:W3CDTF">2020-03-18T03:42:50Z</dcterms:created>
  <dcterms:modified xsi:type="dcterms:W3CDTF">2026-08-04T08:04:13Z</dcterms:modified>
</cp:coreProperties>
</file>