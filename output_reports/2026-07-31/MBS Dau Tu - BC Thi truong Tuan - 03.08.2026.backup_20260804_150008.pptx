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3904"/>
  </p:normalViewPr>
  <p:slideViewPr>
    <p:cSldViewPr snapToGrid="0">
      <p:cViewPr varScale="1">
        <p:scale>
          <a:sx n="119" d="100"/>
          <a:sy n="119" d="100"/>
        </p:scale>
        <p:origin x="1512"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4/8/26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2246769"/>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03/08/2026 – 07/08/2026</a:t>
            </a:r>
          </a:p>
          <a:p>
            <a:endParaRPr lang="vi-VN" sz="2800" b="1">
              <a:solidFill>
                <a:srgbClr val="141ED2"/>
              </a:solidFill>
              <a:ea typeface="Tahoma" panose="020B0604030504040204" pitchFamily="34" charset="0"/>
              <a:cs typeface="Times New Roman" panose="02020603050405020304" pitchFamily="18" charset="0"/>
            </a:endParaRPr>
          </a:p>
          <a:p>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5223033"/>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27/07 – 31/07/2026</a:t>
            </a:r>
          </a:p>
          <a:p>
            <a:pPr>
              <a:lnSpc>
                <a:spcPct val="150000"/>
              </a:lnSpc>
            </a:pPr>
            <a:endParaRPr lang="vi-VN" sz="1400" b="1">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a:solidFill>
                  <a:srgbClr val="141ED2"/>
                </a:solidFill>
                <a:latin typeface="+mj-lt"/>
                <a:cs typeface="Times New Roman" panose="02020603050405020304" pitchFamily="18" charset="0"/>
              </a:rPr>
              <a:t>CÁC SỰ KIỆN DIỄN RA TRONG TUẦN 03/08/2026 – 07/08/2026</a:t>
            </a:r>
          </a:p>
          <a:p>
            <a:pPr marL="285750" indent="-285750">
              <a:lnSpc>
                <a:spcPct val="150000"/>
              </a:lnSpc>
              <a:buFont typeface="Arial" panose="020B0604020202020204" pitchFamily="34" charset="0"/>
              <a:buChar char="•"/>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03/08/2026 – 07/08/2026</a:t>
            </a:r>
          </a:p>
          <a:p>
            <a:pPr>
              <a:lnSpc>
                <a:spcPct val="150000"/>
              </a:lnSpc>
            </a:pPr>
            <a:endParaRPr lang="en-US" sz="1400" b="1">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03/08/2026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NHẬN ĐỊNH XU H</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ỚNG THỊ TR</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ỜNG TUẦN 03/08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p>
          <a:p>
            <a:endParaRPr lang="vi-VN" sz="1800" b="1">
              <a:solidFill>
                <a:srgbClr val="141ED2"/>
              </a:solidFill>
              <a:ea typeface="Tahoma" panose="020B0604030504040204" pitchFamily="34" charset="0"/>
              <a:cs typeface="Tahoma" panose="020B0604030504040204" pitchFamily="34" charset="0"/>
            </a:endParaRPr>
          </a:p>
          <a:p>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2" name="Chart 6 Auto">
            <a:extLst>
              <a:ext uri="{FF2B5EF4-FFF2-40B4-BE49-F238E27FC236}">
                <a16:creationId xmlns:a16="http://schemas.microsoft.com/office/drawing/2014/main" id="{42AD6EB1-DD57-D035-CC13-D9BEA2200462}"/>
              </a:ext>
            </a:extLst>
          </p:cNvPr>
          <p:cNvPicPr>
            <a:picLocks/>
          </p:cNvPicPr>
          <p:nvPr/>
        </p:nvPicPr>
        <p:blipFill>
          <a:blip r:embed="rId3"/>
          <a:stretch>
            <a:fillRect/>
          </a:stretch>
        </p:blipFill>
        <p:spPr>
          <a:xfrm>
            <a:off x="7757279" y="3677493"/>
            <a:ext cx="4248526" cy="2878911"/>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p>
          <a:p>
            <a:endParaRPr lang="vi-VN" sz="1800" b="1">
              <a:solidFill>
                <a:srgbClr val="141ED2"/>
              </a:solidFill>
              <a:ea typeface="Tahoma" panose="020B0604030504040204" pitchFamily="34" charset="0"/>
              <a:cs typeface="Tahoma" panose="020B0604030504040204" pitchFamily="34" charset="0"/>
            </a:endParaRPr>
          </a:p>
          <a:p>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929273135"/>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5,88%</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-4,69%</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-3,88%</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-11,14%</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-4,14%</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-9,93%</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-6,84%</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-8,99%</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-2,95%</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-0,99%</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-8,51%</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Hàng cá nhân &amp; Gia dụng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-3,05%</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-4,29%</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-5,60%</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-10,24%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p>
          <a:p>
            <a:endParaRPr lang="vi-VN" sz="1800" b="1">
              <a:solidFill>
                <a:srgbClr val="141ED2"/>
              </a:solidFill>
              <a:ea typeface="Tahoma" panose="020B0604030504040204" pitchFamily="34" charset="0"/>
              <a:cs typeface="Tahoma" panose="020B0604030504040204" pitchFamily="34" charset="0"/>
            </a:endParaRPr>
          </a:p>
          <a:p>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r>
              <a:rPr lang="en-US" sz="1100" dirty="0" err="1">
                <a:solidFill>
                  <a:schemeClr val="tx1"/>
                </a:solidFill>
              </a:rPr>
              <a:t>Trên</a:t>
            </a:r>
            <a:r>
              <a:rPr lang="en-US" sz="1100" dirty="0">
                <a:solidFill>
                  <a:schemeClr val="tx1"/>
                </a:solidFill>
              </a:rPr>
              <a:t> HOSE, </a:t>
            </a:r>
            <a:r>
              <a:rPr lang="en-US" sz="1100" dirty="0" err="1">
                <a:solidFill>
                  <a:schemeClr val="tx1"/>
                </a:solidFill>
              </a:rPr>
              <a:t>trong</a:t>
            </a:r>
            <a:r>
              <a:rPr lang="en-US" sz="1100" dirty="0">
                <a:solidFill>
                  <a:schemeClr val="tx1"/>
                </a:solidFill>
              </a:rPr>
              <a:t> </a:t>
            </a:r>
            <a:r>
              <a:rPr lang="en-US" sz="1100" dirty="0" err="1">
                <a:solidFill>
                  <a:schemeClr val="tx1"/>
                </a:solidFill>
              </a:rPr>
              <a:t>giai</a:t>
            </a:r>
            <a:r>
              <a:rPr lang="en-US" sz="1100" dirty="0">
                <a:solidFill>
                  <a:schemeClr val="tx1"/>
                </a:solidFill>
              </a:rPr>
              <a:t> </a:t>
            </a:r>
            <a:r>
              <a:rPr lang="en-US" sz="1100" dirty="0" err="1">
                <a:solidFill>
                  <a:schemeClr val="tx1"/>
                </a:solidFill>
              </a:rPr>
              <a:t>đoạn</a:t>
            </a:r>
            <a:r>
              <a:rPr lang="en-US" sz="1100" dirty="0">
                <a:solidFill>
                  <a:schemeClr val="tx1"/>
                </a:solidFill>
              </a:rPr>
              <a:t> 27/07-31/07/2026,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r>
              <a:rPr lang="en-US" sz="1100" dirty="0">
                <a:solidFill>
                  <a:schemeClr val="tx1"/>
                </a:solidFill>
              </a:rPr>
              <a:t> </a:t>
            </a:r>
            <a:r>
              <a:rPr lang="en-US" sz="1100" dirty="0" err="1">
                <a:solidFill>
                  <a:schemeClr val="tx1"/>
                </a:solidFill>
              </a:rPr>
              <a:t>mua</a:t>
            </a:r>
            <a:r>
              <a:rPr lang="en-US" sz="1100" dirty="0">
                <a:solidFill>
                  <a:schemeClr val="tx1"/>
                </a:solidFill>
              </a:rPr>
              <a:t> </a:t>
            </a:r>
            <a:r>
              <a:rPr lang="en-US" sz="1100" dirty="0" err="1">
                <a:solidFill>
                  <a:schemeClr val="tx1"/>
                </a:solidFill>
              </a:rPr>
              <a:t>ròng</a:t>
            </a:r>
            <a:r>
              <a:rPr lang="en-US" sz="1100" dirty="0">
                <a:solidFill>
                  <a:schemeClr val="tx1"/>
                </a:solidFill>
              </a:rPr>
              <a:t> 681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r>
              <a:rPr lang="en-US" sz="1100" dirty="0">
                <a:solidFill>
                  <a:schemeClr val="tx1"/>
                </a:solidFill>
              </a:rPr>
              <a:t> </a:t>
            </a:r>
            <a:r>
              <a:rPr lang="en-US" sz="1100" dirty="0" err="1">
                <a:solidFill>
                  <a:schemeClr val="tx1"/>
                </a:solidFill>
              </a:rPr>
              <a:t>bán</a:t>
            </a:r>
            <a:r>
              <a:rPr lang="en-US" sz="1100" dirty="0">
                <a:solidFill>
                  <a:schemeClr val="tx1"/>
                </a:solidFill>
              </a:rPr>
              <a:t> </a:t>
            </a:r>
            <a:r>
              <a:rPr lang="en-US" sz="1100" dirty="0" err="1">
                <a:solidFill>
                  <a:schemeClr val="tx1"/>
                </a:solidFill>
              </a:rPr>
              <a:t>ròng</a:t>
            </a:r>
            <a:r>
              <a:rPr lang="en-US" sz="1100" dirty="0">
                <a:solidFill>
                  <a:schemeClr val="tx1"/>
                </a:solidFill>
              </a:rPr>
              <a:t> 384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a:t>
            </a: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3587801961"/>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a:t>
                      </a:r>
                    </a:p>
                    <a:p>
                      <a:pPr algn="r" fontAlgn="ctr"/>
                      <a:r>
                        <a:rPr lang="en-US" sz="1000" b="1" u="none" strike="noStrike">
                          <a:solidFill>
                            <a:srgbClr val="FFFFFF"/>
                          </a:solidFill>
                          <a:effectLst/>
                        </a:rPr>
                        <a:t>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POW</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-133.837.690.000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8,32%</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-115.044.020.000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3,97%</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-79.504.650.000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9,96%</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-78.434.940.000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12,89%</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-71.242.630.000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9,85%</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-51.252.425.000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9,73%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VJC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-47.052.790.000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6,68%</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-39.589.604.000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9,46%</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FUEVFVND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32.440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-38.107.090.000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36,40%</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E1VFVN30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33.700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-35.818.329.000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53,01%</a:t>
                      </a: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611736124"/>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Mua</a:t>
                      </a:r>
                      <a:r>
                        <a:rPr lang="en-US" sz="1000" b="1" u="none" strike="noStrike" dirty="0">
                          <a:solidFill>
                            <a:srgbClr val="FFFFFF"/>
                          </a:solidFill>
                          <a:effectLst/>
                        </a:rPr>
                        <a:t>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a:solidFill>
                            <a:srgbClr val="FFFFFF"/>
                          </a:solidFill>
                          <a:effectLst/>
                        </a:rPr>
                        <a:t>Tỷ </a:t>
                      </a:r>
                      <a:r>
                        <a:rPr lang="en-US" sz="1000" b="1" u="none" strike="noStrike" dirty="0" err="1">
                          <a:solidFill>
                            <a:srgbClr val="FFFFFF"/>
                          </a:solidFill>
                          <a:effectLst/>
                        </a:rPr>
                        <a:t>trọng</a:t>
                      </a:r>
                      <a:r>
                        <a:rPr lang="en-US" sz="1000" b="1" u="none" strike="noStrike" dirty="0">
                          <a:solidFill>
                            <a:srgbClr val="FFFFFF"/>
                          </a:solidFill>
                          <a:effectLst/>
                        </a:rPr>
                        <a:t> </a:t>
                      </a:r>
                      <a:r>
                        <a:rPr lang="en-US" sz="1000" b="1" u="none" strike="noStrike" dirty="0" err="1">
                          <a:solidFill>
                            <a:srgbClr val="FFFFFF"/>
                          </a:solidFill>
                          <a:effectLst/>
                        </a:rPr>
                        <a:t>mua</a:t>
                      </a:r>
                      <a:r>
                        <a:rPr lang="en-US" sz="1000" b="1" u="none" strike="noStrike" dirty="0">
                          <a:solidFill>
                            <a:srgbClr val="FFFFFF"/>
                          </a:solidFill>
                          <a:effectLst/>
                        </a:rPr>
                        <a:t> của </a:t>
                      </a:r>
                      <a:r>
                        <a:rPr lang="en-US" sz="1000" b="1" u="none" strike="noStrike" dirty="0" err="1">
                          <a:solidFill>
                            <a:srgbClr val="FFFFFF"/>
                          </a:solidFill>
                          <a:effectLst/>
                        </a:rPr>
                        <a:t>Khối</a:t>
                      </a:r>
                      <a:endParaRPr lang="en-US" sz="1000" b="1" u="none" strike="noStrike" dirty="0">
                        <a:solidFill>
                          <a:srgbClr val="FFFFFF"/>
                        </a:solidFill>
                        <a:effectLst/>
                      </a:endParaRPr>
                    </a:p>
                    <a:p>
                      <a:pPr algn="r" fontAlgn="ctr"/>
                      <a:r>
                        <a:rPr lang="en-US" sz="1000" b="1" u="none" strike="noStrike" dirty="0">
                          <a:solidFill>
                            <a:srgbClr val="FFFFFF"/>
                          </a:solidFill>
                          <a:effectLst/>
                        </a:rPr>
                        <a:t> </a:t>
                      </a:r>
                      <a:r>
                        <a:rPr lang="en-US" sz="1000" b="1" u="none" strike="noStrike" dirty="0" err="1">
                          <a:solidFill>
                            <a:srgbClr val="FFFFFF"/>
                          </a:solidFill>
                          <a:effectLst/>
                        </a:rPr>
                        <a:t>Tự</a:t>
                      </a:r>
                      <a:r>
                        <a:rPr lang="en-US" sz="1000" b="1" u="none" strike="noStrike" dirty="0">
                          <a:solidFill>
                            <a:srgbClr val="FFFFFF"/>
                          </a:solidFill>
                          <a:effectLst/>
                        </a:rPr>
                        <a:t>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VPX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577.171.900.000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45,55%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110.050.100.000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12,27%</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56.268.401.000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49.617.640.000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2,80%</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REE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38.159.400.000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14,75%</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33.983.990.000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8,54%</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32.946.787.000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6,39%</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FUEMAV30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23.190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27.172.518.000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49,98%</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21.850.054.000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15,60%</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TCX</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19.679.225.000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3,74%</a:t>
                      </a: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4078672774"/>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20,06%</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42,64%</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15,57%</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25.350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3267458132"/>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6,70%</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4,92%</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EIB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17.800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1,52%</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27/07 – 31/07/2026</a:t>
            </a:r>
          </a:p>
          <a:p>
            <a:endParaRPr lang="en-US" sz="1800" b="1">
              <a:solidFill>
                <a:srgbClr val="141ED2"/>
              </a:solidFill>
              <a:latin typeface="Arial" panose="020B0604020202020204" pitchFamily="34" charset="0"/>
              <a:ea typeface="Tahoma" panose="020B0604030504040204" pitchFamily="34" charset="0"/>
              <a:cs typeface="Arial" panose="020B0604020202020204" pitchFamily="34" charset="0"/>
            </a:endParaRPr>
          </a:p>
          <a:p>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Trong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127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r>
              <a:rPr lang="en-US" sz="1100" dirty="0" err="1">
                <a:solidFill>
                  <a:schemeClr val="tx1"/>
                </a:solidFill>
                <a:latin typeface="Arial" panose="020B0604020202020204" pitchFamily="34" charset="0"/>
                <a:cs typeface="Arial" panose="020B0604020202020204" pitchFamily="34" charset="0"/>
              </a:rPr>
              <a:t>đối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4 </a:t>
            </a:r>
            <a:r>
              <a:rPr lang="en-US" sz="1100" dirty="0" err="1">
                <a:solidFill>
                  <a:schemeClr val="tx1"/>
                </a:solidFill>
                <a:latin typeface="Arial" panose="020B0604020202020204" pitchFamily="34" charset="0"/>
                <a:cs typeface="Arial" panose="020B0604020202020204" pitchFamily="34" charset="0"/>
              </a:rPr>
              <a:t>ngân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hàng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Tính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từ</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năm</a:t>
            </a:r>
            <a:r>
              <a:rPr lang="en-US" sz="1100" dirty="0">
                <a:solidFill>
                  <a:schemeClr val="tx1"/>
                </a:solidFill>
                <a:latin typeface="Arial" panose="020B0604020202020204" pitchFamily="34" charset="0"/>
                <a:cs typeface="Arial" panose="020B0604020202020204" pitchFamily="34" charset="0"/>
              </a:rPr>
              <a:t>, NDTNN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493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944538389"/>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31/07/2026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Báo cáo tình hình Quản trị công ty 6 tháng đầu năm 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30/07/2026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Nghị quyết HĐQT số 3411 ngày 28/07/2026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29/07/2026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Điều lệ công ty sửa đổi</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27/07/2026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Thông báo về việc ký Hợp đồng kiểm toán BCTC năm 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3274541017"/>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0,063913981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0,015216959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0,06652324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0,014086276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33181617"/>
                  </a:ext>
                </a:extLst>
              </a:tr>
              <a:tr h="270883">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03/08/2026 – 07/08/2026</a:t>
            </a:r>
          </a:p>
          <a:p>
            <a:pPr>
              <a:lnSpc>
                <a:spcPct val="114000"/>
              </a:lnSpc>
              <a:spcBef>
                <a:spcPts val="300"/>
              </a:spcBef>
              <a:spcAft>
                <a:spcPts val="300"/>
              </a:spcAft>
            </a:pPr>
            <a:endParaRPr lang="en-US" sz="1800" b="1">
              <a:solidFill>
                <a:srgbClr val="141ED2"/>
              </a:solidFill>
              <a:ea typeface="Tahoma" panose="020B0604030504040204" pitchFamily="34" charset="0"/>
              <a:cs typeface="Times New Roman" panose="02020603050405020304" pitchFamily="18" charset="0"/>
            </a:endParaRPr>
          </a:p>
          <a:p>
            <a:pPr>
              <a:lnSpc>
                <a:spcPct val="114000"/>
              </a:lnSpc>
              <a:spcBef>
                <a:spcPts val="300"/>
              </a:spcBef>
              <a:spcAft>
                <a:spcPts val="300"/>
              </a:spcAft>
            </a:pP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625625212"/>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Calibri" panose="020F0502020204030204" pitchFamily="34" charset="0"/>
                        </a:rPr>
                        <a:t>07/08/2026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[United States] Non Farm Payrolls</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Calibri" panose="020F0502020204030204" pitchFamily="34" charset="0"/>
                        </a:rPr>
                        <a:t>09/08/2026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[China] Inflation Rate YoY</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03/08/2026 – 07/08/2026</a:t>
            </a:r>
          </a:p>
          <a:p>
            <a:pPr>
              <a:lnSpc>
                <a:spcPct val="114000"/>
              </a:lnSpc>
              <a:spcBef>
                <a:spcPts val="300"/>
              </a:spcBef>
              <a:spcAft>
                <a:spcPts val="300"/>
              </a:spcAft>
            </a:pPr>
            <a:endParaRPr lang="vi-VN" sz="1800" b="1">
              <a:solidFill>
                <a:srgbClr val="141ED2"/>
              </a:solidFill>
              <a:ea typeface="Tahoma" panose="020B0604030504040204" pitchFamily="34" charset="0"/>
              <a:cs typeface="Times New Roman" panose="02020603050405020304" pitchFamily="18" charset="0"/>
            </a:endParaRPr>
          </a:p>
          <a:p>
            <a:pPr>
              <a:lnSpc>
                <a:spcPct val="114000"/>
              </a:lnSpc>
              <a:spcBef>
                <a:spcPts val="300"/>
              </a:spcBef>
              <a:spcAft>
                <a:spcPts val="300"/>
              </a:spcAft>
            </a:pP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588861910"/>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148.100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-28,75%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59.300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37.850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67.100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27.500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288,24%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30.700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3,89%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-8,66%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-43,70%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-21,33%</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3609040245"/>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66.100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60.900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-27,56%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28.950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311,73%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351,61%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9.960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27.800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-0,18%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-6,71%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-32,44%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22,7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21,73%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-19,85%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300988329"/>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-24,58%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35.700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-32,39%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-41,23%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-54,60%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10,8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-62,45%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-54,75%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3728</Words>
  <Application>Microsoft Macintosh PowerPoint</Application>
  <PresentationFormat>Widescreen</PresentationFormat>
  <Paragraphs>1299</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Tahoma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Long Dang</cp:lastModifiedBy>
  <cp:revision>3858</cp:revision>
  <dcterms:created xsi:type="dcterms:W3CDTF">2020-03-18T03:42:50Z</dcterms:created>
  <dcterms:modified xsi:type="dcterms:W3CDTF">2026-08-04T07:54:27Z</dcterms:modified>
</cp:coreProperties>
</file>