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VNINDEX</c:v>
          </c:tx>
          <c:spPr>
            <a:ln>
              <a:prstDash val="solid"/>
            </a:ln>
          </c:spPr>
          <c:marker>
            <c:symbol val="none"/>
          </c:marker>
          <c:cat>
            <c:numRef>
              <c:f>Sheet1!$A$2:$A$383</c:f>
              <c:numCache>
                <c:formatCode>m/d/yy</c:formatCode>
                <c:ptCount val="382"/>
                <c:pt idx="1">
                  <c:v>46234</c:v>
                </c:pt>
                <c:pt idx="2">
                  <c:v>46233</c:v>
                </c:pt>
                <c:pt idx="3">
                  <c:v>46232</c:v>
                </c:pt>
                <c:pt idx="4">
                  <c:v>46231</c:v>
                </c:pt>
                <c:pt idx="5">
                  <c:v>46230</c:v>
                </c:pt>
                <c:pt idx="6">
                  <c:v>46227</c:v>
                </c:pt>
                <c:pt idx="7">
                  <c:v>46226</c:v>
                </c:pt>
                <c:pt idx="8">
                  <c:v>46225</c:v>
                </c:pt>
                <c:pt idx="9">
                  <c:v>46224</c:v>
                </c:pt>
                <c:pt idx="10">
                  <c:v>46223</c:v>
                </c:pt>
                <c:pt idx="11">
                  <c:v>46220</c:v>
                </c:pt>
                <c:pt idx="12">
                  <c:v>46219</c:v>
                </c:pt>
                <c:pt idx="13">
                  <c:v>46218</c:v>
                </c:pt>
                <c:pt idx="14">
                  <c:v>46217</c:v>
                </c:pt>
                <c:pt idx="15">
                  <c:v>46216</c:v>
                </c:pt>
                <c:pt idx="16">
                  <c:v>46213</c:v>
                </c:pt>
                <c:pt idx="17">
                  <c:v>46212</c:v>
                </c:pt>
                <c:pt idx="18">
                  <c:v>46211</c:v>
                </c:pt>
                <c:pt idx="19">
                  <c:v>46210</c:v>
                </c:pt>
                <c:pt idx="20">
                  <c:v>46209</c:v>
                </c:pt>
                <c:pt idx="21">
                  <c:v>46206</c:v>
                </c:pt>
                <c:pt idx="22">
                  <c:v>46205</c:v>
                </c:pt>
                <c:pt idx="23">
                  <c:v>46204</c:v>
                </c:pt>
                <c:pt idx="24">
                  <c:v>46203</c:v>
                </c:pt>
                <c:pt idx="25">
                  <c:v>46202</c:v>
                </c:pt>
                <c:pt idx="26">
                  <c:v>46199</c:v>
                </c:pt>
                <c:pt idx="27">
                  <c:v>46198</c:v>
                </c:pt>
                <c:pt idx="28">
                  <c:v>46197</c:v>
                </c:pt>
                <c:pt idx="29">
                  <c:v>46196</c:v>
                </c:pt>
                <c:pt idx="30">
                  <c:v>46195</c:v>
                </c:pt>
                <c:pt idx="31">
                  <c:v>46192</c:v>
                </c:pt>
                <c:pt idx="32">
                  <c:v>46191</c:v>
                </c:pt>
                <c:pt idx="33">
                  <c:v>46190</c:v>
                </c:pt>
                <c:pt idx="34">
                  <c:v>46189</c:v>
                </c:pt>
                <c:pt idx="35">
                  <c:v>46188</c:v>
                </c:pt>
                <c:pt idx="36">
                  <c:v>46185</c:v>
                </c:pt>
                <c:pt idx="37">
                  <c:v>46184</c:v>
                </c:pt>
                <c:pt idx="38">
                  <c:v>46183</c:v>
                </c:pt>
                <c:pt idx="39">
                  <c:v>46182</c:v>
                </c:pt>
                <c:pt idx="40">
                  <c:v>46181</c:v>
                </c:pt>
                <c:pt idx="41">
                  <c:v>46178</c:v>
                </c:pt>
                <c:pt idx="42">
                  <c:v>46177</c:v>
                </c:pt>
                <c:pt idx="43">
                  <c:v>46176</c:v>
                </c:pt>
                <c:pt idx="44">
                  <c:v>46175</c:v>
                </c:pt>
                <c:pt idx="45">
                  <c:v>46174</c:v>
                </c:pt>
                <c:pt idx="46">
                  <c:v>46171</c:v>
                </c:pt>
                <c:pt idx="47">
                  <c:v>46170</c:v>
                </c:pt>
                <c:pt idx="48">
                  <c:v>46169</c:v>
                </c:pt>
                <c:pt idx="49">
                  <c:v>46168</c:v>
                </c:pt>
                <c:pt idx="50">
                  <c:v>46167</c:v>
                </c:pt>
                <c:pt idx="51">
                  <c:v>46164</c:v>
                </c:pt>
                <c:pt idx="52">
                  <c:v>46163</c:v>
                </c:pt>
                <c:pt idx="53">
                  <c:v>46162</c:v>
                </c:pt>
                <c:pt idx="54">
                  <c:v>46161</c:v>
                </c:pt>
                <c:pt idx="55">
                  <c:v>46160</c:v>
                </c:pt>
                <c:pt idx="56">
                  <c:v>46157</c:v>
                </c:pt>
                <c:pt idx="57">
                  <c:v>46156</c:v>
                </c:pt>
                <c:pt idx="58">
                  <c:v>46155</c:v>
                </c:pt>
                <c:pt idx="59">
                  <c:v>46154</c:v>
                </c:pt>
                <c:pt idx="60">
                  <c:v>46153</c:v>
                </c:pt>
                <c:pt idx="61">
                  <c:v>46150</c:v>
                </c:pt>
                <c:pt idx="62">
                  <c:v>46149</c:v>
                </c:pt>
                <c:pt idx="63">
                  <c:v>46148</c:v>
                </c:pt>
                <c:pt idx="64">
                  <c:v>46147</c:v>
                </c:pt>
                <c:pt idx="65">
                  <c:v>46146</c:v>
                </c:pt>
                <c:pt idx="66">
                  <c:v>46141</c:v>
                </c:pt>
                <c:pt idx="67">
                  <c:v>46140</c:v>
                </c:pt>
                <c:pt idx="68">
                  <c:v>46136</c:v>
                </c:pt>
                <c:pt idx="69">
                  <c:v>46135</c:v>
                </c:pt>
                <c:pt idx="70">
                  <c:v>46134</c:v>
                </c:pt>
                <c:pt idx="71">
                  <c:v>46133</c:v>
                </c:pt>
                <c:pt idx="72">
                  <c:v>46132</c:v>
                </c:pt>
                <c:pt idx="73">
                  <c:v>46129</c:v>
                </c:pt>
                <c:pt idx="74">
                  <c:v>46128</c:v>
                </c:pt>
                <c:pt idx="75">
                  <c:v>46127</c:v>
                </c:pt>
                <c:pt idx="76">
                  <c:v>46126</c:v>
                </c:pt>
                <c:pt idx="77">
                  <c:v>46125</c:v>
                </c:pt>
                <c:pt idx="78">
                  <c:v>46122</c:v>
                </c:pt>
                <c:pt idx="79">
                  <c:v>46121</c:v>
                </c:pt>
                <c:pt idx="80">
                  <c:v>46120</c:v>
                </c:pt>
                <c:pt idx="81">
                  <c:v>46119</c:v>
                </c:pt>
                <c:pt idx="82">
                  <c:v>46118</c:v>
                </c:pt>
                <c:pt idx="83">
                  <c:v>46115</c:v>
                </c:pt>
                <c:pt idx="84">
                  <c:v>46114</c:v>
                </c:pt>
                <c:pt idx="85">
                  <c:v>46113</c:v>
                </c:pt>
                <c:pt idx="86">
                  <c:v>46112</c:v>
                </c:pt>
                <c:pt idx="87">
                  <c:v>46111</c:v>
                </c:pt>
                <c:pt idx="88">
                  <c:v>46108</c:v>
                </c:pt>
                <c:pt idx="89">
                  <c:v>46107</c:v>
                </c:pt>
                <c:pt idx="90">
                  <c:v>46106</c:v>
                </c:pt>
                <c:pt idx="91">
                  <c:v>46105</c:v>
                </c:pt>
                <c:pt idx="92">
                  <c:v>46104</c:v>
                </c:pt>
                <c:pt idx="93">
                  <c:v>46101</c:v>
                </c:pt>
                <c:pt idx="94">
                  <c:v>46100</c:v>
                </c:pt>
                <c:pt idx="95">
                  <c:v>46099</c:v>
                </c:pt>
                <c:pt idx="96">
                  <c:v>46098</c:v>
                </c:pt>
                <c:pt idx="97">
                  <c:v>46097</c:v>
                </c:pt>
                <c:pt idx="98">
                  <c:v>46094</c:v>
                </c:pt>
                <c:pt idx="99">
                  <c:v>46093</c:v>
                </c:pt>
                <c:pt idx="100">
                  <c:v>46092</c:v>
                </c:pt>
                <c:pt idx="101">
                  <c:v>46091</c:v>
                </c:pt>
                <c:pt idx="102">
                  <c:v>46090</c:v>
                </c:pt>
                <c:pt idx="103">
                  <c:v>46087</c:v>
                </c:pt>
                <c:pt idx="104">
                  <c:v>46086</c:v>
                </c:pt>
                <c:pt idx="105">
                  <c:v>46085</c:v>
                </c:pt>
                <c:pt idx="106">
                  <c:v>46084</c:v>
                </c:pt>
                <c:pt idx="107">
                  <c:v>46083</c:v>
                </c:pt>
                <c:pt idx="108">
                  <c:v>46080</c:v>
                </c:pt>
                <c:pt idx="109">
                  <c:v>46079</c:v>
                </c:pt>
                <c:pt idx="110">
                  <c:v>46078</c:v>
                </c:pt>
                <c:pt idx="111">
                  <c:v>46077</c:v>
                </c:pt>
                <c:pt idx="112">
                  <c:v>46076</c:v>
                </c:pt>
                <c:pt idx="113">
                  <c:v>46066</c:v>
                </c:pt>
                <c:pt idx="114">
                  <c:v>46065</c:v>
                </c:pt>
                <c:pt idx="115">
                  <c:v>46064</c:v>
                </c:pt>
                <c:pt idx="116">
                  <c:v>46063</c:v>
                </c:pt>
                <c:pt idx="117">
                  <c:v>46062</c:v>
                </c:pt>
                <c:pt idx="118">
                  <c:v>46059</c:v>
                </c:pt>
                <c:pt idx="119">
                  <c:v>46058</c:v>
                </c:pt>
                <c:pt idx="120">
                  <c:v>46057</c:v>
                </c:pt>
                <c:pt idx="121">
                  <c:v>46056</c:v>
                </c:pt>
                <c:pt idx="122">
                  <c:v>46055</c:v>
                </c:pt>
                <c:pt idx="123">
                  <c:v>46052</c:v>
                </c:pt>
                <c:pt idx="124">
                  <c:v>46051</c:v>
                </c:pt>
                <c:pt idx="125">
                  <c:v>46050</c:v>
                </c:pt>
                <c:pt idx="126">
                  <c:v>46049</c:v>
                </c:pt>
                <c:pt idx="127">
                  <c:v>46048</c:v>
                </c:pt>
                <c:pt idx="128">
                  <c:v>46045</c:v>
                </c:pt>
                <c:pt idx="129">
                  <c:v>46044</c:v>
                </c:pt>
                <c:pt idx="130">
                  <c:v>46043</c:v>
                </c:pt>
                <c:pt idx="131">
                  <c:v>46042</c:v>
                </c:pt>
                <c:pt idx="132">
                  <c:v>46041</c:v>
                </c:pt>
                <c:pt idx="133">
                  <c:v>46038</c:v>
                </c:pt>
                <c:pt idx="134">
                  <c:v>46037</c:v>
                </c:pt>
                <c:pt idx="135">
                  <c:v>46036</c:v>
                </c:pt>
                <c:pt idx="136">
                  <c:v>46035</c:v>
                </c:pt>
                <c:pt idx="137">
                  <c:v>46034</c:v>
                </c:pt>
                <c:pt idx="138">
                  <c:v>46031</c:v>
                </c:pt>
                <c:pt idx="139">
                  <c:v>46030</c:v>
                </c:pt>
                <c:pt idx="140">
                  <c:v>46029</c:v>
                </c:pt>
                <c:pt idx="141">
                  <c:v>46028</c:v>
                </c:pt>
                <c:pt idx="142">
                  <c:v>46027</c:v>
                </c:pt>
                <c:pt idx="143">
                  <c:v>46022</c:v>
                </c:pt>
                <c:pt idx="144">
                  <c:v>46021</c:v>
                </c:pt>
                <c:pt idx="145">
                  <c:v>46020</c:v>
                </c:pt>
                <c:pt idx="146">
                  <c:v>46017</c:v>
                </c:pt>
                <c:pt idx="147">
                  <c:v>46016</c:v>
                </c:pt>
                <c:pt idx="148">
                  <c:v>46015</c:v>
                </c:pt>
                <c:pt idx="149">
                  <c:v>46014</c:v>
                </c:pt>
                <c:pt idx="150">
                  <c:v>46013</c:v>
                </c:pt>
                <c:pt idx="151">
                  <c:v>46010</c:v>
                </c:pt>
                <c:pt idx="152">
                  <c:v>46009</c:v>
                </c:pt>
                <c:pt idx="153">
                  <c:v>46008</c:v>
                </c:pt>
                <c:pt idx="154">
                  <c:v>46007</c:v>
                </c:pt>
                <c:pt idx="155">
                  <c:v>46006</c:v>
                </c:pt>
                <c:pt idx="156">
                  <c:v>46003</c:v>
                </c:pt>
                <c:pt idx="157">
                  <c:v>46002</c:v>
                </c:pt>
                <c:pt idx="158">
                  <c:v>46001</c:v>
                </c:pt>
                <c:pt idx="159">
                  <c:v>46000</c:v>
                </c:pt>
                <c:pt idx="160">
                  <c:v>45999</c:v>
                </c:pt>
                <c:pt idx="161">
                  <c:v>45996</c:v>
                </c:pt>
                <c:pt idx="162">
                  <c:v>45995</c:v>
                </c:pt>
                <c:pt idx="163">
                  <c:v>45994</c:v>
                </c:pt>
                <c:pt idx="164">
                  <c:v>45993</c:v>
                </c:pt>
                <c:pt idx="165">
                  <c:v>45992</c:v>
                </c:pt>
                <c:pt idx="166">
                  <c:v>45989</c:v>
                </c:pt>
                <c:pt idx="167">
                  <c:v>45988</c:v>
                </c:pt>
                <c:pt idx="168">
                  <c:v>45987</c:v>
                </c:pt>
                <c:pt idx="169">
                  <c:v>45986</c:v>
                </c:pt>
                <c:pt idx="170">
                  <c:v>45985</c:v>
                </c:pt>
                <c:pt idx="171">
                  <c:v>45982</c:v>
                </c:pt>
                <c:pt idx="172">
                  <c:v>45981</c:v>
                </c:pt>
                <c:pt idx="173">
                  <c:v>45980</c:v>
                </c:pt>
                <c:pt idx="174">
                  <c:v>45979</c:v>
                </c:pt>
                <c:pt idx="175">
                  <c:v>45978</c:v>
                </c:pt>
                <c:pt idx="176">
                  <c:v>45975</c:v>
                </c:pt>
                <c:pt idx="177">
                  <c:v>45974</c:v>
                </c:pt>
                <c:pt idx="178">
                  <c:v>45973</c:v>
                </c:pt>
                <c:pt idx="179">
                  <c:v>45972</c:v>
                </c:pt>
                <c:pt idx="180">
                  <c:v>45971</c:v>
                </c:pt>
                <c:pt idx="181">
                  <c:v>45968</c:v>
                </c:pt>
                <c:pt idx="182">
                  <c:v>45967</c:v>
                </c:pt>
                <c:pt idx="183">
                  <c:v>45966</c:v>
                </c:pt>
                <c:pt idx="184">
                  <c:v>45965</c:v>
                </c:pt>
                <c:pt idx="185">
                  <c:v>45964</c:v>
                </c:pt>
                <c:pt idx="186">
                  <c:v>45961</c:v>
                </c:pt>
                <c:pt idx="187">
                  <c:v>45960</c:v>
                </c:pt>
                <c:pt idx="188">
                  <c:v>45959</c:v>
                </c:pt>
                <c:pt idx="189">
                  <c:v>45958</c:v>
                </c:pt>
                <c:pt idx="190">
                  <c:v>45957</c:v>
                </c:pt>
                <c:pt idx="191">
                  <c:v>45954</c:v>
                </c:pt>
                <c:pt idx="192">
                  <c:v>45953</c:v>
                </c:pt>
                <c:pt idx="193">
                  <c:v>45952</c:v>
                </c:pt>
                <c:pt idx="194">
                  <c:v>45951</c:v>
                </c:pt>
                <c:pt idx="195">
                  <c:v>45950</c:v>
                </c:pt>
                <c:pt idx="196">
                  <c:v>45947</c:v>
                </c:pt>
                <c:pt idx="197">
                  <c:v>45946</c:v>
                </c:pt>
                <c:pt idx="198">
                  <c:v>45945</c:v>
                </c:pt>
                <c:pt idx="199">
                  <c:v>45944</c:v>
                </c:pt>
                <c:pt idx="200">
                  <c:v>45943</c:v>
                </c:pt>
                <c:pt idx="201">
                  <c:v>45940</c:v>
                </c:pt>
                <c:pt idx="202">
                  <c:v>45939</c:v>
                </c:pt>
                <c:pt idx="203">
                  <c:v>45938</c:v>
                </c:pt>
                <c:pt idx="204">
                  <c:v>45937</c:v>
                </c:pt>
                <c:pt idx="205">
                  <c:v>45936</c:v>
                </c:pt>
                <c:pt idx="206">
                  <c:v>45933</c:v>
                </c:pt>
                <c:pt idx="207">
                  <c:v>45932</c:v>
                </c:pt>
                <c:pt idx="208">
                  <c:v>45931</c:v>
                </c:pt>
                <c:pt idx="209">
                  <c:v>45930</c:v>
                </c:pt>
                <c:pt idx="210">
                  <c:v>45929</c:v>
                </c:pt>
                <c:pt idx="211">
                  <c:v>45926</c:v>
                </c:pt>
                <c:pt idx="212">
                  <c:v>45925</c:v>
                </c:pt>
                <c:pt idx="213">
                  <c:v>45924</c:v>
                </c:pt>
                <c:pt idx="214">
                  <c:v>45923</c:v>
                </c:pt>
                <c:pt idx="215">
                  <c:v>45922</c:v>
                </c:pt>
                <c:pt idx="216">
                  <c:v>45919</c:v>
                </c:pt>
                <c:pt idx="217">
                  <c:v>45918</c:v>
                </c:pt>
                <c:pt idx="218">
                  <c:v>45917</c:v>
                </c:pt>
                <c:pt idx="219">
                  <c:v>45916</c:v>
                </c:pt>
                <c:pt idx="220">
                  <c:v>45915</c:v>
                </c:pt>
                <c:pt idx="221">
                  <c:v>45912</c:v>
                </c:pt>
                <c:pt idx="222">
                  <c:v>45911</c:v>
                </c:pt>
                <c:pt idx="223">
                  <c:v>45910</c:v>
                </c:pt>
                <c:pt idx="224">
                  <c:v>45909</c:v>
                </c:pt>
                <c:pt idx="225">
                  <c:v>45908</c:v>
                </c:pt>
                <c:pt idx="226">
                  <c:v>45905</c:v>
                </c:pt>
                <c:pt idx="227">
                  <c:v>45904</c:v>
                </c:pt>
                <c:pt idx="228">
                  <c:v>45903</c:v>
                </c:pt>
                <c:pt idx="229">
                  <c:v>45898</c:v>
                </c:pt>
                <c:pt idx="230">
                  <c:v>45897</c:v>
                </c:pt>
                <c:pt idx="231">
                  <c:v>45896</c:v>
                </c:pt>
                <c:pt idx="232">
                  <c:v>45895</c:v>
                </c:pt>
                <c:pt idx="233">
                  <c:v>45894</c:v>
                </c:pt>
                <c:pt idx="234">
                  <c:v>45891</c:v>
                </c:pt>
                <c:pt idx="235">
                  <c:v>45890</c:v>
                </c:pt>
                <c:pt idx="236">
                  <c:v>45889</c:v>
                </c:pt>
                <c:pt idx="237">
                  <c:v>45888</c:v>
                </c:pt>
                <c:pt idx="238">
                  <c:v>45887</c:v>
                </c:pt>
                <c:pt idx="239">
                  <c:v>45884</c:v>
                </c:pt>
                <c:pt idx="240">
                  <c:v>45883</c:v>
                </c:pt>
                <c:pt idx="241">
                  <c:v>45882</c:v>
                </c:pt>
                <c:pt idx="242">
                  <c:v>45881</c:v>
                </c:pt>
                <c:pt idx="243">
                  <c:v>45880</c:v>
                </c:pt>
                <c:pt idx="244">
                  <c:v>45877</c:v>
                </c:pt>
                <c:pt idx="245">
                  <c:v>45876</c:v>
                </c:pt>
                <c:pt idx="246">
                  <c:v>45875</c:v>
                </c:pt>
                <c:pt idx="247">
                  <c:v>45874</c:v>
                </c:pt>
                <c:pt idx="248">
                  <c:v>45873</c:v>
                </c:pt>
                <c:pt idx="249">
                  <c:v>45870</c:v>
                </c:pt>
                <c:pt idx="250">
                  <c:v>45869</c:v>
                </c:pt>
                <c:pt idx="251">
                  <c:v>45868</c:v>
                </c:pt>
                <c:pt idx="252">
                  <c:v>45867</c:v>
                </c:pt>
                <c:pt idx="253">
                  <c:v>45866</c:v>
                </c:pt>
                <c:pt idx="254">
                  <c:v>45863</c:v>
                </c:pt>
                <c:pt idx="255">
                  <c:v>45862</c:v>
                </c:pt>
                <c:pt idx="256">
                  <c:v>45861</c:v>
                </c:pt>
                <c:pt idx="257">
                  <c:v>45860</c:v>
                </c:pt>
                <c:pt idx="258">
                  <c:v>45859</c:v>
                </c:pt>
                <c:pt idx="259">
                  <c:v>45856</c:v>
                </c:pt>
                <c:pt idx="260">
                  <c:v>45855</c:v>
                </c:pt>
                <c:pt idx="261">
                  <c:v>45854</c:v>
                </c:pt>
                <c:pt idx="262">
                  <c:v>45853</c:v>
                </c:pt>
                <c:pt idx="263">
                  <c:v>45852</c:v>
                </c:pt>
                <c:pt idx="264">
                  <c:v>45849</c:v>
                </c:pt>
                <c:pt idx="265">
                  <c:v>45848</c:v>
                </c:pt>
                <c:pt idx="266">
                  <c:v>45847</c:v>
                </c:pt>
                <c:pt idx="267">
                  <c:v>45846</c:v>
                </c:pt>
                <c:pt idx="268">
                  <c:v>45845</c:v>
                </c:pt>
                <c:pt idx="269">
                  <c:v>45842</c:v>
                </c:pt>
                <c:pt idx="270">
                  <c:v>45841</c:v>
                </c:pt>
                <c:pt idx="271">
                  <c:v>45840</c:v>
                </c:pt>
                <c:pt idx="272">
                  <c:v>45839</c:v>
                </c:pt>
                <c:pt idx="273">
                  <c:v>45838</c:v>
                </c:pt>
                <c:pt idx="274">
                  <c:v>45835</c:v>
                </c:pt>
                <c:pt idx="275">
                  <c:v>45834</c:v>
                </c:pt>
                <c:pt idx="276">
                  <c:v>45833</c:v>
                </c:pt>
                <c:pt idx="277">
                  <c:v>45832</c:v>
                </c:pt>
                <c:pt idx="278">
                  <c:v>45831</c:v>
                </c:pt>
                <c:pt idx="279">
                  <c:v>45828</c:v>
                </c:pt>
                <c:pt idx="280">
                  <c:v>45827</c:v>
                </c:pt>
                <c:pt idx="281">
                  <c:v>45826</c:v>
                </c:pt>
                <c:pt idx="282">
                  <c:v>45825</c:v>
                </c:pt>
                <c:pt idx="283">
                  <c:v>45824</c:v>
                </c:pt>
                <c:pt idx="284">
                  <c:v>45821</c:v>
                </c:pt>
                <c:pt idx="285">
                  <c:v>45820</c:v>
                </c:pt>
                <c:pt idx="286">
                  <c:v>45819</c:v>
                </c:pt>
                <c:pt idx="287">
                  <c:v>45818</c:v>
                </c:pt>
                <c:pt idx="288">
                  <c:v>45817</c:v>
                </c:pt>
                <c:pt idx="289">
                  <c:v>45814</c:v>
                </c:pt>
                <c:pt idx="290">
                  <c:v>45813</c:v>
                </c:pt>
                <c:pt idx="291">
                  <c:v>45812</c:v>
                </c:pt>
                <c:pt idx="292">
                  <c:v>45811</c:v>
                </c:pt>
                <c:pt idx="293">
                  <c:v>45810</c:v>
                </c:pt>
                <c:pt idx="294">
                  <c:v>45807</c:v>
                </c:pt>
                <c:pt idx="295">
                  <c:v>45806</c:v>
                </c:pt>
                <c:pt idx="296">
                  <c:v>45805</c:v>
                </c:pt>
                <c:pt idx="297">
                  <c:v>45804</c:v>
                </c:pt>
                <c:pt idx="298">
                  <c:v>45803</c:v>
                </c:pt>
                <c:pt idx="299">
                  <c:v>45800</c:v>
                </c:pt>
                <c:pt idx="300">
                  <c:v>45799</c:v>
                </c:pt>
                <c:pt idx="301">
                  <c:v>45798</c:v>
                </c:pt>
                <c:pt idx="302">
                  <c:v>45797</c:v>
                </c:pt>
                <c:pt idx="303">
                  <c:v>45796</c:v>
                </c:pt>
                <c:pt idx="304">
                  <c:v>45793</c:v>
                </c:pt>
                <c:pt idx="305">
                  <c:v>45792</c:v>
                </c:pt>
                <c:pt idx="306">
                  <c:v>45791</c:v>
                </c:pt>
                <c:pt idx="307">
                  <c:v>45790</c:v>
                </c:pt>
                <c:pt idx="308">
                  <c:v>45789</c:v>
                </c:pt>
                <c:pt idx="309">
                  <c:v>45786</c:v>
                </c:pt>
                <c:pt idx="310">
                  <c:v>45785</c:v>
                </c:pt>
                <c:pt idx="311">
                  <c:v>45784</c:v>
                </c:pt>
                <c:pt idx="312">
                  <c:v>45783</c:v>
                </c:pt>
                <c:pt idx="313">
                  <c:v>45782</c:v>
                </c:pt>
                <c:pt idx="314">
                  <c:v>45776</c:v>
                </c:pt>
                <c:pt idx="315">
                  <c:v>45775</c:v>
                </c:pt>
                <c:pt idx="316">
                  <c:v>45772</c:v>
                </c:pt>
                <c:pt idx="317">
                  <c:v>45771</c:v>
                </c:pt>
                <c:pt idx="318">
                  <c:v>45770</c:v>
                </c:pt>
                <c:pt idx="319">
                  <c:v>45769</c:v>
                </c:pt>
                <c:pt idx="320">
                  <c:v>45768</c:v>
                </c:pt>
                <c:pt idx="321">
                  <c:v>45765</c:v>
                </c:pt>
                <c:pt idx="322">
                  <c:v>45764</c:v>
                </c:pt>
                <c:pt idx="323">
                  <c:v>45763</c:v>
                </c:pt>
                <c:pt idx="324">
                  <c:v>45762</c:v>
                </c:pt>
                <c:pt idx="325">
                  <c:v>45761</c:v>
                </c:pt>
                <c:pt idx="326">
                  <c:v>45758</c:v>
                </c:pt>
                <c:pt idx="327">
                  <c:v>45757</c:v>
                </c:pt>
                <c:pt idx="328">
                  <c:v>45756</c:v>
                </c:pt>
                <c:pt idx="329">
                  <c:v>45755</c:v>
                </c:pt>
                <c:pt idx="330">
                  <c:v>45751</c:v>
                </c:pt>
                <c:pt idx="331">
                  <c:v>45750</c:v>
                </c:pt>
                <c:pt idx="332">
                  <c:v>45749</c:v>
                </c:pt>
                <c:pt idx="333">
                  <c:v>45748</c:v>
                </c:pt>
                <c:pt idx="334">
                  <c:v>45747</c:v>
                </c:pt>
                <c:pt idx="335">
                  <c:v>45744</c:v>
                </c:pt>
                <c:pt idx="336">
                  <c:v>45743</c:v>
                </c:pt>
                <c:pt idx="337">
                  <c:v>45742</c:v>
                </c:pt>
                <c:pt idx="338">
                  <c:v>45741</c:v>
                </c:pt>
                <c:pt idx="339">
                  <c:v>45740</c:v>
                </c:pt>
                <c:pt idx="340">
                  <c:v>45737</c:v>
                </c:pt>
                <c:pt idx="341">
                  <c:v>45736</c:v>
                </c:pt>
                <c:pt idx="342">
                  <c:v>45735</c:v>
                </c:pt>
                <c:pt idx="343">
                  <c:v>45734</c:v>
                </c:pt>
                <c:pt idx="344">
                  <c:v>45733</c:v>
                </c:pt>
                <c:pt idx="345">
                  <c:v>45730</c:v>
                </c:pt>
                <c:pt idx="346">
                  <c:v>45729</c:v>
                </c:pt>
                <c:pt idx="347">
                  <c:v>45728</c:v>
                </c:pt>
                <c:pt idx="348">
                  <c:v>45727</c:v>
                </c:pt>
                <c:pt idx="349">
                  <c:v>45726</c:v>
                </c:pt>
                <c:pt idx="350">
                  <c:v>45723</c:v>
                </c:pt>
                <c:pt idx="351">
                  <c:v>45722</c:v>
                </c:pt>
                <c:pt idx="352">
                  <c:v>45721</c:v>
                </c:pt>
                <c:pt idx="353">
                  <c:v>45720</c:v>
                </c:pt>
                <c:pt idx="354">
                  <c:v>45719</c:v>
                </c:pt>
                <c:pt idx="355">
                  <c:v>45716</c:v>
                </c:pt>
                <c:pt idx="356">
                  <c:v>45715</c:v>
                </c:pt>
                <c:pt idx="357">
                  <c:v>45714</c:v>
                </c:pt>
                <c:pt idx="358">
                  <c:v>45713</c:v>
                </c:pt>
                <c:pt idx="359">
                  <c:v>45712</c:v>
                </c:pt>
                <c:pt idx="360">
                  <c:v>45709</c:v>
                </c:pt>
                <c:pt idx="361">
                  <c:v>45708</c:v>
                </c:pt>
                <c:pt idx="362">
                  <c:v>45707</c:v>
                </c:pt>
                <c:pt idx="363">
                  <c:v>45706</c:v>
                </c:pt>
                <c:pt idx="364">
                  <c:v>45705</c:v>
                </c:pt>
                <c:pt idx="365">
                  <c:v>45702</c:v>
                </c:pt>
                <c:pt idx="366">
                  <c:v>45701</c:v>
                </c:pt>
                <c:pt idx="367">
                  <c:v>45700</c:v>
                </c:pt>
                <c:pt idx="368">
                  <c:v>45699</c:v>
                </c:pt>
                <c:pt idx="369">
                  <c:v>45698</c:v>
                </c:pt>
                <c:pt idx="370">
                  <c:v>45695</c:v>
                </c:pt>
                <c:pt idx="371">
                  <c:v>45694</c:v>
                </c:pt>
                <c:pt idx="372">
                  <c:v>45693</c:v>
                </c:pt>
                <c:pt idx="373">
                  <c:v>45692</c:v>
                </c:pt>
                <c:pt idx="374">
                  <c:v>45691</c:v>
                </c:pt>
                <c:pt idx="375">
                  <c:v>45681</c:v>
                </c:pt>
                <c:pt idx="376">
                  <c:v>45680</c:v>
                </c:pt>
                <c:pt idx="377">
                  <c:v>45679</c:v>
                </c:pt>
                <c:pt idx="378">
                  <c:v>45678</c:v>
                </c:pt>
                <c:pt idx="379">
                  <c:v>45677</c:v>
                </c:pt>
                <c:pt idx="380">
                  <c:v>45674</c:v>
                </c:pt>
                <c:pt idx="381">
                  <c:v>45673</c:v>
                </c:pt>
              </c:numCache>
            </c:numRef>
          </c:cat>
          <c:val>
            <c:numRef>
              <c:f>Sheet1!$B$2:$B$383</c:f>
              <c:numCache>
                <c:formatCode>#,##0.00</c:formatCode>
                <c:ptCount val="382"/>
                <c:pt idx="0">
                  <c:v>0</c:v>
                </c:pt>
                <c:pt idx="1">
                  <c:v>1735.78</c:v>
                </c:pt>
                <c:pt idx="2">
                  <c:v>1744.66</c:v>
                </c:pt>
                <c:pt idx="3">
                  <c:v>1704.68</c:v>
                </c:pt>
                <c:pt idx="4">
                  <c:v>1680.62</c:v>
                </c:pt>
                <c:pt idx="5">
                  <c:v>1669.01</c:v>
                </c:pt>
                <c:pt idx="6">
                  <c:v>1686.11</c:v>
                </c:pt>
                <c:pt idx="7">
                  <c:v>1699.38</c:v>
                </c:pt>
                <c:pt idx="8">
                  <c:v>1668.53</c:v>
                </c:pt>
                <c:pt idx="9">
                  <c:v>1730.56</c:v>
                </c:pt>
                <c:pt idx="10">
                  <c:v>1743.51</c:v>
                </c:pt>
                <c:pt idx="11">
                  <c:v>1787.45</c:v>
                </c:pt>
                <c:pt idx="12">
                  <c:v>1804.24</c:v>
                </c:pt>
                <c:pt idx="13">
                  <c:v>1782.12</c:v>
                </c:pt>
                <c:pt idx="14">
                  <c:v>1806.63</c:v>
                </c:pt>
                <c:pt idx="15">
                  <c:v>1800.54</c:v>
                </c:pt>
                <c:pt idx="16">
                  <c:v>1828.34</c:v>
                </c:pt>
                <c:pt idx="17">
                  <c:v>1840.7</c:v>
                </c:pt>
                <c:pt idx="18">
                  <c:v>1853.7</c:v>
                </c:pt>
                <c:pt idx="19">
                  <c:v>1848.25</c:v>
                </c:pt>
                <c:pt idx="20">
                  <c:v>1843.5</c:v>
                </c:pt>
                <c:pt idx="21">
                  <c:v>1862.08</c:v>
                </c:pt>
                <c:pt idx="22">
                  <c:v>1866.35</c:v>
                </c:pt>
                <c:pt idx="23">
                  <c:v>1867.21</c:v>
                </c:pt>
                <c:pt idx="24">
                  <c:v>1860.01</c:v>
                </c:pt>
                <c:pt idx="25">
                  <c:v>1854.97</c:v>
                </c:pt>
                <c:pt idx="26">
                  <c:v>1871.91</c:v>
                </c:pt>
                <c:pt idx="27">
                  <c:v>1863.07</c:v>
                </c:pt>
                <c:pt idx="28">
                  <c:v>1878.02</c:v>
                </c:pt>
                <c:pt idx="29">
                  <c:v>1869.04</c:v>
                </c:pt>
                <c:pt idx="30">
                  <c:v>1857.91</c:v>
                </c:pt>
                <c:pt idx="31">
                  <c:v>1824.53</c:v>
                </c:pt>
                <c:pt idx="32">
                  <c:v>1830.47</c:v>
                </c:pt>
                <c:pt idx="33">
                  <c:v>1806.2</c:v>
                </c:pt>
                <c:pt idx="34">
                  <c:v>1807.94</c:v>
                </c:pt>
                <c:pt idx="35">
                  <c:v>1799.31</c:v>
                </c:pt>
                <c:pt idx="36">
                  <c:v>1791.65</c:v>
                </c:pt>
                <c:pt idx="37">
                  <c:v>1798.61</c:v>
                </c:pt>
                <c:pt idx="38">
                  <c:v>1803.71</c:v>
                </c:pt>
                <c:pt idx="39">
                  <c:v>1793.05</c:v>
                </c:pt>
                <c:pt idx="40">
                  <c:v>1790.53</c:v>
                </c:pt>
                <c:pt idx="41">
                  <c:v>1838.9</c:v>
                </c:pt>
                <c:pt idx="42">
                  <c:v>1831.55</c:v>
                </c:pt>
                <c:pt idx="43">
                  <c:v>1819.01</c:v>
                </c:pt>
                <c:pt idx="44">
                  <c:v>1826.47</c:v>
                </c:pt>
                <c:pt idx="45">
                  <c:v>1844.54</c:v>
                </c:pt>
                <c:pt idx="46">
                  <c:v>1863.49</c:v>
                </c:pt>
                <c:pt idx="47">
                  <c:v>1863.67</c:v>
                </c:pt>
                <c:pt idx="48">
                  <c:v>1874.43</c:v>
                </c:pt>
                <c:pt idx="49">
                  <c:v>1884.18</c:v>
                </c:pt>
                <c:pt idx="50">
                  <c:v>1886.03</c:v>
                </c:pt>
                <c:pt idx="51">
                  <c:v>1877.13</c:v>
                </c:pt>
                <c:pt idx="52">
                  <c:v>1896.89</c:v>
                </c:pt>
                <c:pt idx="53">
                  <c:v>1913.23</c:v>
                </c:pt>
                <c:pt idx="54">
                  <c:v>1912.93</c:v>
                </c:pt>
                <c:pt idx="55">
                  <c:v>1927.94</c:v>
                </c:pt>
                <c:pt idx="56">
                  <c:v>1921.6</c:v>
                </c:pt>
                <c:pt idx="57">
                  <c:v>1925.46</c:v>
                </c:pt>
                <c:pt idx="58">
                  <c:v>1898.37</c:v>
                </c:pt>
                <c:pt idx="59">
                  <c:v>1901.1</c:v>
                </c:pt>
                <c:pt idx="60">
                  <c:v>1895.5</c:v>
                </c:pt>
                <c:pt idx="61">
                  <c:v>1915.37</c:v>
                </c:pt>
                <c:pt idx="62">
                  <c:v>1909.01</c:v>
                </c:pt>
                <c:pt idx="63">
                  <c:v>1891.2</c:v>
                </c:pt>
                <c:pt idx="64">
                  <c:v>1874.85</c:v>
                </c:pt>
                <c:pt idx="65">
                  <c:v>1854.06</c:v>
                </c:pt>
                <c:pt idx="66">
                  <c:v>1854.1</c:v>
                </c:pt>
                <c:pt idx="67">
                  <c:v>1875.84</c:v>
                </c:pt>
                <c:pt idx="68">
                  <c:v>1853.29</c:v>
                </c:pt>
                <c:pt idx="69">
                  <c:v>1870.36</c:v>
                </c:pt>
                <c:pt idx="70">
                  <c:v>1857.3</c:v>
                </c:pt>
                <c:pt idx="71">
                  <c:v>1833.48</c:v>
                </c:pt>
                <c:pt idx="72">
                  <c:v>1837.11</c:v>
                </c:pt>
                <c:pt idx="73">
                  <c:v>1817.17</c:v>
                </c:pt>
                <c:pt idx="74">
                  <c:v>1819.83</c:v>
                </c:pt>
                <c:pt idx="75">
                  <c:v>1800.65</c:v>
                </c:pt>
                <c:pt idx="76">
                  <c:v>1775.65</c:v>
                </c:pt>
                <c:pt idx="77">
                  <c:v>1758.96</c:v>
                </c:pt>
                <c:pt idx="78">
                  <c:v>1750</c:v>
                </c:pt>
                <c:pt idx="79">
                  <c:v>1736.68</c:v>
                </c:pt>
                <c:pt idx="80">
                  <c:v>1756.55</c:v>
                </c:pt>
                <c:pt idx="81">
                  <c:v>1677.54</c:v>
                </c:pt>
                <c:pt idx="82">
                  <c:v>1674.99</c:v>
                </c:pt>
                <c:pt idx="83">
                  <c:v>1684.04</c:v>
                </c:pt>
                <c:pt idx="84">
                  <c:v>1694.82</c:v>
                </c:pt>
                <c:pt idx="85">
                  <c:v>1702.93</c:v>
                </c:pt>
                <c:pt idx="86">
                  <c:v>1674.49</c:v>
                </c:pt>
                <c:pt idx="87">
                  <c:v>1662.54</c:v>
                </c:pt>
                <c:pt idx="88">
                  <c:v>1672.8</c:v>
                </c:pt>
                <c:pt idx="89">
                  <c:v>1644.63</c:v>
                </c:pt>
                <c:pt idx="90">
                  <c:v>1658.19</c:v>
                </c:pt>
                <c:pt idx="91">
                  <c:v>1614.77</c:v>
                </c:pt>
                <c:pt idx="92">
                  <c:v>1591.17</c:v>
                </c:pt>
                <c:pt idx="93">
                  <c:v>1647.81</c:v>
                </c:pt>
                <c:pt idx="94">
                  <c:v>1699.13</c:v>
                </c:pt>
                <c:pt idx="95">
                  <c:v>1713.83</c:v>
                </c:pt>
                <c:pt idx="96">
                  <c:v>1710.29</c:v>
                </c:pt>
                <c:pt idx="97">
                  <c:v>1693.21</c:v>
                </c:pt>
                <c:pt idx="98">
                  <c:v>1696.24</c:v>
                </c:pt>
                <c:pt idx="99">
                  <c:v>1709.61</c:v>
                </c:pt>
                <c:pt idx="100">
                  <c:v>1728.34</c:v>
                </c:pt>
                <c:pt idx="101">
                  <c:v>1676.73</c:v>
                </c:pt>
                <c:pt idx="102">
                  <c:v>1652.79</c:v>
                </c:pt>
                <c:pt idx="103">
                  <c:v>1767.84</c:v>
                </c:pt>
                <c:pt idx="104">
                  <c:v>1808.51</c:v>
                </c:pt>
                <c:pt idx="105">
                  <c:v>1818.27</c:v>
                </c:pt>
                <c:pt idx="106">
                  <c:v>1813.14</c:v>
                </c:pt>
                <c:pt idx="107">
                  <c:v>1846.1</c:v>
                </c:pt>
                <c:pt idx="108">
                  <c:v>1880.33</c:v>
                </c:pt>
                <c:pt idx="109">
                  <c:v>1879.64</c:v>
                </c:pt>
                <c:pt idx="110">
                  <c:v>1860.91</c:v>
                </c:pt>
                <c:pt idx="111">
                  <c:v>1867.62</c:v>
                </c:pt>
                <c:pt idx="112">
                  <c:v>1860.14</c:v>
                </c:pt>
                <c:pt idx="113">
                  <c:v>1824.09</c:v>
                </c:pt>
                <c:pt idx="114">
                  <c:v>1814.09</c:v>
                </c:pt>
                <c:pt idx="115">
                  <c:v>1796.85</c:v>
                </c:pt>
                <c:pt idx="116">
                  <c:v>1754.03</c:v>
                </c:pt>
                <c:pt idx="117">
                  <c:v>1754.82</c:v>
                </c:pt>
                <c:pt idx="118">
                  <c:v>1755.49</c:v>
                </c:pt>
                <c:pt idx="119">
                  <c:v>1782.56</c:v>
                </c:pt>
                <c:pt idx="120">
                  <c:v>1791.43</c:v>
                </c:pt>
                <c:pt idx="121">
                  <c:v>1813.4</c:v>
                </c:pt>
                <c:pt idx="122">
                  <c:v>1806.5</c:v>
                </c:pt>
                <c:pt idx="123">
                  <c:v>1829.04</c:v>
                </c:pt>
                <c:pt idx="124">
                  <c:v>1814.98</c:v>
                </c:pt>
                <c:pt idx="125">
                  <c:v>1802.91</c:v>
                </c:pt>
                <c:pt idx="126">
                  <c:v>1830.5</c:v>
                </c:pt>
                <c:pt idx="127">
                  <c:v>1843.72</c:v>
                </c:pt>
                <c:pt idx="128">
                  <c:v>1870.79</c:v>
                </c:pt>
                <c:pt idx="129">
                  <c:v>1882.73</c:v>
                </c:pt>
                <c:pt idx="130">
                  <c:v>1885.44</c:v>
                </c:pt>
                <c:pt idx="131">
                  <c:v>1893.78</c:v>
                </c:pt>
                <c:pt idx="132">
                  <c:v>1896.59</c:v>
                </c:pt>
                <c:pt idx="133">
                  <c:v>1879.13</c:v>
                </c:pt>
                <c:pt idx="134">
                  <c:v>1864.8</c:v>
                </c:pt>
                <c:pt idx="135">
                  <c:v>1894.44</c:v>
                </c:pt>
                <c:pt idx="136">
                  <c:v>1902.93</c:v>
                </c:pt>
                <c:pt idx="137">
                  <c:v>1877.33</c:v>
                </c:pt>
                <c:pt idx="138">
                  <c:v>1867.9</c:v>
                </c:pt>
                <c:pt idx="139">
                  <c:v>1855.56</c:v>
                </c:pt>
                <c:pt idx="140">
                  <c:v>1861.58</c:v>
                </c:pt>
                <c:pt idx="141">
                  <c:v>1816.27</c:v>
                </c:pt>
                <c:pt idx="142">
                  <c:v>1788.4</c:v>
                </c:pt>
                <c:pt idx="143">
                  <c:v>1784.49</c:v>
                </c:pt>
                <c:pt idx="144">
                  <c:v>1766.9</c:v>
                </c:pt>
                <c:pt idx="145">
                  <c:v>1754.84</c:v>
                </c:pt>
                <c:pt idx="146">
                  <c:v>1729.8</c:v>
                </c:pt>
                <c:pt idx="147">
                  <c:v>1742.85</c:v>
                </c:pt>
                <c:pt idx="148">
                  <c:v>1782.82</c:v>
                </c:pt>
                <c:pt idx="149">
                  <c:v>1772.15</c:v>
                </c:pt>
                <c:pt idx="150">
                  <c:v>1751.03</c:v>
                </c:pt>
                <c:pt idx="151">
                  <c:v>1704.31</c:v>
                </c:pt>
                <c:pt idx="152">
                  <c:v>1676.98</c:v>
                </c:pt>
                <c:pt idx="153">
                  <c:v>1673.66</c:v>
                </c:pt>
                <c:pt idx="154">
                  <c:v>1679.18</c:v>
                </c:pt>
                <c:pt idx="155">
                  <c:v>1646.01</c:v>
                </c:pt>
                <c:pt idx="156">
                  <c:v>1646.89</c:v>
                </c:pt>
                <c:pt idx="157">
                  <c:v>1698.9</c:v>
                </c:pt>
                <c:pt idx="158">
                  <c:v>1718.98</c:v>
                </c:pt>
                <c:pt idx="159">
                  <c:v>1747.17</c:v>
                </c:pt>
                <c:pt idx="160">
                  <c:v>1753.74</c:v>
                </c:pt>
                <c:pt idx="161">
                  <c:v>1741.32</c:v>
                </c:pt>
                <c:pt idx="162">
                  <c:v>1737.24</c:v>
                </c:pt>
                <c:pt idx="163">
                  <c:v>1731.77</c:v>
                </c:pt>
                <c:pt idx="164">
                  <c:v>1717.06</c:v>
                </c:pt>
                <c:pt idx="165">
                  <c:v>1701.67</c:v>
                </c:pt>
                <c:pt idx="166">
                  <c:v>1690.99</c:v>
                </c:pt>
                <c:pt idx="167">
                  <c:v>1684.32</c:v>
                </c:pt>
                <c:pt idx="168">
                  <c:v>1680.36</c:v>
                </c:pt>
                <c:pt idx="169">
                  <c:v>1660.36</c:v>
                </c:pt>
                <c:pt idx="170">
                  <c:v>1667.98</c:v>
                </c:pt>
                <c:pt idx="171">
                  <c:v>1654.93</c:v>
                </c:pt>
                <c:pt idx="172">
                  <c:v>1655.99</c:v>
                </c:pt>
                <c:pt idx="173">
                  <c:v>1649</c:v>
                </c:pt>
                <c:pt idx="174">
                  <c:v>1659.92</c:v>
                </c:pt>
                <c:pt idx="175">
                  <c:v>1654.42</c:v>
                </c:pt>
                <c:pt idx="176">
                  <c:v>1635.46</c:v>
                </c:pt>
                <c:pt idx="177">
                  <c:v>1631.44</c:v>
                </c:pt>
                <c:pt idx="178">
                  <c:v>1631.86</c:v>
                </c:pt>
                <c:pt idx="179">
                  <c:v>1593.61</c:v>
                </c:pt>
                <c:pt idx="180">
                  <c:v>1580.54</c:v>
                </c:pt>
                <c:pt idx="181">
                  <c:v>1599.1</c:v>
                </c:pt>
                <c:pt idx="182">
                  <c:v>1642.64</c:v>
                </c:pt>
                <c:pt idx="183">
                  <c:v>1654.89</c:v>
                </c:pt>
                <c:pt idx="184">
                  <c:v>1651.98</c:v>
                </c:pt>
                <c:pt idx="185">
                  <c:v>1617</c:v>
                </c:pt>
                <c:pt idx="186">
                  <c:v>1639.65</c:v>
                </c:pt>
                <c:pt idx="187">
                  <c:v>1669.57</c:v>
                </c:pt>
                <c:pt idx="188">
                  <c:v>1685.83</c:v>
                </c:pt>
                <c:pt idx="189">
                  <c:v>1680.5</c:v>
                </c:pt>
                <c:pt idx="190">
                  <c:v>1652.54</c:v>
                </c:pt>
                <c:pt idx="191">
                  <c:v>1683.18</c:v>
                </c:pt>
                <c:pt idx="192">
                  <c:v>1687.06</c:v>
                </c:pt>
                <c:pt idx="193">
                  <c:v>1678.5</c:v>
                </c:pt>
                <c:pt idx="194">
                  <c:v>1663.43</c:v>
                </c:pt>
                <c:pt idx="195">
                  <c:v>1636.43</c:v>
                </c:pt>
                <c:pt idx="196">
                  <c:v>1731.19</c:v>
                </c:pt>
                <c:pt idx="197">
                  <c:v>1766.85</c:v>
                </c:pt>
                <c:pt idx="198">
                  <c:v>1757.95</c:v>
                </c:pt>
                <c:pt idx="199">
                  <c:v>1761.06</c:v>
                </c:pt>
                <c:pt idx="200">
                  <c:v>1765.12</c:v>
                </c:pt>
                <c:pt idx="201">
                  <c:v>1747.55</c:v>
                </c:pt>
                <c:pt idx="202">
                  <c:v>1716.47</c:v>
                </c:pt>
                <c:pt idx="203">
                  <c:v>1697.83</c:v>
                </c:pt>
                <c:pt idx="204">
                  <c:v>1685.3</c:v>
                </c:pt>
                <c:pt idx="205">
                  <c:v>1695.5</c:v>
                </c:pt>
                <c:pt idx="206">
                  <c:v>1645.82</c:v>
                </c:pt>
                <c:pt idx="207">
                  <c:v>1652.71</c:v>
                </c:pt>
                <c:pt idx="208">
                  <c:v>1665.05</c:v>
                </c:pt>
                <c:pt idx="209">
                  <c:v>1661.7</c:v>
                </c:pt>
                <c:pt idx="210">
                  <c:v>1666.48</c:v>
                </c:pt>
                <c:pt idx="211">
                  <c:v>1660.7</c:v>
                </c:pt>
                <c:pt idx="212">
                  <c:v>1666.09</c:v>
                </c:pt>
                <c:pt idx="213">
                  <c:v>1657.46</c:v>
                </c:pt>
                <c:pt idx="214">
                  <c:v>1635.26</c:v>
                </c:pt>
                <c:pt idx="215">
                  <c:v>1634.45</c:v>
                </c:pt>
                <c:pt idx="216">
                  <c:v>1658.62</c:v>
                </c:pt>
                <c:pt idx="217">
                  <c:v>1665.18</c:v>
                </c:pt>
                <c:pt idx="218">
                  <c:v>1670.97</c:v>
                </c:pt>
                <c:pt idx="219">
                  <c:v>1680.9</c:v>
                </c:pt>
                <c:pt idx="220">
                  <c:v>1684.9</c:v>
                </c:pt>
                <c:pt idx="221">
                  <c:v>1667.26</c:v>
                </c:pt>
                <c:pt idx="222">
                  <c:v>1657.75</c:v>
                </c:pt>
                <c:pt idx="223">
                  <c:v>1643.26</c:v>
                </c:pt>
                <c:pt idx="224">
                  <c:v>1637.32</c:v>
                </c:pt>
                <c:pt idx="225">
                  <c:v>1624.53</c:v>
                </c:pt>
                <c:pt idx="226">
                  <c:v>1666.97</c:v>
                </c:pt>
                <c:pt idx="227">
                  <c:v>1696.29</c:v>
                </c:pt>
                <c:pt idx="228">
                  <c:v>1681.3</c:v>
                </c:pt>
                <c:pt idx="229">
                  <c:v>1682.21</c:v>
                </c:pt>
                <c:pt idx="230">
                  <c:v>1680.86</c:v>
                </c:pt>
                <c:pt idx="231">
                  <c:v>1672.78</c:v>
                </c:pt>
                <c:pt idx="232">
                  <c:v>1667.63</c:v>
                </c:pt>
                <c:pt idx="233">
                  <c:v>1614.03</c:v>
                </c:pt>
                <c:pt idx="234">
                  <c:v>1645.47</c:v>
                </c:pt>
                <c:pt idx="235">
                  <c:v>1688</c:v>
                </c:pt>
                <c:pt idx="236">
                  <c:v>1664.36</c:v>
                </c:pt>
                <c:pt idx="237">
                  <c:v>1654.2</c:v>
                </c:pt>
                <c:pt idx="238">
                  <c:v>1636.37</c:v>
                </c:pt>
                <c:pt idx="239">
                  <c:v>1630</c:v>
                </c:pt>
                <c:pt idx="240">
                  <c:v>1640.69</c:v>
                </c:pt>
                <c:pt idx="241">
                  <c:v>1611.6</c:v>
                </c:pt>
                <c:pt idx="242">
                  <c:v>1608.22</c:v>
                </c:pt>
                <c:pt idx="243">
                  <c:v>1596.86</c:v>
                </c:pt>
                <c:pt idx="244">
                  <c:v>1584.95</c:v>
                </c:pt>
                <c:pt idx="245">
                  <c:v>1581.81</c:v>
                </c:pt>
                <c:pt idx="246">
                  <c:v>1573.71</c:v>
                </c:pt>
                <c:pt idx="247">
                  <c:v>1547.15</c:v>
                </c:pt>
                <c:pt idx="248">
                  <c:v>1528.19</c:v>
                </c:pt>
                <c:pt idx="249">
                  <c:v>1495.21</c:v>
                </c:pt>
                <c:pt idx="250">
                  <c:v>1502.52</c:v>
                </c:pt>
                <c:pt idx="251">
                  <c:v>1507.63</c:v>
                </c:pt>
                <c:pt idx="252">
                  <c:v>1493.41</c:v>
                </c:pt>
                <c:pt idx="253">
                  <c:v>1557.42</c:v>
                </c:pt>
                <c:pt idx="254">
                  <c:v>1531.13</c:v>
                </c:pt>
                <c:pt idx="255">
                  <c:v>1521.02</c:v>
                </c:pt>
                <c:pt idx="256">
                  <c:v>1512.31</c:v>
                </c:pt>
                <c:pt idx="257">
                  <c:v>1509.54</c:v>
                </c:pt>
                <c:pt idx="258">
                  <c:v>1485.05</c:v>
                </c:pt>
                <c:pt idx="259">
                  <c:v>1497.28</c:v>
                </c:pt>
                <c:pt idx="260">
                  <c:v>1490.01</c:v>
                </c:pt>
                <c:pt idx="261">
                  <c:v>1475.47</c:v>
                </c:pt>
                <c:pt idx="262">
                  <c:v>1460.65</c:v>
                </c:pt>
                <c:pt idx="263">
                  <c:v>1470.42</c:v>
                </c:pt>
                <c:pt idx="264">
                  <c:v>1457.76</c:v>
                </c:pt>
                <c:pt idx="265">
                  <c:v>1445.64</c:v>
                </c:pt>
                <c:pt idx="266">
                  <c:v>1431.32</c:v>
                </c:pt>
                <c:pt idx="267">
                  <c:v>1415.46</c:v>
                </c:pt>
                <c:pt idx="268">
                  <c:v>1402.06</c:v>
                </c:pt>
                <c:pt idx="269">
                  <c:v>1386.97</c:v>
                </c:pt>
                <c:pt idx="270">
                  <c:v>1381.96</c:v>
                </c:pt>
                <c:pt idx="271">
                  <c:v>1384.59</c:v>
                </c:pt>
                <c:pt idx="272">
                  <c:v>1377.84</c:v>
                </c:pt>
                <c:pt idx="273">
                  <c:v>1376.07</c:v>
                </c:pt>
                <c:pt idx="274">
                  <c:v>1371.44</c:v>
                </c:pt>
                <c:pt idx="275">
                  <c:v>1365.67</c:v>
                </c:pt>
                <c:pt idx="276">
                  <c:v>1366.75</c:v>
                </c:pt>
                <c:pt idx="277">
                  <c:v>1366.77</c:v>
                </c:pt>
                <c:pt idx="278">
                  <c:v>1358.18</c:v>
                </c:pt>
                <c:pt idx="279">
                  <c:v>1349.35</c:v>
                </c:pt>
                <c:pt idx="280">
                  <c:v>1352.04</c:v>
                </c:pt>
                <c:pt idx="281">
                  <c:v>1346.83</c:v>
                </c:pt>
                <c:pt idx="282">
                  <c:v>1347.69</c:v>
                </c:pt>
                <c:pt idx="283">
                  <c:v>1338.11</c:v>
                </c:pt>
                <c:pt idx="284">
                  <c:v>1315.49</c:v>
                </c:pt>
                <c:pt idx="285">
                  <c:v>1322.99</c:v>
                </c:pt>
                <c:pt idx="286">
                  <c:v>1315.2</c:v>
                </c:pt>
                <c:pt idx="287">
                  <c:v>1316.23</c:v>
                </c:pt>
                <c:pt idx="288">
                  <c:v>1310.57</c:v>
                </c:pt>
                <c:pt idx="289">
                  <c:v>1329.89</c:v>
                </c:pt>
                <c:pt idx="290">
                  <c:v>1342.09</c:v>
                </c:pt>
                <c:pt idx="291">
                  <c:v>1345.74</c:v>
                </c:pt>
                <c:pt idx="292">
                  <c:v>1347.25</c:v>
                </c:pt>
                <c:pt idx="293">
                  <c:v>1336.3</c:v>
                </c:pt>
                <c:pt idx="294">
                  <c:v>1332.6</c:v>
                </c:pt>
                <c:pt idx="295">
                  <c:v>1341.86</c:v>
                </c:pt>
                <c:pt idx="296">
                  <c:v>1341.87</c:v>
                </c:pt>
                <c:pt idx="297">
                  <c:v>1339.81</c:v>
                </c:pt>
                <c:pt idx="298">
                  <c:v>1332.51</c:v>
                </c:pt>
                <c:pt idx="299">
                  <c:v>1314.46</c:v>
                </c:pt>
                <c:pt idx="300">
                  <c:v>1313.84</c:v>
                </c:pt>
                <c:pt idx="301">
                  <c:v>1323.05</c:v>
                </c:pt>
                <c:pt idx="302">
                  <c:v>1315.15</c:v>
                </c:pt>
                <c:pt idx="303">
                  <c:v>1296.29</c:v>
                </c:pt>
                <c:pt idx="304">
                  <c:v>1301.3900000000001</c:v>
                </c:pt>
                <c:pt idx="305">
                  <c:v>1313.2</c:v>
                </c:pt>
                <c:pt idx="306">
                  <c:v>1309.73</c:v>
                </c:pt>
                <c:pt idx="307">
                  <c:v>1293.43</c:v>
                </c:pt>
                <c:pt idx="308">
                  <c:v>1283.26</c:v>
                </c:pt>
                <c:pt idx="309">
                  <c:v>1267.3</c:v>
                </c:pt>
                <c:pt idx="310">
                  <c:v>1269.8</c:v>
                </c:pt>
                <c:pt idx="311">
                  <c:v>1250.3699999999999</c:v>
                </c:pt>
                <c:pt idx="312">
                  <c:v>1241.95</c:v>
                </c:pt>
                <c:pt idx="313">
                  <c:v>1240.05</c:v>
                </c:pt>
                <c:pt idx="314">
                  <c:v>1226.3</c:v>
                </c:pt>
                <c:pt idx="315">
                  <c:v>1226.8</c:v>
                </c:pt>
                <c:pt idx="316">
                  <c:v>1229.23</c:v>
                </c:pt>
                <c:pt idx="317">
                  <c:v>1223.3499999999999</c:v>
                </c:pt>
                <c:pt idx="318">
                  <c:v>1211</c:v>
                </c:pt>
                <c:pt idx="319">
                  <c:v>1197.1300000000001</c:v>
                </c:pt>
                <c:pt idx="320">
                  <c:v>1207.07</c:v>
                </c:pt>
                <c:pt idx="321">
                  <c:v>1219.1199999999999</c:v>
                </c:pt>
                <c:pt idx="322">
                  <c:v>1217.25</c:v>
                </c:pt>
                <c:pt idx="323">
                  <c:v>1210.3</c:v>
                </c:pt>
                <c:pt idx="324">
                  <c:v>1227.79</c:v>
                </c:pt>
                <c:pt idx="325">
                  <c:v>1241.44</c:v>
                </c:pt>
                <c:pt idx="326">
                  <c:v>1222.46</c:v>
                </c:pt>
                <c:pt idx="327">
                  <c:v>1168.3399999999999</c:v>
                </c:pt>
                <c:pt idx="328">
                  <c:v>1094.3</c:v>
                </c:pt>
                <c:pt idx="329">
                  <c:v>1132.79</c:v>
                </c:pt>
                <c:pt idx="330">
                  <c:v>1210.67</c:v>
                </c:pt>
                <c:pt idx="331">
                  <c:v>1229.8399999999999</c:v>
                </c:pt>
                <c:pt idx="332">
                  <c:v>1317.83</c:v>
                </c:pt>
                <c:pt idx="333">
                  <c:v>1317.33</c:v>
                </c:pt>
                <c:pt idx="334">
                  <c:v>1306.8599999999999</c:v>
                </c:pt>
                <c:pt idx="335">
                  <c:v>1317.46</c:v>
                </c:pt>
                <c:pt idx="336">
                  <c:v>1323.81</c:v>
                </c:pt>
                <c:pt idx="337">
                  <c:v>1326.09</c:v>
                </c:pt>
                <c:pt idx="338">
                  <c:v>1331.92</c:v>
                </c:pt>
                <c:pt idx="339">
                  <c:v>1330.32</c:v>
                </c:pt>
                <c:pt idx="340">
                  <c:v>1324.88</c:v>
                </c:pt>
                <c:pt idx="341">
                  <c:v>1323.93</c:v>
                </c:pt>
                <c:pt idx="342">
                  <c:v>1324.63</c:v>
                </c:pt>
                <c:pt idx="343">
                  <c:v>1330.97</c:v>
                </c:pt>
                <c:pt idx="344">
                  <c:v>1336.26</c:v>
                </c:pt>
                <c:pt idx="345">
                  <c:v>1326.15</c:v>
                </c:pt>
                <c:pt idx="346">
                  <c:v>1326.27</c:v>
                </c:pt>
                <c:pt idx="347">
                  <c:v>1334.41</c:v>
                </c:pt>
                <c:pt idx="348">
                  <c:v>1332.54</c:v>
                </c:pt>
                <c:pt idx="349">
                  <c:v>1330.28</c:v>
                </c:pt>
                <c:pt idx="350">
                  <c:v>1326.05</c:v>
                </c:pt>
                <c:pt idx="351">
                  <c:v>1318.22</c:v>
                </c:pt>
                <c:pt idx="352">
                  <c:v>1304.71</c:v>
                </c:pt>
                <c:pt idx="353">
                  <c:v>1311.91</c:v>
                </c:pt>
                <c:pt idx="354">
                  <c:v>1309.3699999999999</c:v>
                </c:pt>
                <c:pt idx="355">
                  <c:v>1305.3599999999999</c:v>
                </c:pt>
                <c:pt idx="356">
                  <c:v>1307.8</c:v>
                </c:pt>
                <c:pt idx="357">
                  <c:v>1302.96</c:v>
                </c:pt>
                <c:pt idx="358">
                  <c:v>1303.1600000000001</c:v>
                </c:pt>
                <c:pt idx="359">
                  <c:v>1304.56</c:v>
                </c:pt>
                <c:pt idx="360">
                  <c:v>1296.75</c:v>
                </c:pt>
                <c:pt idx="361">
                  <c:v>1292.98</c:v>
                </c:pt>
                <c:pt idx="362">
                  <c:v>1288.56</c:v>
                </c:pt>
                <c:pt idx="363">
                  <c:v>1278.1400000000001</c:v>
                </c:pt>
                <c:pt idx="364">
                  <c:v>1272.72</c:v>
                </c:pt>
                <c:pt idx="365">
                  <c:v>1276.08</c:v>
                </c:pt>
                <c:pt idx="366">
                  <c:v>1270.3499999999999</c:v>
                </c:pt>
                <c:pt idx="367">
                  <c:v>1266.9100000000001</c:v>
                </c:pt>
                <c:pt idx="368">
                  <c:v>1268.45</c:v>
                </c:pt>
                <c:pt idx="369">
                  <c:v>1263.26</c:v>
                </c:pt>
                <c:pt idx="370">
                  <c:v>1275.2</c:v>
                </c:pt>
                <c:pt idx="371">
                  <c:v>1271.48</c:v>
                </c:pt>
                <c:pt idx="372">
                  <c:v>1269.6099999999999</c:v>
                </c:pt>
                <c:pt idx="373">
                  <c:v>1264.68</c:v>
                </c:pt>
                <c:pt idx="374">
                  <c:v>1253.03</c:v>
                </c:pt>
                <c:pt idx="375">
                  <c:v>1265.05</c:v>
                </c:pt>
                <c:pt idx="376">
                  <c:v>1259.6300000000001</c:v>
                </c:pt>
                <c:pt idx="377">
                  <c:v>1242.53</c:v>
                </c:pt>
                <c:pt idx="378">
                  <c:v>1246.0899999999999</c:v>
                </c:pt>
                <c:pt idx="379">
                  <c:v>1249.55</c:v>
                </c:pt>
                <c:pt idx="380">
                  <c:v>1249.1099999999999</c:v>
                </c:pt>
                <c:pt idx="381">
                  <c:v>1242.3599999999999</c:v>
                </c:pt>
              </c:numCache>
            </c:numRef>
          </c:val>
          <c:smooth val="0"/>
          <c:extLst>
            <c:ext xmlns:c16="http://schemas.microsoft.com/office/drawing/2014/chart" uri="{C3380CC4-5D6E-409C-BE32-E72D297353CC}">
              <c16:uniqueId val="{00000000-BB47-974C-A6BB-6092E9D33B99}"/>
            </c:ext>
          </c:extLst>
        </c:ser>
        <c:ser>
          <c:idx val="1"/>
          <c:order val="1"/>
          <c:tx>
            <c:strRef>
              <c:f>Sheet1!$AL$1</c:f>
              <c:strCache>
                <c:ptCount val="1"/>
                <c:pt idx="0">
                  <c:v>VNINDEX loại trừ Vingroup</c:v>
                </c:pt>
              </c:strCache>
            </c:strRef>
          </c:tx>
          <c:spPr>
            <a:ln w="28575">
              <a:solidFill>
                <a:schemeClr val="accent1"/>
              </a:solidFill>
              <a:prstDash val="solid"/>
            </a:ln>
          </c:spPr>
          <c:marker>
            <c:symbol val="none"/>
          </c:marker>
          <c:cat>
            <c:numRef>
              <c:f>Sheet1!$A$2:$A$383</c:f>
              <c:numCache>
                <c:formatCode>m/d/yy</c:formatCode>
                <c:ptCount val="382"/>
                <c:pt idx="1">
                  <c:v>46234</c:v>
                </c:pt>
                <c:pt idx="2">
                  <c:v>46233</c:v>
                </c:pt>
                <c:pt idx="3">
                  <c:v>46232</c:v>
                </c:pt>
                <c:pt idx="4">
                  <c:v>46231</c:v>
                </c:pt>
                <c:pt idx="5">
                  <c:v>46230</c:v>
                </c:pt>
                <c:pt idx="6">
                  <c:v>46227</c:v>
                </c:pt>
                <c:pt idx="7">
                  <c:v>46226</c:v>
                </c:pt>
                <c:pt idx="8">
                  <c:v>46225</c:v>
                </c:pt>
                <c:pt idx="9">
                  <c:v>46224</c:v>
                </c:pt>
                <c:pt idx="10">
                  <c:v>46223</c:v>
                </c:pt>
                <c:pt idx="11">
                  <c:v>46220</c:v>
                </c:pt>
                <c:pt idx="12">
                  <c:v>46219</c:v>
                </c:pt>
                <c:pt idx="13">
                  <c:v>46218</c:v>
                </c:pt>
                <c:pt idx="14">
                  <c:v>46217</c:v>
                </c:pt>
                <c:pt idx="15">
                  <c:v>46216</c:v>
                </c:pt>
                <c:pt idx="16">
                  <c:v>46213</c:v>
                </c:pt>
                <c:pt idx="17">
                  <c:v>46212</c:v>
                </c:pt>
                <c:pt idx="18">
                  <c:v>46211</c:v>
                </c:pt>
                <c:pt idx="19">
                  <c:v>46210</c:v>
                </c:pt>
                <c:pt idx="20">
                  <c:v>46209</c:v>
                </c:pt>
                <c:pt idx="21">
                  <c:v>46206</c:v>
                </c:pt>
                <c:pt idx="22">
                  <c:v>46205</c:v>
                </c:pt>
                <c:pt idx="23">
                  <c:v>46204</c:v>
                </c:pt>
                <c:pt idx="24">
                  <c:v>46203</c:v>
                </c:pt>
                <c:pt idx="25">
                  <c:v>46202</c:v>
                </c:pt>
                <c:pt idx="26">
                  <c:v>46199</c:v>
                </c:pt>
                <c:pt idx="27">
                  <c:v>46198</c:v>
                </c:pt>
                <c:pt idx="28">
                  <c:v>46197</c:v>
                </c:pt>
                <c:pt idx="29">
                  <c:v>46196</c:v>
                </c:pt>
                <c:pt idx="30">
                  <c:v>46195</c:v>
                </c:pt>
                <c:pt idx="31">
                  <c:v>46192</c:v>
                </c:pt>
                <c:pt idx="32">
                  <c:v>46191</c:v>
                </c:pt>
                <c:pt idx="33">
                  <c:v>46190</c:v>
                </c:pt>
                <c:pt idx="34">
                  <c:v>46189</c:v>
                </c:pt>
                <c:pt idx="35">
                  <c:v>46188</c:v>
                </c:pt>
                <c:pt idx="36">
                  <c:v>46185</c:v>
                </c:pt>
                <c:pt idx="37">
                  <c:v>46184</c:v>
                </c:pt>
                <c:pt idx="38">
                  <c:v>46183</c:v>
                </c:pt>
                <c:pt idx="39">
                  <c:v>46182</c:v>
                </c:pt>
                <c:pt idx="40">
                  <c:v>46181</c:v>
                </c:pt>
                <c:pt idx="41">
                  <c:v>46178</c:v>
                </c:pt>
                <c:pt idx="42">
                  <c:v>46177</c:v>
                </c:pt>
                <c:pt idx="43">
                  <c:v>46176</c:v>
                </c:pt>
                <c:pt idx="44">
                  <c:v>46175</c:v>
                </c:pt>
                <c:pt idx="45">
                  <c:v>46174</c:v>
                </c:pt>
                <c:pt idx="46">
                  <c:v>46171</c:v>
                </c:pt>
                <c:pt idx="47">
                  <c:v>46170</c:v>
                </c:pt>
                <c:pt idx="48">
                  <c:v>46169</c:v>
                </c:pt>
                <c:pt idx="49">
                  <c:v>46168</c:v>
                </c:pt>
                <c:pt idx="50">
                  <c:v>46167</c:v>
                </c:pt>
                <c:pt idx="51">
                  <c:v>46164</c:v>
                </c:pt>
                <c:pt idx="52">
                  <c:v>46163</c:v>
                </c:pt>
                <c:pt idx="53">
                  <c:v>46162</c:v>
                </c:pt>
                <c:pt idx="54">
                  <c:v>46161</c:v>
                </c:pt>
                <c:pt idx="55">
                  <c:v>46160</c:v>
                </c:pt>
                <c:pt idx="56">
                  <c:v>46157</c:v>
                </c:pt>
                <c:pt idx="57">
                  <c:v>46156</c:v>
                </c:pt>
                <c:pt idx="58">
                  <c:v>46155</c:v>
                </c:pt>
                <c:pt idx="59">
                  <c:v>46154</c:v>
                </c:pt>
                <c:pt idx="60">
                  <c:v>46153</c:v>
                </c:pt>
                <c:pt idx="61">
                  <c:v>46150</c:v>
                </c:pt>
                <c:pt idx="62">
                  <c:v>46149</c:v>
                </c:pt>
                <c:pt idx="63">
                  <c:v>46148</c:v>
                </c:pt>
                <c:pt idx="64">
                  <c:v>46147</c:v>
                </c:pt>
                <c:pt idx="65">
                  <c:v>46146</c:v>
                </c:pt>
                <c:pt idx="66">
                  <c:v>46141</c:v>
                </c:pt>
                <c:pt idx="67">
                  <c:v>46140</c:v>
                </c:pt>
                <c:pt idx="68">
                  <c:v>46136</c:v>
                </c:pt>
                <c:pt idx="69">
                  <c:v>46135</c:v>
                </c:pt>
                <c:pt idx="70">
                  <c:v>46134</c:v>
                </c:pt>
                <c:pt idx="71">
                  <c:v>46133</c:v>
                </c:pt>
                <c:pt idx="72">
                  <c:v>46132</c:v>
                </c:pt>
                <c:pt idx="73">
                  <c:v>46129</c:v>
                </c:pt>
                <c:pt idx="74">
                  <c:v>46128</c:v>
                </c:pt>
                <c:pt idx="75">
                  <c:v>46127</c:v>
                </c:pt>
                <c:pt idx="76">
                  <c:v>46126</c:v>
                </c:pt>
                <c:pt idx="77">
                  <c:v>46125</c:v>
                </c:pt>
                <c:pt idx="78">
                  <c:v>46122</c:v>
                </c:pt>
                <c:pt idx="79">
                  <c:v>46121</c:v>
                </c:pt>
                <c:pt idx="80">
                  <c:v>46120</c:v>
                </c:pt>
                <c:pt idx="81">
                  <c:v>46119</c:v>
                </c:pt>
                <c:pt idx="82">
                  <c:v>46118</c:v>
                </c:pt>
                <c:pt idx="83">
                  <c:v>46115</c:v>
                </c:pt>
                <c:pt idx="84">
                  <c:v>46114</c:v>
                </c:pt>
                <c:pt idx="85">
                  <c:v>46113</c:v>
                </c:pt>
                <c:pt idx="86">
                  <c:v>46112</c:v>
                </c:pt>
                <c:pt idx="87">
                  <c:v>46111</c:v>
                </c:pt>
                <c:pt idx="88">
                  <c:v>46108</c:v>
                </c:pt>
                <c:pt idx="89">
                  <c:v>46107</c:v>
                </c:pt>
                <c:pt idx="90">
                  <c:v>46106</c:v>
                </c:pt>
                <c:pt idx="91">
                  <c:v>46105</c:v>
                </c:pt>
                <c:pt idx="92">
                  <c:v>46104</c:v>
                </c:pt>
                <c:pt idx="93">
                  <c:v>46101</c:v>
                </c:pt>
                <c:pt idx="94">
                  <c:v>46100</c:v>
                </c:pt>
                <c:pt idx="95">
                  <c:v>46099</c:v>
                </c:pt>
                <c:pt idx="96">
                  <c:v>46098</c:v>
                </c:pt>
                <c:pt idx="97">
                  <c:v>46097</c:v>
                </c:pt>
                <c:pt idx="98">
                  <c:v>46094</c:v>
                </c:pt>
                <c:pt idx="99">
                  <c:v>46093</c:v>
                </c:pt>
                <c:pt idx="100">
                  <c:v>46092</c:v>
                </c:pt>
                <c:pt idx="101">
                  <c:v>46091</c:v>
                </c:pt>
                <c:pt idx="102">
                  <c:v>46090</c:v>
                </c:pt>
                <c:pt idx="103">
                  <c:v>46087</c:v>
                </c:pt>
                <c:pt idx="104">
                  <c:v>46086</c:v>
                </c:pt>
                <c:pt idx="105">
                  <c:v>46085</c:v>
                </c:pt>
                <c:pt idx="106">
                  <c:v>46084</c:v>
                </c:pt>
                <c:pt idx="107">
                  <c:v>46083</c:v>
                </c:pt>
                <c:pt idx="108">
                  <c:v>46080</c:v>
                </c:pt>
                <c:pt idx="109">
                  <c:v>46079</c:v>
                </c:pt>
                <c:pt idx="110">
                  <c:v>46078</c:v>
                </c:pt>
                <c:pt idx="111">
                  <c:v>46077</c:v>
                </c:pt>
                <c:pt idx="112">
                  <c:v>46076</c:v>
                </c:pt>
                <c:pt idx="113">
                  <c:v>46066</c:v>
                </c:pt>
                <c:pt idx="114">
                  <c:v>46065</c:v>
                </c:pt>
                <c:pt idx="115">
                  <c:v>46064</c:v>
                </c:pt>
                <c:pt idx="116">
                  <c:v>46063</c:v>
                </c:pt>
                <c:pt idx="117">
                  <c:v>46062</c:v>
                </c:pt>
                <c:pt idx="118">
                  <c:v>46059</c:v>
                </c:pt>
                <c:pt idx="119">
                  <c:v>46058</c:v>
                </c:pt>
                <c:pt idx="120">
                  <c:v>46057</c:v>
                </c:pt>
                <c:pt idx="121">
                  <c:v>46056</c:v>
                </c:pt>
                <c:pt idx="122">
                  <c:v>46055</c:v>
                </c:pt>
                <c:pt idx="123">
                  <c:v>46052</c:v>
                </c:pt>
                <c:pt idx="124">
                  <c:v>46051</c:v>
                </c:pt>
                <c:pt idx="125">
                  <c:v>46050</c:v>
                </c:pt>
                <c:pt idx="126">
                  <c:v>46049</c:v>
                </c:pt>
                <c:pt idx="127">
                  <c:v>46048</c:v>
                </c:pt>
                <c:pt idx="128">
                  <c:v>46045</c:v>
                </c:pt>
                <c:pt idx="129">
                  <c:v>46044</c:v>
                </c:pt>
                <c:pt idx="130">
                  <c:v>46043</c:v>
                </c:pt>
                <c:pt idx="131">
                  <c:v>46042</c:v>
                </c:pt>
                <c:pt idx="132">
                  <c:v>46041</c:v>
                </c:pt>
                <c:pt idx="133">
                  <c:v>46038</c:v>
                </c:pt>
                <c:pt idx="134">
                  <c:v>46037</c:v>
                </c:pt>
                <c:pt idx="135">
                  <c:v>46036</c:v>
                </c:pt>
                <c:pt idx="136">
                  <c:v>46035</c:v>
                </c:pt>
                <c:pt idx="137">
                  <c:v>46034</c:v>
                </c:pt>
                <c:pt idx="138">
                  <c:v>46031</c:v>
                </c:pt>
                <c:pt idx="139">
                  <c:v>46030</c:v>
                </c:pt>
                <c:pt idx="140">
                  <c:v>46029</c:v>
                </c:pt>
                <c:pt idx="141">
                  <c:v>46028</c:v>
                </c:pt>
                <c:pt idx="142">
                  <c:v>46027</c:v>
                </c:pt>
                <c:pt idx="143">
                  <c:v>46022</c:v>
                </c:pt>
                <c:pt idx="144">
                  <c:v>46021</c:v>
                </c:pt>
                <c:pt idx="145">
                  <c:v>46020</c:v>
                </c:pt>
                <c:pt idx="146">
                  <c:v>46017</c:v>
                </c:pt>
                <c:pt idx="147">
                  <c:v>46016</c:v>
                </c:pt>
                <c:pt idx="148">
                  <c:v>46015</c:v>
                </c:pt>
                <c:pt idx="149">
                  <c:v>46014</c:v>
                </c:pt>
                <c:pt idx="150">
                  <c:v>46013</c:v>
                </c:pt>
                <c:pt idx="151">
                  <c:v>46010</c:v>
                </c:pt>
                <c:pt idx="152">
                  <c:v>46009</c:v>
                </c:pt>
                <c:pt idx="153">
                  <c:v>46008</c:v>
                </c:pt>
                <c:pt idx="154">
                  <c:v>46007</c:v>
                </c:pt>
                <c:pt idx="155">
                  <c:v>46006</c:v>
                </c:pt>
                <c:pt idx="156">
                  <c:v>46003</c:v>
                </c:pt>
                <c:pt idx="157">
                  <c:v>46002</c:v>
                </c:pt>
                <c:pt idx="158">
                  <c:v>46001</c:v>
                </c:pt>
                <c:pt idx="159">
                  <c:v>46000</c:v>
                </c:pt>
                <c:pt idx="160">
                  <c:v>45999</c:v>
                </c:pt>
                <c:pt idx="161">
                  <c:v>45996</c:v>
                </c:pt>
                <c:pt idx="162">
                  <c:v>45995</c:v>
                </c:pt>
                <c:pt idx="163">
                  <c:v>45994</c:v>
                </c:pt>
                <c:pt idx="164">
                  <c:v>45993</c:v>
                </c:pt>
                <c:pt idx="165">
                  <c:v>45992</c:v>
                </c:pt>
                <c:pt idx="166">
                  <c:v>45989</c:v>
                </c:pt>
                <c:pt idx="167">
                  <c:v>45988</c:v>
                </c:pt>
                <c:pt idx="168">
                  <c:v>45987</c:v>
                </c:pt>
                <c:pt idx="169">
                  <c:v>45986</c:v>
                </c:pt>
                <c:pt idx="170">
                  <c:v>45985</c:v>
                </c:pt>
                <c:pt idx="171">
                  <c:v>45982</c:v>
                </c:pt>
                <c:pt idx="172">
                  <c:v>45981</c:v>
                </c:pt>
                <c:pt idx="173">
                  <c:v>45980</c:v>
                </c:pt>
                <c:pt idx="174">
                  <c:v>45979</c:v>
                </c:pt>
                <c:pt idx="175">
                  <c:v>45978</c:v>
                </c:pt>
                <c:pt idx="176">
                  <c:v>45975</c:v>
                </c:pt>
                <c:pt idx="177">
                  <c:v>45974</c:v>
                </c:pt>
                <c:pt idx="178">
                  <c:v>45973</c:v>
                </c:pt>
                <c:pt idx="179">
                  <c:v>45972</c:v>
                </c:pt>
                <c:pt idx="180">
                  <c:v>45971</c:v>
                </c:pt>
                <c:pt idx="181">
                  <c:v>45968</c:v>
                </c:pt>
                <c:pt idx="182">
                  <c:v>45967</c:v>
                </c:pt>
                <c:pt idx="183">
                  <c:v>45966</c:v>
                </c:pt>
                <c:pt idx="184">
                  <c:v>45965</c:v>
                </c:pt>
                <c:pt idx="185">
                  <c:v>45964</c:v>
                </c:pt>
                <c:pt idx="186">
                  <c:v>45961</c:v>
                </c:pt>
                <c:pt idx="187">
                  <c:v>45960</c:v>
                </c:pt>
                <c:pt idx="188">
                  <c:v>45959</c:v>
                </c:pt>
                <c:pt idx="189">
                  <c:v>45958</c:v>
                </c:pt>
                <c:pt idx="190">
                  <c:v>45957</c:v>
                </c:pt>
                <c:pt idx="191">
                  <c:v>45954</c:v>
                </c:pt>
                <c:pt idx="192">
                  <c:v>45953</c:v>
                </c:pt>
                <c:pt idx="193">
                  <c:v>45952</c:v>
                </c:pt>
                <c:pt idx="194">
                  <c:v>45951</c:v>
                </c:pt>
                <c:pt idx="195">
                  <c:v>45950</c:v>
                </c:pt>
                <c:pt idx="196">
                  <c:v>45947</c:v>
                </c:pt>
                <c:pt idx="197">
                  <c:v>45946</c:v>
                </c:pt>
                <c:pt idx="198">
                  <c:v>45945</c:v>
                </c:pt>
                <c:pt idx="199">
                  <c:v>45944</c:v>
                </c:pt>
                <c:pt idx="200">
                  <c:v>45943</c:v>
                </c:pt>
                <c:pt idx="201">
                  <c:v>45940</c:v>
                </c:pt>
                <c:pt idx="202">
                  <c:v>45939</c:v>
                </c:pt>
                <c:pt idx="203">
                  <c:v>45938</c:v>
                </c:pt>
                <c:pt idx="204">
                  <c:v>45937</c:v>
                </c:pt>
                <c:pt idx="205">
                  <c:v>45936</c:v>
                </c:pt>
                <c:pt idx="206">
                  <c:v>45933</c:v>
                </c:pt>
                <c:pt idx="207">
                  <c:v>45932</c:v>
                </c:pt>
                <c:pt idx="208">
                  <c:v>45931</c:v>
                </c:pt>
                <c:pt idx="209">
                  <c:v>45930</c:v>
                </c:pt>
                <c:pt idx="210">
                  <c:v>45929</c:v>
                </c:pt>
                <c:pt idx="211">
                  <c:v>45926</c:v>
                </c:pt>
                <c:pt idx="212">
                  <c:v>45925</c:v>
                </c:pt>
                <c:pt idx="213">
                  <c:v>45924</c:v>
                </c:pt>
                <c:pt idx="214">
                  <c:v>45923</c:v>
                </c:pt>
                <c:pt idx="215">
                  <c:v>45922</c:v>
                </c:pt>
                <c:pt idx="216">
                  <c:v>45919</c:v>
                </c:pt>
                <c:pt idx="217">
                  <c:v>45918</c:v>
                </c:pt>
                <c:pt idx="218">
                  <c:v>45917</c:v>
                </c:pt>
                <c:pt idx="219">
                  <c:v>45916</c:v>
                </c:pt>
                <c:pt idx="220">
                  <c:v>45915</c:v>
                </c:pt>
                <c:pt idx="221">
                  <c:v>45912</c:v>
                </c:pt>
                <c:pt idx="222">
                  <c:v>45911</c:v>
                </c:pt>
                <c:pt idx="223">
                  <c:v>45910</c:v>
                </c:pt>
                <c:pt idx="224">
                  <c:v>45909</c:v>
                </c:pt>
                <c:pt idx="225">
                  <c:v>45908</c:v>
                </c:pt>
                <c:pt idx="226">
                  <c:v>45905</c:v>
                </c:pt>
                <c:pt idx="227">
                  <c:v>45904</c:v>
                </c:pt>
                <c:pt idx="228">
                  <c:v>45903</c:v>
                </c:pt>
                <c:pt idx="229">
                  <c:v>45898</c:v>
                </c:pt>
                <c:pt idx="230">
                  <c:v>45897</c:v>
                </c:pt>
                <c:pt idx="231">
                  <c:v>45896</c:v>
                </c:pt>
                <c:pt idx="232">
                  <c:v>45895</c:v>
                </c:pt>
                <c:pt idx="233">
                  <c:v>45894</c:v>
                </c:pt>
                <c:pt idx="234">
                  <c:v>45891</c:v>
                </c:pt>
                <c:pt idx="235">
                  <c:v>45890</c:v>
                </c:pt>
                <c:pt idx="236">
                  <c:v>45889</c:v>
                </c:pt>
                <c:pt idx="237">
                  <c:v>45888</c:v>
                </c:pt>
                <c:pt idx="238">
                  <c:v>45887</c:v>
                </c:pt>
                <c:pt idx="239">
                  <c:v>45884</c:v>
                </c:pt>
                <c:pt idx="240">
                  <c:v>45883</c:v>
                </c:pt>
                <c:pt idx="241">
                  <c:v>45882</c:v>
                </c:pt>
                <c:pt idx="242">
                  <c:v>45881</c:v>
                </c:pt>
                <c:pt idx="243">
                  <c:v>45880</c:v>
                </c:pt>
                <c:pt idx="244">
                  <c:v>45877</c:v>
                </c:pt>
                <c:pt idx="245">
                  <c:v>45876</c:v>
                </c:pt>
                <c:pt idx="246">
                  <c:v>45875</c:v>
                </c:pt>
                <c:pt idx="247">
                  <c:v>45874</c:v>
                </c:pt>
                <c:pt idx="248">
                  <c:v>45873</c:v>
                </c:pt>
                <c:pt idx="249">
                  <c:v>45870</c:v>
                </c:pt>
                <c:pt idx="250">
                  <c:v>45869</c:v>
                </c:pt>
                <c:pt idx="251">
                  <c:v>45868</c:v>
                </c:pt>
                <c:pt idx="252">
                  <c:v>45867</c:v>
                </c:pt>
                <c:pt idx="253">
                  <c:v>45866</c:v>
                </c:pt>
                <c:pt idx="254">
                  <c:v>45863</c:v>
                </c:pt>
                <c:pt idx="255">
                  <c:v>45862</c:v>
                </c:pt>
                <c:pt idx="256">
                  <c:v>45861</c:v>
                </c:pt>
                <c:pt idx="257">
                  <c:v>45860</c:v>
                </c:pt>
                <c:pt idx="258">
                  <c:v>45859</c:v>
                </c:pt>
                <c:pt idx="259">
                  <c:v>45856</c:v>
                </c:pt>
                <c:pt idx="260">
                  <c:v>45855</c:v>
                </c:pt>
                <c:pt idx="261">
                  <c:v>45854</c:v>
                </c:pt>
                <c:pt idx="262">
                  <c:v>45853</c:v>
                </c:pt>
                <c:pt idx="263">
                  <c:v>45852</c:v>
                </c:pt>
                <c:pt idx="264">
                  <c:v>45849</c:v>
                </c:pt>
                <c:pt idx="265">
                  <c:v>45848</c:v>
                </c:pt>
                <c:pt idx="266">
                  <c:v>45847</c:v>
                </c:pt>
                <c:pt idx="267">
                  <c:v>45846</c:v>
                </c:pt>
                <c:pt idx="268">
                  <c:v>45845</c:v>
                </c:pt>
                <c:pt idx="269">
                  <c:v>45842</c:v>
                </c:pt>
                <c:pt idx="270">
                  <c:v>45841</c:v>
                </c:pt>
                <c:pt idx="271">
                  <c:v>45840</c:v>
                </c:pt>
                <c:pt idx="272">
                  <c:v>45839</c:v>
                </c:pt>
                <c:pt idx="273">
                  <c:v>45838</c:v>
                </c:pt>
                <c:pt idx="274">
                  <c:v>45835</c:v>
                </c:pt>
                <c:pt idx="275">
                  <c:v>45834</c:v>
                </c:pt>
                <c:pt idx="276">
                  <c:v>45833</c:v>
                </c:pt>
                <c:pt idx="277">
                  <c:v>45832</c:v>
                </c:pt>
                <c:pt idx="278">
                  <c:v>45831</c:v>
                </c:pt>
                <c:pt idx="279">
                  <c:v>45828</c:v>
                </c:pt>
                <c:pt idx="280">
                  <c:v>45827</c:v>
                </c:pt>
                <c:pt idx="281">
                  <c:v>45826</c:v>
                </c:pt>
                <c:pt idx="282">
                  <c:v>45825</c:v>
                </c:pt>
                <c:pt idx="283">
                  <c:v>45824</c:v>
                </c:pt>
                <c:pt idx="284">
                  <c:v>45821</c:v>
                </c:pt>
                <c:pt idx="285">
                  <c:v>45820</c:v>
                </c:pt>
                <c:pt idx="286">
                  <c:v>45819</c:v>
                </c:pt>
                <c:pt idx="287">
                  <c:v>45818</c:v>
                </c:pt>
                <c:pt idx="288">
                  <c:v>45817</c:v>
                </c:pt>
                <c:pt idx="289">
                  <c:v>45814</c:v>
                </c:pt>
                <c:pt idx="290">
                  <c:v>45813</c:v>
                </c:pt>
                <c:pt idx="291">
                  <c:v>45812</c:v>
                </c:pt>
                <c:pt idx="292">
                  <c:v>45811</c:v>
                </c:pt>
                <c:pt idx="293">
                  <c:v>45810</c:v>
                </c:pt>
                <c:pt idx="294">
                  <c:v>45807</c:v>
                </c:pt>
                <c:pt idx="295">
                  <c:v>45806</c:v>
                </c:pt>
                <c:pt idx="296">
                  <c:v>45805</c:v>
                </c:pt>
                <c:pt idx="297">
                  <c:v>45804</c:v>
                </c:pt>
                <c:pt idx="298">
                  <c:v>45803</c:v>
                </c:pt>
                <c:pt idx="299">
                  <c:v>45800</c:v>
                </c:pt>
                <c:pt idx="300">
                  <c:v>45799</c:v>
                </c:pt>
                <c:pt idx="301">
                  <c:v>45798</c:v>
                </c:pt>
                <c:pt idx="302">
                  <c:v>45797</c:v>
                </c:pt>
                <c:pt idx="303">
                  <c:v>45796</c:v>
                </c:pt>
                <c:pt idx="304">
                  <c:v>45793</c:v>
                </c:pt>
                <c:pt idx="305">
                  <c:v>45792</c:v>
                </c:pt>
                <c:pt idx="306">
                  <c:v>45791</c:v>
                </c:pt>
                <c:pt idx="307">
                  <c:v>45790</c:v>
                </c:pt>
                <c:pt idx="308">
                  <c:v>45789</c:v>
                </c:pt>
                <c:pt idx="309">
                  <c:v>45786</c:v>
                </c:pt>
                <c:pt idx="310">
                  <c:v>45785</c:v>
                </c:pt>
                <c:pt idx="311">
                  <c:v>45784</c:v>
                </c:pt>
                <c:pt idx="312">
                  <c:v>45783</c:v>
                </c:pt>
                <c:pt idx="313">
                  <c:v>45782</c:v>
                </c:pt>
                <c:pt idx="314">
                  <c:v>45776</c:v>
                </c:pt>
                <c:pt idx="315">
                  <c:v>45775</c:v>
                </c:pt>
                <c:pt idx="316">
                  <c:v>45772</c:v>
                </c:pt>
                <c:pt idx="317">
                  <c:v>45771</c:v>
                </c:pt>
                <c:pt idx="318">
                  <c:v>45770</c:v>
                </c:pt>
                <c:pt idx="319">
                  <c:v>45769</c:v>
                </c:pt>
                <c:pt idx="320">
                  <c:v>45768</c:v>
                </c:pt>
                <c:pt idx="321">
                  <c:v>45765</c:v>
                </c:pt>
                <c:pt idx="322">
                  <c:v>45764</c:v>
                </c:pt>
                <c:pt idx="323">
                  <c:v>45763</c:v>
                </c:pt>
                <c:pt idx="324">
                  <c:v>45762</c:v>
                </c:pt>
                <c:pt idx="325">
                  <c:v>45761</c:v>
                </c:pt>
                <c:pt idx="326">
                  <c:v>45758</c:v>
                </c:pt>
                <c:pt idx="327">
                  <c:v>45757</c:v>
                </c:pt>
                <c:pt idx="328">
                  <c:v>45756</c:v>
                </c:pt>
                <c:pt idx="329">
                  <c:v>45755</c:v>
                </c:pt>
                <c:pt idx="330">
                  <c:v>45751</c:v>
                </c:pt>
                <c:pt idx="331">
                  <c:v>45750</c:v>
                </c:pt>
                <c:pt idx="332">
                  <c:v>45749</c:v>
                </c:pt>
                <c:pt idx="333">
                  <c:v>45748</c:v>
                </c:pt>
                <c:pt idx="334">
                  <c:v>45747</c:v>
                </c:pt>
                <c:pt idx="335">
                  <c:v>45744</c:v>
                </c:pt>
                <c:pt idx="336">
                  <c:v>45743</c:v>
                </c:pt>
                <c:pt idx="337">
                  <c:v>45742</c:v>
                </c:pt>
                <c:pt idx="338">
                  <c:v>45741</c:v>
                </c:pt>
                <c:pt idx="339">
                  <c:v>45740</c:v>
                </c:pt>
                <c:pt idx="340">
                  <c:v>45737</c:v>
                </c:pt>
                <c:pt idx="341">
                  <c:v>45736</c:v>
                </c:pt>
                <c:pt idx="342">
                  <c:v>45735</c:v>
                </c:pt>
                <c:pt idx="343">
                  <c:v>45734</c:v>
                </c:pt>
                <c:pt idx="344">
                  <c:v>45733</c:v>
                </c:pt>
                <c:pt idx="345">
                  <c:v>45730</c:v>
                </c:pt>
                <c:pt idx="346">
                  <c:v>45729</c:v>
                </c:pt>
                <c:pt idx="347">
                  <c:v>45728</c:v>
                </c:pt>
                <c:pt idx="348">
                  <c:v>45727</c:v>
                </c:pt>
                <c:pt idx="349">
                  <c:v>45726</c:v>
                </c:pt>
                <c:pt idx="350">
                  <c:v>45723</c:v>
                </c:pt>
                <c:pt idx="351">
                  <c:v>45722</c:v>
                </c:pt>
                <c:pt idx="352">
                  <c:v>45721</c:v>
                </c:pt>
                <c:pt idx="353">
                  <c:v>45720</c:v>
                </c:pt>
                <c:pt idx="354">
                  <c:v>45719</c:v>
                </c:pt>
                <c:pt idx="355">
                  <c:v>45716</c:v>
                </c:pt>
                <c:pt idx="356">
                  <c:v>45715</c:v>
                </c:pt>
                <c:pt idx="357">
                  <c:v>45714</c:v>
                </c:pt>
                <c:pt idx="358">
                  <c:v>45713</c:v>
                </c:pt>
                <c:pt idx="359">
                  <c:v>45712</c:v>
                </c:pt>
                <c:pt idx="360">
                  <c:v>45709</c:v>
                </c:pt>
                <c:pt idx="361">
                  <c:v>45708</c:v>
                </c:pt>
                <c:pt idx="362">
                  <c:v>45707</c:v>
                </c:pt>
                <c:pt idx="363">
                  <c:v>45706</c:v>
                </c:pt>
                <c:pt idx="364">
                  <c:v>45705</c:v>
                </c:pt>
                <c:pt idx="365">
                  <c:v>45702</c:v>
                </c:pt>
                <c:pt idx="366">
                  <c:v>45701</c:v>
                </c:pt>
                <c:pt idx="367">
                  <c:v>45700</c:v>
                </c:pt>
                <c:pt idx="368">
                  <c:v>45699</c:v>
                </c:pt>
                <c:pt idx="369">
                  <c:v>45698</c:v>
                </c:pt>
                <c:pt idx="370">
                  <c:v>45695</c:v>
                </c:pt>
                <c:pt idx="371">
                  <c:v>45694</c:v>
                </c:pt>
                <c:pt idx="372">
                  <c:v>45693</c:v>
                </c:pt>
                <c:pt idx="373">
                  <c:v>45692</c:v>
                </c:pt>
                <c:pt idx="374">
                  <c:v>45691</c:v>
                </c:pt>
                <c:pt idx="375">
                  <c:v>45681</c:v>
                </c:pt>
                <c:pt idx="376">
                  <c:v>45680</c:v>
                </c:pt>
                <c:pt idx="377">
                  <c:v>45679</c:v>
                </c:pt>
                <c:pt idx="378">
                  <c:v>45678</c:v>
                </c:pt>
                <c:pt idx="379">
                  <c:v>45677</c:v>
                </c:pt>
                <c:pt idx="380">
                  <c:v>45674</c:v>
                </c:pt>
                <c:pt idx="381">
                  <c:v>45673</c:v>
                </c:pt>
              </c:numCache>
            </c:numRef>
          </c:cat>
          <c:val>
            <c:numRef>
              <c:f>Sheet1!$AL$2:$AL$383</c:f>
              <c:numCache>
                <c:formatCode>#,##0.00</c:formatCode>
                <c:ptCount val="382"/>
                <c:pt idx="1">
                  <c:v>1298.7100733086327</c:v>
                </c:pt>
                <c:pt idx="2">
                  <c:v>1298.4058848391583</c:v>
                </c:pt>
                <c:pt idx="3">
                  <c:v>1267.9530924200694</c:v>
                </c:pt>
                <c:pt idx="4">
                  <c:v>1261.6338297209145</c:v>
                </c:pt>
                <c:pt idx="5">
                  <c:v>1251.4559584571134</c:v>
                </c:pt>
                <c:pt idx="6">
                  <c:v>1269.6215808096088</c:v>
                </c:pt>
                <c:pt idx="7">
                  <c:v>1279.4953127304589</c:v>
                </c:pt>
                <c:pt idx="8">
                  <c:v>1273.1338610503396</c:v>
                </c:pt>
                <c:pt idx="9">
                  <c:v>1299.9636307055598</c:v>
                </c:pt>
                <c:pt idx="10">
                  <c:v>1307.9712554819143</c:v>
                </c:pt>
                <c:pt idx="11">
                  <c:v>1347.3437294341711</c:v>
                </c:pt>
                <c:pt idx="12">
                  <c:v>1356.2066389381644</c:v>
                </c:pt>
                <c:pt idx="13">
                  <c:v>1349.9413955239042</c:v>
                </c:pt>
                <c:pt idx="14">
                  <c:v>1366.6455030355487</c:v>
                </c:pt>
                <c:pt idx="15">
                  <c:v>1353.9941340548917</c:v>
                </c:pt>
                <c:pt idx="16">
                  <c:v>1375.8721456420913</c:v>
                </c:pt>
                <c:pt idx="17">
                  <c:v>1389.4084750264954</c:v>
                </c:pt>
                <c:pt idx="18">
                  <c:v>1401.3932917116226</c:v>
                </c:pt>
                <c:pt idx="19">
                  <c:v>1396.9702976181004</c:v>
                </c:pt>
                <c:pt idx="20">
                  <c:v>1388.3527663691007</c:v>
                </c:pt>
                <c:pt idx="21">
                  <c:v>1407.8255700244963</c:v>
                </c:pt>
                <c:pt idx="22">
                  <c:v>1412.6824121304098</c:v>
                </c:pt>
                <c:pt idx="23">
                  <c:v>1419.703430227657</c:v>
                </c:pt>
                <c:pt idx="24">
                  <c:v>1404.3859446210467</c:v>
                </c:pt>
                <c:pt idx="25">
                  <c:v>1405.3659446009178</c:v>
                </c:pt>
                <c:pt idx="26">
                  <c:v>1394.0562651842806</c:v>
                </c:pt>
                <c:pt idx="27">
                  <c:v>1395.4117951216369</c:v>
                </c:pt>
                <c:pt idx="28">
                  <c:v>1397.384771043251</c:v>
                </c:pt>
                <c:pt idx="29">
                  <c:v>1394.2159250664752</c:v>
                </c:pt>
                <c:pt idx="30">
                  <c:v>1397.6347965196833</c:v>
                </c:pt>
                <c:pt idx="31">
                  <c:v>1397.3157412472681</c:v>
                </c:pt>
                <c:pt idx="32">
                  <c:v>1403.8399819821489</c:v>
                </c:pt>
                <c:pt idx="33">
                  <c:v>1411.1491742738767</c:v>
                </c:pt>
                <c:pt idx="34">
                  <c:v>1408.0865846217009</c:v>
                </c:pt>
                <c:pt idx="35">
                  <c:v>1402.3991581788341</c:v>
                </c:pt>
                <c:pt idx="36">
                  <c:v>1388.3372540060759</c:v>
                </c:pt>
                <c:pt idx="37">
                  <c:v>1388.0798751013278</c:v>
                </c:pt>
                <c:pt idx="38">
                  <c:v>1390.903725955555</c:v>
                </c:pt>
                <c:pt idx="39">
                  <c:v>1385.7662562203122</c:v>
                </c:pt>
                <c:pt idx="40">
                  <c:v>1379.843684770723</c:v>
                </c:pt>
                <c:pt idx="41">
                  <c:v>1402.334744996012</c:v>
                </c:pt>
                <c:pt idx="42">
                  <c:v>1408.156299293697</c:v>
                </c:pt>
                <c:pt idx="43">
                  <c:v>1401.2560308080654</c:v>
                </c:pt>
                <c:pt idx="44">
                  <c:v>1394.2749360906378</c:v>
                </c:pt>
                <c:pt idx="45">
                  <c:v>1411.1303139732831</c:v>
                </c:pt>
                <c:pt idx="46">
                  <c:v>1415.1741664513297</c:v>
                </c:pt>
                <c:pt idx="47">
                  <c:v>1415.3370373568371</c:v>
                </c:pt>
                <c:pt idx="48">
                  <c:v>1435.564892842229</c:v>
                </c:pt>
                <c:pt idx="49">
                  <c:v>1433.9534318062081</c:v>
                </c:pt>
                <c:pt idx="50">
                  <c:v>1422.0428262570065</c:v>
                </c:pt>
                <c:pt idx="51">
                  <c:v>1422.5509973248618</c:v>
                </c:pt>
                <c:pt idx="52">
                  <c:v>1432.9432568635566</c:v>
                </c:pt>
                <c:pt idx="53">
                  <c:v>1436.5373126088264</c:v>
                </c:pt>
                <c:pt idx="54">
                  <c:v>1441.4039201178562</c:v>
                </c:pt>
                <c:pt idx="55">
                  <c:v>1459.7933218945946</c:v>
                </c:pt>
                <c:pt idx="56">
                  <c:v>1445.4133616196773</c:v>
                </c:pt>
                <c:pt idx="57">
                  <c:v>1446.6048375182104</c:v>
                </c:pt>
                <c:pt idx="58">
                  <c:v>1438.2460481297965</c:v>
                </c:pt>
                <c:pt idx="59">
                  <c:v>1431.6679300315152</c:v>
                </c:pt>
                <c:pt idx="60">
                  <c:v>1424.821703222362</c:v>
                </c:pt>
                <c:pt idx="61">
                  <c:v>1435.1411271529073</c:v>
                </c:pt>
                <c:pt idx="62">
                  <c:v>1433.9248420477991</c:v>
                </c:pt>
                <c:pt idx="63">
                  <c:v>1433.0934578437705</c:v>
                </c:pt>
                <c:pt idx="64">
                  <c:v>1418.0012432409167</c:v>
                </c:pt>
                <c:pt idx="65">
                  <c:v>1419.210761201716</c:v>
                </c:pt>
                <c:pt idx="66">
                  <c:v>1412.9990588726541</c:v>
                </c:pt>
                <c:pt idx="67">
                  <c:v>1412.8947980546689</c:v>
                </c:pt>
                <c:pt idx="68">
                  <c:v>1422.7295555623705</c:v>
                </c:pt>
                <c:pt idx="69">
                  <c:v>1428.2297074899766</c:v>
                </c:pt>
                <c:pt idx="70">
                  <c:v>1425.3573677561728</c:v>
                </c:pt>
                <c:pt idx="71">
                  <c:v>1427.8453371019141</c:v>
                </c:pt>
                <c:pt idx="72">
                  <c:v>1435.8063464850445</c:v>
                </c:pt>
                <c:pt idx="73">
                  <c:v>1430.4455670916207</c:v>
                </c:pt>
                <c:pt idx="74">
                  <c:v>1422.6591357598957</c:v>
                </c:pt>
                <c:pt idx="75">
                  <c:v>1429.7734394310487</c:v>
                </c:pt>
                <c:pt idx="76">
                  <c:v>1432.7506714921947</c:v>
                </c:pt>
                <c:pt idx="77">
                  <c:v>1430.3328742636149</c:v>
                </c:pt>
                <c:pt idx="78">
                  <c:v>1436.1875646726983</c:v>
                </c:pt>
                <c:pt idx="79">
                  <c:v>1426.4921840445845</c:v>
                </c:pt>
                <c:pt idx="80">
                  <c:v>1436.7499783664211</c:v>
                </c:pt>
                <c:pt idx="81">
                  <c:v>1383.0339531240143</c:v>
                </c:pt>
                <c:pt idx="82">
                  <c:v>1381.4389922579371</c:v>
                </c:pt>
                <c:pt idx="83">
                  <c:v>1388.967320047185</c:v>
                </c:pt>
                <c:pt idx="84">
                  <c:v>1402.0696723842771</c:v>
                </c:pt>
                <c:pt idx="85">
                  <c:v>1414.9119120035264</c:v>
                </c:pt>
                <c:pt idx="86">
                  <c:v>1403.575379830226</c:v>
                </c:pt>
                <c:pt idx="87">
                  <c:v>1400.6833017878698</c:v>
                </c:pt>
                <c:pt idx="88">
                  <c:v>1405.9527423793995</c:v>
                </c:pt>
                <c:pt idx="89">
                  <c:v>1384.2271070537658</c:v>
                </c:pt>
                <c:pt idx="90">
                  <c:v>1396.5603463315465</c:v>
                </c:pt>
                <c:pt idx="91">
                  <c:v>1367.065216372059</c:v>
                </c:pt>
                <c:pt idx="92">
                  <c:v>1342.078647401577</c:v>
                </c:pt>
                <c:pt idx="93">
                  <c:v>1380.9745423878701</c:v>
                </c:pt>
                <c:pt idx="94">
                  <c:v>1413.2476328466371</c:v>
                </c:pt>
                <c:pt idx="95">
                  <c:v>1427.7677188626853</c:v>
                </c:pt>
                <c:pt idx="96">
                  <c:v>1424.0745784469946</c:v>
                </c:pt>
                <c:pt idx="97">
                  <c:v>1411.565004649389</c:v>
                </c:pt>
                <c:pt idx="98">
                  <c:v>1415.7864160826659</c:v>
                </c:pt>
                <c:pt idx="99">
                  <c:v>1429.6382141457761</c:v>
                </c:pt>
                <c:pt idx="100">
                  <c:v>1447.7155290094906</c:v>
                </c:pt>
                <c:pt idx="101">
                  <c:v>1410.961717822805</c:v>
                </c:pt>
                <c:pt idx="102">
                  <c:v>1382.4487697286086</c:v>
                </c:pt>
                <c:pt idx="103">
                  <c:v>1471.0644960097986</c:v>
                </c:pt>
                <c:pt idx="104">
                  <c:v>1498.2532869037636</c:v>
                </c:pt>
                <c:pt idx="105">
                  <c:v>1524.3439215774836</c:v>
                </c:pt>
                <c:pt idx="106">
                  <c:v>1519.5642689183237</c:v>
                </c:pt>
                <c:pt idx="107">
                  <c:v>1524.9873784681777</c:v>
                </c:pt>
                <c:pt idx="108">
                  <c:v>1542.9310637836124</c:v>
                </c:pt>
                <c:pt idx="109">
                  <c:v>1548.0076035944744</c:v>
                </c:pt>
                <c:pt idx="110">
                  <c:v>1548.4737107751625</c:v>
                </c:pt>
                <c:pt idx="111">
                  <c:v>1542.2722847350055</c:v>
                </c:pt>
                <c:pt idx="112">
                  <c:v>1535.3372876580916</c:v>
                </c:pt>
                <c:pt idx="113">
                  <c:v>1504.2846220803979</c:v>
                </c:pt>
                <c:pt idx="114">
                  <c:v>1495.9240110473702</c:v>
                </c:pt>
                <c:pt idx="115">
                  <c:v>1497.3623472320876</c:v>
                </c:pt>
                <c:pt idx="116">
                  <c:v>1472.0215955280642</c:v>
                </c:pt>
                <c:pt idx="117">
                  <c:v>1494.2824034501459</c:v>
                </c:pt>
                <c:pt idx="118">
                  <c:v>1494.971537550412</c:v>
                </c:pt>
                <c:pt idx="119">
                  <c:v>1521.922186835983</c:v>
                </c:pt>
                <c:pt idx="120">
                  <c:v>1550.7438639712377</c:v>
                </c:pt>
                <c:pt idx="121">
                  <c:v>1551.9621446978431</c:v>
                </c:pt>
                <c:pt idx="122">
                  <c:v>1544.0300803385278</c:v>
                </c:pt>
                <c:pt idx="123">
                  <c:v>1540.7728073946168</c:v>
                </c:pt>
                <c:pt idx="124">
                  <c:v>1526.1246149650958</c:v>
                </c:pt>
                <c:pt idx="125">
                  <c:v>1517.2403679274162</c:v>
                </c:pt>
                <c:pt idx="126">
                  <c:v>1520.8210245550208</c:v>
                </c:pt>
                <c:pt idx="127">
                  <c:v>1511.4654138935891</c:v>
                </c:pt>
                <c:pt idx="128">
                  <c:v>1525.5396021998654</c:v>
                </c:pt>
                <c:pt idx="129">
                  <c:v>1547.2608965520508</c:v>
                </c:pt>
                <c:pt idx="130">
                  <c:v>1549.2595496913736</c:v>
                </c:pt>
                <c:pt idx="131">
                  <c:v>1556.738013288151</c:v>
                </c:pt>
                <c:pt idx="132">
                  <c:v>1555.04837471683</c:v>
                </c:pt>
                <c:pt idx="133">
                  <c:v>1542.0230074057392</c:v>
                </c:pt>
                <c:pt idx="134">
                  <c:v>1543.1687702775976</c:v>
                </c:pt>
                <c:pt idx="135">
                  <c:v>1555.1788381175058</c:v>
                </c:pt>
                <c:pt idx="136">
                  <c:v>1542.4647866351702</c:v>
                </c:pt>
                <c:pt idx="137">
                  <c:v>1528.2650227900797</c:v>
                </c:pt>
                <c:pt idx="138">
                  <c:v>1488.8179673720094</c:v>
                </c:pt>
                <c:pt idx="139">
                  <c:v>1475.459512294419</c:v>
                </c:pt>
                <c:pt idx="140">
                  <c:v>1464.6570678005291</c:v>
                </c:pt>
                <c:pt idx="141">
                  <c:v>1435.1470706000403</c:v>
                </c:pt>
                <c:pt idx="142">
                  <c:v>1417.6575224839862</c:v>
                </c:pt>
                <c:pt idx="143">
                  <c:v>1430.2467303271922</c:v>
                </c:pt>
                <c:pt idx="144">
                  <c:v>1430.8886073763715</c:v>
                </c:pt>
                <c:pt idx="145">
                  <c:v>1422.7474973880908</c:v>
                </c:pt>
                <c:pt idx="146">
                  <c:v>1413.5321592908485</c:v>
                </c:pt>
                <c:pt idx="147">
                  <c:v>1415.0902991544292</c:v>
                </c:pt>
                <c:pt idx="148">
                  <c:v>1424.9456067208707</c:v>
                </c:pt>
                <c:pt idx="149">
                  <c:v>1421.0608962758033</c:v>
                </c:pt>
                <c:pt idx="150">
                  <c:v>1428.1769646860321</c:v>
                </c:pt>
                <c:pt idx="151">
                  <c:v>1406.5948035721835</c:v>
                </c:pt>
                <c:pt idx="152">
                  <c:v>1397.7360640540412</c:v>
                </c:pt>
                <c:pt idx="153">
                  <c:v>1394.7577067430923</c:v>
                </c:pt>
                <c:pt idx="154">
                  <c:v>1401.6604164820919</c:v>
                </c:pt>
                <c:pt idx="155">
                  <c:v>1373.326830658948</c:v>
                </c:pt>
                <c:pt idx="156">
                  <c:v>1369.2349414935939</c:v>
                </c:pt>
                <c:pt idx="157">
                  <c:v>1407.8606926462426</c:v>
                </c:pt>
                <c:pt idx="158">
                  <c:v>1418.6667164259743</c:v>
                </c:pt>
                <c:pt idx="159">
                  <c:v>1419.7775306603007</c:v>
                </c:pt>
                <c:pt idx="160">
                  <c:v>1434.888809329771</c:v>
                </c:pt>
                <c:pt idx="161">
                  <c:v>1442.9447370337261</c:v>
                </c:pt>
                <c:pt idx="162">
                  <c:v>1457.1945283174723</c:v>
                </c:pt>
                <c:pt idx="163">
                  <c:v>1448.9147749058991</c:v>
                </c:pt>
                <c:pt idx="164">
                  <c:v>1427.5973632991017</c:v>
                </c:pt>
                <c:pt idx="165">
                  <c:v>1418.5473454961523</c:v>
                </c:pt>
                <c:pt idx="166">
                  <c:v>1421.7176138499517</c:v>
                </c:pt>
                <c:pt idx="167">
                  <c:v>1428.724133933626</c:v>
                </c:pt>
                <c:pt idx="168">
                  <c:v>1428.5690619945026</c:v>
                </c:pt>
                <c:pt idx="169">
                  <c:v>1412.3800734014781</c:v>
                </c:pt>
                <c:pt idx="170">
                  <c:v>1423.8670377349872</c:v>
                </c:pt>
                <c:pt idx="171">
                  <c:v>1425.0118733599629</c:v>
                </c:pt>
                <c:pt idx="172">
                  <c:v>1430.0525475723193</c:v>
                </c:pt>
                <c:pt idx="173">
                  <c:v>1430.6200880532206</c:v>
                </c:pt>
                <c:pt idx="174">
                  <c:v>1441.4975730171122</c:v>
                </c:pt>
                <c:pt idx="175">
                  <c:v>1440.5754316240002</c:v>
                </c:pt>
                <c:pt idx="176">
                  <c:v>1427.8602996374088</c:v>
                </c:pt>
                <c:pt idx="177">
                  <c:v>1423.9352044871466</c:v>
                </c:pt>
                <c:pt idx="178">
                  <c:v>1423.02630216127</c:v>
                </c:pt>
                <c:pt idx="179">
                  <c:v>1398.8719252439373</c:v>
                </c:pt>
                <c:pt idx="180">
                  <c:v>1391.6684606939764</c:v>
                </c:pt>
                <c:pt idx="181">
                  <c:v>1403.6862359662177</c:v>
                </c:pt>
                <c:pt idx="182">
                  <c:v>1432.5055531766684</c:v>
                </c:pt>
                <c:pt idx="183">
                  <c:v>1444.6568003040202</c:v>
                </c:pt>
                <c:pt idx="184">
                  <c:v>1445.5053777458866</c:v>
                </c:pt>
                <c:pt idx="185">
                  <c:v>1417.6779360689061</c:v>
                </c:pt>
                <c:pt idx="186">
                  <c:v>1441.8597277192473</c:v>
                </c:pt>
                <c:pt idx="187">
                  <c:v>1455.0869084048234</c:v>
                </c:pt>
                <c:pt idx="188">
                  <c:v>1463.2710331769265</c:v>
                </c:pt>
                <c:pt idx="189">
                  <c:v>1447.1506481137699</c:v>
                </c:pt>
                <c:pt idx="190">
                  <c:v>1424.9238573862694</c:v>
                </c:pt>
                <c:pt idx="191">
                  <c:v>1441.9034549731118</c:v>
                </c:pt>
                <c:pt idx="192">
                  <c:v>1449.144602713654</c:v>
                </c:pt>
                <c:pt idx="193">
                  <c:v>1453.752321826752</c:v>
                </c:pt>
                <c:pt idx="194">
                  <c:v>1442.4318819559842</c:v>
                </c:pt>
                <c:pt idx="195">
                  <c:v>1426.2757126944523</c:v>
                </c:pt>
                <c:pt idx="196">
                  <c:v>1501.6831055007522</c:v>
                </c:pt>
                <c:pt idx="197">
                  <c:v>1521.0902083125602</c:v>
                </c:pt>
                <c:pt idx="198">
                  <c:v>1513.6140065959023</c:v>
                </c:pt>
                <c:pt idx="199">
                  <c:v>1510.169004932357</c:v>
                </c:pt>
                <c:pt idx="200">
                  <c:v>1521.3879439731716</c:v>
                </c:pt>
                <c:pt idx="201">
                  <c:v>1518.3296753886855</c:v>
                </c:pt>
                <c:pt idx="202">
                  <c:v>1507.905999329033</c:v>
                </c:pt>
                <c:pt idx="203">
                  <c:v>1498.7534745634953</c:v>
                </c:pt>
                <c:pt idx="204">
                  <c:v>1489.3843571101856</c:v>
                </c:pt>
                <c:pt idx="205">
                  <c:v>1502.5458585385061</c:v>
                </c:pt>
                <c:pt idx="206">
                  <c:v>1459.8596305438805</c:v>
                </c:pt>
                <c:pt idx="207">
                  <c:v>1473.3634978955652</c:v>
                </c:pt>
                <c:pt idx="208">
                  <c:v>1483.4367342189169</c:v>
                </c:pt>
                <c:pt idx="209">
                  <c:v>1474.5774038845734</c:v>
                </c:pt>
                <c:pt idx="210">
                  <c:v>1483.4482150278427</c:v>
                </c:pt>
                <c:pt idx="211">
                  <c:v>1488.4727651781184</c:v>
                </c:pt>
                <c:pt idx="212">
                  <c:v>1498.7648216127022</c:v>
                </c:pt>
                <c:pt idx="213">
                  <c:v>1499.7680916812699</c:v>
                </c:pt>
                <c:pt idx="214">
                  <c:v>1477.0524743872677</c:v>
                </c:pt>
                <c:pt idx="215">
                  <c:v>1475.5776738445638</c:v>
                </c:pt>
                <c:pt idx="216">
                  <c:v>1493.4921853604526</c:v>
                </c:pt>
                <c:pt idx="217">
                  <c:v>1505.2488045553671</c:v>
                </c:pt>
                <c:pt idx="218">
                  <c:v>1513.1748196207932</c:v>
                </c:pt>
                <c:pt idx="219">
                  <c:v>1530.3394678724537</c:v>
                </c:pt>
                <c:pt idx="220">
                  <c:v>1530.0679224562289</c:v>
                </c:pt>
                <c:pt idx="221">
                  <c:v>1511.4257132895088</c:v>
                </c:pt>
                <c:pt idx="222">
                  <c:v>1502.9555007953575</c:v>
                </c:pt>
                <c:pt idx="223">
                  <c:v>1497.1651815644186</c:v>
                </c:pt>
                <c:pt idx="224">
                  <c:v>1493.2771821678286</c:v>
                </c:pt>
                <c:pt idx="225">
                  <c:v>1485.5584714306215</c:v>
                </c:pt>
                <c:pt idx="226">
                  <c:v>1527.9570067857214</c:v>
                </c:pt>
                <c:pt idx="227">
                  <c:v>1555.2170537816662</c:v>
                </c:pt>
                <c:pt idx="228">
                  <c:v>1539.8845131433054</c:v>
                </c:pt>
                <c:pt idx="229">
                  <c:v>1536.013710316241</c:v>
                </c:pt>
                <c:pt idx="230">
                  <c:v>1532.8075124072404</c:v>
                </c:pt>
                <c:pt idx="231">
                  <c:v>1523.0873461825981</c:v>
                </c:pt>
                <c:pt idx="232">
                  <c:v>1513.8817178986633</c:v>
                </c:pt>
                <c:pt idx="233">
                  <c:v>1471.1827230701733</c:v>
                </c:pt>
                <c:pt idx="234">
                  <c:v>1509.0548348700981</c:v>
                </c:pt>
                <c:pt idx="235">
                  <c:v>1548.9168775240414</c:v>
                </c:pt>
                <c:pt idx="236">
                  <c:v>1526.7053769574868</c:v>
                </c:pt>
                <c:pt idx="237">
                  <c:v>1526.723230570854</c:v>
                </c:pt>
                <c:pt idx="238">
                  <c:v>1508.8517520944692</c:v>
                </c:pt>
                <c:pt idx="239">
                  <c:v>1501.6635746289751</c:v>
                </c:pt>
                <c:pt idx="240">
                  <c:v>1512.5689134556837</c:v>
                </c:pt>
                <c:pt idx="241">
                  <c:v>1486.4406005035357</c:v>
                </c:pt>
                <c:pt idx="242">
                  <c:v>1483.2124837399142</c:v>
                </c:pt>
                <c:pt idx="243">
                  <c:v>1471.4299381506232</c:v>
                </c:pt>
                <c:pt idx="244">
                  <c:v>1456.6160565969296</c:v>
                </c:pt>
                <c:pt idx="245">
                  <c:v>1454.4189538443939</c:v>
                </c:pt>
                <c:pt idx="246">
                  <c:v>1441.057591455477</c:v>
                </c:pt>
                <c:pt idx="247">
                  <c:v>1416.7340849089499</c:v>
                </c:pt>
                <c:pt idx="248">
                  <c:v>1407.5156642348875</c:v>
                </c:pt>
                <c:pt idx="249">
                  <c:v>1384.733117330233</c:v>
                </c:pt>
                <c:pt idx="250">
                  <c:v>1390.4709395061484</c:v>
                </c:pt>
                <c:pt idx="251">
                  <c:v>1389.5294497121888</c:v>
                </c:pt>
                <c:pt idx="252">
                  <c:v>1371.2223173310435</c:v>
                </c:pt>
                <c:pt idx="253">
                  <c:v>1428.2750784783293</c:v>
                </c:pt>
                <c:pt idx="254">
                  <c:v>1405.170268954404</c:v>
                </c:pt>
                <c:pt idx="255">
                  <c:v>1394.6704010456647</c:v>
                </c:pt>
                <c:pt idx="256">
                  <c:v>1386.8631594496062</c:v>
                </c:pt>
                <c:pt idx="257">
                  <c:v>1378.2479505582774</c:v>
                </c:pt>
                <c:pt idx="258">
                  <c:v>1362.2975227831635</c:v>
                </c:pt>
                <c:pt idx="259">
                  <c:v>1363.7467522459933</c:v>
                </c:pt>
                <c:pt idx="260">
                  <c:v>1355.3823362620385</c:v>
                </c:pt>
                <c:pt idx="261">
                  <c:v>1350.8418829609673</c:v>
                </c:pt>
                <c:pt idx="262">
                  <c:v>1341.8025480738645</c:v>
                </c:pt>
                <c:pt idx="263">
                  <c:v>1348.5600919725603</c:v>
                </c:pt>
                <c:pt idx="264">
                  <c:v>1341.2726039091306</c:v>
                </c:pt>
                <c:pt idx="265">
                  <c:v>1336.1520814985399</c:v>
                </c:pt>
                <c:pt idx="266">
                  <c:v>1332.4151591085467</c:v>
                </c:pt>
                <c:pt idx="267">
                  <c:v>1321.0778349215964</c:v>
                </c:pt>
                <c:pt idx="268">
                  <c:v>1310.2999993569804</c:v>
                </c:pt>
                <c:pt idx="269">
                  <c:v>1297.2326943060004</c:v>
                </c:pt>
                <c:pt idx="270">
                  <c:v>1289.677110606465</c:v>
                </c:pt>
                <c:pt idx="271">
                  <c:v>1291.5056239919386</c:v>
                </c:pt>
                <c:pt idx="272">
                  <c:v>1284.5026053641857</c:v>
                </c:pt>
                <c:pt idx="273">
                  <c:v>1282.4298025104947</c:v>
                </c:pt>
                <c:pt idx="274">
                  <c:v>1277.5229085672038</c:v>
                </c:pt>
                <c:pt idx="275">
                  <c:v>1273.3111881919219</c:v>
                </c:pt>
                <c:pt idx="276">
                  <c:v>1271.7857297032783</c:v>
                </c:pt>
                <c:pt idx="277">
                  <c:v>1272.2467160113968</c:v>
                </c:pt>
                <c:pt idx="278">
                  <c:v>1269.6008092741899</c:v>
                </c:pt>
                <c:pt idx="279">
                  <c:v>1270.2374834779305</c:v>
                </c:pt>
                <c:pt idx="280">
                  <c:v>1268.8356511504526</c:v>
                </c:pt>
                <c:pt idx="281">
                  <c:v>1265.1429968932146</c:v>
                </c:pt>
                <c:pt idx="282">
                  <c:v>1267.5844357129604</c:v>
                </c:pt>
                <c:pt idx="283">
                  <c:v>1262.7649961087156</c:v>
                </c:pt>
                <c:pt idx="284">
                  <c:v>1241.4943249614616</c:v>
                </c:pt>
                <c:pt idx="285">
                  <c:v>1245.9642179917082</c:v>
                </c:pt>
                <c:pt idx="286">
                  <c:v>1232.6651501079784</c:v>
                </c:pt>
                <c:pt idx="287">
                  <c:v>1232.6496899043966</c:v>
                </c:pt>
                <c:pt idx="288">
                  <c:v>1229.5756815770562</c:v>
                </c:pt>
                <c:pt idx="289">
                  <c:v>1237.3630135719302</c:v>
                </c:pt>
                <c:pt idx="290">
                  <c:v>1247.6436939242101</c:v>
                </c:pt>
                <c:pt idx="291">
                  <c:v>1251.027804599333</c:v>
                </c:pt>
                <c:pt idx="292">
                  <c:v>1252.5064948712263</c:v>
                </c:pt>
                <c:pt idx="293">
                  <c:v>1242.1133657048008</c:v>
                </c:pt>
                <c:pt idx="294">
                  <c:v>1236.434418273941</c:v>
                </c:pt>
                <c:pt idx="295">
                  <c:v>1247.7391015847656</c:v>
                </c:pt>
                <c:pt idx="296">
                  <c:v>1249.6076053322624</c:v>
                </c:pt>
                <c:pt idx="297">
                  <c:v>1252.1856833065581</c:v>
                </c:pt>
                <c:pt idx="298">
                  <c:v>1244.375965727301</c:v>
                </c:pt>
                <c:pt idx="299">
                  <c:v>1231.9501236166682</c:v>
                </c:pt>
                <c:pt idx="300">
                  <c:v>1231.8935075985269</c:v>
                </c:pt>
                <c:pt idx="301">
                  <c:v>1238.2620606762619</c:v>
                </c:pt>
                <c:pt idx="302">
                  <c:v>1235.696931839582</c:v>
                </c:pt>
                <c:pt idx="303">
                  <c:v>1227.1073016447681</c:v>
                </c:pt>
                <c:pt idx="304">
                  <c:v>1236.9203216874762</c:v>
                </c:pt>
                <c:pt idx="305">
                  <c:v>1250.4711537645335</c:v>
                </c:pt>
                <c:pt idx="306">
                  <c:v>1247.0454426822412</c:v>
                </c:pt>
                <c:pt idx="307">
                  <c:v>1231.5077521531821</c:v>
                </c:pt>
                <c:pt idx="308">
                  <c:v>1221.1713559363841</c:v>
                </c:pt>
                <c:pt idx="309">
                  <c:v>1208.2377469720154</c:v>
                </c:pt>
                <c:pt idx="310">
                  <c:v>1208.90532520542</c:v>
                </c:pt>
                <c:pt idx="311">
                  <c:v>1194.3992914181163</c:v>
                </c:pt>
                <c:pt idx="312">
                  <c:v>1189.7220280263102</c:v>
                </c:pt>
                <c:pt idx="313">
                  <c:v>1188.2805143182904</c:v>
                </c:pt>
                <c:pt idx="314">
                  <c:v>1179.4993254252568</c:v>
                </c:pt>
                <c:pt idx="315">
                  <c:v>1180.2001751301195</c:v>
                </c:pt>
                <c:pt idx="316">
                  <c:v>1179.9724240395817</c:v>
                </c:pt>
                <c:pt idx="317">
                  <c:v>1179.1096353221023</c:v>
                </c:pt>
                <c:pt idx="318">
                  <c:v>1173.6291120393162</c:v>
                </c:pt>
                <c:pt idx="319">
                  <c:v>1161.1105100035804</c:v>
                </c:pt>
                <c:pt idx="320">
                  <c:v>1171.3291879390185</c:v>
                </c:pt>
                <c:pt idx="321">
                  <c:v>1179.1668731681307</c:v>
                </c:pt>
                <c:pt idx="322">
                  <c:v>1171.0390964048922</c:v>
                </c:pt>
                <c:pt idx="323">
                  <c:v>1167.222975315168</c:v>
                </c:pt>
                <c:pt idx="324">
                  <c:v>1181.4027621729974</c:v>
                </c:pt>
                <c:pt idx="325">
                  <c:v>1196.172041159457</c:v>
                </c:pt>
                <c:pt idx="326">
                  <c:v>1185.4422458606034</c:v>
                </c:pt>
                <c:pt idx="327">
                  <c:v>1136.9222449946044</c:v>
                </c:pt>
                <c:pt idx="328">
                  <c:v>1070.3800768664607</c:v>
                </c:pt>
                <c:pt idx="329">
                  <c:v>1112.3576988502227</c:v>
                </c:pt>
                <c:pt idx="330">
                  <c:v>1183.3535652276041</c:v>
                </c:pt>
                <c:pt idx="331">
                  <c:v>1205.4576761735498</c:v>
                </c:pt>
                <c:pt idx="332">
                  <c:v>1285.1996035390998</c:v>
                </c:pt>
                <c:pt idx="333">
                  <c:v>1285.4222830338663</c:v>
                </c:pt>
                <c:pt idx="334">
                  <c:v>1278.6440555379859</c:v>
                </c:pt>
                <c:pt idx="335">
                  <c:v>1289.1519151223824</c:v>
                </c:pt>
                <c:pt idx="336">
                  <c:v>1296.2448013997059</c:v>
                </c:pt>
                <c:pt idx="337">
                  <c:v>1298.1578351202463</c:v>
                </c:pt>
                <c:pt idx="338">
                  <c:v>1304.1611196235656</c:v>
                </c:pt>
                <c:pt idx="339">
                  <c:v>1303.2951542321002</c:v>
                </c:pt>
                <c:pt idx="340">
                  <c:v>1304.6437174900893</c:v>
                </c:pt>
                <c:pt idx="341">
                  <c:v>1305.9810974018008</c:v>
                </c:pt>
                <c:pt idx="342">
                  <c:v>1306.2873794215629</c:v>
                </c:pt>
                <c:pt idx="343">
                  <c:v>1313.2264247957589</c:v>
                </c:pt>
                <c:pt idx="344">
                  <c:v>1317.15498740003</c:v>
                </c:pt>
                <c:pt idx="345">
                  <c:v>1306.8276850811178</c:v>
                </c:pt>
                <c:pt idx="346">
                  <c:v>1307.7519934444829</c:v>
                </c:pt>
                <c:pt idx="347">
                  <c:v>1320.0249923047763</c:v>
                </c:pt>
                <c:pt idx="348">
                  <c:v>1320.3698442983382</c:v>
                </c:pt>
                <c:pt idx="349">
                  <c:v>1318.2794858278264</c:v>
                </c:pt>
                <c:pt idx="350">
                  <c:v>1316.2539385012121</c:v>
                </c:pt>
                <c:pt idx="351">
                  <c:v>1312.6466415727427</c:v>
                </c:pt>
                <c:pt idx="352">
                  <c:v>1300.1687644257756</c:v>
                </c:pt>
                <c:pt idx="353">
                  <c:v>1308.310833656197</c:v>
                </c:pt>
                <c:pt idx="354">
                  <c:v>1305.186392158955</c:v>
                </c:pt>
                <c:pt idx="355">
                  <c:v>1303.4499906606945</c:v>
                </c:pt>
                <c:pt idx="356">
                  <c:v>1306.2844376773037</c:v>
                </c:pt>
                <c:pt idx="357">
                  <c:v>1301.8624971203287</c:v>
                </c:pt>
                <c:pt idx="358">
                  <c:v>1302.2339290400248</c:v>
                </c:pt>
                <c:pt idx="359">
                  <c:v>1304.1639060912512</c:v>
                </c:pt>
                <c:pt idx="360">
                  <c:v>1296.3132800987064</c:v>
                </c:pt>
                <c:pt idx="361">
                  <c:v>1291.9671410457734</c:v>
                </c:pt>
                <c:pt idx="362">
                  <c:v>1289.5625434552194</c:v>
                </c:pt>
                <c:pt idx="363">
                  <c:v>1279.7139629861424</c:v>
                </c:pt>
                <c:pt idx="364">
                  <c:v>1274.7023478174192</c:v>
                </c:pt>
                <c:pt idx="365">
                  <c:v>1277.8429481620733</c:v>
                </c:pt>
                <c:pt idx="366">
                  <c:v>1272.1349637533583</c:v>
                </c:pt>
                <c:pt idx="367">
                  <c:v>1269.8915144278797</c:v>
                </c:pt>
                <c:pt idx="368">
                  <c:v>1271.6321481458219</c:v>
                </c:pt>
                <c:pt idx="369">
                  <c:v>1266.2378299029601</c:v>
                </c:pt>
                <c:pt idx="370">
                  <c:v>1276.5079048601108</c:v>
                </c:pt>
                <c:pt idx="371">
                  <c:v>1273.0040347809618</c:v>
                </c:pt>
                <c:pt idx="372">
                  <c:v>1271.3701000836097</c:v>
                </c:pt>
                <c:pt idx="373">
                  <c:v>1266.792869267862</c:v>
                </c:pt>
                <c:pt idx="374">
                  <c:v>1254.9423193058694</c:v>
                </c:pt>
                <c:pt idx="375">
                  <c:v>1266.0119564379322</c:v>
                </c:pt>
                <c:pt idx="376">
                  <c:v>1260.6464875636152</c:v>
                </c:pt>
                <c:pt idx="377">
                  <c:v>1243.6282841905147</c:v>
                </c:pt>
                <c:pt idx="378">
                  <c:v>1246.4859643959007</c:v>
                </c:pt>
                <c:pt idx="379">
                  <c:v>1249.9918444249809</c:v>
                </c:pt>
                <c:pt idx="380">
                  <c:v>1249.4346605059468</c:v>
                </c:pt>
                <c:pt idx="381">
                  <c:v>1242.7845253414614</c:v>
                </c:pt>
              </c:numCache>
            </c:numRef>
          </c:val>
          <c:smooth val="0"/>
          <c:extLst>
            <c:ext xmlns:c16="http://schemas.microsoft.com/office/drawing/2014/chart" uri="{C3380CC4-5D6E-409C-BE32-E72D297353CC}">
              <c16:uniqueId val="{00000001-BB47-974C-A6BB-6092E9D33B99}"/>
            </c:ext>
          </c:extLst>
        </c:ser>
        <c:dLbls>
          <c:showLegendKey val="0"/>
          <c:showVal val="0"/>
          <c:showCatName val="0"/>
          <c:showSerName val="0"/>
          <c:showPercent val="0"/>
          <c:showBubbleSize val="0"/>
        </c:dLbls>
        <c:smooth val="0"/>
        <c:axId val="390324447"/>
        <c:axId val="390324927"/>
      </c:lineChart>
      <c:dateAx>
        <c:axId val="390324447"/>
        <c:scaling>
          <c:orientation val="minMax"/>
        </c:scaling>
        <c:delete val="0"/>
        <c:axPos val="b"/>
        <c:numFmt formatCode="m/d/yy" sourceLinked="1"/>
        <c:majorTickMark val="none"/>
        <c:minorTickMark val="none"/>
        <c:tickLblPos val="nextTo"/>
        <c:spPr>
          <a:ln w="9525" cmpd="sng">
            <a:solidFill>
              <a:schemeClr val="tx1">
                <a:lumMod val="15000"/>
                <a:lumOff val="85000"/>
              </a:schemeClr>
            </a:solidFill>
            <a:prstDash val="solid"/>
          </a:ln>
        </c:spPr>
        <c:txPr>
          <a:bodyPr rot="-60000000" spcFirstLastPara="1" vert="horz" wrap="square" anchor="ctr" anchorCtr="1"/>
          <a:lstStyle/>
          <a:p>
            <a:pPr>
              <a:defRPr sz="900" b="0" i="0">
                <a:solidFill>
                  <a:schemeClr val="tx1">
                    <a:lumMod val="65000"/>
                    <a:lumOff val="35000"/>
                  </a:schemeClr>
                </a:solidFill>
                <a:latin typeface="+mn-lt"/>
                <a:ea typeface="+mn-lt"/>
                <a:cs typeface="+mn-lt"/>
              </a:defRPr>
            </a:pPr>
            <a:endParaRPr lang="en-VN"/>
          </a:p>
        </c:txPr>
        <c:crossAx val="390324927"/>
        <c:crosses val="autoZero"/>
        <c:auto val="1"/>
        <c:lblOffset val="100"/>
        <c:baseTimeUnit val="days"/>
      </c:dateAx>
      <c:valAx>
        <c:axId val="390324927"/>
        <c:scaling>
          <c:orientation val="minMax"/>
          <c:min val="1100"/>
        </c:scaling>
        <c:delete val="0"/>
        <c:axPos val="l"/>
        <c:numFmt formatCode="#,##0" sourceLinked="0"/>
        <c:majorTickMark val="none"/>
        <c:minorTickMark val="none"/>
        <c:tickLblPos val="nextTo"/>
        <c:spPr>
          <a:ln>
            <a:noFill/>
            <a:prstDash val="solid"/>
          </a:ln>
        </c:spPr>
        <c:txPr>
          <a:bodyPr rot="-60000000" vert="horz" anchor="ctr" anchorCtr="1"/>
          <a:lstStyle/>
          <a:p>
            <a:pPr>
              <a:defRPr sz="900" b="0" i="0">
                <a:solidFill>
                  <a:schemeClr val="tx1">
                    <a:lumMod val="65000"/>
                    <a:lumOff val="35000"/>
                  </a:schemeClr>
                </a:solidFill>
                <a:latin typeface="+mn-lt"/>
                <a:ea typeface="+mn-lt"/>
                <a:cs typeface="+mn-lt"/>
              </a:defRPr>
            </a:pPr>
            <a:endParaRPr lang="en-VN"/>
          </a:p>
        </c:txPr>
        <c:crossAx val="390324447"/>
        <c:crosses val="autoZero"/>
        <c:crossBetween val="between"/>
      </c:valAx>
    </c:plotArea>
    <c:legend>
      <c:legendPos val="t"/>
      <c:overlay val="0"/>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buNone/>
            </a:pPr>
            <a:r>
              <a:t>[Sources]</a:t>
            </a:r>
          </a:p>
          <a:p>
            <a:pPr>
              <a:spcBef>
                <a:spcPct val="0"/>
              </a:spcBef>
              <a:buNone/>
            </a:pPr>
            <a:r>
              <a:t>User-provided MBS weekly report template and embedded charts/images.</a:t>
            </a:r>
          </a:p>
          <a:p>
            <a:pPr>
              <a:spcBef>
                <a:spcPct val="0"/>
              </a:spcBef>
              <a:buNone/>
            </a:pPr>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idx="10"/>
          </p:nvPr>
        </p:nvSpPr>
        <p:spPr/>
        <p:txBody>
          <a:bodyPr/>
          <a:lstStyle/>
          <a:p>
            <a:endParaRPr/>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idx="10"/>
          </p:nvPr>
        </p:nvSpPr>
        <p:spPr/>
        <p:txBody>
          <a:bodyPr/>
          <a:lstStyle/>
          <a:p>
            <a:endParaRPr/>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idx="10"/>
          </p:nvPr>
        </p:nvSpPr>
        <p:spPr/>
        <p:txBody>
          <a:bodyPr/>
          <a:lstStyle/>
          <a:p>
            <a:endParaRPr/>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idx="12"/>
          </p:nvPr>
        </p:nvSpPr>
        <p:spPr/>
        <p:txBody>
          <a:bodyPr/>
          <a:lstStyle/>
          <a:p>
            <a:fld id="{09BC8EBE-3F66-4987-8598-90D38544136D}"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CEFE7-E86B-4C05-A627-C0902980C7B7}"/>
              </a:ext>
            </a:extLst>
          </p:cNvPr>
          <p:cNvSpPr>
            <a:spLocks noGrp="1"/>
          </p:cNvSpPr>
          <p:nvPr>
            <p:ph type="ctrTitle"/>
          </p:nvPr>
        </p:nvSpPr>
        <p:spPr>
          <a:xfrm>
            <a:off x="495568" y="1828800"/>
            <a:ext cx="7142913" cy="828000"/>
          </a:xfrm>
        </p:spPr>
        <p:txBody>
          <a:bodyPr>
            <a:noAutofit/>
          </a:bodyPr>
          <a:lstStyle>
            <a:lvl1pPr>
              <a:buNone/>
              <a:defRPr sz="1875">
                <a:solidFill>
                  <a:schemeClr val="accent1"/>
                </a:solidFill>
              </a:defRPr>
            </a:lvl1pPr>
          </a:lstStyle>
          <a:p>
            <a:r>
              <a:t>Click to edit Master title style</a:t>
            </a:r>
          </a:p>
        </p:txBody>
      </p:sp>
      <p:sp>
        <p:nvSpPr>
          <p:cNvPr id="3" name="Subtitle 2">
            <a:extLst>
              <a:ext uri="{FF2B5EF4-FFF2-40B4-BE49-F238E27FC236}">
                <a16:creationId xmlns:a16="http://schemas.microsoft.com/office/drawing/2014/main" id="{859D20CC-9AAA-48E4-92BA-FFD603BF28CF}"/>
              </a:ext>
            </a:extLst>
          </p:cNvPr>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t>Click to edit Master subtitle style</a:t>
            </a:r>
          </a:p>
        </p:txBody>
      </p:sp>
      <p:sp>
        <p:nvSpPr>
          <p:cNvPr id="14" name="Slide Number Placeholder 7">
            <a:extLst>
              <a:ext uri="{FF2B5EF4-FFF2-40B4-BE49-F238E27FC236}">
                <a16:creationId xmlns:a16="http://schemas.microsoft.com/office/drawing/2014/main" id="{FE1EE6BA-B433-4A0B-B73B-B071F1CAB169}"/>
              </a:ext>
            </a:extLst>
          </p:cNvPr>
          <p:cNvSpPr>
            <a:spLocks noGrp="1"/>
          </p:cNvSpPr>
          <p:nvPr>
            <p:ph type="sldNum" idx="4"/>
          </p:nvPr>
        </p:nvSpPr>
        <p:spPr>
          <a:xfrm>
            <a:off x="10629332" y="6408009"/>
            <a:ext cx="1056117" cy="252001"/>
          </a:xfrm>
          <a:prstGeom prst="rect">
            <a:avLst/>
          </a:prstGeom>
        </p:spPr>
        <p:txBody>
          <a:bodyPr vert="horz" lIns="0" tIns="0" rIns="0" bIns="0" anchor="ctr"/>
          <a:lstStyle>
            <a:lvl1pPr algn="r">
              <a:buNone/>
              <a:defRPr sz="525" b="0">
                <a:solidFill>
                  <a:schemeClr val="tx2"/>
                </a:solidFill>
              </a:defRPr>
            </a:lvl1pPr>
          </a:lstStyle>
          <a:p>
            <a:fld id="{95CC1D26-A9BD-4BDE-BDD9-08EDBAE96860}" type="slidenum">
              <a:rPr>
                <a:solidFill>
                  <a:srgbClr val="313131"/>
                </a:solidFill>
              </a:rPr>
              <a:t>‹#›</a:t>
            </a:fld>
            <a:endParaRPr>
              <a:solidFill>
                <a:srgbClr val="313131"/>
              </a:solidFill>
            </a:endParaRPr>
          </a:p>
        </p:txBody>
      </p:sp>
      <p:sp>
        <p:nvSpPr>
          <p:cNvPr id="8" name="Text Placeholder 5">
            <a:extLst>
              <a:ext uri="{FF2B5EF4-FFF2-40B4-BE49-F238E27FC236}">
                <a16:creationId xmlns:a16="http://schemas.microsoft.com/office/drawing/2014/main" id="{BCA83865-9DAB-4F9A-BA06-93CDFFA5DDBC}"/>
              </a:ext>
            </a:extLst>
          </p:cNvPr>
          <p:cNvSpPr>
            <a:spLocks noGrp="1"/>
          </p:cNvSpPr>
          <p:nvPr>
            <p:ph type="body" idx="10"/>
          </p:nvPr>
        </p:nvSpPr>
        <p:spPr>
          <a:xfrm>
            <a:off x="495568" y="2663188"/>
            <a:ext cx="7142913" cy="1623070"/>
          </a:xfrm>
        </p:spPr>
        <p:txBody>
          <a:bodyPr>
            <a:noAutofit/>
          </a:bodyPr>
          <a:lstStyle>
            <a:lvl1pPr marL="0" indent="0">
              <a:buNone/>
              <a:defRPr sz="1875">
                <a:solidFill>
                  <a:schemeClr val="accent2"/>
                </a:solidFill>
              </a:defRPr>
            </a:lvl1pPr>
          </a:lstStyle>
          <a:p>
            <a:pPr lvl="0">
              <a:buNone/>
            </a:pPr>
            <a:r>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09BC8EBE-3F66-4987-8598-90D38544136D}" type="slidenum">
              <a:t>‹#›</a:t>
            </a:fld>
            <a:endParaRPr/>
          </a:p>
        </p:txBody>
      </p:sp>
      <p:pic>
        <p:nvPicPr>
          <p:cNvPr id="13" name="Picture 6"/>
          <p:cNvPicPr>
            <a:picLocks noChangeAspect="1"/>
          </p:cNvPicPr>
          <p:nvPr/>
        </p:nvPicPr>
        <p:blipFill>
          <a:blip r:embed="rId14"/>
          <a:srcRect/>
          <a:stretch/>
        </p:blipFill>
        <p:spPr>
          <a:xfrm>
            <a:off x="10296663" y="106860"/>
            <a:ext cx="1325339" cy="4417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pic>
        <p:nvPicPr>
          <p:cNvPr id="22" name="Google Shape;1067;p107"/>
          <p:cNvPicPr>
            <a:picLocks noChangeAspect="1"/>
          </p:cNvPicPr>
          <p:nvPr/>
        </p:nvPicPr>
        <p:blipFill rotWithShape="1">
          <a:blip r:embed="rId3">
            <a:alphaModFix/>
          </a:blip>
          <a:srcRect/>
          <a:stretch/>
        </p:blipFill>
        <p:spPr>
          <a:xfrm>
            <a:off x="0" y="691115"/>
            <a:ext cx="12192000" cy="6133754"/>
          </a:xfrm>
          <a:prstGeom prst="rect">
            <a:avLst/>
          </a:prstGeom>
          <a:ln w="88900" cap="sq">
            <a:noFill/>
            <a:miter/>
          </a:ln>
          <a:effectLst>
            <a:outerShdw blurRad="55000" dist="18000" dir="5400000" algn="tl" rotWithShape="0">
              <a:srgbClr val="000000">
                <a:alpha val="40000"/>
              </a:srgbClr>
            </a:outerShdw>
          </a:effectLst>
        </p:spPr>
      </p:pic>
      <p:sp>
        <p:nvSpPr>
          <p:cNvPr id="20" name="Straight Connector 19">
            <a:extLst>
              <a:ext uri="{FF2B5EF4-FFF2-40B4-BE49-F238E27FC236}">
                <a16:creationId xmlns:a16="http://schemas.microsoft.com/office/drawing/2014/main" id="{F82E145C-147B-4B93-AAE5-5F69F1DF7BE8}"/>
              </a:ext>
            </a:extLst>
          </p:cNvPr>
          <p:cNvSpPr>
            <a:spLocks noGrp="1"/>
          </p:cNvSpPr>
          <p:nvPr/>
        </p:nvSpPr>
        <p:spPr>
          <a:xfrm flipV="1">
            <a:off x="261939" y="677863"/>
            <a:ext cx="11676063"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5" name="TextBox 4">
            <a:extLst>
              <a:ext uri="{FF2B5EF4-FFF2-40B4-BE49-F238E27FC236}">
                <a16:creationId xmlns:a16="http://schemas.microsoft.com/office/drawing/2014/main" id="{83FA8882-DBA4-3986-D746-678C5CCE12AF}"/>
              </a:ext>
            </a:extLst>
          </p:cNvPr>
          <p:cNvSpPr>
            <a:spLocks noGrp="1"/>
          </p:cNvSpPr>
          <p:nvPr/>
        </p:nvSpPr>
        <p:spPr>
          <a:xfrm>
            <a:off x="914401" y="3939474"/>
            <a:ext cx="6006352" cy="1242648"/>
          </a:xfrm>
          <a:prstGeom prst="rect">
            <a:avLst/>
          </a:prstGeom>
          <a:solidFill>
            <a:srgbClr val="163A63"/>
          </a:solidFill>
          <a:ln w="19050">
            <a:solidFill>
              <a:srgbClr val="1557B0"/>
            </a:solidFill>
            <a:prstDash val="solid"/>
          </a:ln>
        </p:spPr>
        <p:style>
          <a:lnRef idx="0">
            <a:scrgbClr r="0" g="0" b="0"/>
          </a:lnRef>
          <a:fillRef idx="0">
            <a:scrgbClr r="0" g="0" b="0"/>
          </a:fillRef>
          <a:effectRef idx="6">
            <a:scrgbClr r="0" g="0" b="0"/>
          </a:effectRef>
          <a:fontRef idx="major"/>
        </p:style>
        <p:txBody>
          <a:bodyPr wrap="square" lIns="209550" tIns="152400" rIns="209550" bIns="152400" anchor="ctr">
            <a:spAutoFit/>
          </a:bodyPr>
          <a:lstStyle/>
          <a:p>
            <a:pPr>
              <a:defRPr sz="2025" b="1">
                <a:solidFill>
                  <a:srgbClr val="FFFFFF"/>
                </a:solidFill>
                <a:latin typeface="Arial"/>
                <a:ea typeface="Arial"/>
                <a:cs typeface="Arial"/>
              </a:defRPr>
            </a:pPr>
            <a:r>
              <a:rPr sz="2025" b="1">
                <a:solidFill>
                  <a:srgbClr val="FFFFFF"/>
                </a:solidFill>
                <a:latin typeface="Arial"/>
                <a:ea typeface="Arial"/>
                <a:cs typeface="Arial"/>
              </a:rPr>
              <a:t>BÁO CÁO TUẦN</a:t>
            </a:r>
          </a:p>
          <a:p>
            <a:pPr>
              <a:defRPr sz="2025" b="1">
                <a:solidFill>
                  <a:srgbClr val="FFFFFF"/>
                </a:solidFill>
                <a:latin typeface="Arial"/>
                <a:ea typeface="Arial"/>
                <a:cs typeface="Arial"/>
              </a:defRPr>
            </a:pPr>
            <a:r>
              <a:rPr lang="vi-VN" sz="2025" b="1">
                <a:solidFill>
                  <a:srgbClr val="FFFFFF"/>
                </a:solidFill>
                <a:latin typeface="Arial"/>
                <a:ea typeface="Arial"/>
                <a:cs typeface="Arial"/>
              </a:rPr>
              <a:t>NHẬN ĐỊNH THỊ TRƯỜNG TUẦN 03/08/2026 – 07/08/2026</a:t>
            </a:r>
            <a:endParaRPr sz="2025" b="1">
              <a:solidFill>
                <a:srgbClr val="FFFFFF"/>
              </a:solidFill>
              <a:latin typeface="Arial"/>
              <a:ea typeface="Arial"/>
              <a:cs typeface="Arial"/>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idx="4"/>
          </p:nvPr>
        </p:nvSpPr>
        <p:spPr/>
        <p:txBody>
          <a:bodyPr/>
          <a:lstStyle/>
          <a:p>
            <a:pPr>
              <a:defRPr sz="750">
                <a:solidFill>
                  <a:srgbClr val="6B7C8F"/>
                </a:solidFill>
                <a:latin typeface="Arial"/>
                <a:ea typeface="Arial"/>
                <a:cs typeface="Arial"/>
              </a:defRPr>
            </a:pPr>
            <a:fld id="{95CC1D26-A9BD-4BDE-BDD9-08EDBAE96860}" type="slidenum">
              <a:rPr sz="750">
                <a:solidFill>
                  <a:srgbClr val="6B7C8F"/>
                </a:solidFill>
                <a:latin typeface="Arial"/>
                <a:ea typeface="Arial"/>
                <a:cs typeface="Arial"/>
              </a:rPr>
              <a:t>1</a:t>
            </a:fld>
            <a:endParaRPr sz="750">
              <a:solidFill>
                <a:srgbClr val="6B7C8F"/>
              </a:solidFill>
              <a:latin typeface="Arial"/>
              <a:ea typeface="Arial"/>
              <a:cs typeface="Arial"/>
            </a:endParaRPr>
          </a:p>
        </p:txBody>
      </p:sp>
    </p:spTree>
    <p:extLst>
      <p:ext uri="{BB962C8B-B14F-4D97-AF65-F5344CB8AC3E}">
        <p14:creationId xmlns:p14="http://schemas.microsoft.com/office/powerpoint/2010/main" val="2159999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2FB0B962-8A7E-4BC3-84F1-33DF3C1E8953}"/>
              </a:ext>
            </a:extLst>
          </p:cNvPr>
          <p:cNvSpPr>
            <a:spLocks noGrp="1"/>
          </p:cNvSpPr>
          <p:nvPr/>
        </p:nvSpPr>
        <p:spPr>
          <a:xfrm>
            <a:off x="155575" y="-144463"/>
            <a:ext cx="304800" cy="304801"/>
          </a:xfrm>
          <a:prstGeom prst="rect">
            <a:avLst/>
          </a:prstGeom>
          <a:noFill/>
        </p:spPr>
        <p:txBody>
          <a:bodyPr vert="horz" wrap="square" lIns="91440" tIns="45720" rIns="91440" bIns="45720" anchor="t"/>
          <a:lstStyle/>
          <a:p>
            <a:endParaRPr/>
          </a:p>
        </p:txBody>
      </p:sp>
      <p:sp>
        <p:nvSpPr>
          <p:cNvPr id="4" name="AutoShape 4">
            <a:extLst>
              <a:ext uri="{FF2B5EF4-FFF2-40B4-BE49-F238E27FC236}">
                <a16:creationId xmlns:a16="http://schemas.microsoft.com/office/drawing/2014/main" id="{1B5754FF-66EC-4C9F-95E1-8D631C8999AE}"/>
              </a:ext>
            </a:extLst>
          </p:cNvPr>
          <p:cNvSpPr>
            <a:spLocks noGrp="1"/>
          </p:cNvSpPr>
          <p:nvPr/>
        </p:nvSpPr>
        <p:spPr>
          <a:xfrm>
            <a:off x="307975" y="7937"/>
            <a:ext cx="304800" cy="304801"/>
          </a:xfrm>
          <a:prstGeom prst="rect">
            <a:avLst/>
          </a:prstGeom>
          <a:noFill/>
        </p:spPr>
        <p:txBody>
          <a:bodyPr vert="horz" wrap="square" lIns="91440" tIns="45720" rIns="91440" bIns="45720" anchor="t"/>
          <a:lstStyle/>
          <a:p>
            <a:endParaRPr/>
          </a:p>
        </p:txBody>
      </p:sp>
      <p:sp>
        <p:nvSpPr>
          <p:cNvPr id="3" name="Straight Connector 2">
            <a:extLst>
              <a:ext uri="{FF2B5EF4-FFF2-40B4-BE49-F238E27FC236}">
                <a16:creationId xmlns:a16="http://schemas.microsoft.com/office/drawing/2014/main" id="{3D6A7E81-3B8A-44B7-8D75-CC1544F448EF}"/>
              </a:ext>
            </a:extLst>
          </p:cNvPr>
          <p:cNvSpPr>
            <a:spLocks noGrp="1"/>
          </p:cNvSpPr>
          <p:nvPr/>
        </p:nvSpPr>
        <p:spPr>
          <a:xfrm flipV="1">
            <a:off x="261939" y="677863"/>
            <a:ext cx="11676063"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13" name="Title 5">
            <a:extLst>
              <a:ext uri="{FF2B5EF4-FFF2-40B4-BE49-F238E27FC236}">
                <a16:creationId xmlns:a16="http://schemas.microsoft.com/office/drawing/2014/main" id="{4A4D2A7D-D274-BA45-B498-25785F845D87}"/>
              </a:ext>
            </a:extLst>
          </p:cNvPr>
          <p:cNvSpPr>
            <a:spLocks noGrp="1"/>
          </p:cNvSpPr>
          <p:nvPr/>
        </p:nvSpPr>
        <p:spPr>
          <a:xfrm>
            <a:off x="261939" y="304973"/>
            <a:ext cx="7991728" cy="355038"/>
          </a:xfrm>
          <a:prstGeom prst="rect">
            <a:avLst/>
          </a:prstGeom>
          <a:no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MỤC LỤC</a:t>
            </a:r>
          </a:p>
        </p:txBody>
      </p:sp>
      <p:sp>
        <p:nvSpPr>
          <p:cNvPr id="6" name="TextBox 5">
            <a:extLst>
              <a:ext uri="{FF2B5EF4-FFF2-40B4-BE49-F238E27FC236}">
                <a16:creationId xmlns:a16="http://schemas.microsoft.com/office/drawing/2014/main" id="{4994612C-C222-90EB-0421-98AC31DBAA7B}"/>
              </a:ext>
            </a:extLst>
          </p:cNvPr>
          <p:cNvSpPr>
            <a:spLocks noGrp="1"/>
          </p:cNvSpPr>
          <p:nvPr/>
        </p:nvSpPr>
        <p:spPr>
          <a:xfrm>
            <a:off x="307974" y="957047"/>
            <a:ext cx="6570497" cy="3284041"/>
          </a:xfrm>
          <a:prstGeom prst="rect">
            <a:avLst/>
          </a:prstGeom>
          <a:noFill/>
        </p:spPr>
        <p:txBody>
          <a:bodyPr wrap="square">
            <a:spAutoFit/>
          </a:bodyPr>
          <a:lstStyle/>
          <a:p>
            <a:pPr>
              <a:lnSpc>
                <a:spcPct val="150000"/>
              </a:lnSpc>
              <a:buNone/>
            </a:pPr>
            <a:r>
              <a:rPr lang="vi-VN" sz="1400" b="1">
                <a:solidFill>
                  <a:srgbClr val="1557B0"/>
                </a:solidFill>
                <a:latin typeface="+mj-lt"/>
                <a:ea typeface="+mj-lt"/>
                <a:cs typeface="+mj-lt"/>
              </a:rPr>
              <a:t>DIỄN BIẾN THỊ TRƯỜNG TUẦN 27/07 – 31/07/2026</a:t>
            </a:r>
            <a:endParaRPr sz="1400" b="1">
              <a:solidFill>
                <a:srgbClr val="1557B0"/>
              </a:solidFill>
              <a:latin typeface="+mj-lt"/>
              <a:ea typeface="+mj-lt"/>
              <a:cs typeface="+mj-lt"/>
            </a:endParaRPr>
          </a:p>
          <a:p>
            <a:pPr marL="285750" indent="-285750">
              <a:lnSpc>
                <a:spcPct val="150000"/>
              </a:lnSpc>
              <a:buFont typeface="Arial"/>
              <a:buChar char="•"/>
            </a:pPr>
            <a:r>
              <a:rPr sz="1400" b="1">
                <a:solidFill>
                  <a:srgbClr val="263442"/>
                </a:solidFill>
                <a:latin typeface="+mj-lt"/>
                <a:ea typeface="+mj-lt"/>
                <a:cs typeface="+mj-lt"/>
              </a:rPr>
              <a:t>Xu hướng và độ rộng thị trường</a:t>
            </a:r>
          </a:p>
          <a:p>
            <a:pPr marL="285750" indent="-285750">
              <a:lnSpc>
                <a:spcPct val="150000"/>
              </a:lnSpc>
              <a:buFont typeface="Arial"/>
              <a:buChar char="•"/>
            </a:pPr>
            <a:r>
              <a:rPr sz="1400" b="1">
                <a:solidFill>
                  <a:srgbClr val="263442"/>
                </a:solidFill>
                <a:latin typeface="+mj-lt"/>
                <a:ea typeface="+mj-lt"/>
                <a:cs typeface="+mj-lt"/>
              </a:rPr>
              <a:t>Biến động các nhóm ngành</a:t>
            </a:r>
          </a:p>
          <a:p>
            <a:pPr marL="285750" indent="-285750">
              <a:lnSpc>
                <a:spcPct val="150000"/>
              </a:lnSpc>
              <a:buFont typeface="Arial"/>
              <a:buChar char="•"/>
            </a:pPr>
            <a:r>
              <a:rPr sz="1400" b="1">
                <a:solidFill>
                  <a:srgbClr val="263442"/>
                </a:solidFill>
                <a:latin typeface="+mj-lt"/>
                <a:ea typeface="+mj-lt"/>
                <a:cs typeface="+mj-lt"/>
              </a:rPr>
              <a:t>Giao dịch các nhóm nhà đầu tư</a:t>
            </a:r>
          </a:p>
          <a:p>
            <a:pPr>
              <a:lnSpc>
                <a:spcPct val="150000"/>
              </a:lnSpc>
              <a:buNone/>
            </a:pPr>
            <a:endParaRPr sz="1400" b="1">
              <a:solidFill>
                <a:srgbClr val="263442"/>
              </a:solidFill>
              <a:latin typeface="+mj-lt"/>
              <a:ea typeface="+mj-lt"/>
              <a:cs typeface="+mj-lt"/>
            </a:endParaRPr>
          </a:p>
          <a:p>
            <a:pPr>
              <a:lnSpc>
                <a:spcPct val="150000"/>
              </a:lnSpc>
              <a:buNone/>
            </a:pPr>
            <a:r>
              <a:rPr lang="en-US" sz="1400" b="1">
                <a:solidFill>
                  <a:srgbClr val="1557B0"/>
                </a:solidFill>
                <a:latin typeface="+mj-lt"/>
                <a:ea typeface="+mj-lt"/>
                <a:cs typeface="+mj-lt"/>
              </a:rPr>
              <a:t>CÁC SỰ KIỆN DIỄN RA TRONG TUẦN 03/08/2026 – 07/08/2026</a:t>
            </a:r>
            <a:endParaRPr sz="1400" b="1">
              <a:solidFill>
                <a:srgbClr val="1557B0"/>
              </a:solidFill>
              <a:latin typeface="+mj-lt"/>
              <a:ea typeface="+mj-lt"/>
              <a:cs typeface="+mj-lt"/>
            </a:endParaRPr>
          </a:p>
          <a:p>
            <a:pPr>
              <a:lnSpc>
                <a:spcPct val="150000"/>
              </a:lnSpc>
              <a:buNone/>
            </a:pPr>
            <a:endParaRPr sz="1400" b="1">
              <a:solidFill>
                <a:srgbClr val="1557B0"/>
              </a:solidFill>
              <a:latin typeface="+mj-lt"/>
              <a:ea typeface="+mj-lt"/>
              <a:cs typeface="+mj-lt"/>
            </a:endParaRPr>
          </a:p>
          <a:p>
            <a:pPr>
              <a:lnSpc>
                <a:spcPct val="150000"/>
              </a:lnSpc>
              <a:buNone/>
            </a:pPr>
            <a:r>
              <a:rPr lang="vi-VN" sz="1400" b="1">
                <a:solidFill>
                  <a:srgbClr val="1557B0"/>
                </a:solidFill>
                <a:latin typeface="+mj-lt"/>
                <a:ea typeface="+mj-lt"/>
                <a:cs typeface="+mj-lt"/>
              </a:rPr>
              <a:t>NHẬN ĐỊNH XU HƯỚNG THỊ TRƯỜNG TUẦN 03/08/2026 – 07/08/2026</a:t>
            </a:r>
            <a:endParaRPr sz="1400" b="1">
              <a:solidFill>
                <a:srgbClr val="1557B0"/>
              </a:solidFill>
              <a:latin typeface="+mj-lt"/>
              <a:ea typeface="+mj-lt"/>
              <a:cs typeface="+mj-lt"/>
            </a:endParaRPr>
          </a:p>
          <a:p>
            <a:pPr>
              <a:lnSpc>
                <a:spcPct val="150000"/>
              </a:lnSpc>
              <a:buNone/>
            </a:pPr>
            <a:endParaRPr sz="1400" b="1">
              <a:solidFill>
                <a:srgbClr val="1557B0"/>
              </a:solidFill>
              <a:latin typeface="+mj-lt"/>
              <a:ea typeface="+mj-lt"/>
              <a:cs typeface="+mj-lt"/>
            </a:endParaRPr>
          </a:p>
          <a:p>
            <a:pPr>
              <a:lnSpc>
                <a:spcPct val="150000"/>
              </a:lnSpc>
              <a:buNone/>
            </a:pPr>
            <a:r>
              <a:rPr sz="1400" b="1">
                <a:solidFill>
                  <a:srgbClr val="1557B0"/>
                </a:solidFill>
                <a:latin typeface="+mj-lt"/>
                <a:ea typeface="+mj-lt"/>
                <a:cs typeface="+mj-lt"/>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idx="12"/>
          </p:nvPr>
        </p:nvSpPr>
        <p:spPr/>
        <p:txBody>
          <a:bodyPr/>
          <a:lstStyle/>
          <a:p>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2</a:t>
            </a:fld>
            <a:endParaRPr sz="750">
              <a:solidFill>
                <a:srgbClr val="6B7C8F"/>
              </a:solidFill>
              <a:latin typeface="Arial"/>
              <a:ea typeface="Arial"/>
              <a:cs typeface="Arial"/>
            </a:endParaRPr>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6" name="Straight Connector 5">
            <a:extLst>
              <a:ext uri="{FF2B5EF4-FFF2-40B4-BE49-F238E27FC236}">
                <a16:creationId xmlns:a16="http://schemas.microsoft.com/office/drawing/2014/main" id="{F46C4DF8-948E-488D-A3CA-BA780E356253}"/>
              </a:ext>
            </a:extLst>
          </p:cNvPr>
          <p:cNvSpPr>
            <a:spLocks noGrp="1"/>
          </p:cNvSpPr>
          <p:nvPr/>
        </p:nvSpPr>
        <p:spPr>
          <a:xfrm flipV="1">
            <a:off x="261939" y="677863"/>
            <a:ext cx="11676063"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3" name="Title 5">
            <a:extLst>
              <a:ext uri="{FF2B5EF4-FFF2-40B4-BE49-F238E27FC236}">
                <a16:creationId xmlns:a16="http://schemas.microsoft.com/office/drawing/2014/main" id="{9516C03B-CB8D-022C-BB34-4ECE32498F98}"/>
              </a:ext>
            </a:extLst>
          </p:cNvPr>
          <p:cNvSpPr>
            <a:spLocks noGrp="1"/>
          </p:cNvSpPr>
          <p:nvPr/>
        </p:nvSpPr>
        <p:spPr>
          <a:xfrm>
            <a:off x="261939" y="301596"/>
            <a:ext cx="7991728" cy="355038"/>
          </a:xfrm>
          <a:prstGeom prst="rect">
            <a:avLst/>
          </a:prstGeom>
          <a:no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defRPr sz="1425" b="1">
                <a:solidFill>
                  <a:srgbClr val="163A63"/>
                </a:solidFill>
                <a:latin typeface="Arial"/>
                <a:ea typeface="Arial"/>
                <a:cs typeface="Arial"/>
              </a:defRPr>
            </a:pPr>
            <a:r>
              <a:rPr lang="vi-VN" sz="1425" b="1">
                <a:solidFill>
                  <a:srgbClr val="163A63"/>
                </a:solidFill>
                <a:latin typeface="Arial"/>
                <a:ea typeface="Arial"/>
                <a:cs typeface="Arial"/>
              </a:rPr>
              <a:t>DIỄN BIẾN THỊ TRƯỜNG TUẦN 27/07 – 31/07/2026</a:t>
            </a:r>
            <a:endParaRPr sz="1425" b="1">
              <a:solidFill>
                <a:srgbClr val="163A63"/>
              </a:solidFill>
              <a:latin typeface="Arial"/>
              <a:ea typeface="Arial"/>
              <a:cs typeface="Arial"/>
            </a:endParaRPr>
          </a:p>
        </p:txBody>
      </p:sp>
      <p:sp>
        <p:nvSpPr>
          <p:cNvPr id="8" name="Text Placeholder 7">
            <a:extLst>
              <a:ext uri="{FF2B5EF4-FFF2-40B4-BE49-F238E27FC236}">
                <a16:creationId xmlns:a16="http://schemas.microsoft.com/office/drawing/2014/main" id="{7A4F60C0-301D-43A6-BB17-648BC55F0C62}"/>
              </a:ext>
            </a:extLst>
          </p:cNvPr>
          <p:cNvSpPr>
            <a:spLocks noGrp="1"/>
          </p:cNvSpPr>
          <p:nvPr/>
        </p:nvSpPr>
        <p:spPr>
          <a:xfrm>
            <a:off x="261121" y="677863"/>
            <a:ext cx="7449864" cy="5941051"/>
          </a:xfrm>
          <a:prstGeom prst="rect">
            <a:avLst/>
          </a:prstGeom>
        </p:spPr>
        <p:txBody>
          <a:bodyPr vert="horz" lIns="91440" tIns="45720" rIns="91440" bIns="45720">
            <a:noAutofit/>
          </a:bodyPr>
          <a:lstStyle>
            <a:lvl1pPr marL="0" indent="0" algn="l" defTabSz="914400">
              <a:lnSpc>
                <a:spcPct val="120000"/>
              </a:lnSpc>
              <a:spcBef>
                <a:spcPts val="0"/>
              </a:spcBef>
              <a:spcAft>
                <a:spcPts val="0"/>
              </a:spcAft>
              <a:buFont typeface="Arial"/>
              <a:buNone/>
              <a:defRPr sz="1050" b="0" kern="1200">
                <a:solidFill>
                  <a:schemeClr val="accent5"/>
                </a:solidFill>
                <a:latin typeface="+mn-lt"/>
                <a:ea typeface="+mn-lt"/>
                <a:cs typeface="+mn-lt"/>
              </a:defRPr>
            </a:lvl1pPr>
            <a:lvl2pPr marL="359532" indent="0" algn="ctr" defTabSz="914400">
              <a:lnSpc>
                <a:spcPct val="90000"/>
              </a:lnSpc>
              <a:spcBef>
                <a:spcPts val="500"/>
              </a:spcBef>
              <a:buFont typeface="Arial"/>
              <a:buNone/>
              <a:defRPr sz="2400" kern="1200">
                <a:solidFill>
                  <a:schemeClr val="tx1">
                    <a:tint val="75000"/>
                  </a:schemeClr>
                </a:solidFill>
                <a:latin typeface="+mn-lt"/>
                <a:ea typeface="+mn-lt"/>
                <a:cs typeface="+mn-lt"/>
              </a:defRPr>
            </a:lvl2pPr>
            <a:lvl3pPr marL="719063" indent="0" algn="ctr" defTabSz="914400">
              <a:lnSpc>
                <a:spcPct val="90000"/>
              </a:lnSpc>
              <a:spcBef>
                <a:spcPts val="500"/>
              </a:spcBef>
              <a:buFont typeface="Arial"/>
              <a:buNone/>
              <a:defRPr sz="2000" kern="1200">
                <a:solidFill>
                  <a:schemeClr val="tx1">
                    <a:tint val="75000"/>
                  </a:schemeClr>
                </a:solidFill>
                <a:latin typeface="+mn-lt"/>
                <a:ea typeface="+mn-lt"/>
                <a:cs typeface="+mn-lt"/>
              </a:defRPr>
            </a:lvl3pPr>
            <a:lvl4pPr marL="107859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4pPr>
            <a:lvl5pPr marL="143812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5pPr>
            <a:lvl6pPr marL="179765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6pPr>
            <a:lvl7pPr marL="215718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7pPr>
            <a:lvl8pPr marL="2516718"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8pPr>
            <a:lvl9pPr marL="2876250"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9pPr>
          </a:lstStyle>
          <a:p>
            <a:pPr>
              <a:lnSpc>
                <a:spcPct val="150000"/>
              </a:lnSpc>
              <a:spcBef>
                <a:spcPct val="0"/>
              </a:spcBef>
              <a:buNone/>
            </a:pPr>
            <a:r>
              <a:rPr sz="1400" b="1">
                <a:solidFill>
                  <a:srgbClr val="1557B0"/>
                </a:solidFill>
                <a:latin typeface="+mj-lt"/>
                <a:ea typeface="+mj-lt"/>
                <a:cs typeface="+mj-lt"/>
              </a:rPr>
              <a:t>Xu hướng và độ rộng thị trường</a:t>
            </a:r>
          </a:p>
          <a:p>
            <a:pPr>
              <a:lnSpc>
                <a:spcPct val="150000"/>
              </a:lnSpc>
              <a:spcBef>
                <a:spcPct val="0"/>
              </a:spcBef>
              <a:buNone/>
            </a:pPr>
            <a:endParaRPr sz="1400" b="1">
              <a:solidFill>
                <a:srgbClr val="1557B0"/>
              </a:solidFill>
              <a:latin typeface="+mj-lt"/>
              <a:ea typeface="+mj-lt"/>
              <a:cs typeface="+mj-lt"/>
            </a:endParaRPr>
          </a:p>
          <a:p>
            <a:pPr marL="171450" indent="-171450">
              <a:lnSpc>
                <a:spcPct val="150000"/>
              </a:lnSpc>
              <a:buFont typeface="Arial"/>
              <a:buChar char="•"/>
            </a:pPr>
            <a:r>
              <a:rPr sz="1100">
                <a:solidFill>
                  <a:srgbClr val="263442"/>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nSpc>
                <a:spcPct val="150000"/>
              </a:lnSpc>
              <a:buFont typeface="Arial"/>
              <a:buChar char="•"/>
            </a:pPr>
            <a:r>
              <a:rPr sz="1100">
                <a:solidFill>
                  <a:srgbClr val="263442"/>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nSpc>
                <a:spcPct val="150000"/>
              </a:lnSpc>
              <a:buFont typeface="Arial"/>
              <a:buChar char="•"/>
            </a:pPr>
            <a:r>
              <a:rPr sz="1100">
                <a:solidFill>
                  <a:srgbClr val="263442"/>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nSpc>
                <a:spcPct val="150000"/>
              </a:lnSpc>
              <a:buFont typeface="Arial"/>
              <a:buChar char="•"/>
            </a:pPr>
            <a:endParaRPr sz="1100">
              <a:solidFill>
                <a:srgbClr val="263442"/>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idx="4"/>
          </p:nvPr>
        </p:nvSpPr>
        <p:spPr/>
        <p:txBody>
          <a:bodyPr/>
          <a:lstStyle/>
          <a:p>
            <a:pPr>
              <a:defRPr sz="750">
                <a:solidFill>
                  <a:srgbClr val="6B7C8F"/>
                </a:solidFill>
                <a:latin typeface="Arial"/>
                <a:ea typeface="Arial"/>
                <a:cs typeface="Arial"/>
              </a:defRPr>
            </a:pPr>
            <a:fld id="{95CC1D26-A9BD-4BDE-BDD9-08EDBAE96860}" type="slidenum">
              <a:rPr sz="750">
                <a:solidFill>
                  <a:srgbClr val="6B7C8F"/>
                </a:solidFill>
                <a:latin typeface="Arial"/>
                <a:ea typeface="Arial"/>
                <a:cs typeface="Arial"/>
              </a:rPr>
              <a:t>3</a:t>
            </a:fld>
            <a:endParaRPr sz="750">
              <a:solidFill>
                <a:srgbClr val="6B7C8F"/>
              </a:solidFill>
              <a:latin typeface="Arial"/>
              <a:ea typeface="Arial"/>
              <a:cs typeface="Arial"/>
            </a:endParaRPr>
          </a:p>
        </p:txBody>
      </p:sp>
      <p:pic>
        <p:nvPicPr>
          <p:cNvPr id="20" name="Picture 1"/>
          <p:cNvPicPr>
            <a:picLocks noChangeAspect="1"/>
          </p:cNvPicPr>
          <p:nvPr/>
        </p:nvPicPr>
        <p:blipFill>
          <a:blip r:embed="rId3"/>
          <a:stretch>
            <a:fillRect/>
          </a:stretch>
        </p:blipFill>
        <p:spPr>
          <a:xfrm>
            <a:off x="7757281" y="763728"/>
            <a:ext cx="4248525" cy="2913765"/>
          </a:xfrm>
          <a:prstGeom prst="rect">
            <a:avLst/>
          </a:prstGeom>
        </p:spPr>
      </p:pic>
      <p:graphicFrame>
        <p:nvGraphicFramePr>
          <p:cNvPr id="21" name="Chart 6"/>
          <p:cNvGraphicFramePr/>
          <p:nvPr/>
        </p:nvGraphicFramePr>
        <p:xfrm>
          <a:off x="7757280" y="3677493"/>
          <a:ext cx="4248526" cy="287891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45765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6" name="Straight Connector 5">
            <a:extLst>
              <a:ext uri="{FF2B5EF4-FFF2-40B4-BE49-F238E27FC236}">
                <a16:creationId xmlns:a16="http://schemas.microsoft.com/office/drawing/2014/main" id="{0E1928AA-2F33-4240-8F33-4C3E6D744EEB}"/>
              </a:ext>
            </a:extLst>
          </p:cNvPr>
          <p:cNvSpPr>
            <a:spLocks noGrp="1"/>
          </p:cNvSpPr>
          <p:nvPr/>
        </p:nvSpPr>
        <p:spPr>
          <a:xfrm flipV="1">
            <a:off x="261939" y="677863"/>
            <a:ext cx="11676063"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3" name="Title 5">
            <a:extLst>
              <a:ext uri="{FF2B5EF4-FFF2-40B4-BE49-F238E27FC236}">
                <a16:creationId xmlns:a16="http://schemas.microsoft.com/office/drawing/2014/main" id="{9516C03B-CB8D-022C-BB34-4ECE32498F98}"/>
              </a:ext>
            </a:extLst>
          </p:cNvPr>
          <p:cNvSpPr>
            <a:spLocks noGrp="1"/>
          </p:cNvSpPr>
          <p:nvPr/>
        </p:nvSpPr>
        <p:spPr>
          <a:xfrm>
            <a:off x="261939" y="301596"/>
            <a:ext cx="7991728" cy="355038"/>
          </a:xfrm>
          <a:prstGeom prst="rect">
            <a:avLst/>
          </a:prstGeom>
          <a:no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defRPr sz="1425" b="1">
                <a:solidFill>
                  <a:srgbClr val="163A63"/>
                </a:solidFill>
                <a:latin typeface="Arial"/>
                <a:ea typeface="Arial"/>
                <a:cs typeface="Arial"/>
              </a:defRPr>
            </a:pPr>
            <a:r>
              <a:rPr lang="vi-VN" sz="1425" b="1">
                <a:solidFill>
                  <a:srgbClr val="163A63"/>
                </a:solidFill>
                <a:latin typeface="Arial"/>
                <a:ea typeface="Arial"/>
                <a:cs typeface="Arial"/>
              </a:rPr>
              <a:t>DIỄN BIẾN THỊ TRƯỜNG TUẦN 27/07 – 31/07/2026</a:t>
            </a:r>
            <a:endParaRPr sz="1425" b="1">
              <a:solidFill>
                <a:srgbClr val="163A63"/>
              </a:solidFill>
              <a:latin typeface="Arial"/>
              <a:ea typeface="Arial"/>
              <a:cs typeface="Arial"/>
            </a:endParaRPr>
          </a:p>
        </p:txBody>
      </p:sp>
      <p:sp>
        <p:nvSpPr>
          <p:cNvPr id="8" name="Text Placeholder 7">
            <a:extLst>
              <a:ext uri="{FF2B5EF4-FFF2-40B4-BE49-F238E27FC236}">
                <a16:creationId xmlns:a16="http://schemas.microsoft.com/office/drawing/2014/main" id="{7A4F60C0-301D-43A6-BB17-648BC55F0C62}"/>
              </a:ext>
            </a:extLst>
          </p:cNvPr>
          <p:cNvSpPr>
            <a:spLocks noGrp="1"/>
          </p:cNvSpPr>
          <p:nvPr/>
        </p:nvSpPr>
        <p:spPr>
          <a:xfrm>
            <a:off x="275870" y="872464"/>
            <a:ext cx="6773859" cy="5746449"/>
          </a:xfrm>
          <a:prstGeom prst="rect">
            <a:avLst/>
          </a:prstGeom>
        </p:spPr>
        <p:txBody>
          <a:bodyPr vert="horz" lIns="91440" tIns="45720" rIns="91440" bIns="45720">
            <a:noAutofit/>
          </a:bodyPr>
          <a:lstStyle>
            <a:lvl1pPr marL="0" indent="0" algn="l" defTabSz="914400">
              <a:lnSpc>
                <a:spcPct val="120000"/>
              </a:lnSpc>
              <a:spcBef>
                <a:spcPts val="0"/>
              </a:spcBef>
              <a:spcAft>
                <a:spcPts val="0"/>
              </a:spcAft>
              <a:buFont typeface="Arial"/>
              <a:buNone/>
              <a:defRPr sz="1050" b="0" kern="1200">
                <a:solidFill>
                  <a:schemeClr val="accent5"/>
                </a:solidFill>
                <a:latin typeface="+mn-lt"/>
                <a:ea typeface="+mn-lt"/>
                <a:cs typeface="+mn-lt"/>
              </a:defRPr>
            </a:lvl1pPr>
            <a:lvl2pPr marL="359532" indent="0" algn="ctr" defTabSz="914400">
              <a:lnSpc>
                <a:spcPct val="90000"/>
              </a:lnSpc>
              <a:spcBef>
                <a:spcPts val="500"/>
              </a:spcBef>
              <a:buFont typeface="Arial"/>
              <a:buNone/>
              <a:defRPr sz="2400" kern="1200">
                <a:solidFill>
                  <a:schemeClr val="tx1">
                    <a:tint val="75000"/>
                  </a:schemeClr>
                </a:solidFill>
                <a:latin typeface="+mn-lt"/>
                <a:ea typeface="+mn-lt"/>
                <a:cs typeface="+mn-lt"/>
              </a:defRPr>
            </a:lvl2pPr>
            <a:lvl3pPr marL="719063" indent="0" algn="ctr" defTabSz="914400">
              <a:lnSpc>
                <a:spcPct val="90000"/>
              </a:lnSpc>
              <a:spcBef>
                <a:spcPts val="500"/>
              </a:spcBef>
              <a:buFont typeface="Arial"/>
              <a:buNone/>
              <a:defRPr sz="2000" kern="1200">
                <a:solidFill>
                  <a:schemeClr val="tx1">
                    <a:tint val="75000"/>
                  </a:schemeClr>
                </a:solidFill>
                <a:latin typeface="+mn-lt"/>
                <a:ea typeface="+mn-lt"/>
                <a:cs typeface="+mn-lt"/>
              </a:defRPr>
            </a:lvl3pPr>
            <a:lvl4pPr marL="107859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4pPr>
            <a:lvl5pPr marL="143812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5pPr>
            <a:lvl6pPr marL="179765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6pPr>
            <a:lvl7pPr marL="215718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7pPr>
            <a:lvl8pPr marL="2516718"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8pPr>
            <a:lvl9pPr marL="2876250"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9pPr>
          </a:lstStyle>
          <a:p>
            <a:pPr>
              <a:lnSpc>
                <a:spcPct val="90000"/>
              </a:lnSpc>
              <a:spcBef>
                <a:spcPct val="0"/>
              </a:spcBef>
              <a:buNone/>
            </a:pPr>
            <a:r>
              <a:rPr sz="1400" b="1">
                <a:solidFill>
                  <a:srgbClr val="1557B0"/>
                </a:solidFill>
                <a:latin typeface="+mj-lt"/>
                <a:ea typeface="+mj-lt"/>
                <a:cs typeface="+mj-lt"/>
              </a:rPr>
              <a:t>Biến động các nhóm ngành</a:t>
            </a:r>
          </a:p>
          <a:p>
            <a:pPr>
              <a:lnSpc>
                <a:spcPct val="160000"/>
              </a:lnSpc>
              <a:buNone/>
            </a:pPr>
            <a:endParaRPr sz="1400" b="1">
              <a:solidFill>
                <a:srgbClr val="1557B0"/>
              </a:solidFill>
              <a:latin typeface="+mj-lt"/>
              <a:ea typeface="+mj-lt"/>
              <a:cs typeface="+mj-lt"/>
            </a:endParaRPr>
          </a:p>
          <a:p>
            <a:pPr marL="171450" indent="-171450">
              <a:lnSpc>
                <a:spcPct val="150000"/>
              </a:lnSpc>
              <a:buFont typeface="Arial"/>
              <a:buChar char="•"/>
            </a:pPr>
            <a:r>
              <a:rPr sz="1100">
                <a:solidFill>
                  <a:srgbClr val="263442"/>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nSpc>
                <a:spcPct val="150000"/>
              </a:lnSpc>
              <a:buFont typeface="Arial"/>
              <a:buChar char="•"/>
            </a:pPr>
            <a:r>
              <a:rPr sz="1100">
                <a:solidFill>
                  <a:srgbClr val="263442"/>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13" name="Table 1"/>
          <p:cNvGraphicFramePr/>
          <p:nvPr>
            <p:extLst>
              <p:ext uri="{D42A27DB-BD31-4B8C-83A1-F6EECF244321}">
                <p14:modId xmlns:p14="http://schemas.microsoft.com/office/powerpoint/2010/main" val="938796116"/>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20000"/>
                    </a:ext>
                  </a:extLst>
                </a:gridCol>
                <a:gridCol w="796107">
                  <a:extLst>
                    <a:ext uri="{9D8B030D-6E8A-4147-A177-3AD203B41FA5}">
                      <a16:colId xmlns:a16="http://schemas.microsoft.com/office/drawing/2014/main" val="20001"/>
                    </a:ext>
                  </a:extLst>
                </a:gridCol>
                <a:gridCol w="908078">
                  <a:extLst>
                    <a:ext uri="{9D8B030D-6E8A-4147-A177-3AD203B41FA5}">
                      <a16:colId xmlns:a16="http://schemas.microsoft.com/office/drawing/2014/main" val="20002"/>
                    </a:ext>
                  </a:extLst>
                </a:gridCol>
                <a:gridCol w="890964">
                  <a:extLst>
                    <a:ext uri="{9D8B030D-6E8A-4147-A177-3AD203B41FA5}">
                      <a16:colId xmlns:a16="http://schemas.microsoft.com/office/drawing/2014/main" val="20003"/>
                    </a:ext>
                  </a:extLst>
                </a:gridCol>
              </a:tblGrid>
              <a:tr h="162859">
                <a:tc rowSpan="2">
                  <a:txBody>
                    <a:bodyPr/>
                    <a:lstStyle/>
                    <a:p>
                      <a:pPr algn="l">
                        <a:buNone/>
                      </a:pPr>
                      <a:r>
                        <a:rPr sz="1000" b="1" u="none">
                          <a:solidFill>
                            <a:srgbClr val="FFFFFF"/>
                          </a:solidFill>
                        </a:rPr>
                        <a:t>Ngành</a:t>
                      </a:r>
                    </a:p>
                  </a:txBody>
                  <a:tcPr marL="18000" marR="9525" marT="18000" marB="0" anchor="ctr"/>
                </a:tc>
                <a:tc gridSpan="3">
                  <a:txBody>
                    <a:bodyPr/>
                    <a:lstStyle/>
                    <a:p>
                      <a:pPr algn="ctr">
                        <a:buNone/>
                      </a:pPr>
                      <a:r>
                        <a:rPr sz="1000" b="1" u="none">
                          <a:solidFill>
                            <a:srgbClr val="FFFFFF"/>
                          </a:solidFill>
                        </a:rPr>
                        <a:t>% Thay đổi giá</a:t>
                      </a:r>
                    </a:p>
                  </a:txBody>
                  <a:tcPr marL="18000" marR="9525" marT="18000" marB="0" anchor="ct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199952">
                <a:tc vMerge="1">
                  <a:txBody>
                    <a:bodyPr/>
                    <a:lstStyle/>
                    <a:p>
                      <a:endParaRPr/>
                    </a:p>
                  </a:txBody>
                  <a:tcPr/>
                </a:tc>
                <a:tc>
                  <a:txBody>
                    <a:bodyPr/>
                    <a:lstStyle/>
                    <a:p>
                      <a:pPr algn="ctr">
                        <a:buNone/>
                      </a:pPr>
                      <a:r>
                        <a:rPr sz="1000" b="1" u="none">
                          <a:solidFill>
                            <a:schemeClr val="bg1"/>
                          </a:solidFill>
                        </a:rPr>
                        <a:t>1 ngày</a:t>
                      </a:r>
                    </a:p>
                  </a:txBody>
                  <a:tcPr marL="18000" marR="9525" marT="18000" marB="0" anchor="ctr">
                    <a:solidFill>
                      <a:schemeClr val="accent1"/>
                    </a:solidFill>
                  </a:tcPr>
                </a:tc>
                <a:tc>
                  <a:txBody>
                    <a:bodyPr/>
                    <a:lstStyle/>
                    <a:p>
                      <a:pPr algn="ctr">
                        <a:buNone/>
                      </a:pPr>
                      <a:r>
                        <a:rPr sz="1000" b="1" u="none">
                          <a:solidFill>
                            <a:schemeClr val="bg1"/>
                          </a:solidFill>
                        </a:rPr>
                        <a:t>1 tuần</a:t>
                      </a:r>
                    </a:p>
                  </a:txBody>
                  <a:tcPr marL="18000" marR="9525" marT="18000" marB="0" anchor="ctr">
                    <a:solidFill>
                      <a:schemeClr val="accent1"/>
                    </a:solidFill>
                  </a:tcPr>
                </a:tc>
                <a:tc>
                  <a:txBody>
                    <a:bodyPr/>
                    <a:lstStyle/>
                    <a:p>
                      <a:pPr algn="ctr">
                        <a:buNone/>
                      </a:pPr>
                      <a:r>
                        <a:rPr sz="1000" b="1" i="0" u="none">
                          <a:solidFill>
                            <a:schemeClr val="bg1"/>
                          </a:solidFill>
                          <a:latin typeface="+mj-lt"/>
                          <a:ea typeface="+mj-lt"/>
                          <a:cs typeface="+mj-lt"/>
                        </a:rPr>
                        <a:t>1 tháng</a:t>
                      </a:r>
                    </a:p>
                  </a:txBody>
                  <a:tcPr marL="18000" marR="9525" marT="18000" marB="0" anchor="ctr">
                    <a:solidFill>
                      <a:schemeClr val="accent1"/>
                    </a:solidFill>
                  </a:tcPr>
                </a:tc>
                <a:extLst>
                  <a:ext uri="{0D108BD9-81ED-4DB2-BD59-A6C34878D82A}">
                    <a16:rowId xmlns:a16="http://schemas.microsoft.com/office/drawing/2014/main" val="10001"/>
                  </a:ext>
                </a:extLst>
              </a:tr>
              <a:tr h="209950">
                <a:tc>
                  <a:txBody>
                    <a:bodyPr/>
                    <a:lstStyle/>
                    <a:p>
                      <a:pPr algn="l">
                        <a:buNone/>
                      </a:pPr>
                      <a:r>
                        <a:rPr lang="en-US" sz="1100" b="0" i="0" u="none">
                          <a:solidFill>
                            <a:srgbClr val="000000"/>
                          </a:solidFill>
                          <a:latin typeface="Calibri"/>
                          <a:ea typeface="Calibri"/>
                          <a:cs typeface="Calibri"/>
                        </a:rPr>
                        <a:t>Công nghệ Thông tin</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0,16%</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5,88%</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-4,69%</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2"/>
                  </a:ext>
                </a:extLst>
              </a:tr>
              <a:tr h="209950">
                <a:tc>
                  <a:txBody>
                    <a:bodyPr/>
                    <a:lstStyle/>
                    <a:p>
                      <a:pPr algn="l">
                        <a:buNone/>
                      </a:pPr>
                      <a:r>
                        <a:rPr lang="vi-VN" sz="1100" b="0" i="0" u="none">
                          <a:solidFill>
                            <a:srgbClr val="000000"/>
                          </a:solidFill>
                          <a:latin typeface="Calibri"/>
                          <a:ea typeface="Calibri"/>
                          <a:cs typeface="Calibri"/>
                        </a:rPr>
                        <a:t>Tài nguyên Cơ bản</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5,87%</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-3,88%</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3"/>
                  </a:ext>
                </a:extLst>
              </a:tr>
              <a:tr h="183511">
                <a:tc>
                  <a:txBody>
                    <a:bodyPr/>
                    <a:lstStyle/>
                    <a:p>
                      <a:pPr algn="l">
                        <a:buNone/>
                      </a:pPr>
                      <a:r>
                        <a:rPr lang="en-US" sz="1100" b="0" i="0" u="none">
                          <a:solidFill>
                            <a:srgbClr val="000000"/>
                          </a:solidFill>
                          <a:latin typeface="Calibri"/>
                          <a:ea typeface="Calibri"/>
                          <a:cs typeface="Calibri"/>
                        </a:rPr>
                        <a:t>Hóa chất</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-0,24%</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4,11%</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-11,14%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4"/>
                  </a:ext>
                </a:extLst>
              </a:tr>
              <a:tr h="209950">
                <a:tc>
                  <a:txBody>
                    <a:bodyPr/>
                    <a:lstStyle/>
                    <a:p>
                      <a:pPr algn="l">
                        <a:buNone/>
                      </a:pPr>
                      <a:r>
                        <a:rPr lang="en-US" sz="1100" b="0" i="0" u="none">
                          <a:solidFill>
                            <a:srgbClr val="000000"/>
                          </a:solidFill>
                          <a:latin typeface="Calibri"/>
                          <a:ea typeface="Calibri"/>
                          <a:cs typeface="Calibri"/>
                        </a:rPr>
                        <a:t>Bất động sản</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-1,71%</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3,40%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-4,14%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5"/>
                  </a:ext>
                </a:extLst>
              </a:tr>
              <a:tr h="209950">
                <a:tc>
                  <a:txBody>
                    <a:bodyPr/>
                    <a:lstStyle/>
                    <a:p>
                      <a:pPr algn="l">
                        <a:buNone/>
                      </a:pPr>
                      <a:r>
                        <a:rPr lang="en-US" sz="1100" b="0" i="0" u="none">
                          <a:solidFill>
                            <a:srgbClr val="000000"/>
                          </a:solidFill>
                          <a:latin typeface="Calibri"/>
                          <a:ea typeface="Calibri"/>
                          <a:cs typeface="Calibri"/>
                        </a:rPr>
                        <a:t>Bảo hiểm</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-1,33%</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3,18%</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-5,24%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6"/>
                  </a:ext>
                </a:extLst>
              </a:tr>
              <a:tr h="209950">
                <a:tc>
                  <a:txBody>
                    <a:bodyPr/>
                    <a:lstStyle/>
                    <a:p>
                      <a:pPr algn="l">
                        <a:buNone/>
                      </a:pPr>
                      <a:r>
                        <a:rPr lang="en-US" sz="1100" b="0" i="0" u="none">
                          <a:solidFill>
                            <a:srgbClr val="000000"/>
                          </a:solidFill>
                          <a:latin typeface="Calibri"/>
                          <a:ea typeface="Calibri"/>
                          <a:cs typeface="Calibri"/>
                        </a:rPr>
                        <a:t>Du lịch và Giải trí</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-0,05%</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2,83%</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-9,93%</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7"/>
                  </a:ext>
                </a:extLst>
              </a:tr>
              <a:tr h="209950">
                <a:tc>
                  <a:txBody>
                    <a:bodyPr/>
                    <a:lstStyle/>
                    <a:p>
                      <a:pPr algn="l">
                        <a:buNone/>
                      </a:pPr>
                      <a:r>
                        <a:rPr lang="en-US" sz="1100" b="0" i="0" u="none">
                          <a:solidFill>
                            <a:srgbClr val="000000"/>
                          </a:solidFill>
                          <a:latin typeface="Calibri"/>
                          <a:ea typeface="Calibri"/>
                          <a:cs typeface="Calibri"/>
                        </a:rPr>
                        <a:t>Ngân hàng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0,63%</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2,63%</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-6,84%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8"/>
                  </a:ext>
                </a:extLst>
              </a:tr>
              <a:tr h="209950">
                <a:tc>
                  <a:txBody>
                    <a:bodyPr/>
                    <a:lstStyle/>
                    <a:p>
                      <a:pPr algn="l">
                        <a:buNone/>
                      </a:pPr>
                      <a:r>
                        <a:rPr lang="en-US" sz="1100" b="0" i="0" u="none">
                          <a:solidFill>
                            <a:srgbClr val="000000"/>
                          </a:solidFill>
                          <a:latin typeface="Calibri"/>
                          <a:ea typeface="Calibri"/>
                          <a:cs typeface="Calibri"/>
                        </a:rPr>
                        <a:t>Dịch vụ tài chính</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-0,57%</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2,38%</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-8,99%</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9"/>
                  </a:ext>
                </a:extLst>
              </a:tr>
              <a:tr h="209950">
                <a:tc>
                  <a:txBody>
                    <a:bodyPr/>
                    <a:lstStyle/>
                    <a:p>
                      <a:pPr algn="l">
                        <a:buNone/>
                      </a:pPr>
                      <a:r>
                        <a:rPr lang="en-US" sz="1100" b="0" i="0" u="none">
                          <a:solidFill>
                            <a:srgbClr val="000000"/>
                          </a:solidFill>
                          <a:latin typeface="Calibri"/>
                          <a:ea typeface="Calibri"/>
                          <a:cs typeface="Calibri"/>
                        </a:rPr>
                        <a:t>Xây dựng và Vật liệu</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0,32%</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2,22%</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-2,95%</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0"/>
                  </a:ext>
                </a:extLst>
              </a:tr>
              <a:tr h="209950">
                <a:tc>
                  <a:txBody>
                    <a:bodyPr/>
                    <a:lstStyle/>
                    <a:p>
                      <a:pPr algn="l">
                        <a:buNone/>
                      </a:pPr>
                      <a:r>
                        <a:rPr lang="en-US" sz="1100" b="0" i="0" u="none">
                          <a:solidFill>
                            <a:srgbClr val="000000"/>
                          </a:solidFill>
                          <a:latin typeface="Calibri"/>
                          <a:ea typeface="Calibri"/>
                          <a:cs typeface="Calibri"/>
                        </a:rPr>
                        <a:t>Dầu khí</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-1,66%</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1,98%</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-0,99%</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1"/>
                  </a:ext>
                </a:extLst>
              </a:tr>
              <a:tr h="209950">
                <a:tc>
                  <a:txBody>
                    <a:bodyPr/>
                    <a:lstStyle/>
                    <a:p>
                      <a:pPr algn="l">
                        <a:buNone/>
                      </a:pPr>
                      <a:r>
                        <a:rPr lang="en-US" sz="1100" b="0" i="0" u="none">
                          <a:solidFill>
                            <a:srgbClr val="000000"/>
                          </a:solidFill>
                          <a:latin typeface="Calibri"/>
                          <a:ea typeface="Calibri"/>
                          <a:cs typeface="Calibri"/>
                        </a:rPr>
                        <a:t>Hàng &amp; Dịch vụ Công nghiệp</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0,82%</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1,61%</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-8,51%</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2"/>
                  </a:ext>
                </a:extLst>
              </a:tr>
              <a:tr h="209950">
                <a:tc>
                  <a:txBody>
                    <a:bodyPr/>
                    <a:lstStyle/>
                    <a:p>
                      <a:pPr algn="l">
                        <a:buNone/>
                      </a:pPr>
                      <a:r>
                        <a:rPr lang="en-US" sz="1100" b="0" i="0" u="none">
                          <a:solidFill>
                            <a:srgbClr val="000000"/>
                          </a:solidFill>
                          <a:latin typeface="Calibri"/>
                          <a:ea typeface="Calibri"/>
                          <a:cs typeface="Calibri"/>
                        </a:rPr>
                        <a:t>Hàng cá nhân &amp; Gia dụng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-2,23%</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1,55%</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-5,18%</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3"/>
                  </a:ext>
                </a:extLst>
              </a:tr>
              <a:tr h="209950">
                <a:tc>
                  <a:txBody>
                    <a:bodyPr/>
                    <a:lstStyle/>
                    <a:p>
                      <a:pPr algn="l">
                        <a:buNone/>
                      </a:pPr>
                      <a:r>
                        <a:rPr lang="vi-VN" sz="1100" b="0" i="0" u="none">
                          <a:solidFill>
                            <a:srgbClr val="000000"/>
                          </a:solidFill>
                          <a:latin typeface="Calibri"/>
                          <a:ea typeface="Calibri"/>
                          <a:cs typeface="Calibri"/>
                        </a:rPr>
                        <a:t>Điện, nước &amp; xăng dầu khí đốt</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0,17%</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1,30%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-6,60%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4"/>
                  </a:ext>
                </a:extLst>
              </a:tr>
              <a:tr h="209950">
                <a:tc>
                  <a:txBody>
                    <a:bodyPr/>
                    <a:lstStyle/>
                    <a:p>
                      <a:pPr algn="l">
                        <a:buNone/>
                      </a:pPr>
                      <a:r>
                        <a:rPr lang="en-US" sz="1100" b="0" i="0" u="none">
                          <a:solidFill>
                            <a:srgbClr val="000000"/>
                          </a:solidFill>
                          <a:latin typeface="Calibri"/>
                          <a:ea typeface="Calibri"/>
                          <a:cs typeface="Calibri"/>
                        </a:rPr>
                        <a:t>Thực phẩm và đồ uống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-1,08%</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0,30%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1,99%</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5"/>
                  </a:ext>
                </a:extLst>
              </a:tr>
              <a:tr h="209950">
                <a:tc>
                  <a:txBody>
                    <a:bodyPr/>
                    <a:lstStyle/>
                    <a:p>
                      <a:pPr algn="l">
                        <a:buNone/>
                      </a:pPr>
                      <a:r>
                        <a:rPr lang="en-US" sz="1100" b="0" i="0" u="none">
                          <a:solidFill>
                            <a:srgbClr val="000000"/>
                          </a:solidFill>
                          <a:latin typeface="Calibri"/>
                          <a:ea typeface="Calibri"/>
                          <a:cs typeface="Calibri"/>
                        </a:rPr>
                        <a:t>Ô tô và phụ tùng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0,13%</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-0,63%</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-3,05%</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6"/>
                  </a:ext>
                </a:extLst>
              </a:tr>
              <a:tr h="209950">
                <a:tc>
                  <a:txBody>
                    <a:bodyPr/>
                    <a:lstStyle/>
                    <a:p>
                      <a:pPr algn="l">
                        <a:buNone/>
                      </a:pPr>
                      <a:r>
                        <a:rPr lang="en-US" sz="1100" b="0" i="0" u="none">
                          <a:solidFill>
                            <a:srgbClr val="000000"/>
                          </a:solidFill>
                          <a:latin typeface="Calibri"/>
                          <a:ea typeface="Calibri"/>
                          <a:cs typeface="Calibri"/>
                        </a:rPr>
                        <a:t>Y tế</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-0,75%</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-0,65%</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-4,29%</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7"/>
                  </a:ext>
                </a:extLst>
              </a:tr>
              <a:tr h="209950">
                <a:tc>
                  <a:txBody>
                    <a:bodyPr/>
                    <a:lstStyle/>
                    <a:p>
                      <a:pPr algn="l">
                        <a:buNone/>
                      </a:pPr>
                      <a:r>
                        <a:rPr lang="en-US" sz="1100" b="0" i="0" u="none">
                          <a:solidFill>
                            <a:srgbClr val="000000"/>
                          </a:solidFill>
                          <a:latin typeface="Calibri"/>
                          <a:ea typeface="Calibri"/>
                          <a:cs typeface="Calibri"/>
                        </a:rPr>
                        <a:t>Bán lẻ</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0,70%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-3,01%</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-5,60%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8"/>
                  </a:ext>
                </a:extLst>
              </a:tr>
              <a:tr h="209950">
                <a:tc>
                  <a:txBody>
                    <a:bodyPr/>
                    <a:lstStyle/>
                    <a:p>
                      <a:pPr algn="l">
                        <a:buNone/>
                      </a:pPr>
                      <a:r>
                        <a:rPr lang="en-US" sz="1100" b="0" i="0" u="none">
                          <a:solidFill>
                            <a:srgbClr val="000000"/>
                          </a:solidFill>
                          <a:latin typeface="Calibri"/>
                          <a:ea typeface="Calibri"/>
                          <a:cs typeface="Calibri"/>
                        </a:rPr>
                        <a:t>Truyền thông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-1,41%</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-3,18%</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-10,24%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9"/>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idx="4"/>
          </p:nvPr>
        </p:nvSpPr>
        <p:spPr/>
        <p:txBody>
          <a:bodyPr/>
          <a:lstStyle/>
          <a:p>
            <a:pPr>
              <a:defRPr sz="750">
                <a:solidFill>
                  <a:srgbClr val="6B7C8F"/>
                </a:solidFill>
                <a:latin typeface="Arial"/>
                <a:ea typeface="Arial"/>
                <a:cs typeface="Arial"/>
              </a:defRPr>
            </a:pPr>
            <a:fld id="{95CC1D26-A9BD-4BDE-BDD9-08EDBAE96860}" type="slidenum">
              <a:rPr sz="750">
                <a:solidFill>
                  <a:srgbClr val="6B7C8F"/>
                </a:solidFill>
                <a:latin typeface="Arial"/>
                <a:ea typeface="Arial"/>
                <a:cs typeface="Arial"/>
              </a:rPr>
              <a:t>4</a:t>
            </a:fld>
            <a:endParaRPr sz="750">
              <a:solidFill>
                <a:srgbClr val="6B7C8F"/>
              </a:solidFill>
              <a:latin typeface="Arial"/>
              <a:ea typeface="Arial"/>
              <a:cs typeface="Arial"/>
            </a:endParaRPr>
          </a:p>
        </p:txBody>
      </p:sp>
    </p:spTree>
    <p:extLst>
      <p:ext uri="{BB962C8B-B14F-4D97-AF65-F5344CB8AC3E}">
        <p14:creationId xmlns:p14="http://schemas.microsoft.com/office/powerpoint/2010/main" val="85287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6" name="Straight Connector 5">
            <a:extLst>
              <a:ext uri="{FF2B5EF4-FFF2-40B4-BE49-F238E27FC236}">
                <a16:creationId xmlns:a16="http://schemas.microsoft.com/office/drawing/2014/main" id="{2514F5F3-D2C4-41BE-9C54-1B910CDF0EC7}"/>
              </a:ext>
            </a:extLst>
          </p:cNvPr>
          <p:cNvSpPr>
            <a:spLocks noGrp="1"/>
          </p:cNvSpPr>
          <p:nvPr/>
        </p:nvSpPr>
        <p:spPr>
          <a:xfrm flipV="1">
            <a:off x="261939" y="677863"/>
            <a:ext cx="11676063"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5" name="Title 5">
            <a:extLst>
              <a:ext uri="{FF2B5EF4-FFF2-40B4-BE49-F238E27FC236}">
                <a16:creationId xmlns:a16="http://schemas.microsoft.com/office/drawing/2014/main" id="{C7B400DF-E852-3B21-5B29-27FBDA5499ED}"/>
              </a:ext>
            </a:extLst>
          </p:cNvPr>
          <p:cNvSpPr>
            <a:spLocks noGrp="1"/>
          </p:cNvSpPr>
          <p:nvPr/>
        </p:nvSpPr>
        <p:spPr>
          <a:xfrm>
            <a:off x="261939" y="288876"/>
            <a:ext cx="7991728" cy="355038"/>
          </a:xfrm>
          <a:prstGeom prst="rect">
            <a:avLst/>
          </a:prstGeom>
          <a:no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defRPr sz="1425" b="1">
                <a:solidFill>
                  <a:srgbClr val="163A63"/>
                </a:solidFill>
                <a:latin typeface="Arial"/>
                <a:ea typeface="Arial"/>
                <a:cs typeface="Arial"/>
              </a:defRPr>
            </a:pPr>
            <a:r>
              <a:rPr lang="vi-VN" sz="1425" b="1">
                <a:solidFill>
                  <a:srgbClr val="163A63"/>
                </a:solidFill>
                <a:latin typeface="Arial"/>
                <a:ea typeface="Arial"/>
                <a:cs typeface="Arial"/>
              </a:rPr>
              <a:t>DIỄN BIẾN THỊ TRƯỜNG TUẦN 27/07 – 31/07/2026</a:t>
            </a:r>
            <a:endParaRPr sz="1425" b="1">
              <a:solidFill>
                <a:srgbClr val="163A63"/>
              </a:solidFill>
              <a:latin typeface="Arial"/>
              <a:ea typeface="Arial"/>
              <a:cs typeface="Arial"/>
            </a:endParaRPr>
          </a:p>
        </p:txBody>
      </p:sp>
      <p:sp>
        <p:nvSpPr>
          <p:cNvPr id="21" name="Text Placeholder 7">
            <a:extLst>
              <a:ext uri="{FF2B5EF4-FFF2-40B4-BE49-F238E27FC236}">
                <a16:creationId xmlns:a16="http://schemas.microsoft.com/office/drawing/2014/main" id="{D2477056-2295-443A-AA08-60DBDA6FCCAD}"/>
              </a:ext>
            </a:extLst>
          </p:cNvPr>
          <p:cNvSpPr>
            <a:spLocks noGrp="1"/>
          </p:cNvSpPr>
          <p:nvPr/>
        </p:nvSpPr>
        <p:spPr>
          <a:xfrm>
            <a:off x="261940" y="677864"/>
            <a:ext cx="10725608" cy="5891260"/>
          </a:xfrm>
          <a:prstGeom prst="rect">
            <a:avLst/>
          </a:prstGeom>
        </p:spPr>
        <p:txBody>
          <a:bodyPr vert="horz" lIns="91440" tIns="45720" rIns="91440" bIns="45720">
            <a:noAutofit/>
          </a:bodyPr>
          <a:lstStyle>
            <a:lvl1pPr marL="0" indent="0" algn="l" defTabSz="914400">
              <a:lnSpc>
                <a:spcPct val="120000"/>
              </a:lnSpc>
              <a:spcBef>
                <a:spcPts val="0"/>
              </a:spcBef>
              <a:spcAft>
                <a:spcPts val="0"/>
              </a:spcAft>
              <a:buFont typeface="Arial"/>
              <a:buNone/>
              <a:defRPr sz="1050" b="0" kern="1200">
                <a:solidFill>
                  <a:schemeClr val="accent5"/>
                </a:solidFill>
                <a:latin typeface="+mn-lt"/>
                <a:ea typeface="+mn-lt"/>
                <a:cs typeface="+mn-lt"/>
              </a:defRPr>
            </a:lvl1pPr>
            <a:lvl2pPr marL="359532" indent="0" algn="ctr" defTabSz="914400">
              <a:lnSpc>
                <a:spcPct val="90000"/>
              </a:lnSpc>
              <a:spcBef>
                <a:spcPts val="500"/>
              </a:spcBef>
              <a:buFont typeface="Arial"/>
              <a:buNone/>
              <a:defRPr sz="2400" kern="1200">
                <a:solidFill>
                  <a:schemeClr val="tx1">
                    <a:tint val="75000"/>
                  </a:schemeClr>
                </a:solidFill>
                <a:latin typeface="+mn-lt"/>
                <a:ea typeface="+mn-lt"/>
                <a:cs typeface="+mn-lt"/>
              </a:defRPr>
            </a:lvl2pPr>
            <a:lvl3pPr marL="719063" indent="0" algn="ctr" defTabSz="914400">
              <a:lnSpc>
                <a:spcPct val="90000"/>
              </a:lnSpc>
              <a:spcBef>
                <a:spcPts val="500"/>
              </a:spcBef>
              <a:buFont typeface="Arial"/>
              <a:buNone/>
              <a:defRPr sz="2000" kern="1200">
                <a:solidFill>
                  <a:schemeClr val="tx1">
                    <a:tint val="75000"/>
                  </a:schemeClr>
                </a:solidFill>
                <a:latin typeface="+mn-lt"/>
                <a:ea typeface="+mn-lt"/>
                <a:cs typeface="+mn-lt"/>
              </a:defRPr>
            </a:lvl3pPr>
            <a:lvl4pPr marL="107859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4pPr>
            <a:lvl5pPr marL="143812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5pPr>
            <a:lvl6pPr marL="179765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6pPr>
            <a:lvl7pPr marL="215718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7pPr>
            <a:lvl8pPr marL="2516718"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8pPr>
            <a:lvl9pPr marL="2876250"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9pPr>
          </a:lstStyle>
          <a:p>
            <a:pPr>
              <a:lnSpc>
                <a:spcPct val="90000"/>
              </a:lnSpc>
              <a:spcBef>
                <a:spcPct val="0"/>
              </a:spcBef>
              <a:buNone/>
            </a:pPr>
            <a:endParaRPr/>
          </a:p>
          <a:p>
            <a:pPr>
              <a:lnSpc>
                <a:spcPct val="90000"/>
              </a:lnSpc>
              <a:spcBef>
                <a:spcPct val="0"/>
              </a:spcBef>
              <a:buNone/>
            </a:pPr>
            <a:r>
              <a:rPr sz="1400" b="1">
                <a:solidFill>
                  <a:srgbClr val="1557B0"/>
                </a:solidFill>
                <a:latin typeface="+mj-lt"/>
                <a:ea typeface="+mj-lt"/>
                <a:cs typeface="+mj-lt"/>
              </a:rPr>
              <a:t>Giao dịch các nhóm nhà đầu tư</a:t>
            </a:r>
          </a:p>
          <a:p>
            <a:pPr marL="171450" indent="-171450">
              <a:lnSpc>
                <a:spcPct val="160000"/>
              </a:lnSpc>
              <a:buFont typeface="Arial"/>
              <a:buChar char="•"/>
            </a:pPr>
            <a:r>
              <a:rPr sz="1100">
                <a:solidFill>
                  <a:srgbClr val="263442"/>
                </a:solidFill>
              </a:rPr>
              <a:t>Trên HOSE, trong giai đoạn 27/07-31/07/2026, khối ngoại mua ròng 681 tỷ đồng. Tự doanh bán ròng 384 tỷ đồng.</a:t>
            </a:r>
          </a:p>
          <a:p>
            <a:pPr>
              <a:lnSpc>
                <a:spcPct val="160000"/>
              </a:lnSpc>
              <a:buNone/>
            </a:pPr>
            <a:endParaRPr sz="1100">
              <a:solidFill>
                <a:srgbClr val="263442"/>
              </a:solidFill>
            </a:endParaRPr>
          </a:p>
          <a:p>
            <a:pPr marL="171450" indent="-171450">
              <a:lnSpc>
                <a:spcPct val="160000"/>
              </a:lnSpc>
              <a:buFont typeface="Arial"/>
              <a:buChar char="•"/>
            </a:pPr>
            <a:r>
              <a:rPr sz="1100" b="1">
                <a:solidFill>
                  <a:srgbClr val="1557B0"/>
                </a:solidFill>
              </a:rPr>
              <a:t>GD Tự doanh</a:t>
            </a:r>
          </a:p>
          <a:p>
            <a:pPr marL="171450" indent="-171450">
              <a:lnSpc>
                <a:spcPct val="160000"/>
              </a:lnSpc>
              <a:buFont typeface="Arial"/>
              <a:buChar char="•"/>
            </a:pPr>
            <a:endParaRPr sz="1100" b="1">
              <a:solidFill>
                <a:srgbClr val="1557B0"/>
              </a:solidFill>
            </a:endParaRPr>
          </a:p>
          <a:p>
            <a:pPr marL="171450" indent="-171450">
              <a:lnSpc>
                <a:spcPct val="160000"/>
              </a:lnSpc>
              <a:buFont typeface="Arial"/>
              <a:buChar char="•"/>
            </a:pPr>
            <a:endParaRPr sz="1100" b="1">
              <a:solidFill>
                <a:srgbClr val="1557B0"/>
              </a:solidFill>
            </a:endParaRPr>
          </a:p>
          <a:p>
            <a:pPr>
              <a:lnSpc>
                <a:spcPct val="160000"/>
              </a:lnSpc>
              <a:buNone/>
            </a:pPr>
            <a:endParaRPr sz="1100" b="1">
              <a:solidFill>
                <a:srgbClr val="1557B0"/>
              </a:solidFill>
            </a:endParaRPr>
          </a:p>
          <a:p>
            <a:pPr>
              <a:lnSpc>
                <a:spcPct val="160000"/>
              </a:lnSpc>
              <a:buNone/>
            </a:pPr>
            <a:endParaRPr sz="1100" b="1">
              <a:solidFill>
                <a:srgbClr val="1557B0"/>
              </a:solidFill>
            </a:endParaRPr>
          </a:p>
          <a:p>
            <a:pPr>
              <a:lnSpc>
                <a:spcPct val="160000"/>
              </a:lnSpc>
              <a:buNone/>
            </a:pPr>
            <a:endParaRPr sz="1100" b="1">
              <a:solidFill>
                <a:srgbClr val="1557B0"/>
              </a:solidFill>
            </a:endParaRPr>
          </a:p>
          <a:p>
            <a:pPr marL="171450" indent="-171450">
              <a:lnSpc>
                <a:spcPct val="160000"/>
              </a:lnSpc>
              <a:buFont typeface="Arial"/>
              <a:buChar char="•"/>
            </a:pPr>
            <a:endParaRPr sz="1100" b="1">
              <a:solidFill>
                <a:srgbClr val="1557B0"/>
              </a:solidFill>
            </a:endParaRPr>
          </a:p>
          <a:p>
            <a:pPr marL="171450" indent="-171450">
              <a:lnSpc>
                <a:spcPct val="160000"/>
              </a:lnSpc>
              <a:buFont typeface="Arial"/>
              <a:buChar char="•"/>
            </a:pPr>
            <a:endParaRPr sz="1100" b="1">
              <a:solidFill>
                <a:srgbClr val="1557B0"/>
              </a:solidFill>
            </a:endParaRPr>
          </a:p>
          <a:p>
            <a:pPr>
              <a:lnSpc>
                <a:spcPct val="160000"/>
              </a:lnSpc>
              <a:buNone/>
            </a:pPr>
            <a:endParaRPr sz="1100" b="1">
              <a:solidFill>
                <a:srgbClr val="1557B0"/>
              </a:solidFill>
            </a:endParaRPr>
          </a:p>
          <a:p>
            <a:pPr marL="171450" indent="-171450">
              <a:lnSpc>
                <a:spcPct val="160000"/>
              </a:lnSpc>
              <a:buFont typeface="Arial"/>
              <a:buChar char="•"/>
            </a:pPr>
            <a:br>
              <a:rPr sz="1100">
                <a:solidFill>
                  <a:srgbClr val="263442"/>
                </a:solidFill>
              </a:rPr>
            </a:br>
            <a:r>
              <a:rPr sz="1100" b="1">
                <a:solidFill>
                  <a:srgbClr val="1557B0"/>
                </a:solidFill>
              </a:rPr>
              <a:t>GD Khối ngoại</a:t>
            </a:r>
          </a:p>
        </p:txBody>
      </p:sp>
      <p:graphicFrame>
        <p:nvGraphicFramePr>
          <p:cNvPr id="29" name="Table 16"/>
          <p:cNvGraphicFramePr/>
          <p:nvPr>
            <p:extLst>
              <p:ext uri="{D42A27DB-BD31-4B8C-83A1-F6EECF244321}">
                <p14:modId xmlns:p14="http://schemas.microsoft.com/office/powerpoint/2010/main" val="1949245067"/>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20000"/>
                    </a:ext>
                  </a:extLst>
                </a:gridCol>
                <a:gridCol w="941075">
                  <a:extLst>
                    <a:ext uri="{9D8B030D-6E8A-4147-A177-3AD203B41FA5}">
                      <a16:colId xmlns:a16="http://schemas.microsoft.com/office/drawing/2014/main" val="20001"/>
                    </a:ext>
                  </a:extLst>
                </a:gridCol>
                <a:gridCol w="1375873">
                  <a:extLst>
                    <a:ext uri="{9D8B030D-6E8A-4147-A177-3AD203B41FA5}">
                      <a16:colId xmlns:a16="http://schemas.microsoft.com/office/drawing/2014/main" val="20002"/>
                    </a:ext>
                  </a:extLst>
                </a:gridCol>
                <a:gridCol w="1572426">
                  <a:extLst>
                    <a:ext uri="{9D8B030D-6E8A-4147-A177-3AD203B41FA5}">
                      <a16:colId xmlns:a16="http://schemas.microsoft.com/office/drawing/2014/main" val="20003"/>
                    </a:ext>
                  </a:extLst>
                </a:gridCol>
              </a:tblGrid>
              <a:tr h="190500">
                <a:tc>
                  <a:txBody>
                    <a:bodyPr/>
                    <a:lstStyle/>
                    <a:p>
                      <a:pPr algn="l">
                        <a:buNone/>
                      </a:pPr>
                      <a:r>
                        <a:rPr lang="en-US" sz="1000" b="1" u="none">
                          <a:solidFill>
                            <a:srgbClr val="FFFFFF"/>
                          </a:solidFill>
                        </a:rPr>
                        <a:t>Mã</a:t>
                      </a:r>
                      <a:endParaRPr sz="1000" b="1" u="none">
                        <a:solidFill>
                          <a:srgbClr val="FFFFFF"/>
                        </a:solidFill>
                      </a:endParaRPr>
                    </a:p>
                  </a:txBody>
                  <a:tcPr marL="18000" marR="9525" marT="18000" marB="0" anchor="ctr"/>
                </a:tc>
                <a:tc>
                  <a:txBody>
                    <a:bodyPr/>
                    <a:lstStyle/>
                    <a:p>
                      <a:pPr algn="r">
                        <a:buNone/>
                      </a:pPr>
                      <a:r>
                        <a:rPr lang="en-US" sz="1000" b="1" u="none">
                          <a:solidFill>
                            <a:srgbClr val="FFFFFF"/>
                          </a:solidFill>
                        </a:rPr>
                        <a:t>Giá</a:t>
                      </a:r>
                      <a:endParaRPr sz="1000" b="1" u="none">
                        <a:solidFill>
                          <a:srgbClr val="FFFFFF"/>
                        </a:solidFill>
                      </a:endParaRPr>
                    </a:p>
                  </a:txBody>
                  <a:tcPr marL="18000" marR="9525" marT="18000" marB="0" anchor="ctr"/>
                </a:tc>
                <a:tc>
                  <a:txBody>
                    <a:bodyPr/>
                    <a:lstStyle/>
                    <a:p>
                      <a:pPr algn="r">
                        <a:buNone/>
                      </a:pPr>
                      <a:r>
                        <a:rPr lang="en-US" sz="1000" b="1" u="none">
                          <a:solidFill>
                            <a:srgbClr val="FFFFFF"/>
                          </a:solidFill>
                        </a:rPr>
                        <a:t>Bán ròng (GT)</a:t>
                      </a:r>
                      <a:endParaRPr sz="1000" b="1" u="none">
                        <a:solidFill>
                          <a:srgbClr val="FFFFFF"/>
                        </a:solidFill>
                      </a:endParaRPr>
                    </a:p>
                  </a:txBody>
                  <a:tcPr marL="18000" marR="9525" marT="18000" marB="0" anchor="ctr"/>
                </a:tc>
                <a:tc>
                  <a:txBody>
                    <a:bodyPr/>
                    <a:lstStyle/>
                    <a:p>
                      <a:pPr algn="r">
                        <a:buNone/>
                      </a:pPr>
                      <a:r>
                        <a:rPr lang="en-US" sz="1000" b="1" u="none">
                          <a:solidFill>
                            <a:srgbClr val="FFFFFF"/>
                          </a:solidFill>
                        </a:rPr>
                        <a:t>Tỷ trọng bán của Khối Tự doanh</a:t>
                      </a:r>
                      <a:endParaRPr sz="1000" b="1" u="none">
                        <a:solidFill>
                          <a:srgbClr val="FFFFFF"/>
                        </a:solidFill>
                      </a:endParaRPr>
                    </a:p>
                  </a:txBody>
                  <a:tcPr marL="18000" marR="9525" marT="18000" marB="0" anchor="ctr"/>
                </a:tc>
                <a:extLst>
                  <a:ext uri="{0D108BD9-81ED-4DB2-BD59-A6C34878D82A}">
                    <a16:rowId xmlns:a16="http://schemas.microsoft.com/office/drawing/2014/main" val="10000"/>
                  </a:ext>
                </a:extLst>
              </a:tr>
              <a:tr h="158628">
                <a:tc>
                  <a:txBody>
                    <a:bodyPr/>
                    <a:lstStyle/>
                    <a:p>
                      <a:pPr algn="l">
                        <a:buNone/>
                      </a:pPr>
                      <a:r>
                        <a:rPr lang="en-US" sz="1100" b="0" i="0" u="none">
                          <a:solidFill>
                            <a:srgbClr val="000000"/>
                          </a:solidFill>
                          <a:latin typeface="Calibri"/>
                          <a:ea typeface="Calibri"/>
                          <a:cs typeface="Calibri"/>
                        </a:rPr>
                        <a:t>POW</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13.600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-133.837.690.000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8,32%</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1"/>
                  </a:ext>
                </a:extLst>
              </a:tr>
              <a:tr h="190500">
                <a:tc>
                  <a:txBody>
                    <a:bodyPr/>
                    <a:lstStyle/>
                    <a:p>
                      <a:pPr algn="l">
                        <a:buNone/>
                      </a:pPr>
                      <a:r>
                        <a:rPr lang="en-US" sz="1100" b="0" i="0" u="none">
                          <a:solidFill>
                            <a:srgbClr val="000000"/>
                          </a:solidFill>
                          <a:latin typeface="Calibri"/>
                          <a:ea typeface="Calibri"/>
                          <a:cs typeface="Calibri"/>
                        </a:rPr>
                        <a:t>VIC</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214.100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-115.044.020.000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3,97%</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2"/>
                  </a:ext>
                </a:extLst>
              </a:tr>
              <a:tr h="190500">
                <a:tc>
                  <a:txBody>
                    <a:bodyPr/>
                    <a:lstStyle/>
                    <a:p>
                      <a:pPr algn="l">
                        <a:buNone/>
                      </a:pPr>
                      <a:r>
                        <a:rPr lang="en-US" sz="1100" b="0" i="0" u="none">
                          <a:solidFill>
                            <a:srgbClr val="000000"/>
                          </a:solidFill>
                          <a:latin typeface="Calibri"/>
                          <a:ea typeface="Calibri"/>
                          <a:cs typeface="Calibri"/>
                        </a:rPr>
                        <a:t>LPB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51.800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-79.504.650.000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9,96%</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3"/>
                  </a:ext>
                </a:extLst>
              </a:tr>
              <a:tr h="190500">
                <a:tc>
                  <a:txBody>
                    <a:bodyPr/>
                    <a:lstStyle/>
                    <a:p>
                      <a:pPr algn="l">
                        <a:buNone/>
                      </a:pPr>
                      <a:r>
                        <a:rPr lang="en-US" sz="1100" b="0" i="0" u="none">
                          <a:solidFill>
                            <a:srgbClr val="000000"/>
                          </a:solidFill>
                          <a:latin typeface="Calibri"/>
                          <a:ea typeface="Calibri"/>
                          <a:cs typeface="Calibri"/>
                        </a:rPr>
                        <a:t>VNM</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60.900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-78.434.940.000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12,89%</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4"/>
                  </a:ext>
                </a:extLst>
              </a:tr>
              <a:tr h="190500">
                <a:tc>
                  <a:txBody>
                    <a:bodyPr/>
                    <a:lstStyle/>
                    <a:p>
                      <a:pPr algn="l">
                        <a:buNone/>
                      </a:pPr>
                      <a:r>
                        <a:rPr lang="en-US" sz="1100" b="0" i="0" u="none">
                          <a:solidFill>
                            <a:srgbClr val="000000"/>
                          </a:solidFill>
                          <a:latin typeface="Calibri"/>
                          <a:ea typeface="Calibri"/>
                          <a:cs typeface="Calibri"/>
                        </a:rPr>
                        <a:t>FPT</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67.100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-71.242.630.000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9,85%</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5"/>
                  </a:ext>
                </a:extLst>
              </a:tr>
              <a:tr h="190500">
                <a:tc>
                  <a:txBody>
                    <a:bodyPr/>
                    <a:lstStyle/>
                    <a:p>
                      <a:pPr algn="l">
                        <a:buNone/>
                      </a:pPr>
                      <a:r>
                        <a:rPr lang="en-US" sz="1100" b="0" i="0" u="none">
                          <a:solidFill>
                            <a:srgbClr val="000000"/>
                          </a:solidFill>
                          <a:latin typeface="Calibri"/>
                          <a:ea typeface="Calibri"/>
                          <a:cs typeface="Calibri"/>
                        </a:rPr>
                        <a:t>CTG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30.800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-51.252.425.000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9,73%</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6"/>
                  </a:ext>
                </a:extLst>
              </a:tr>
              <a:tr h="190500">
                <a:tc>
                  <a:txBody>
                    <a:bodyPr/>
                    <a:lstStyle/>
                    <a:p>
                      <a:pPr algn="l">
                        <a:buNone/>
                      </a:pPr>
                      <a:r>
                        <a:rPr lang="en-US" sz="1100" b="0" i="0" u="none">
                          <a:solidFill>
                            <a:srgbClr val="000000"/>
                          </a:solidFill>
                          <a:latin typeface="Calibri"/>
                          <a:ea typeface="Calibri"/>
                          <a:cs typeface="Calibri"/>
                        </a:rPr>
                        <a:t>VJC</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125.000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-47.052.790.000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6,68%</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7"/>
                  </a:ext>
                </a:extLst>
              </a:tr>
              <a:tr h="190500">
                <a:tc>
                  <a:txBody>
                    <a:bodyPr/>
                    <a:lstStyle/>
                    <a:p>
                      <a:pPr algn="l">
                        <a:buNone/>
                      </a:pPr>
                      <a:r>
                        <a:rPr lang="en-US" sz="1100" b="0" i="0" u="none">
                          <a:solidFill>
                            <a:srgbClr val="000000"/>
                          </a:solidFill>
                          <a:latin typeface="Calibri"/>
                          <a:ea typeface="Calibri"/>
                          <a:cs typeface="Calibri"/>
                        </a:rPr>
                        <a:t>VPB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24.800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-39.589.604.000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9,46%</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8"/>
                  </a:ext>
                </a:extLst>
              </a:tr>
              <a:tr h="190500">
                <a:tc>
                  <a:txBody>
                    <a:bodyPr/>
                    <a:lstStyle/>
                    <a:p>
                      <a:pPr algn="l">
                        <a:buNone/>
                      </a:pPr>
                      <a:r>
                        <a:rPr lang="en-US" sz="1100" b="0" i="0" u="none">
                          <a:solidFill>
                            <a:srgbClr val="000000"/>
                          </a:solidFill>
                          <a:latin typeface="Calibri"/>
                          <a:ea typeface="Calibri"/>
                          <a:cs typeface="Calibri"/>
                        </a:rPr>
                        <a:t>FUEVFVND</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32.440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-38.107.090.000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36,40%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9"/>
                  </a:ext>
                </a:extLst>
              </a:tr>
              <a:tr h="190500">
                <a:tc>
                  <a:txBody>
                    <a:bodyPr/>
                    <a:lstStyle/>
                    <a:p>
                      <a:pPr algn="l">
                        <a:buNone/>
                      </a:pPr>
                      <a:r>
                        <a:rPr lang="en-US" sz="1100" b="0" i="0" u="none">
                          <a:solidFill>
                            <a:srgbClr val="000000"/>
                          </a:solidFill>
                          <a:latin typeface="Calibri"/>
                          <a:ea typeface="Calibri"/>
                          <a:cs typeface="Calibri"/>
                        </a:rPr>
                        <a:t>E1VFVN30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33.700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-35.818.329.000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53,01%</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0"/>
                  </a:ext>
                </a:extLst>
              </a:tr>
            </a:tbl>
          </a:graphicData>
        </a:graphic>
      </p:graphicFrame>
      <p:graphicFrame>
        <p:nvGraphicFramePr>
          <p:cNvPr id="30" name="Table 23"/>
          <p:cNvGraphicFramePr/>
          <p:nvPr>
            <p:extLst>
              <p:ext uri="{D42A27DB-BD31-4B8C-83A1-F6EECF244321}">
                <p14:modId xmlns:p14="http://schemas.microsoft.com/office/powerpoint/2010/main" val="994134182"/>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20000"/>
                    </a:ext>
                  </a:extLst>
                </a:gridCol>
                <a:gridCol w="880217">
                  <a:extLst>
                    <a:ext uri="{9D8B030D-6E8A-4147-A177-3AD203B41FA5}">
                      <a16:colId xmlns:a16="http://schemas.microsoft.com/office/drawing/2014/main" val="20001"/>
                    </a:ext>
                  </a:extLst>
                </a:gridCol>
                <a:gridCol w="1418601">
                  <a:extLst>
                    <a:ext uri="{9D8B030D-6E8A-4147-A177-3AD203B41FA5}">
                      <a16:colId xmlns:a16="http://schemas.microsoft.com/office/drawing/2014/main" val="20002"/>
                    </a:ext>
                  </a:extLst>
                </a:gridCol>
                <a:gridCol w="1493587">
                  <a:extLst>
                    <a:ext uri="{9D8B030D-6E8A-4147-A177-3AD203B41FA5}">
                      <a16:colId xmlns:a16="http://schemas.microsoft.com/office/drawing/2014/main" val="20003"/>
                    </a:ext>
                  </a:extLst>
                </a:gridCol>
              </a:tblGrid>
              <a:tr h="317571">
                <a:tc>
                  <a:txBody>
                    <a:bodyPr/>
                    <a:lstStyle/>
                    <a:p>
                      <a:pPr algn="l">
                        <a:buNone/>
                      </a:pPr>
                      <a:r>
                        <a:rPr lang="en-US" sz="1000" b="1" u="none">
                          <a:solidFill>
                            <a:srgbClr val="FFFFFF"/>
                          </a:solidFill>
                        </a:rPr>
                        <a:t>Mã</a:t>
                      </a:r>
                      <a:endParaRPr sz="1000" b="1" u="none">
                        <a:solidFill>
                          <a:srgbClr val="FFFFFF"/>
                        </a:solidFill>
                      </a:endParaRPr>
                    </a:p>
                  </a:txBody>
                  <a:tcPr marL="18000" marR="0" marT="18000" marB="0" anchor="ctr"/>
                </a:tc>
                <a:tc>
                  <a:txBody>
                    <a:bodyPr/>
                    <a:lstStyle/>
                    <a:p>
                      <a:pPr algn="r">
                        <a:buNone/>
                      </a:pPr>
                      <a:r>
                        <a:rPr lang="en-US" sz="1000" b="1" u="none">
                          <a:solidFill>
                            <a:srgbClr val="FFFFFF"/>
                          </a:solidFill>
                        </a:rPr>
                        <a:t>Giá</a:t>
                      </a:r>
                      <a:endParaRPr sz="1000" b="1" u="none">
                        <a:solidFill>
                          <a:srgbClr val="FFFFFF"/>
                        </a:solidFill>
                      </a:endParaRPr>
                    </a:p>
                  </a:txBody>
                  <a:tcPr marL="18000" marR="0" marT="18000" marB="0" anchor="ctr"/>
                </a:tc>
                <a:tc>
                  <a:txBody>
                    <a:bodyPr/>
                    <a:lstStyle/>
                    <a:p>
                      <a:pPr algn="r">
                        <a:buNone/>
                      </a:pPr>
                      <a:r>
                        <a:rPr lang="en-US" sz="1000" b="1" u="none">
                          <a:solidFill>
                            <a:srgbClr val="FFFFFF"/>
                          </a:solidFill>
                        </a:rPr>
                        <a:t>Mua ròng (GT)</a:t>
                      </a:r>
                      <a:endParaRPr sz="1000" b="1" u="none">
                        <a:solidFill>
                          <a:srgbClr val="FFFFFF"/>
                        </a:solidFill>
                      </a:endParaRPr>
                    </a:p>
                  </a:txBody>
                  <a:tcPr marL="18000" marR="0" marT="18000" marB="0" anchor="ctr"/>
                </a:tc>
                <a:tc>
                  <a:txBody>
                    <a:bodyPr/>
                    <a:lstStyle/>
                    <a:p>
                      <a:pPr algn="r">
                        <a:buNone/>
                      </a:pPr>
                      <a:r>
                        <a:rPr lang="en-US" sz="1000" b="1" u="none">
                          <a:solidFill>
                            <a:srgbClr val="FFFFFF"/>
                          </a:solidFill>
                        </a:rPr>
                        <a:t>Tỷ trọng mua của Khối Tự doanh</a:t>
                      </a:r>
                      <a:endParaRPr sz="1000" b="1" u="none">
                        <a:solidFill>
                          <a:srgbClr val="FFFFFF"/>
                        </a:solidFill>
                      </a:endParaRPr>
                    </a:p>
                  </a:txBody>
                  <a:tcPr marL="18000" marR="0" marT="18000" marB="0" anchor="ctr"/>
                </a:tc>
                <a:extLst>
                  <a:ext uri="{0D108BD9-81ED-4DB2-BD59-A6C34878D82A}">
                    <a16:rowId xmlns:a16="http://schemas.microsoft.com/office/drawing/2014/main" val="10000"/>
                  </a:ext>
                </a:extLst>
              </a:tr>
              <a:tr h="192467">
                <a:tc>
                  <a:txBody>
                    <a:bodyPr/>
                    <a:lstStyle/>
                    <a:p>
                      <a:pPr algn="l">
                        <a:buNone/>
                      </a:pPr>
                      <a:r>
                        <a:rPr lang="en-US" sz="1100" b="0" i="0" u="none">
                          <a:solidFill>
                            <a:srgbClr val="000000"/>
                          </a:solidFill>
                          <a:latin typeface="Calibri"/>
                          <a:ea typeface="Calibri"/>
                          <a:cs typeface="Calibri"/>
                        </a:rPr>
                        <a:t>VPX</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25.400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577.171.900.000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45,55%</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1"/>
                  </a:ext>
                </a:extLst>
              </a:tr>
              <a:tr h="192467">
                <a:tc>
                  <a:txBody>
                    <a:bodyPr/>
                    <a:lstStyle/>
                    <a:p>
                      <a:pPr algn="l">
                        <a:buNone/>
                      </a:pPr>
                      <a:r>
                        <a:rPr lang="en-US" sz="1100" b="0" i="0" u="none">
                          <a:solidFill>
                            <a:srgbClr val="000000"/>
                          </a:solidFill>
                          <a:latin typeface="Calibri"/>
                          <a:ea typeface="Calibri"/>
                          <a:cs typeface="Calibri"/>
                        </a:rPr>
                        <a:t>GMD</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77.000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110.050.100.000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12,27%</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2"/>
                  </a:ext>
                </a:extLst>
              </a:tr>
              <a:tr h="192467">
                <a:tc>
                  <a:txBody>
                    <a:bodyPr/>
                    <a:lstStyle/>
                    <a:p>
                      <a:pPr algn="l">
                        <a:buNone/>
                      </a:pPr>
                      <a:r>
                        <a:rPr lang="en-US" sz="1100" b="0" i="0" u="none">
                          <a:solidFill>
                            <a:srgbClr val="000000"/>
                          </a:solidFill>
                          <a:latin typeface="Calibri"/>
                          <a:ea typeface="Calibri"/>
                          <a:cs typeface="Calibri"/>
                        </a:rPr>
                        <a:t>SSI</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23.550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56.268.401.000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4,99%</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3"/>
                  </a:ext>
                </a:extLst>
              </a:tr>
              <a:tr h="192467">
                <a:tc>
                  <a:txBody>
                    <a:bodyPr/>
                    <a:lstStyle/>
                    <a:p>
                      <a:pPr algn="l">
                        <a:buNone/>
                      </a:pPr>
                      <a:r>
                        <a:rPr lang="en-US" sz="1100" b="0" i="0" u="none">
                          <a:solidFill>
                            <a:srgbClr val="000000"/>
                          </a:solidFill>
                          <a:latin typeface="Calibri"/>
                          <a:ea typeface="Calibri"/>
                          <a:cs typeface="Calibri"/>
                        </a:rPr>
                        <a:t>VHM</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148.100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49.617.640.000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2,80%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4"/>
                  </a:ext>
                </a:extLst>
              </a:tr>
              <a:tr h="192467">
                <a:tc>
                  <a:txBody>
                    <a:bodyPr/>
                    <a:lstStyle/>
                    <a:p>
                      <a:pPr algn="l">
                        <a:buNone/>
                      </a:pPr>
                      <a:r>
                        <a:rPr lang="en-US" sz="1100" b="0" i="0" u="none">
                          <a:solidFill>
                            <a:srgbClr val="000000"/>
                          </a:solidFill>
                          <a:latin typeface="Calibri"/>
                          <a:ea typeface="Calibri"/>
                          <a:cs typeface="Calibri"/>
                        </a:rPr>
                        <a:t>REE</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46.500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38.159.400.000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14,75%</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5"/>
                  </a:ext>
                </a:extLst>
              </a:tr>
              <a:tr h="192467">
                <a:tc>
                  <a:txBody>
                    <a:bodyPr/>
                    <a:lstStyle/>
                    <a:p>
                      <a:pPr algn="l">
                        <a:buNone/>
                      </a:pPr>
                      <a:r>
                        <a:rPr lang="en-US" sz="1100" b="0" i="0" u="none">
                          <a:solidFill>
                            <a:srgbClr val="000000"/>
                          </a:solidFill>
                          <a:latin typeface="Calibri"/>
                          <a:ea typeface="Calibri"/>
                          <a:cs typeface="Calibri"/>
                        </a:rPr>
                        <a:t>VCB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59.300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33.983.990.000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8,54%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6"/>
                  </a:ext>
                </a:extLst>
              </a:tr>
              <a:tr h="192467">
                <a:tc>
                  <a:txBody>
                    <a:bodyPr/>
                    <a:lstStyle/>
                    <a:p>
                      <a:pPr algn="l">
                        <a:buNone/>
                      </a:pPr>
                      <a:r>
                        <a:rPr lang="en-US" sz="1100" b="0" i="0" u="none">
                          <a:solidFill>
                            <a:srgbClr val="000000"/>
                          </a:solidFill>
                          <a:latin typeface="Calibri"/>
                          <a:ea typeface="Calibri"/>
                          <a:cs typeface="Calibri"/>
                        </a:rPr>
                        <a:t>NLG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22.200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32.946.787.000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6,39%</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7"/>
                  </a:ext>
                </a:extLst>
              </a:tr>
              <a:tr h="192467">
                <a:tc>
                  <a:txBody>
                    <a:bodyPr/>
                    <a:lstStyle/>
                    <a:p>
                      <a:pPr algn="l">
                        <a:buNone/>
                      </a:pPr>
                      <a:r>
                        <a:rPr lang="en-US" sz="1100" b="0" i="0" u="none">
                          <a:solidFill>
                            <a:srgbClr val="000000"/>
                          </a:solidFill>
                          <a:latin typeface="Calibri"/>
                          <a:ea typeface="Calibri"/>
                          <a:cs typeface="Calibri"/>
                        </a:rPr>
                        <a:t>FUEMAV30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23.190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27.172.518.000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49,98%</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8"/>
                  </a:ext>
                </a:extLst>
              </a:tr>
              <a:tr h="192467">
                <a:tc>
                  <a:txBody>
                    <a:bodyPr/>
                    <a:lstStyle/>
                    <a:p>
                      <a:pPr algn="l">
                        <a:buNone/>
                      </a:pPr>
                      <a:r>
                        <a:rPr lang="en-US" sz="1100" b="0" i="0" u="none">
                          <a:solidFill>
                            <a:srgbClr val="000000"/>
                          </a:solidFill>
                          <a:latin typeface="Calibri"/>
                          <a:ea typeface="Calibri"/>
                          <a:cs typeface="Calibri"/>
                        </a:rPr>
                        <a:t>HPG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21.700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21.850.054.000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15,60%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9"/>
                  </a:ext>
                </a:extLst>
              </a:tr>
              <a:tr h="192467">
                <a:tc>
                  <a:txBody>
                    <a:bodyPr/>
                    <a:lstStyle/>
                    <a:p>
                      <a:pPr algn="l">
                        <a:buNone/>
                      </a:pPr>
                      <a:r>
                        <a:rPr lang="en-US" sz="1100" b="0" i="0" u="none">
                          <a:solidFill>
                            <a:srgbClr val="000000"/>
                          </a:solidFill>
                          <a:latin typeface="Calibri"/>
                          <a:ea typeface="Calibri"/>
                          <a:cs typeface="Calibri"/>
                        </a:rPr>
                        <a:t>TCX</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41.000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19.679.225.000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3,74%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0"/>
                  </a:ext>
                </a:extLst>
              </a:tr>
            </a:tbl>
          </a:graphicData>
        </a:graphic>
      </p:graphicFrame>
      <p:graphicFrame>
        <p:nvGraphicFramePr>
          <p:cNvPr id="31" name="Table 24"/>
          <p:cNvGraphicFramePr/>
          <p:nvPr>
            <p:extLst>
              <p:ext uri="{D42A27DB-BD31-4B8C-83A1-F6EECF244321}">
                <p14:modId xmlns:p14="http://schemas.microsoft.com/office/powerpoint/2010/main" val="4095627114"/>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0000"/>
                    </a:ext>
                  </a:extLst>
                </a:gridCol>
                <a:gridCol w="968188">
                  <a:extLst>
                    <a:ext uri="{9D8B030D-6E8A-4147-A177-3AD203B41FA5}">
                      <a16:colId xmlns:a16="http://schemas.microsoft.com/office/drawing/2014/main" val="20001"/>
                    </a:ext>
                  </a:extLst>
                </a:gridCol>
                <a:gridCol w="1457302">
                  <a:extLst>
                    <a:ext uri="{9D8B030D-6E8A-4147-A177-3AD203B41FA5}">
                      <a16:colId xmlns:a16="http://schemas.microsoft.com/office/drawing/2014/main" val="20002"/>
                    </a:ext>
                  </a:extLst>
                </a:gridCol>
                <a:gridCol w="1512782">
                  <a:extLst>
                    <a:ext uri="{9D8B030D-6E8A-4147-A177-3AD203B41FA5}">
                      <a16:colId xmlns:a16="http://schemas.microsoft.com/office/drawing/2014/main" val="20003"/>
                    </a:ext>
                  </a:extLst>
                </a:gridCol>
              </a:tblGrid>
              <a:tr h="190500">
                <a:tc>
                  <a:txBody>
                    <a:bodyPr/>
                    <a:lstStyle/>
                    <a:p>
                      <a:pPr algn="l">
                        <a:buNone/>
                      </a:pPr>
                      <a:r>
                        <a:rPr sz="1000" b="1" u="none">
                          <a:solidFill>
                            <a:srgbClr val="FFFFFF"/>
                          </a:solidFill>
                        </a:rPr>
                        <a:t>Mã</a:t>
                      </a:r>
                    </a:p>
                  </a:txBody>
                  <a:tcPr marL="9525" marR="9525" marT="9525" marB="0" anchor="ctr"/>
                </a:tc>
                <a:tc>
                  <a:txBody>
                    <a:bodyPr/>
                    <a:lstStyle/>
                    <a:p>
                      <a:pPr algn="r">
                        <a:buNone/>
                      </a:pPr>
                      <a:r>
                        <a:rPr sz="1000" b="1" u="none">
                          <a:solidFill>
                            <a:srgbClr val="FFFFFF"/>
                          </a:solidFill>
                        </a:rPr>
                        <a:t>Giá</a:t>
                      </a:r>
                    </a:p>
                  </a:txBody>
                  <a:tcPr marL="9525" marR="9525" marT="9525" marB="0" anchor="ctr"/>
                </a:tc>
                <a:tc>
                  <a:txBody>
                    <a:bodyPr/>
                    <a:lstStyle/>
                    <a:p>
                      <a:pPr algn="r">
                        <a:buNone/>
                      </a:pPr>
                      <a:r>
                        <a:rPr sz="1000" b="1" i="0" u="none">
                          <a:solidFill>
                            <a:srgbClr val="FFFFFF"/>
                          </a:solidFill>
                          <a:latin typeface="Calibri"/>
                          <a:ea typeface="Calibri"/>
                          <a:cs typeface="Calibri"/>
                        </a:rPr>
                        <a:t>Mua ròng (GT)</a:t>
                      </a:r>
                    </a:p>
                  </a:txBody>
                  <a:tcPr marL="9525" marR="9525" marT="9525" marB="0" anchor="ctr"/>
                </a:tc>
                <a:tc>
                  <a:txBody>
                    <a:bodyPr/>
                    <a:lstStyle/>
                    <a:p>
                      <a:pPr algn="r">
                        <a:buNone/>
                      </a:pPr>
                      <a:r>
                        <a:rPr sz="1000" b="1" u="none">
                          <a:solidFill>
                            <a:srgbClr val="FFFFFF"/>
                          </a:solidFill>
                        </a:rPr>
                        <a:t>% NN Sở hữu</a:t>
                      </a:r>
                    </a:p>
                  </a:txBody>
                  <a:tcPr marL="9525" marR="9525" marT="9525" marB="0" anchor="ctr"/>
                </a:tc>
                <a:extLst>
                  <a:ext uri="{0D108BD9-81ED-4DB2-BD59-A6C34878D82A}">
                    <a16:rowId xmlns:a16="http://schemas.microsoft.com/office/drawing/2014/main" val="10000"/>
                  </a:ext>
                </a:extLst>
              </a:tr>
              <a:tr h="190500">
                <a:tc>
                  <a:txBody>
                    <a:bodyPr/>
                    <a:lstStyle/>
                    <a:p>
                      <a:pPr algn="l">
                        <a:buNone/>
                      </a:pPr>
                      <a:r>
                        <a:rPr lang="en-US" sz="1100" b="0" i="0" u="none">
                          <a:solidFill>
                            <a:srgbClr val="000000"/>
                          </a:solidFill>
                          <a:latin typeface="Calibri"/>
                          <a:ea typeface="Calibri"/>
                          <a:cs typeface="Calibri"/>
                        </a:rPr>
                        <a:t>VIC</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214.100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453.206.561.200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3,16%</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1"/>
                  </a:ext>
                </a:extLst>
              </a:tr>
              <a:tr h="190500">
                <a:tc>
                  <a:txBody>
                    <a:bodyPr/>
                    <a:lstStyle/>
                    <a:p>
                      <a:pPr algn="l">
                        <a:buNone/>
                      </a:pPr>
                      <a:r>
                        <a:rPr lang="en-US" sz="1100" b="0" i="0" u="none">
                          <a:solidFill>
                            <a:srgbClr val="000000"/>
                          </a:solidFill>
                          <a:latin typeface="Calibri"/>
                          <a:ea typeface="Calibri"/>
                          <a:cs typeface="Calibri"/>
                        </a:rPr>
                        <a:t>VNM</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60.900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360.929.511.400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49,48%</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2"/>
                  </a:ext>
                </a:extLst>
              </a:tr>
              <a:tr h="190500">
                <a:tc>
                  <a:txBody>
                    <a:bodyPr/>
                    <a:lstStyle/>
                    <a:p>
                      <a:pPr algn="l">
                        <a:buNone/>
                      </a:pPr>
                      <a:r>
                        <a:rPr lang="en-US" sz="1100" b="0" i="0" u="none">
                          <a:solidFill>
                            <a:srgbClr val="000000"/>
                          </a:solidFill>
                          <a:latin typeface="Calibri"/>
                          <a:ea typeface="Calibri"/>
                          <a:cs typeface="Calibri"/>
                        </a:rPr>
                        <a:t>HPG</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21.700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334.575.454.150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21,55%</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3"/>
                  </a:ext>
                </a:extLst>
              </a:tr>
              <a:tr h="190500">
                <a:tc>
                  <a:txBody>
                    <a:bodyPr/>
                    <a:lstStyle/>
                    <a:p>
                      <a:pPr algn="l">
                        <a:buNone/>
                      </a:pPr>
                      <a:r>
                        <a:rPr lang="en-US" sz="1100" b="0" i="0" u="none">
                          <a:solidFill>
                            <a:srgbClr val="000000"/>
                          </a:solidFill>
                          <a:latin typeface="Calibri"/>
                          <a:ea typeface="Calibri"/>
                          <a:cs typeface="Calibri"/>
                        </a:rPr>
                        <a:t>FPT</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67.100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308.275.896.900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27,06%</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4"/>
                  </a:ext>
                </a:extLst>
              </a:tr>
              <a:tr h="190500">
                <a:tc>
                  <a:txBody>
                    <a:bodyPr/>
                    <a:lstStyle/>
                    <a:p>
                      <a:pPr algn="l">
                        <a:buNone/>
                      </a:pPr>
                      <a:r>
                        <a:rPr lang="en-US" sz="1100" b="0" i="0" u="none">
                          <a:solidFill>
                            <a:srgbClr val="000000"/>
                          </a:solidFill>
                          <a:latin typeface="Calibri"/>
                          <a:ea typeface="Calibri"/>
                          <a:cs typeface="Calibri"/>
                        </a:rPr>
                        <a:t>VCB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59.300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262.715.524.800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20,06%</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5"/>
                  </a:ext>
                </a:extLst>
              </a:tr>
              <a:tr h="190500">
                <a:tc>
                  <a:txBody>
                    <a:bodyPr/>
                    <a:lstStyle/>
                    <a:p>
                      <a:pPr algn="l">
                        <a:buNone/>
                      </a:pPr>
                      <a:r>
                        <a:rPr lang="en-US" sz="1100" b="0" i="0" u="none">
                          <a:solidFill>
                            <a:srgbClr val="000000"/>
                          </a:solidFill>
                          <a:latin typeface="Calibri"/>
                          <a:ea typeface="Calibri"/>
                          <a:cs typeface="Calibri"/>
                        </a:rPr>
                        <a:t>MSN</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66.100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253.465.305.100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24,10%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6"/>
                  </a:ext>
                </a:extLst>
              </a:tr>
              <a:tr h="190500">
                <a:tc>
                  <a:txBody>
                    <a:bodyPr/>
                    <a:lstStyle/>
                    <a:p>
                      <a:pPr algn="l">
                        <a:buNone/>
                      </a:pPr>
                      <a:r>
                        <a:rPr lang="en-US" sz="1100" b="0" i="0" u="none">
                          <a:solidFill>
                            <a:srgbClr val="000000"/>
                          </a:solidFill>
                          <a:latin typeface="Calibri"/>
                          <a:ea typeface="Calibri"/>
                          <a:cs typeface="Calibri"/>
                        </a:rPr>
                        <a:t>PNJ</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31.000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249.209.847.100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42,64%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7"/>
                  </a:ext>
                </a:extLst>
              </a:tr>
              <a:tr h="190500">
                <a:tc>
                  <a:txBody>
                    <a:bodyPr/>
                    <a:lstStyle/>
                    <a:p>
                      <a:pPr algn="l">
                        <a:buNone/>
                      </a:pPr>
                      <a:r>
                        <a:rPr lang="en-US" sz="1100" b="0" i="0" u="none">
                          <a:solidFill>
                            <a:srgbClr val="000000"/>
                          </a:solidFill>
                          <a:latin typeface="Calibri"/>
                          <a:ea typeface="Calibri"/>
                          <a:cs typeface="Calibri"/>
                        </a:rPr>
                        <a:t>MCH</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141.000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168.397.080.500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15,57%</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8"/>
                  </a:ext>
                </a:extLst>
              </a:tr>
              <a:tr h="190500">
                <a:tc>
                  <a:txBody>
                    <a:bodyPr/>
                    <a:lstStyle/>
                    <a:p>
                      <a:pPr algn="l">
                        <a:buNone/>
                      </a:pPr>
                      <a:r>
                        <a:rPr lang="en-US" sz="1100" b="0" i="0" u="none">
                          <a:solidFill>
                            <a:srgbClr val="000000"/>
                          </a:solidFill>
                          <a:latin typeface="Calibri"/>
                          <a:ea typeface="Calibri"/>
                          <a:cs typeface="Calibri"/>
                        </a:rPr>
                        <a:t>LPB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51.800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167.693.860.000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1,24%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9"/>
                  </a:ext>
                </a:extLst>
              </a:tr>
              <a:tr h="190500">
                <a:tc>
                  <a:txBody>
                    <a:bodyPr/>
                    <a:lstStyle/>
                    <a:p>
                      <a:pPr algn="l">
                        <a:buNone/>
                      </a:pPr>
                      <a:r>
                        <a:rPr lang="en-US" sz="1100" b="0" i="0" u="none">
                          <a:solidFill>
                            <a:srgbClr val="000000"/>
                          </a:solidFill>
                          <a:latin typeface="Calibri"/>
                          <a:ea typeface="Calibri"/>
                          <a:cs typeface="Calibri"/>
                        </a:rPr>
                        <a:t>BSR</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25.350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116.760.717.850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1,10%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0"/>
                  </a:ext>
                </a:extLst>
              </a:tr>
            </a:tbl>
          </a:graphicData>
        </a:graphic>
      </p:graphicFrame>
      <p:graphicFrame>
        <p:nvGraphicFramePr>
          <p:cNvPr id="32" name="Table 25"/>
          <p:cNvGraphicFramePr/>
          <p:nvPr>
            <p:extLst>
              <p:ext uri="{D42A27DB-BD31-4B8C-83A1-F6EECF244321}">
                <p14:modId xmlns:p14="http://schemas.microsoft.com/office/powerpoint/2010/main" val="3393627099"/>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20000"/>
                    </a:ext>
                  </a:extLst>
                </a:gridCol>
                <a:gridCol w="968188">
                  <a:extLst>
                    <a:ext uri="{9D8B030D-6E8A-4147-A177-3AD203B41FA5}">
                      <a16:colId xmlns:a16="http://schemas.microsoft.com/office/drawing/2014/main" val="20001"/>
                    </a:ext>
                  </a:extLst>
                </a:gridCol>
                <a:gridCol w="1395083">
                  <a:extLst>
                    <a:ext uri="{9D8B030D-6E8A-4147-A177-3AD203B41FA5}">
                      <a16:colId xmlns:a16="http://schemas.microsoft.com/office/drawing/2014/main" val="20002"/>
                    </a:ext>
                  </a:extLst>
                </a:gridCol>
                <a:gridCol w="1514676">
                  <a:extLst>
                    <a:ext uri="{9D8B030D-6E8A-4147-A177-3AD203B41FA5}">
                      <a16:colId xmlns:a16="http://schemas.microsoft.com/office/drawing/2014/main" val="20003"/>
                    </a:ext>
                  </a:extLst>
                </a:gridCol>
              </a:tblGrid>
              <a:tr h="190500">
                <a:tc>
                  <a:txBody>
                    <a:bodyPr/>
                    <a:lstStyle/>
                    <a:p>
                      <a:pPr algn="l">
                        <a:buNone/>
                      </a:pPr>
                      <a:r>
                        <a:rPr sz="1000" b="1" u="none">
                          <a:solidFill>
                            <a:srgbClr val="FFFFFF"/>
                          </a:solidFill>
                        </a:rPr>
                        <a:t>Mã</a:t>
                      </a:r>
                    </a:p>
                  </a:txBody>
                  <a:tcPr marL="9525" marR="9525" marT="9525" marB="0" anchor="ctr"/>
                </a:tc>
                <a:tc>
                  <a:txBody>
                    <a:bodyPr/>
                    <a:lstStyle/>
                    <a:p>
                      <a:pPr algn="r">
                        <a:buNone/>
                      </a:pPr>
                      <a:r>
                        <a:rPr sz="1000" b="1" u="none">
                          <a:solidFill>
                            <a:srgbClr val="FFFFFF"/>
                          </a:solidFill>
                        </a:rPr>
                        <a:t>Giá</a:t>
                      </a:r>
                    </a:p>
                  </a:txBody>
                  <a:tcPr marL="9525" marR="9525" marT="9525" marB="0" anchor="ctr"/>
                </a:tc>
                <a:tc>
                  <a:txBody>
                    <a:bodyPr/>
                    <a:lstStyle/>
                    <a:p>
                      <a:pPr algn="r">
                        <a:buNone/>
                      </a:pPr>
                      <a:r>
                        <a:rPr sz="1000" b="1" u="none">
                          <a:solidFill>
                            <a:srgbClr val="FFFFFF"/>
                          </a:solidFill>
                        </a:rPr>
                        <a:t>Bán ròng (GT)</a:t>
                      </a:r>
                    </a:p>
                  </a:txBody>
                  <a:tcPr marL="9525" marR="9525" marT="9525" marB="0" anchor="ctr"/>
                </a:tc>
                <a:tc>
                  <a:txBody>
                    <a:bodyPr/>
                    <a:lstStyle/>
                    <a:p>
                      <a:pPr algn="r">
                        <a:buNone/>
                      </a:pPr>
                      <a:r>
                        <a:rPr sz="1000" b="1" u="none">
                          <a:solidFill>
                            <a:srgbClr val="FFFFFF"/>
                          </a:solidFill>
                        </a:rPr>
                        <a:t>% NN Sở hữu</a:t>
                      </a:r>
                    </a:p>
                  </a:txBody>
                  <a:tcPr marL="9525" marR="9525" marT="9525" marB="0" anchor="ctr"/>
                </a:tc>
                <a:extLst>
                  <a:ext uri="{0D108BD9-81ED-4DB2-BD59-A6C34878D82A}">
                    <a16:rowId xmlns:a16="http://schemas.microsoft.com/office/drawing/2014/main" val="10000"/>
                  </a:ext>
                </a:extLst>
              </a:tr>
              <a:tr h="216527">
                <a:tc>
                  <a:txBody>
                    <a:bodyPr/>
                    <a:lstStyle/>
                    <a:p>
                      <a:pPr algn="l">
                        <a:buNone/>
                      </a:pPr>
                      <a:r>
                        <a:rPr lang="en-US" sz="1100" b="0" i="0" u="none">
                          <a:solidFill>
                            <a:srgbClr val="000000"/>
                          </a:solidFill>
                          <a:latin typeface="Calibri"/>
                          <a:ea typeface="Calibri"/>
                          <a:cs typeface="Calibri"/>
                        </a:rPr>
                        <a:t>VHM</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148.100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-3.445.478.678.100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6,93%</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1"/>
                  </a:ext>
                </a:extLst>
              </a:tr>
              <a:tr h="190500">
                <a:tc>
                  <a:txBody>
                    <a:bodyPr/>
                    <a:lstStyle/>
                    <a:p>
                      <a:pPr algn="l">
                        <a:buNone/>
                      </a:pPr>
                      <a:r>
                        <a:rPr lang="en-US" sz="1100" b="0" i="0" u="none">
                          <a:solidFill>
                            <a:srgbClr val="000000"/>
                          </a:solidFill>
                          <a:latin typeface="Calibri"/>
                          <a:ea typeface="Calibri"/>
                          <a:cs typeface="Calibri"/>
                        </a:rPr>
                        <a:t>TCB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28.950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-376.569.390.550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21,13%</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2"/>
                  </a:ext>
                </a:extLst>
              </a:tr>
              <a:tr h="190500">
                <a:tc>
                  <a:txBody>
                    <a:bodyPr/>
                    <a:lstStyle/>
                    <a:p>
                      <a:pPr algn="l">
                        <a:buNone/>
                      </a:pPr>
                      <a:r>
                        <a:rPr lang="en-US" sz="1100" b="0" i="0" u="none">
                          <a:solidFill>
                            <a:srgbClr val="000000"/>
                          </a:solidFill>
                          <a:latin typeface="Calibri"/>
                          <a:ea typeface="Calibri"/>
                          <a:cs typeface="Calibri"/>
                        </a:rPr>
                        <a:t>VPB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24.800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-278.784.238.950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23,35%</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3"/>
                  </a:ext>
                </a:extLst>
              </a:tr>
              <a:tr h="190500">
                <a:tc>
                  <a:txBody>
                    <a:bodyPr/>
                    <a:lstStyle/>
                    <a:p>
                      <a:pPr algn="l">
                        <a:buNone/>
                      </a:pPr>
                      <a:r>
                        <a:rPr lang="en-US" sz="1100" b="0" i="0" u="none">
                          <a:solidFill>
                            <a:srgbClr val="000000"/>
                          </a:solidFill>
                          <a:latin typeface="Calibri"/>
                          <a:ea typeface="Calibri"/>
                          <a:cs typeface="Calibri"/>
                        </a:rPr>
                        <a:t>VIX</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13.000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-243.482.009.400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6,70%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4"/>
                  </a:ext>
                </a:extLst>
              </a:tr>
              <a:tr h="190500">
                <a:tc>
                  <a:txBody>
                    <a:bodyPr/>
                    <a:lstStyle/>
                    <a:p>
                      <a:pPr algn="l">
                        <a:buNone/>
                      </a:pPr>
                      <a:r>
                        <a:rPr lang="en-US" sz="1100" b="0" i="0" u="none">
                          <a:solidFill>
                            <a:srgbClr val="000000"/>
                          </a:solidFill>
                          <a:latin typeface="Calibri"/>
                          <a:ea typeface="Calibri"/>
                          <a:cs typeface="Calibri"/>
                        </a:rPr>
                        <a:t>ACB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21.900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-209.489.006.300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24,34%</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5"/>
                  </a:ext>
                </a:extLst>
              </a:tr>
              <a:tr h="190500">
                <a:tc>
                  <a:txBody>
                    <a:bodyPr/>
                    <a:lstStyle/>
                    <a:p>
                      <a:pPr algn="l">
                        <a:buNone/>
                      </a:pPr>
                      <a:r>
                        <a:rPr lang="en-US" sz="1100" b="0" i="0" u="none">
                          <a:solidFill>
                            <a:srgbClr val="000000"/>
                          </a:solidFill>
                          <a:latin typeface="Calibri"/>
                          <a:ea typeface="Calibri"/>
                          <a:cs typeface="Calibri"/>
                        </a:rPr>
                        <a:t>NVL</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13.000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-207.581.893.150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4,92%</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6"/>
                  </a:ext>
                </a:extLst>
              </a:tr>
              <a:tr h="190500">
                <a:tc>
                  <a:txBody>
                    <a:bodyPr/>
                    <a:lstStyle/>
                    <a:p>
                      <a:pPr algn="l">
                        <a:buNone/>
                      </a:pPr>
                      <a:r>
                        <a:rPr lang="en-US" sz="1100" b="0" i="0" u="none">
                          <a:solidFill>
                            <a:srgbClr val="000000"/>
                          </a:solidFill>
                          <a:latin typeface="Calibri"/>
                          <a:ea typeface="Calibri"/>
                          <a:cs typeface="Calibri"/>
                        </a:rPr>
                        <a:t>GEX</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22.500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-138.865.045.700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6,50%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7"/>
                  </a:ext>
                </a:extLst>
              </a:tr>
              <a:tr h="190500">
                <a:tc>
                  <a:txBody>
                    <a:bodyPr/>
                    <a:lstStyle/>
                    <a:p>
                      <a:pPr algn="l">
                        <a:buNone/>
                      </a:pPr>
                      <a:r>
                        <a:rPr lang="en-US" sz="1100" b="0" i="0" u="none">
                          <a:solidFill>
                            <a:srgbClr val="000000"/>
                          </a:solidFill>
                          <a:latin typeface="Calibri"/>
                          <a:ea typeface="Calibri"/>
                          <a:cs typeface="Calibri"/>
                        </a:rPr>
                        <a:t>SSI</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23.550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-113.275.752.300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29,90%</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8"/>
                  </a:ext>
                </a:extLst>
              </a:tr>
              <a:tr h="190500">
                <a:tc>
                  <a:txBody>
                    <a:bodyPr/>
                    <a:lstStyle/>
                    <a:p>
                      <a:pPr algn="l">
                        <a:buNone/>
                      </a:pPr>
                      <a:r>
                        <a:rPr lang="en-US" sz="1100" b="0" i="0" u="none">
                          <a:solidFill>
                            <a:srgbClr val="000000"/>
                          </a:solidFill>
                          <a:latin typeface="Calibri"/>
                          <a:ea typeface="Calibri"/>
                          <a:cs typeface="Calibri"/>
                        </a:rPr>
                        <a:t>HDB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25.200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-101.722.392.350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21,56%</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09"/>
                  </a:ext>
                </a:extLst>
              </a:tr>
              <a:tr h="190500">
                <a:tc>
                  <a:txBody>
                    <a:bodyPr/>
                    <a:lstStyle/>
                    <a:p>
                      <a:pPr algn="l">
                        <a:buNone/>
                      </a:pPr>
                      <a:r>
                        <a:rPr lang="en-US" sz="1100" b="0" i="0" u="none">
                          <a:solidFill>
                            <a:srgbClr val="000000"/>
                          </a:solidFill>
                          <a:latin typeface="Calibri"/>
                          <a:ea typeface="Calibri"/>
                          <a:cs typeface="Calibri"/>
                        </a:rPr>
                        <a:t>EIB</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17.800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-51.607.960.000</a:t>
                      </a:r>
                      <a:endParaRPr sz="1100" b="0" i="0" u="none">
                        <a:solidFill>
                          <a:srgbClr val="000000"/>
                        </a:solidFill>
                        <a:latin typeface="Calibri"/>
                        <a:ea typeface="Calibri"/>
                        <a:cs typeface="Calibri"/>
                      </a:endParaRPr>
                    </a:p>
                  </a:txBody>
                  <a:tcPr marL="9525" marR="9525" marT="9525" marB="0" anchor="ctr"/>
                </a:tc>
                <a:tc>
                  <a:txBody>
                    <a:bodyPr/>
                    <a:lstStyle/>
                    <a:p>
                      <a:pPr algn="r">
                        <a:buNone/>
                      </a:pPr>
                      <a:r>
                        <a:rPr lang="en-VN" sz="1100" b="0" i="0" u="none">
                          <a:solidFill>
                            <a:srgbClr val="000000"/>
                          </a:solidFill>
                          <a:latin typeface="Calibri"/>
                          <a:ea typeface="Calibri"/>
                          <a:cs typeface="Calibri"/>
                        </a:rPr>
                        <a:t>1,52%</a:t>
                      </a:r>
                      <a:endParaRPr sz="1100" b="0" i="0" u="none">
                        <a:solidFill>
                          <a:srgbClr val="000000"/>
                        </a:solidFill>
                        <a:latin typeface="Calibri"/>
                        <a:ea typeface="Calibri"/>
                        <a:cs typeface="Calibri"/>
                      </a:endParaRPr>
                    </a:p>
                  </a:txBody>
                  <a:tcPr marL="9525" marR="9525" marT="9525" marB="0" anchor="ctr"/>
                </a:tc>
                <a:extLst>
                  <a:ext uri="{0D108BD9-81ED-4DB2-BD59-A6C34878D82A}">
                    <a16:rowId xmlns:a16="http://schemas.microsoft.com/office/drawing/2014/main" val="10010"/>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idx="12"/>
          </p:nvPr>
        </p:nvSpPr>
        <p:spPr/>
        <p:txBody>
          <a:bodyPr/>
          <a:lstStyle/>
          <a:p>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5</a:t>
            </a:fld>
            <a:endParaRPr sz="750">
              <a:solidFill>
                <a:srgbClr val="6B7C8F"/>
              </a:solidFill>
              <a:latin typeface="Arial"/>
              <a:ea typeface="Arial"/>
              <a:cs typeface="Arial"/>
            </a:endParaRPr>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6" name="Straight Connector 5">
            <a:extLst>
              <a:ext uri="{FF2B5EF4-FFF2-40B4-BE49-F238E27FC236}">
                <a16:creationId xmlns:a16="http://schemas.microsoft.com/office/drawing/2014/main" id="{6AD65748-A738-4AD5-9D7D-BA7EEDC26D3F}"/>
              </a:ext>
            </a:extLst>
          </p:cNvPr>
          <p:cNvSpPr>
            <a:spLocks noGrp="1"/>
          </p:cNvSpPr>
          <p:nvPr/>
        </p:nvSpPr>
        <p:spPr>
          <a:xfrm flipV="1">
            <a:off x="261939" y="677863"/>
            <a:ext cx="11676063"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5" name="Title 5">
            <a:extLst>
              <a:ext uri="{FF2B5EF4-FFF2-40B4-BE49-F238E27FC236}">
                <a16:creationId xmlns:a16="http://schemas.microsoft.com/office/drawing/2014/main" id="{BB5C97C4-862A-269F-A388-3BA6E6A2B487}"/>
              </a:ext>
            </a:extLst>
          </p:cNvPr>
          <p:cNvSpPr>
            <a:spLocks noGrp="1"/>
          </p:cNvSpPr>
          <p:nvPr/>
        </p:nvSpPr>
        <p:spPr>
          <a:xfrm>
            <a:off x="261939" y="288876"/>
            <a:ext cx="7991728" cy="355038"/>
          </a:xfrm>
          <a:prstGeom prst="rect">
            <a:avLst/>
          </a:prstGeom>
          <a:no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defRPr sz="1425" b="1">
                <a:solidFill>
                  <a:srgbClr val="163A63"/>
                </a:solidFill>
                <a:latin typeface="Arial"/>
                <a:ea typeface="Arial"/>
                <a:cs typeface="Arial"/>
              </a:defRPr>
            </a:pPr>
            <a:r>
              <a:rPr lang="en-US" sz="1425" b="1">
                <a:solidFill>
                  <a:srgbClr val="163A63"/>
                </a:solidFill>
                <a:latin typeface="Arial"/>
                <a:ea typeface="Arial"/>
                <a:cs typeface="Arial"/>
              </a:rPr>
              <a:t>DIỄN BIẾN DANH MỤC THEO DÕI TUẦN 27/07 – 31/07/2026</a:t>
            </a:r>
            <a:endParaRPr sz="1425" b="1">
              <a:solidFill>
                <a:srgbClr val="163A63"/>
              </a:solidFill>
              <a:latin typeface="Arial"/>
              <a:ea typeface="Arial"/>
              <a:cs typeface="Arial"/>
            </a:endParaRPr>
          </a:p>
        </p:txBody>
      </p:sp>
      <p:sp>
        <p:nvSpPr>
          <p:cNvPr id="21" name="Text Placeholder 7">
            <a:extLst>
              <a:ext uri="{FF2B5EF4-FFF2-40B4-BE49-F238E27FC236}">
                <a16:creationId xmlns:a16="http://schemas.microsoft.com/office/drawing/2014/main" id="{EC378252-A32A-9839-7495-0D5F68F1E791}"/>
              </a:ext>
            </a:extLst>
          </p:cNvPr>
          <p:cNvSpPr>
            <a:spLocks noGrp="1"/>
          </p:cNvSpPr>
          <p:nvPr/>
        </p:nvSpPr>
        <p:spPr>
          <a:xfrm>
            <a:off x="261940" y="677864"/>
            <a:ext cx="10725608" cy="5891260"/>
          </a:xfrm>
          <a:prstGeom prst="rect">
            <a:avLst/>
          </a:prstGeom>
        </p:spPr>
        <p:txBody>
          <a:bodyPr vert="horz" lIns="91440" tIns="45720" rIns="91440" bIns="45720">
            <a:noAutofit/>
          </a:bodyPr>
          <a:lstStyle>
            <a:lvl1pPr marL="0" indent="0" algn="l" defTabSz="914400">
              <a:lnSpc>
                <a:spcPct val="120000"/>
              </a:lnSpc>
              <a:spcBef>
                <a:spcPts val="0"/>
              </a:spcBef>
              <a:spcAft>
                <a:spcPts val="0"/>
              </a:spcAft>
              <a:buFont typeface="Arial"/>
              <a:buNone/>
              <a:defRPr sz="1050" b="0" kern="1200">
                <a:solidFill>
                  <a:schemeClr val="accent5"/>
                </a:solidFill>
                <a:latin typeface="+mn-lt"/>
                <a:ea typeface="+mn-lt"/>
                <a:cs typeface="+mn-lt"/>
              </a:defRPr>
            </a:lvl1pPr>
            <a:lvl2pPr marL="359532" indent="0" algn="ctr" defTabSz="914400">
              <a:lnSpc>
                <a:spcPct val="90000"/>
              </a:lnSpc>
              <a:spcBef>
                <a:spcPts val="500"/>
              </a:spcBef>
              <a:buFont typeface="Arial"/>
              <a:buNone/>
              <a:defRPr sz="2400" kern="1200">
                <a:solidFill>
                  <a:schemeClr val="tx1">
                    <a:tint val="75000"/>
                  </a:schemeClr>
                </a:solidFill>
                <a:latin typeface="+mn-lt"/>
                <a:ea typeface="+mn-lt"/>
                <a:cs typeface="+mn-lt"/>
              </a:defRPr>
            </a:lvl2pPr>
            <a:lvl3pPr marL="719063" indent="0" algn="ctr" defTabSz="914400">
              <a:lnSpc>
                <a:spcPct val="90000"/>
              </a:lnSpc>
              <a:spcBef>
                <a:spcPts val="500"/>
              </a:spcBef>
              <a:buFont typeface="Arial"/>
              <a:buNone/>
              <a:defRPr sz="2000" kern="1200">
                <a:solidFill>
                  <a:schemeClr val="tx1">
                    <a:tint val="75000"/>
                  </a:schemeClr>
                </a:solidFill>
                <a:latin typeface="+mn-lt"/>
                <a:ea typeface="+mn-lt"/>
                <a:cs typeface="+mn-lt"/>
              </a:defRPr>
            </a:lvl3pPr>
            <a:lvl4pPr marL="107859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4pPr>
            <a:lvl5pPr marL="143812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5pPr>
            <a:lvl6pPr marL="179765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6pPr>
            <a:lvl7pPr marL="215718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7pPr>
            <a:lvl8pPr marL="2516718"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8pPr>
            <a:lvl9pPr marL="2876250"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9pPr>
          </a:lstStyle>
          <a:p>
            <a:pPr>
              <a:lnSpc>
                <a:spcPct val="90000"/>
              </a:lnSpc>
              <a:spcBef>
                <a:spcPct val="0"/>
              </a:spcBef>
              <a:buNone/>
            </a:pPr>
            <a:endParaRPr/>
          </a:p>
          <a:p>
            <a:pPr>
              <a:lnSpc>
                <a:spcPct val="90000"/>
              </a:lnSpc>
              <a:spcBef>
                <a:spcPct val="0"/>
              </a:spcBef>
              <a:buNone/>
            </a:pPr>
            <a:r>
              <a:rPr sz="1400" b="1">
                <a:solidFill>
                  <a:srgbClr val="1557B0"/>
                </a:solidFill>
                <a:latin typeface="Arial"/>
                <a:ea typeface="Arial"/>
                <a:cs typeface="Arial"/>
              </a:rPr>
              <a:t>Sự kiện doanh nghiệp trong tuần</a:t>
            </a: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endParaRPr sz="1400" b="1">
              <a:solidFill>
                <a:srgbClr val="1557B0"/>
              </a:solidFill>
              <a:latin typeface="Arial"/>
              <a:ea typeface="Arial"/>
              <a:cs typeface="Arial"/>
            </a:endParaRPr>
          </a:p>
          <a:p>
            <a:pPr>
              <a:lnSpc>
                <a:spcPct val="90000"/>
              </a:lnSpc>
              <a:spcBef>
                <a:spcPct val="0"/>
              </a:spcBef>
              <a:buNone/>
            </a:pPr>
            <a:r>
              <a:rPr sz="1400" b="1">
                <a:solidFill>
                  <a:srgbClr val="1557B0"/>
                </a:solidFill>
                <a:latin typeface="Arial"/>
                <a:ea typeface="Arial"/>
                <a:cs typeface="Arial"/>
              </a:rPr>
              <a:t>Diễn biến giao dịch NDTNN</a:t>
            </a:r>
            <a:r>
              <a:rPr sz="1400" b="1">
                <a:solidFill>
                  <a:srgbClr val="263442"/>
                </a:solidFill>
                <a:latin typeface="Arial"/>
                <a:ea typeface="Arial"/>
                <a:cs typeface="Arial"/>
              </a:rPr>
              <a:t> </a:t>
            </a:r>
          </a:p>
          <a:p>
            <a:pPr marL="171450" indent="-171450">
              <a:lnSpc>
                <a:spcPct val="160000"/>
              </a:lnSpc>
              <a:buFont typeface="Arial"/>
              <a:buChar char="•"/>
            </a:pPr>
            <a:r>
              <a:rPr sz="1100">
                <a:solidFill>
                  <a:srgbClr val="263442"/>
                </a:solidFill>
                <a:latin typeface="Arial"/>
                <a:ea typeface="Arial"/>
                <a:cs typeface="Arial"/>
              </a:rPr>
              <a:t>Trong tháng này, khối ngoại đã bán ròng tổng số 127 triệu cp đối với 4 ngân hàng theo dõi. Tính từ đầu năm, NDTNN bán ròng tổng số 493 triệu cp.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idx="12"/>
          </p:nvPr>
        </p:nvSpPr>
        <p:spPr/>
        <p:txBody>
          <a:bodyPr/>
          <a:lstStyle/>
          <a:p>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6</a:t>
            </a:fld>
            <a:endParaRPr sz="750">
              <a:solidFill>
                <a:srgbClr val="6B7C8F"/>
              </a:solidFill>
              <a:latin typeface="Arial"/>
              <a:ea typeface="Arial"/>
              <a:cs typeface="Arial"/>
            </a:endParaRPr>
          </a:p>
        </p:txBody>
      </p:sp>
      <p:graphicFrame>
        <p:nvGraphicFramePr>
          <p:cNvPr id="28" name="Table 2"/>
          <p:cNvGraphicFramePr/>
          <p:nvPr>
            <p:extLst>
              <p:ext uri="{D42A27DB-BD31-4B8C-83A1-F6EECF244321}">
                <p14:modId xmlns:p14="http://schemas.microsoft.com/office/powerpoint/2010/main" val="3926612609"/>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20001"/>
                    </a:ext>
                  </a:extLst>
                </a:gridCol>
                <a:gridCol w="9254162">
                  <a:extLst>
                    <a:ext uri="{9D8B030D-6E8A-4147-A177-3AD203B41FA5}">
                      <a16:colId xmlns:a16="http://schemas.microsoft.com/office/drawing/2014/main" val="20002"/>
                    </a:ext>
                  </a:extLst>
                </a:gridCol>
              </a:tblGrid>
              <a:tr h="174337">
                <a:tc>
                  <a:txBody>
                    <a:bodyPr/>
                    <a:lstStyle/>
                    <a:p>
                      <a:pPr algn="l">
                        <a:buNone/>
                      </a:pPr>
                      <a:r>
                        <a:rPr sz="1200" b="1" u="none">
                          <a:solidFill>
                            <a:schemeClr val="tx1"/>
                          </a:solidFill>
                          <a:latin typeface="Arial"/>
                          <a:ea typeface="Arial"/>
                          <a:cs typeface="Arial"/>
                        </a:rPr>
                        <a:t>Ngày</a:t>
                      </a:r>
                    </a:p>
                  </a:txBody>
                  <a:tcPr marL="45720" marR="45720" anchor="ctr"/>
                </a:tc>
                <a:tc>
                  <a:txBody>
                    <a:bodyPr/>
                    <a:lstStyle/>
                    <a:p>
                      <a:pPr algn="l">
                        <a:buNone/>
                      </a:pPr>
                      <a:r>
                        <a:rPr sz="1200" b="1" i="0" u="none">
                          <a:solidFill>
                            <a:schemeClr val="tx1"/>
                          </a:solidFill>
                          <a:latin typeface="Arial"/>
                          <a:ea typeface="Arial"/>
                          <a:cs typeface="Arial"/>
                        </a:rPr>
                        <a:t>Mã</a:t>
                      </a:r>
                    </a:p>
                  </a:txBody>
                  <a:tcPr marL="45720" marR="45720" anchor="ctr"/>
                </a:tc>
                <a:tc>
                  <a:txBody>
                    <a:bodyPr/>
                    <a:lstStyle/>
                    <a:p>
                      <a:pPr algn="ctr">
                        <a:buNone/>
                      </a:pPr>
                      <a:r>
                        <a:rPr sz="1200" b="1" u="none">
                          <a:solidFill>
                            <a:schemeClr val="tx1"/>
                          </a:solidFill>
                          <a:latin typeface="Arial"/>
                          <a:ea typeface="Arial"/>
                          <a:cs typeface="Arial"/>
                        </a:rPr>
                        <a:t>Sự kiện</a:t>
                      </a:r>
                    </a:p>
                  </a:txBody>
                  <a:tcPr marL="45720" marR="45720" anchor="ctr"/>
                </a:tc>
                <a:extLst>
                  <a:ext uri="{0D108BD9-81ED-4DB2-BD59-A6C34878D82A}">
                    <a16:rowId xmlns:a16="http://schemas.microsoft.com/office/drawing/2014/main" val="10000"/>
                  </a:ext>
                </a:extLst>
              </a:tr>
              <a:tr h="169612">
                <a:tc>
                  <a:txBody>
                    <a:bodyPr/>
                    <a:lstStyle/>
                    <a:p>
                      <a:pPr algn="l">
                        <a:buNone/>
                      </a:pPr>
                      <a:r>
                        <a:rPr lang="en-VN"/>
                        <a:t>31/07/2026</a:t>
                      </a: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r>
                        <a:rPr lang="en-US"/>
                        <a:t>ACB</a:t>
                      </a: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r>
                        <a:rPr lang="en-US"/>
                        <a:t>ACB: Báo cáo tình hình Quản trị công ty 6 tháng đầu năm 2026</a:t>
                      </a:r>
                      <a:endParaRPr/>
                    </a:p>
                  </a:txBody>
                  <a:tcPr marL="45720" marR="45720" anchor="ctr"/>
                </a:tc>
                <a:extLst>
                  <a:ext uri="{0D108BD9-81ED-4DB2-BD59-A6C34878D82A}">
                    <a16:rowId xmlns:a16="http://schemas.microsoft.com/office/drawing/2014/main" val="10001"/>
                  </a:ext>
                </a:extLst>
              </a:tr>
              <a:tr h="169612">
                <a:tc>
                  <a:txBody>
                    <a:bodyPr/>
                    <a:lstStyle/>
                    <a:p>
                      <a:pPr algn="l">
                        <a:buNone/>
                      </a:pPr>
                      <a:r>
                        <a:rPr lang="en-VN"/>
                        <a:t>30/07/2026</a:t>
                      </a: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r>
                        <a:rPr lang="en-US"/>
                        <a:t>ACB</a:t>
                      </a: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r>
                        <a:rPr lang="en-US"/>
                        <a:t>ACB: Nghị quyết HĐQT số 3411 ngày 28/07/2026</a:t>
                      </a:r>
                      <a:endParaRPr/>
                    </a:p>
                  </a:txBody>
                  <a:tcPr marL="45720" marR="45720" anchor="ctr"/>
                </a:tc>
                <a:extLst>
                  <a:ext uri="{0D108BD9-81ED-4DB2-BD59-A6C34878D82A}">
                    <a16:rowId xmlns:a16="http://schemas.microsoft.com/office/drawing/2014/main" val="10002"/>
                  </a:ext>
                </a:extLst>
              </a:tr>
              <a:tr h="169612">
                <a:tc>
                  <a:txBody>
                    <a:bodyPr/>
                    <a:lstStyle/>
                    <a:p>
                      <a:pPr algn="l">
                        <a:buNone/>
                      </a:pPr>
                      <a:r>
                        <a:rPr lang="en-VN"/>
                        <a:t>29/07/2026</a:t>
                      </a: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r>
                        <a:rPr lang="en-US"/>
                        <a:t>ACB</a:t>
                      </a: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r>
                        <a:rPr lang="en-US"/>
                        <a:t>ACB: Điều lệ công ty sửa đổi</a:t>
                      </a:r>
                      <a:endParaRPr/>
                    </a:p>
                  </a:txBody>
                  <a:tcPr marL="45720" marR="45720" anchor="ctr"/>
                </a:tc>
                <a:extLst>
                  <a:ext uri="{0D108BD9-81ED-4DB2-BD59-A6C34878D82A}">
                    <a16:rowId xmlns:a16="http://schemas.microsoft.com/office/drawing/2014/main" val="10003"/>
                  </a:ext>
                </a:extLst>
              </a:tr>
              <a:tr h="169612">
                <a:tc>
                  <a:txBody>
                    <a:bodyPr/>
                    <a:lstStyle/>
                    <a:p>
                      <a:pPr algn="l">
                        <a:buNone/>
                      </a:pP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endParaRPr/>
                    </a:p>
                  </a:txBody>
                  <a:tcPr marL="45720" marR="45720" anchor="ctr"/>
                </a:tc>
                <a:extLst>
                  <a:ext uri="{0D108BD9-81ED-4DB2-BD59-A6C34878D82A}">
                    <a16:rowId xmlns:a16="http://schemas.microsoft.com/office/drawing/2014/main" val="10004"/>
                  </a:ext>
                </a:extLst>
              </a:tr>
            </a:tbl>
          </a:graphicData>
        </a:graphic>
      </p:graphicFrame>
      <p:graphicFrame>
        <p:nvGraphicFramePr>
          <p:cNvPr id="29" name="Table 6"/>
          <p:cNvGraphicFramePr/>
          <p:nvPr>
            <p:extLst>
              <p:ext uri="{D42A27DB-BD31-4B8C-83A1-F6EECF244321}">
                <p14:modId xmlns:p14="http://schemas.microsoft.com/office/powerpoint/2010/main" val="4065065452"/>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20000"/>
                    </a:ext>
                  </a:extLst>
                </a:gridCol>
                <a:gridCol w="1546661">
                  <a:extLst>
                    <a:ext uri="{9D8B030D-6E8A-4147-A177-3AD203B41FA5}">
                      <a16:colId xmlns:a16="http://schemas.microsoft.com/office/drawing/2014/main" val="20001"/>
                    </a:ext>
                  </a:extLst>
                </a:gridCol>
                <a:gridCol w="1546661">
                  <a:extLst>
                    <a:ext uri="{9D8B030D-6E8A-4147-A177-3AD203B41FA5}">
                      <a16:colId xmlns:a16="http://schemas.microsoft.com/office/drawing/2014/main" val="20002"/>
                    </a:ext>
                  </a:extLst>
                </a:gridCol>
                <a:gridCol w="1546661">
                  <a:extLst>
                    <a:ext uri="{9D8B030D-6E8A-4147-A177-3AD203B41FA5}">
                      <a16:colId xmlns:a16="http://schemas.microsoft.com/office/drawing/2014/main" val="20003"/>
                    </a:ext>
                  </a:extLst>
                </a:gridCol>
                <a:gridCol w="1546661">
                  <a:extLst>
                    <a:ext uri="{9D8B030D-6E8A-4147-A177-3AD203B41FA5}">
                      <a16:colId xmlns:a16="http://schemas.microsoft.com/office/drawing/2014/main" val="20004"/>
                    </a:ext>
                  </a:extLst>
                </a:gridCol>
              </a:tblGrid>
              <a:tr h="270883">
                <a:tc>
                  <a:txBody>
                    <a:bodyPr/>
                    <a:lstStyle/>
                    <a:p>
                      <a:pPr algn="l">
                        <a:buNone/>
                      </a:pPr>
                      <a:r>
                        <a:rPr sz="1200" b="1" i="0" u="none">
                          <a:solidFill>
                            <a:schemeClr val="bg1"/>
                          </a:solidFill>
                          <a:latin typeface="Arial"/>
                          <a:ea typeface="Arial"/>
                          <a:cs typeface="Arial"/>
                        </a:rPr>
                        <a:t>KLGD NDTNN</a:t>
                      </a:r>
                    </a:p>
                  </a:txBody>
                  <a:tcPr marL="9525" marR="9525" marT="9525" marB="0" anchor="b"/>
                </a:tc>
                <a:tc>
                  <a:txBody>
                    <a:bodyPr/>
                    <a:lstStyle/>
                    <a:p>
                      <a:pPr algn="r">
                        <a:buNone/>
                      </a:pPr>
                      <a:r>
                        <a:rPr sz="1200" b="1" i="0" u="none">
                          <a:solidFill>
                            <a:srgbClr val="FFFFFF"/>
                          </a:solidFill>
                          <a:latin typeface="Arial"/>
                          <a:ea typeface="Arial"/>
                          <a:cs typeface="Arial"/>
                        </a:rPr>
                        <a:t>ACB</a:t>
                      </a:r>
                    </a:p>
                  </a:txBody>
                  <a:tcPr marL="9525" marR="9525" marT="9525" marB="0" anchor="ctr"/>
                </a:tc>
                <a:tc>
                  <a:txBody>
                    <a:bodyPr/>
                    <a:lstStyle/>
                    <a:p>
                      <a:pPr algn="r">
                        <a:buNone/>
                      </a:pPr>
                      <a:r>
                        <a:rPr sz="1200" b="1" i="0" u="none">
                          <a:solidFill>
                            <a:srgbClr val="FFFFFF"/>
                          </a:solidFill>
                          <a:latin typeface="Arial"/>
                          <a:ea typeface="Arial"/>
                          <a:cs typeface="Arial"/>
                        </a:rPr>
                        <a:t>VIB</a:t>
                      </a:r>
                    </a:p>
                  </a:txBody>
                  <a:tcPr marL="9525" marR="9525" marT="9525" marB="0" anchor="ctr"/>
                </a:tc>
                <a:tc>
                  <a:txBody>
                    <a:bodyPr/>
                    <a:lstStyle/>
                    <a:p>
                      <a:pPr algn="r">
                        <a:buNone/>
                      </a:pPr>
                      <a:r>
                        <a:rPr sz="1200" b="1" i="0" u="none">
                          <a:solidFill>
                            <a:srgbClr val="FFFFFF"/>
                          </a:solidFill>
                          <a:latin typeface="Arial"/>
                          <a:ea typeface="Arial"/>
                          <a:cs typeface="Arial"/>
                        </a:rPr>
                        <a:t>VPB</a:t>
                      </a:r>
                    </a:p>
                  </a:txBody>
                  <a:tcPr marL="9525" marR="9525" marT="9525" marB="0" anchor="ctr"/>
                </a:tc>
                <a:tc>
                  <a:txBody>
                    <a:bodyPr/>
                    <a:lstStyle/>
                    <a:p>
                      <a:pPr algn="r">
                        <a:buNone/>
                      </a:pPr>
                      <a:r>
                        <a:rPr sz="1200" b="1" i="0" u="none">
                          <a:solidFill>
                            <a:srgbClr val="FFFFFF"/>
                          </a:solidFill>
                          <a:latin typeface="Arial"/>
                          <a:ea typeface="Arial"/>
                          <a:cs typeface="Arial"/>
                        </a:rPr>
                        <a:t>TCB</a:t>
                      </a:r>
                    </a:p>
                  </a:txBody>
                  <a:tcPr marL="9525" marR="9525" marT="9525" marB="0" anchor="ctr"/>
                </a:tc>
                <a:extLst>
                  <a:ext uri="{0D108BD9-81ED-4DB2-BD59-A6C34878D82A}">
                    <a16:rowId xmlns:a16="http://schemas.microsoft.com/office/drawing/2014/main" val="10000"/>
                  </a:ext>
                </a:extLst>
              </a:tr>
              <a:tr h="270883">
                <a:tc>
                  <a:txBody>
                    <a:bodyPr/>
                    <a:lstStyle/>
                    <a:p>
                      <a:pPr algn="l">
                        <a:buNone/>
                      </a:pPr>
                      <a:r>
                        <a:rPr lang="en-US" sz="1200" b="0" i="0" u="none">
                          <a:solidFill>
                            <a:srgbClr val="000000"/>
                          </a:solidFill>
                          <a:latin typeface="Arial"/>
                          <a:ea typeface="Arial"/>
                          <a:cs typeface="Arial"/>
                        </a:rPr>
                        <a:t>Tháng 5</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-17.370.861</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-17.860.342</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-41.923.991</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-38.085.620</a:t>
                      </a:r>
                      <a:endParaRPr sz="1200" b="0" i="0" u="none">
                        <a:solidFill>
                          <a:srgbClr val="000000"/>
                        </a:solidFill>
                        <a:latin typeface="Arial"/>
                        <a:ea typeface="Arial"/>
                        <a:cs typeface="Arial"/>
                      </a:endParaRPr>
                    </a:p>
                  </a:txBody>
                  <a:tcPr marL="9525" marR="9525" marT="9525" marB="0" anchor="b"/>
                </a:tc>
                <a:extLst>
                  <a:ext uri="{0D108BD9-81ED-4DB2-BD59-A6C34878D82A}">
                    <a16:rowId xmlns:a16="http://schemas.microsoft.com/office/drawing/2014/main" val="10001"/>
                  </a:ext>
                </a:extLst>
              </a:tr>
              <a:tr h="270883">
                <a:tc>
                  <a:txBody>
                    <a:bodyPr/>
                    <a:lstStyle/>
                    <a:p>
                      <a:pPr algn="l">
                        <a:buNone/>
                      </a:pPr>
                      <a:r>
                        <a:rPr lang="en-US" sz="1200" b="0" i="0" u="none">
                          <a:solidFill>
                            <a:srgbClr val="000000"/>
                          </a:solidFill>
                          <a:latin typeface="Arial"/>
                          <a:ea typeface="Arial"/>
                          <a:cs typeface="Arial"/>
                        </a:rPr>
                        <a:t>Tháng 6</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4.293.512</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-16.017.491</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-32.182.660</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-32.762.639</a:t>
                      </a:r>
                      <a:endParaRPr sz="1200" b="0" i="0" u="none">
                        <a:solidFill>
                          <a:srgbClr val="000000"/>
                        </a:solidFill>
                        <a:latin typeface="Arial"/>
                        <a:ea typeface="Arial"/>
                        <a:cs typeface="Arial"/>
                      </a:endParaRPr>
                    </a:p>
                  </a:txBody>
                  <a:tcPr marL="9525" marR="9525" marT="9525" marB="0" anchor="b"/>
                </a:tc>
                <a:extLst>
                  <a:ext uri="{0D108BD9-81ED-4DB2-BD59-A6C34878D82A}">
                    <a16:rowId xmlns:a16="http://schemas.microsoft.com/office/drawing/2014/main" val="10002"/>
                  </a:ext>
                </a:extLst>
              </a:tr>
              <a:tr h="270883">
                <a:tc>
                  <a:txBody>
                    <a:bodyPr/>
                    <a:lstStyle/>
                    <a:p>
                      <a:pPr algn="l">
                        <a:buNone/>
                      </a:pPr>
                      <a:r>
                        <a:rPr lang="en-US" sz="1200" b="0" i="0" u="none">
                          <a:solidFill>
                            <a:srgbClr val="000000"/>
                          </a:solidFill>
                          <a:latin typeface="Arial"/>
                          <a:ea typeface="Arial"/>
                          <a:cs typeface="Arial"/>
                        </a:rPr>
                        <a:t>Tháng 7</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-20.044.268</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-25.052.808</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-39.496.132</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-43.747.657</a:t>
                      </a:r>
                      <a:endParaRPr sz="1200" b="0" i="0" u="none">
                        <a:solidFill>
                          <a:srgbClr val="000000"/>
                        </a:solidFill>
                        <a:latin typeface="Arial"/>
                        <a:ea typeface="Arial"/>
                        <a:cs typeface="Arial"/>
                      </a:endParaRPr>
                    </a:p>
                  </a:txBody>
                  <a:tcPr marL="9525" marR="9525" marT="9525" marB="0" anchor="b"/>
                </a:tc>
                <a:extLst>
                  <a:ext uri="{0D108BD9-81ED-4DB2-BD59-A6C34878D82A}">
                    <a16:rowId xmlns:a16="http://schemas.microsoft.com/office/drawing/2014/main" val="10003"/>
                  </a:ext>
                </a:extLst>
              </a:tr>
              <a:tr h="270883">
                <a:tc>
                  <a:txBody>
                    <a:bodyPr/>
                    <a:lstStyle/>
                    <a:p>
                      <a:pPr algn="l">
                        <a:buNone/>
                      </a:pPr>
                      <a:r>
                        <a:rPr lang="en-US" sz="1200" b="0" i="0" u="none">
                          <a:solidFill>
                            <a:srgbClr val="000000"/>
                          </a:solidFill>
                          <a:latin typeface="Arial"/>
                          <a:ea typeface="Arial"/>
                          <a:cs typeface="Arial"/>
                        </a:rPr>
                        <a:t>Từ đầu năm</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-228.820.850</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-53.116.009</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-103.383.042</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-108.872.152</a:t>
                      </a:r>
                      <a:endParaRPr sz="1200" b="0" i="0" u="none">
                        <a:solidFill>
                          <a:srgbClr val="000000"/>
                        </a:solidFill>
                        <a:latin typeface="Arial"/>
                        <a:ea typeface="Arial"/>
                        <a:cs typeface="Arial"/>
                      </a:endParaRPr>
                    </a:p>
                  </a:txBody>
                  <a:tcPr marL="9525" marR="9525" marT="9525" marB="0" anchor="b"/>
                </a:tc>
                <a:extLst>
                  <a:ext uri="{0D108BD9-81ED-4DB2-BD59-A6C34878D82A}">
                    <a16:rowId xmlns:a16="http://schemas.microsoft.com/office/drawing/2014/main" val="10004"/>
                  </a:ext>
                </a:extLst>
              </a:tr>
              <a:tr h="270883">
                <a:tc>
                  <a:txBody>
                    <a:bodyPr/>
                    <a:lstStyle/>
                    <a:p>
                      <a:pPr algn="l">
                        <a:buNone/>
                      </a:pPr>
                      <a:r>
                        <a:rPr lang="en-US" sz="1200" b="0" i="0" u="none">
                          <a:solidFill>
                            <a:srgbClr val="000000"/>
                          </a:solidFill>
                          <a:latin typeface="Arial"/>
                          <a:ea typeface="Arial"/>
                          <a:cs typeface="Arial"/>
                        </a:rPr>
                        <a:t>Room NN còn lại</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6,4%</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1,5%</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6,7%</a:t>
                      </a:r>
                      <a:endParaRPr sz="1200" b="0" i="0" u="none">
                        <a:solidFill>
                          <a:srgbClr val="000000"/>
                        </a:solidFill>
                        <a:latin typeface="Arial"/>
                        <a:ea typeface="Arial"/>
                        <a:cs typeface="Arial"/>
                      </a:endParaRPr>
                    </a:p>
                  </a:txBody>
                  <a:tcPr marL="9525" marR="9525" marT="9525" marB="0" anchor="b"/>
                </a:tc>
                <a:tc>
                  <a:txBody>
                    <a:bodyPr/>
                    <a:lstStyle/>
                    <a:p>
                      <a:pPr algn="r">
                        <a:buNone/>
                      </a:pPr>
                      <a:r>
                        <a:rPr lang="en-VN" sz="1200" b="0" i="0" u="none">
                          <a:solidFill>
                            <a:srgbClr val="000000"/>
                          </a:solidFill>
                          <a:latin typeface="Arial"/>
                          <a:ea typeface="Arial"/>
                          <a:cs typeface="Arial"/>
                        </a:rPr>
                        <a:t>1,4%</a:t>
                      </a:r>
                      <a:endParaRPr sz="1200" b="0" i="0" u="none">
                        <a:solidFill>
                          <a:srgbClr val="000000"/>
                        </a:solidFill>
                        <a:latin typeface="Arial"/>
                        <a:ea typeface="Arial"/>
                        <a:cs typeface="Arial"/>
                      </a:endParaRPr>
                    </a:p>
                  </a:txBody>
                  <a:tcPr marL="9525" marR="9525" marT="9525" marB="0" anchor="b"/>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3C41D0C9-4C4F-40CF-A78B-24C080580B2F}"/>
              </a:ext>
            </a:extLst>
          </p:cNvPr>
          <p:cNvSpPr>
            <a:spLocks noGrp="1"/>
          </p:cNvSpPr>
          <p:nvPr/>
        </p:nvSpPr>
        <p:spPr>
          <a:xfrm flipV="1">
            <a:off x="261122" y="726334"/>
            <a:ext cx="11676878"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17" name="Title 5">
            <a:extLst>
              <a:ext uri="{FF2B5EF4-FFF2-40B4-BE49-F238E27FC236}">
                <a16:creationId xmlns:a16="http://schemas.microsoft.com/office/drawing/2014/main" id="{578E1B08-BF77-124A-880E-8FCBA0C71676}"/>
              </a:ext>
            </a:extLst>
          </p:cNvPr>
          <p:cNvSpPr>
            <a:spLocks noGrp="1"/>
          </p:cNvSpPr>
          <p:nvPr/>
        </p:nvSpPr>
        <p:spPr>
          <a:xfrm>
            <a:off x="291437" y="349186"/>
            <a:ext cx="7991728" cy="355038"/>
          </a:xfrm>
          <a:prstGeom prst="rect">
            <a:avLst/>
          </a:prstGeom>
          <a:solidFill>
            <a:schemeClr val="bg1"/>
          </a:solid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lnSpc>
                <a:spcPct val="114000"/>
              </a:lnSpc>
              <a:spcBef>
                <a:spcPts val="300"/>
              </a:spcBef>
              <a:spcAft>
                <a:spcPts val="300"/>
              </a:spcAft>
              <a:buNone/>
              <a:defRPr sz="1425" b="1">
                <a:solidFill>
                  <a:srgbClr val="163A63"/>
                </a:solidFill>
                <a:latin typeface="Arial"/>
                <a:ea typeface="Arial"/>
                <a:cs typeface="Arial"/>
              </a:defRPr>
            </a:pPr>
            <a:r>
              <a:rPr lang="en-US" sz="1425" b="1">
                <a:solidFill>
                  <a:srgbClr val="163A63"/>
                </a:solidFill>
                <a:latin typeface="Arial"/>
                <a:ea typeface="Arial"/>
                <a:cs typeface="Arial"/>
              </a:rPr>
              <a:t>CÁC SỰ KIỆN DIỄN RA TRONG TUẦN 03/08/2026 – 07/08/2026</a:t>
            </a:r>
            <a:endParaRPr sz="1425" b="1">
              <a:solidFill>
                <a:srgbClr val="163A63"/>
              </a:solidFill>
              <a:latin typeface="Arial"/>
              <a:ea typeface="Arial"/>
              <a:cs typeface="Arial"/>
            </a:endParaRPr>
          </a:p>
        </p:txBody>
      </p:sp>
      <p:sp>
        <p:nvSpPr>
          <p:cNvPr id="14" name="TextBox 13">
            <a:extLst>
              <a:ext uri="{FF2B5EF4-FFF2-40B4-BE49-F238E27FC236}">
                <a16:creationId xmlns:a16="http://schemas.microsoft.com/office/drawing/2014/main" id="{2A5735BD-8F3E-4D76-B4E3-A85529B82324}"/>
              </a:ext>
            </a:extLst>
          </p:cNvPr>
          <p:cNvSpPr>
            <a:spLocks noGrp="1"/>
          </p:cNvSpPr>
          <p:nvPr/>
        </p:nvSpPr>
        <p:spPr>
          <a:xfrm>
            <a:off x="306595" y="922013"/>
            <a:ext cx="11493675" cy="411480"/>
          </a:xfrm>
          <a:prstGeom prst="rect">
            <a:avLst/>
          </a:prstGeom>
          <a:noFill/>
        </p:spPr>
        <p:txBody>
          <a:bodyPr wrap="square">
            <a:spAutoFit/>
          </a:bodyPr>
          <a:lstStyle/>
          <a:p>
            <a:pPr>
              <a:lnSpc>
                <a:spcPct val="150000"/>
              </a:lnSpc>
              <a:buNone/>
              <a:defRPr b="1">
                <a:solidFill>
                  <a:srgbClr val="1557B0"/>
                </a:solidFill>
                <a:latin typeface="Arial"/>
                <a:ea typeface="Arial"/>
                <a:cs typeface="Arial"/>
              </a:defRPr>
            </a:pPr>
            <a:r>
              <a:rPr sz="1400" b="1">
                <a:solidFill>
                  <a:srgbClr val="1557B0"/>
                </a:solidFill>
                <a:latin typeface="Arial"/>
                <a:ea typeface="Arial"/>
                <a:cs typeface="Arial"/>
              </a:rPr>
              <a:t>Trong nước</a:t>
            </a:r>
          </a:p>
        </p:txBody>
      </p:sp>
      <p:sp>
        <p:nvSpPr>
          <p:cNvPr id="9" name="TextBox 8">
            <a:extLst>
              <a:ext uri="{FF2B5EF4-FFF2-40B4-BE49-F238E27FC236}">
                <a16:creationId xmlns:a16="http://schemas.microsoft.com/office/drawing/2014/main" id="{CF780BA3-FEDF-45F2-A2CF-3F69BACA285D}"/>
              </a:ext>
            </a:extLst>
          </p:cNvPr>
          <p:cNvSpPr>
            <a:spLocks noGrp="1"/>
          </p:cNvSpPr>
          <p:nvPr/>
        </p:nvSpPr>
        <p:spPr>
          <a:xfrm>
            <a:off x="306595" y="3124233"/>
            <a:ext cx="11493675" cy="822960"/>
          </a:xfrm>
          <a:prstGeom prst="rect">
            <a:avLst/>
          </a:prstGeom>
          <a:noFill/>
        </p:spPr>
        <p:txBody>
          <a:bodyPr wrap="square">
            <a:spAutoFit/>
          </a:bodyPr>
          <a:lstStyle/>
          <a:p>
            <a:pPr>
              <a:lnSpc>
                <a:spcPct val="150000"/>
              </a:lnSpc>
              <a:buNone/>
              <a:defRPr b="1">
                <a:solidFill>
                  <a:srgbClr val="1557B0"/>
                </a:solidFill>
                <a:latin typeface="Arial"/>
                <a:ea typeface="Arial"/>
                <a:cs typeface="Arial"/>
              </a:defRPr>
            </a:pPr>
            <a:r>
              <a:rPr sz="1400" b="1">
                <a:solidFill>
                  <a:srgbClr val="1557B0"/>
                </a:solidFill>
                <a:latin typeface="Arial"/>
                <a:ea typeface="Arial"/>
                <a:cs typeface="Arial"/>
              </a:rPr>
              <a:t>Quốc tế</a:t>
            </a:r>
          </a:p>
          <a:p>
            <a:pPr>
              <a:lnSpc>
                <a:spcPct val="150000"/>
              </a:lnSpc>
              <a:buNone/>
            </a:pPr>
            <a:endParaRPr sz="1400" b="1">
              <a:solidFill>
                <a:srgbClr val="1557B0"/>
              </a:solidFill>
              <a:latin typeface="Arial"/>
              <a:ea typeface="Arial"/>
              <a:cs typeface="Arial"/>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idx="12"/>
          </p:nvPr>
        </p:nvSpPr>
        <p:spPr/>
        <p:txBody>
          <a:bodyPr/>
          <a:lstStyle/>
          <a:p>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7</a:t>
            </a:fld>
            <a:endParaRPr sz="750">
              <a:solidFill>
                <a:srgbClr val="6B7C8F"/>
              </a:solidFill>
              <a:latin typeface="Arial"/>
              <a:ea typeface="Arial"/>
              <a:cs typeface="Arial"/>
            </a:endParaRPr>
          </a:p>
        </p:txBody>
      </p:sp>
      <p:graphicFrame>
        <p:nvGraphicFramePr>
          <p:cNvPr id="28" name="Table 2"/>
          <p:cNvGraphicFramePr/>
          <p:nvPr>
            <p:extLst>
              <p:ext uri="{D42A27DB-BD31-4B8C-83A1-F6EECF244321}">
                <p14:modId xmlns:p14="http://schemas.microsoft.com/office/powerpoint/2010/main" val="4080198565"/>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a:buNone/>
                      </a:pPr>
                      <a:r>
                        <a:rPr sz="1400" b="1" u="none">
                          <a:solidFill>
                            <a:schemeClr val="tx1"/>
                          </a:solidFill>
                        </a:rPr>
                        <a:t>Ngày</a:t>
                      </a:r>
                    </a:p>
                  </a:txBody>
                  <a:tcPr marL="45720" marR="45720" anchor="ctr"/>
                </a:tc>
                <a:tc>
                  <a:txBody>
                    <a:bodyPr/>
                    <a:lstStyle/>
                    <a:p>
                      <a:pPr algn="ctr">
                        <a:buNone/>
                      </a:pPr>
                      <a:r>
                        <a:rPr sz="1400" b="1" u="none">
                          <a:solidFill>
                            <a:schemeClr val="tx1"/>
                          </a:solidFill>
                        </a:rPr>
                        <a:t>Sự kiện</a:t>
                      </a:r>
                    </a:p>
                  </a:txBody>
                  <a:tcPr marL="45720" marR="45720" anchor="ctr"/>
                </a:tc>
                <a:extLst>
                  <a:ext uri="{0D108BD9-81ED-4DB2-BD59-A6C34878D82A}">
                    <a16:rowId xmlns:a16="http://schemas.microsoft.com/office/drawing/2014/main" val="10000"/>
                  </a:ext>
                </a:extLst>
              </a:tr>
              <a:tr h="169612">
                <a:tc>
                  <a:txBody>
                    <a:bodyPr/>
                    <a:lstStyle/>
                    <a:p>
                      <a:pPr algn="l">
                        <a:buNone/>
                      </a:pPr>
                      <a:r>
                        <a:rPr lang="en-VN" sz="1400" b="0" i="0" u="none">
                          <a:solidFill>
                            <a:srgbClr val="000000"/>
                          </a:solidFill>
                          <a:latin typeface="Calibri"/>
                          <a:ea typeface="Calibri"/>
                          <a:cs typeface="Calibri"/>
                        </a:rPr>
                        <a:t>07/08/2026</a:t>
                      </a:r>
                      <a:endParaRPr sz="1400" b="0" i="0" u="none">
                        <a:solidFill>
                          <a:srgbClr val="000000"/>
                        </a:solidFill>
                        <a:latin typeface="Calibri"/>
                        <a:ea typeface="Calibri"/>
                        <a:cs typeface="Calibri"/>
                      </a:endParaRPr>
                    </a:p>
                  </a:txBody>
                  <a:tcPr marL="45720" marR="45720" anchor="ctr"/>
                </a:tc>
                <a:tc>
                  <a:txBody>
                    <a:bodyPr/>
                    <a:lstStyle/>
                    <a:p>
                      <a:pPr marL="0" marR="0" lvl="0" indent="0" algn="l" defTabSz="914400">
                        <a:lnSpc>
                          <a:spcPct val="150000"/>
                        </a:lnSpc>
                        <a:spcBef>
                          <a:spcPts val="0"/>
                        </a:spcBef>
                        <a:spcAft>
                          <a:spcPts val="0"/>
                        </a:spcAft>
                        <a:buClrTx/>
                        <a:buSzTx/>
                        <a:buFontTx/>
                        <a:buNone/>
                      </a:pPr>
                      <a:r>
                        <a:rPr lang="en-US" sz="1400" b="0" u="none">
                          <a:solidFill>
                            <a:srgbClr val="000000"/>
                          </a:solidFill>
                          <a:latin typeface="+mn-lt"/>
                          <a:ea typeface="+mn-lt"/>
                          <a:cs typeface="+mn-lt"/>
                        </a:rPr>
                        <a:t>[United States] Non Farm Payrolls</a:t>
                      </a:r>
                      <a:endParaRPr sz="1400" b="0" u="none">
                        <a:solidFill>
                          <a:srgbClr val="000000"/>
                        </a:solidFill>
                        <a:latin typeface="+mn-lt"/>
                        <a:ea typeface="+mn-lt"/>
                        <a:cs typeface="+mn-lt"/>
                      </a:endParaRPr>
                    </a:p>
                  </a:txBody>
                  <a:tcPr marL="45720" marR="45720" anchor="ctr"/>
                </a:tc>
                <a:extLst>
                  <a:ext uri="{0D108BD9-81ED-4DB2-BD59-A6C34878D82A}">
                    <a16:rowId xmlns:a16="http://schemas.microsoft.com/office/drawing/2014/main" val="10001"/>
                  </a:ext>
                </a:extLst>
              </a:tr>
              <a:tr h="169612">
                <a:tc>
                  <a:txBody>
                    <a:bodyPr/>
                    <a:lstStyle/>
                    <a:p>
                      <a:pPr algn="l">
                        <a:buNone/>
                      </a:pPr>
                      <a:r>
                        <a:rPr lang="en-VN" sz="1400" b="0" i="0" u="none">
                          <a:solidFill>
                            <a:srgbClr val="000000"/>
                          </a:solidFill>
                          <a:latin typeface="Calibri"/>
                          <a:ea typeface="Calibri"/>
                          <a:cs typeface="Calibri"/>
                        </a:rPr>
                        <a:t>09/08/2026</a:t>
                      </a:r>
                      <a:endParaRPr sz="1400" b="0" i="0" u="none">
                        <a:solidFill>
                          <a:srgbClr val="000000"/>
                        </a:solidFill>
                        <a:latin typeface="Calibri"/>
                        <a:ea typeface="Calibri"/>
                        <a:cs typeface="Calibri"/>
                      </a:endParaRPr>
                    </a:p>
                  </a:txBody>
                  <a:tcPr marL="45720" marR="45720" anchor="ctr"/>
                </a:tc>
                <a:tc>
                  <a:txBody>
                    <a:bodyPr/>
                    <a:lstStyle/>
                    <a:p>
                      <a:pPr marL="0" marR="0" lvl="0" indent="0" algn="l" defTabSz="914400">
                        <a:lnSpc>
                          <a:spcPct val="150000"/>
                        </a:lnSpc>
                        <a:spcBef>
                          <a:spcPts val="0"/>
                        </a:spcBef>
                        <a:spcAft>
                          <a:spcPts val="0"/>
                        </a:spcAft>
                        <a:buClrTx/>
                        <a:buSzTx/>
                        <a:buFontTx/>
                        <a:buNone/>
                      </a:pPr>
                      <a:r>
                        <a:rPr lang="en-US" sz="1400" b="0" u="none">
                          <a:solidFill>
                            <a:srgbClr val="000000"/>
                          </a:solidFill>
                          <a:latin typeface="+mn-lt"/>
                          <a:ea typeface="+mn-lt"/>
                          <a:cs typeface="+mn-lt"/>
                        </a:rPr>
                        <a:t>[China] Inflation Rate YoY</a:t>
                      </a:r>
                      <a:endParaRPr sz="1400" b="0" u="none">
                        <a:solidFill>
                          <a:srgbClr val="000000"/>
                        </a:solidFill>
                        <a:latin typeface="+mn-lt"/>
                        <a:ea typeface="+mn-lt"/>
                        <a:cs typeface="+mn-lt"/>
                      </a:endParaRPr>
                    </a:p>
                  </a:txBody>
                  <a:tcPr marL="45720" marR="45720" anchor="ctr"/>
                </a:tc>
                <a:extLst>
                  <a:ext uri="{0D108BD9-81ED-4DB2-BD59-A6C34878D82A}">
                    <a16:rowId xmlns:a16="http://schemas.microsoft.com/office/drawing/2014/main" val="10002"/>
                  </a:ext>
                </a:extLst>
              </a:tr>
              <a:tr h="169612">
                <a:tc>
                  <a:txBody>
                    <a:bodyPr/>
                    <a:lstStyle/>
                    <a:p>
                      <a:pPr algn="l">
                        <a:buNone/>
                      </a:pP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endParaRPr/>
                    </a:p>
                  </a:txBody>
                  <a:tcPr marL="45720" marR="45720" anchor="ctr"/>
                </a:tc>
                <a:extLst>
                  <a:ext uri="{0D108BD9-81ED-4DB2-BD59-A6C34878D82A}">
                    <a16:rowId xmlns:a16="http://schemas.microsoft.com/office/drawing/2014/main" val="10003"/>
                  </a:ext>
                </a:extLst>
              </a:tr>
              <a:tr h="169612">
                <a:tc>
                  <a:txBody>
                    <a:bodyPr/>
                    <a:lstStyle/>
                    <a:p>
                      <a:pPr algn="l">
                        <a:buNone/>
                      </a:pP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endParaRPr/>
                    </a:p>
                  </a:txBody>
                  <a:tcPr marL="45720" marR="45720" anchor="ctr"/>
                </a:tc>
                <a:extLst>
                  <a:ext uri="{0D108BD9-81ED-4DB2-BD59-A6C34878D82A}">
                    <a16:rowId xmlns:a16="http://schemas.microsoft.com/office/drawing/2014/main" val="10004"/>
                  </a:ext>
                </a:extLst>
              </a:tr>
              <a:tr h="169612">
                <a:tc>
                  <a:txBody>
                    <a:bodyPr/>
                    <a:lstStyle/>
                    <a:p>
                      <a:pPr algn="l">
                        <a:buNone/>
                      </a:pPr>
                      <a:endParaRPr/>
                    </a:p>
                  </a:txBody>
                  <a:tcPr marL="45720" marR="45720" anchor="ctr"/>
                </a:tc>
                <a:tc>
                  <a:txBody>
                    <a:bodyPr/>
                    <a:lstStyle/>
                    <a:p>
                      <a:pPr marL="0" marR="0" lvl="0" indent="0" algn="l" defTabSz="914400">
                        <a:lnSpc>
                          <a:spcPct val="150000"/>
                        </a:lnSpc>
                        <a:spcBef>
                          <a:spcPts val="0"/>
                        </a:spcBef>
                        <a:spcAft>
                          <a:spcPts val="0"/>
                        </a:spcAft>
                        <a:buClrTx/>
                        <a:buSzTx/>
                        <a:buFontTx/>
                        <a:buNone/>
                      </a:pPr>
                      <a:endParaRPr/>
                    </a:p>
                  </a:txBody>
                  <a:tcPr marL="45720" marR="45720" anchor="ctr"/>
                </a:tc>
                <a:extLst>
                  <a:ext uri="{0D108BD9-81ED-4DB2-BD59-A6C34878D82A}">
                    <a16:rowId xmlns:a16="http://schemas.microsoft.com/office/drawing/2014/main" val="10005"/>
                  </a:ext>
                </a:extLst>
              </a:tr>
            </a:tbl>
          </a:graphicData>
        </a:graphic>
      </p:graphicFrame>
      <p:graphicFrame>
        <p:nvGraphicFramePr>
          <p:cNvPr id="29" name="Table 1"/>
          <p:cNvGraphicFramePr/>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a:buNone/>
                      </a:pPr>
                      <a:r>
                        <a:rPr sz="1400" b="1" u="none">
                          <a:solidFill>
                            <a:schemeClr val="tx1"/>
                          </a:solidFill>
                        </a:rPr>
                        <a:t>Ngày</a:t>
                      </a:r>
                    </a:p>
                  </a:txBody>
                  <a:tcPr marL="45720" marR="45720" anchor="ctr"/>
                </a:tc>
                <a:tc>
                  <a:txBody>
                    <a:bodyPr/>
                    <a:lstStyle/>
                    <a:p>
                      <a:pPr algn="ctr">
                        <a:buNone/>
                      </a:pPr>
                      <a:r>
                        <a:rPr sz="1400" b="1" u="none">
                          <a:solidFill>
                            <a:schemeClr val="tx1"/>
                          </a:solidFill>
                        </a:rPr>
                        <a:t>Sự kiện</a:t>
                      </a: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6D1FB1DD-0734-4E9D-BE75-065C21E228D0}"/>
              </a:ext>
            </a:extLst>
          </p:cNvPr>
          <p:cNvSpPr>
            <a:spLocks noGrp="1"/>
          </p:cNvSpPr>
          <p:nvPr/>
        </p:nvSpPr>
        <p:spPr>
          <a:xfrm flipV="1">
            <a:off x="261122" y="726334"/>
            <a:ext cx="11676878"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nSpc>
                <a:spcPct val="150000"/>
              </a:lnSpc>
              <a:buFont typeface="Arial"/>
              <a:buChar char="•"/>
            </a:pPr>
            <a:r>
              <a:rPr sz="1100" b="0">
                <a:solidFill>
                  <a:srgbClr val="263442"/>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nSpc>
                <a:spcPct val="150000"/>
              </a:lnSpc>
              <a:buFont typeface="Arial"/>
              <a:buChar char="•"/>
            </a:pPr>
            <a:r>
              <a:rPr sz="1100" b="0">
                <a:solidFill>
                  <a:srgbClr val="263442"/>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nSpc>
                <a:spcPct val="150000"/>
              </a:lnSpc>
              <a:buFont typeface="Arial"/>
              <a:buChar char="•"/>
            </a:pPr>
            <a:r>
              <a:rPr sz="1100" b="1">
                <a:solidFill>
                  <a:srgbClr val="1557B0"/>
                </a:solidFill>
              </a:rPr>
              <a:t>Dự báo VNINDEX sẽ dao động chủ yếu trong vùng 1.680 – 1.740 điểm trong tuần sau.</a:t>
            </a:r>
            <a:r>
              <a:rPr sz="1100" b="0">
                <a:solidFill>
                  <a:srgbClr val="263442"/>
                </a:solidFill>
              </a:rPr>
              <a:t> </a:t>
            </a:r>
          </a:p>
          <a:p>
            <a:pPr marL="171450" indent="-171450">
              <a:lnSpc>
                <a:spcPct val="150000"/>
              </a:lnSpc>
              <a:buFont typeface="Arial"/>
              <a:buChar char="•"/>
            </a:pPr>
            <a:endParaRPr sz="1100" b="0">
              <a:solidFill>
                <a:srgbClr val="263442"/>
              </a:solidFill>
            </a:endParaRPr>
          </a:p>
          <a:p>
            <a:pPr marL="171450" indent="-171450">
              <a:lnSpc>
                <a:spcPct val="150000"/>
              </a:lnSpc>
              <a:buFont typeface="Arial"/>
              <a:buChar char="•"/>
            </a:pPr>
            <a:endParaRPr sz="1100" b="0">
              <a:solidFill>
                <a:srgbClr val="263442"/>
              </a:solidFill>
            </a:endParaRPr>
          </a:p>
        </p:txBody>
      </p:sp>
      <p:sp>
        <p:nvSpPr>
          <p:cNvPr id="17" name="Title 5">
            <a:extLst>
              <a:ext uri="{FF2B5EF4-FFF2-40B4-BE49-F238E27FC236}">
                <a16:creationId xmlns:a16="http://schemas.microsoft.com/office/drawing/2014/main" id="{578E1B08-BF77-124A-880E-8FCBA0C71676}"/>
              </a:ext>
            </a:extLst>
          </p:cNvPr>
          <p:cNvSpPr>
            <a:spLocks noGrp="1"/>
          </p:cNvSpPr>
          <p:nvPr/>
        </p:nvSpPr>
        <p:spPr>
          <a:xfrm>
            <a:off x="291437" y="349186"/>
            <a:ext cx="7991728" cy="355038"/>
          </a:xfrm>
          <a:prstGeom prst="rect">
            <a:avLst/>
          </a:prstGeom>
          <a:solidFill>
            <a:schemeClr val="bg1"/>
          </a:solid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lnSpc>
                <a:spcPct val="114000"/>
              </a:lnSpc>
              <a:spcBef>
                <a:spcPts val="300"/>
              </a:spcBef>
              <a:spcAft>
                <a:spcPts val="300"/>
              </a:spcAft>
              <a:buNone/>
              <a:defRPr sz="1425" b="1">
                <a:solidFill>
                  <a:srgbClr val="163A63"/>
                </a:solidFill>
                <a:latin typeface="Arial"/>
                <a:ea typeface="Arial"/>
                <a:cs typeface="Arial"/>
              </a:defRPr>
            </a:pPr>
            <a:r>
              <a:rPr lang="vi-VN" sz="1425" b="1">
                <a:solidFill>
                  <a:srgbClr val="163A63"/>
                </a:solidFill>
                <a:latin typeface="Arial"/>
                <a:ea typeface="Arial"/>
                <a:cs typeface="Arial"/>
              </a:rPr>
              <a:t>NHẬN ĐỊNH THỊ TRƯỜNG TUẦN 03/08/2026 – 07/08/2026</a:t>
            </a:r>
            <a:endParaRPr sz="1425" b="1">
              <a:solidFill>
                <a:srgbClr val="163A63"/>
              </a:solidFill>
              <a:latin typeface="Arial"/>
              <a:ea typeface="Arial"/>
              <a:cs typeface="Arial"/>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idx="12"/>
          </p:nvPr>
        </p:nvSpPr>
        <p:spPr/>
        <p:txBody>
          <a:bodyPr/>
          <a:lstStyle/>
          <a:p>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8</a:t>
            </a:fld>
            <a:endParaRPr sz="750">
              <a:solidFill>
                <a:srgbClr val="6B7C8F"/>
              </a:solidFill>
              <a:latin typeface="Arial"/>
              <a:ea typeface="Arial"/>
              <a:cs typeface="Arial"/>
            </a:endParaRPr>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9C1D1EAE-FDC1-4E0F-AB71-64C542C148BE}"/>
              </a:ext>
            </a:extLst>
          </p:cNvPr>
          <p:cNvSpPr>
            <a:spLocks noGrp="1"/>
          </p:cNvSpPr>
          <p:nvPr/>
        </p:nvSpPr>
        <p:spPr>
          <a:xfrm flipV="1">
            <a:off x="261122" y="726334"/>
            <a:ext cx="11676878"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17" name="Title 5">
            <a:extLst>
              <a:ext uri="{FF2B5EF4-FFF2-40B4-BE49-F238E27FC236}">
                <a16:creationId xmlns:a16="http://schemas.microsoft.com/office/drawing/2014/main" id="{623AE942-9D6D-ED13-84E7-98B768A2EFD3}"/>
              </a:ext>
            </a:extLst>
          </p:cNvPr>
          <p:cNvSpPr>
            <a:spLocks noGrp="1"/>
          </p:cNvSpPr>
          <p:nvPr/>
        </p:nvSpPr>
        <p:spPr>
          <a:xfrm>
            <a:off x="291437" y="349186"/>
            <a:ext cx="7991728" cy="355038"/>
          </a:xfrm>
          <a:prstGeom prst="rect">
            <a:avLst/>
          </a:prstGeom>
          <a:solidFill>
            <a:schemeClr val="bg1"/>
          </a:solid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DANH MỤC CỔ PHIẾU THEO DÕI</a:t>
            </a:r>
          </a:p>
        </p:txBody>
      </p:sp>
      <p:sp>
        <p:nvSpPr>
          <p:cNvPr id="2" name="Text Placeholder 7">
            <a:extLst>
              <a:ext uri="{FF2B5EF4-FFF2-40B4-BE49-F238E27FC236}">
                <a16:creationId xmlns:a16="http://schemas.microsoft.com/office/drawing/2014/main" id="{24FC048D-159C-5638-DF97-BF8F03F2A6E9}"/>
              </a:ext>
            </a:extLst>
          </p:cNvPr>
          <p:cNvSpPr>
            <a:spLocks noGrp="1"/>
          </p:cNvSpPr>
          <p:nvPr/>
        </p:nvSpPr>
        <p:spPr>
          <a:xfrm>
            <a:off x="261122" y="858133"/>
            <a:ext cx="11676878" cy="5650679"/>
          </a:xfrm>
          <a:prstGeom prst="rect">
            <a:avLst/>
          </a:prstGeom>
        </p:spPr>
        <p:txBody>
          <a:bodyPr vert="horz" lIns="91440" tIns="45720" rIns="91440" bIns="45720" anchor="t">
            <a:no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50000"/>
              </a:lnSpc>
              <a:buNone/>
            </a:pPr>
            <a:endParaRPr/>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idx="12"/>
          </p:nvPr>
        </p:nvSpPr>
        <p:spPr/>
        <p:txBody>
          <a:bodyPr/>
          <a:lstStyle/>
          <a:p>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9</a:t>
            </a:fld>
            <a:endParaRPr sz="750">
              <a:solidFill>
                <a:srgbClr val="6B7C8F"/>
              </a:solidFill>
              <a:latin typeface="Arial"/>
              <a:ea typeface="Arial"/>
              <a:cs typeface="Arial"/>
            </a:endParaRPr>
          </a:p>
        </p:txBody>
      </p:sp>
      <p:graphicFrame>
        <p:nvGraphicFramePr>
          <p:cNvPr id="26" name="Table 3"/>
          <p:cNvGraphicFramePr/>
          <p:nvPr>
            <p:extLst>
              <p:ext uri="{D42A27DB-BD31-4B8C-83A1-F6EECF244321}">
                <p14:modId xmlns:p14="http://schemas.microsoft.com/office/powerpoint/2010/main" val="621229951"/>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20000"/>
                    </a:ext>
                  </a:extLst>
                </a:gridCol>
                <a:gridCol w="941463">
                  <a:extLst>
                    <a:ext uri="{9D8B030D-6E8A-4147-A177-3AD203B41FA5}">
                      <a16:colId xmlns:a16="http://schemas.microsoft.com/office/drawing/2014/main" val="20001"/>
                    </a:ext>
                  </a:extLst>
                </a:gridCol>
                <a:gridCol w="1101725">
                  <a:extLst>
                    <a:ext uri="{9D8B030D-6E8A-4147-A177-3AD203B41FA5}">
                      <a16:colId xmlns:a16="http://schemas.microsoft.com/office/drawing/2014/main" val="20002"/>
                    </a:ext>
                  </a:extLst>
                </a:gridCol>
                <a:gridCol w="1013639">
                  <a:extLst>
                    <a:ext uri="{9D8B030D-6E8A-4147-A177-3AD203B41FA5}">
                      <a16:colId xmlns:a16="http://schemas.microsoft.com/office/drawing/2014/main" val="20003"/>
                    </a:ext>
                  </a:extLst>
                </a:gridCol>
                <a:gridCol w="1013639">
                  <a:extLst>
                    <a:ext uri="{9D8B030D-6E8A-4147-A177-3AD203B41FA5}">
                      <a16:colId xmlns:a16="http://schemas.microsoft.com/office/drawing/2014/main" val="20004"/>
                    </a:ext>
                  </a:extLst>
                </a:gridCol>
                <a:gridCol w="1013639">
                  <a:extLst>
                    <a:ext uri="{9D8B030D-6E8A-4147-A177-3AD203B41FA5}">
                      <a16:colId xmlns:a16="http://schemas.microsoft.com/office/drawing/2014/main" val="20005"/>
                    </a:ext>
                  </a:extLst>
                </a:gridCol>
                <a:gridCol w="1013639">
                  <a:extLst>
                    <a:ext uri="{9D8B030D-6E8A-4147-A177-3AD203B41FA5}">
                      <a16:colId xmlns:a16="http://schemas.microsoft.com/office/drawing/2014/main" val="20006"/>
                    </a:ext>
                  </a:extLst>
                </a:gridCol>
                <a:gridCol w="1013639">
                  <a:extLst>
                    <a:ext uri="{9D8B030D-6E8A-4147-A177-3AD203B41FA5}">
                      <a16:colId xmlns:a16="http://schemas.microsoft.com/office/drawing/2014/main" val="20007"/>
                    </a:ext>
                  </a:extLst>
                </a:gridCol>
                <a:gridCol w="968147">
                  <a:extLst>
                    <a:ext uri="{9D8B030D-6E8A-4147-A177-3AD203B41FA5}">
                      <a16:colId xmlns:a16="http://schemas.microsoft.com/office/drawing/2014/main" val="20008"/>
                    </a:ext>
                  </a:extLst>
                </a:gridCol>
                <a:gridCol w="968147">
                  <a:extLst>
                    <a:ext uri="{9D8B030D-6E8A-4147-A177-3AD203B41FA5}">
                      <a16:colId xmlns:a16="http://schemas.microsoft.com/office/drawing/2014/main" val="20009"/>
                    </a:ext>
                  </a:extLst>
                </a:gridCol>
                <a:gridCol w="968147">
                  <a:extLst>
                    <a:ext uri="{9D8B030D-6E8A-4147-A177-3AD203B41FA5}">
                      <a16:colId xmlns:a16="http://schemas.microsoft.com/office/drawing/2014/main" val="20010"/>
                    </a:ext>
                  </a:extLst>
                </a:gridCol>
                <a:gridCol w="968147">
                  <a:extLst>
                    <a:ext uri="{9D8B030D-6E8A-4147-A177-3AD203B41FA5}">
                      <a16:colId xmlns:a16="http://schemas.microsoft.com/office/drawing/2014/main" val="20011"/>
                    </a:ext>
                  </a:extLst>
                </a:gridCol>
              </a:tblGrid>
              <a:tr h="240931">
                <a:tc rowSpan="2">
                  <a:txBody>
                    <a:bodyPr/>
                    <a:lstStyle/>
                    <a:p>
                      <a:pPr algn="ctr">
                        <a:buNone/>
                      </a:pPr>
                      <a:r>
                        <a:rPr sz="1200" b="1" i="0" u="none">
                          <a:solidFill>
                            <a:srgbClr val="FFFFFF"/>
                          </a:solidFill>
                          <a:latin typeface="Arial"/>
                          <a:ea typeface="Arial"/>
                          <a:cs typeface="Arial"/>
                        </a:rPr>
                        <a:t>STT</a:t>
                      </a:r>
                    </a:p>
                  </a:txBody>
                  <a:tcPr marL="8844" marR="8844" marT="8844" marB="0" anchor="ctr">
                    <a:lnL w="6350" cmpd="sng">
                      <a:solidFill>
                        <a:srgbClr val="002060"/>
                      </a:solidFill>
                      <a:prstDash val="solid"/>
                    </a:lnL>
                    <a:lnR>
                      <a:noFill/>
                    </a:lnR>
                    <a:lnT w="6350" cmpd="sng">
                      <a:solidFill>
                        <a:srgbClr val="002060"/>
                      </a:solidFill>
                      <a:prstDash val="solid"/>
                    </a:lnT>
                    <a:lnB>
                      <a:noFill/>
                    </a:lnB>
                    <a:solidFill>
                      <a:srgbClr val="0070C0"/>
                    </a:solidFill>
                  </a:tcPr>
                </a:tc>
                <a:tc rowSpan="2">
                  <a:txBody>
                    <a:bodyPr/>
                    <a:lstStyle/>
                    <a:p>
                      <a:pPr algn="ctr">
                        <a:buNone/>
                      </a:pPr>
                      <a:r>
                        <a:rPr lang="en-VN" sz="1200" b="1" i="0" u="none">
                          <a:solidFill>
                            <a:srgbClr val="FFFFFF"/>
                          </a:solidFill>
                          <a:latin typeface="Arial"/>
                          <a:ea typeface="Arial"/>
                          <a:cs typeface="Arial"/>
                        </a:rPr>
                        <a:t>31/07/2026</a:t>
                      </a:r>
                      <a:endParaRPr sz="1200" b="1" i="0" u="none">
                        <a:solidFill>
                          <a:srgbClr val="FFFFFF"/>
                        </a:solidFill>
                        <a:latin typeface="Arial"/>
                        <a:ea typeface="Arial"/>
                        <a:cs typeface="Arial"/>
                      </a:endParaRPr>
                    </a:p>
                  </a:txBody>
                  <a:tcPr marL="8844" marR="8844" marT="8844" marB="0" anchor="ctr">
                    <a:lnL>
                      <a:noFill/>
                    </a:lnL>
                    <a:lnR>
                      <a:noFill/>
                    </a:lnR>
                    <a:lnT w="6350" cmpd="sng">
                      <a:solidFill>
                        <a:srgbClr val="002060"/>
                      </a:solidFill>
                      <a:prstDash val="solid"/>
                    </a:lnT>
                    <a:lnB>
                      <a:noFill/>
                    </a:lnB>
                    <a:solidFill>
                      <a:srgbClr val="0070C0"/>
                    </a:solidFill>
                  </a:tcPr>
                </a:tc>
                <a:tc>
                  <a:txBody>
                    <a:bodyPr/>
                    <a:lstStyle/>
                    <a:p>
                      <a:pPr algn="ctr">
                        <a:buNone/>
                      </a:pPr>
                      <a:r>
                        <a:rPr sz="1200" b="1" i="0" u="none">
                          <a:solidFill>
                            <a:srgbClr val="FFFFFF"/>
                          </a:solidFill>
                          <a:latin typeface="Arial"/>
                          <a:ea typeface="Arial"/>
                          <a:cs typeface="Arial"/>
                        </a:rPr>
                        <a:t>Giá đóng cửa</a:t>
                      </a:r>
                    </a:p>
                  </a:txBody>
                  <a:tcPr marL="8844" marR="8844" marT="8844" marB="0" anchor="ctr">
                    <a:lnL>
                      <a:noFill/>
                    </a:lnL>
                    <a:lnR>
                      <a:noFill/>
                    </a:lnR>
                    <a:lnT w="6350" cmpd="sng">
                      <a:solidFill>
                        <a:srgbClr val="002060"/>
                      </a:solidFill>
                      <a:prstDash val="solid"/>
                    </a:lnT>
                    <a:lnB>
                      <a:noFill/>
                    </a:lnB>
                    <a:solidFill>
                      <a:srgbClr val="0070C0"/>
                    </a:solidFill>
                  </a:tcPr>
                </a:tc>
                <a:tc gridSpan="5">
                  <a:txBody>
                    <a:bodyPr/>
                    <a:lstStyle/>
                    <a:p>
                      <a:pPr algn="ctr">
                        <a:buNone/>
                      </a:pPr>
                      <a:r>
                        <a:rPr sz="1200" b="1" i="0" u="none">
                          <a:solidFill>
                            <a:srgbClr val="FFFFFF"/>
                          </a:solidFill>
                          <a:latin typeface="Arial"/>
                          <a:ea typeface="Arial"/>
                          <a:cs typeface="Arial"/>
                        </a:rPr>
                        <a:t>% Thay đổi giá</a:t>
                      </a:r>
                    </a:p>
                  </a:txBody>
                  <a:tcPr marL="8844" marR="8844" marT="8844" marB="0" anchor="ctr">
                    <a:lnL>
                      <a:noFill/>
                    </a:lnL>
                    <a:lnR>
                      <a:noFill/>
                    </a:lnR>
                    <a:lnT w="6350" cmpd="sng">
                      <a:solidFill>
                        <a:srgbClr val="002060"/>
                      </a:solidFill>
                      <a:prstDash val="solid"/>
                    </a:lnT>
                    <a:lnB>
                      <a:noFill/>
                    </a:lnB>
                    <a:solidFill>
                      <a:srgbClr val="0070C0"/>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rowSpan="2">
                  <a:txBody>
                    <a:bodyPr/>
                    <a:lstStyle/>
                    <a:p>
                      <a:pPr algn="ctr">
                        <a:buNone/>
                      </a:pPr>
                      <a:r>
                        <a:rPr sz="1200" b="1" i="0" u="none">
                          <a:solidFill>
                            <a:srgbClr val="FFFFFF"/>
                          </a:solidFill>
                          <a:latin typeface="Arial"/>
                          <a:ea typeface="Arial"/>
                          <a:cs typeface="Arial"/>
                        </a:rPr>
                        <a:t>PE</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PB</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với P/E Trung vị 5 năm</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với P/B Trung vị 5 năm</a:t>
                      </a:r>
                    </a:p>
                  </a:txBody>
                  <a:tcPr marL="8844" marR="8844" marT="8844" marB="0" anchor="ctr">
                    <a:lnL>
                      <a:noFill/>
                    </a:lnL>
                    <a:lnR w="6350" cmpd="sng">
                      <a:solidFill>
                        <a:srgbClr val="002060"/>
                      </a:solidFill>
                      <a:prstDash val="solid"/>
                    </a:lnR>
                    <a:lnT w="6350" cmpd="sng">
                      <a:solidFill>
                        <a:srgbClr val="002060"/>
                      </a:solidFill>
                      <a:prstDash val="solid"/>
                    </a:lnT>
                    <a:lnB>
                      <a:noFill/>
                    </a:lnB>
                    <a:solidFill>
                      <a:srgbClr val="0070C0"/>
                    </a:solidFill>
                  </a:tcPr>
                </a:tc>
                <a:extLst>
                  <a:ext uri="{0D108BD9-81ED-4DB2-BD59-A6C34878D82A}">
                    <a16:rowId xmlns:a16="http://schemas.microsoft.com/office/drawing/2014/main" val="10000"/>
                  </a:ext>
                </a:extLst>
              </a:tr>
              <a:tr h="199004">
                <a:tc vMerge="1">
                  <a:txBody>
                    <a:bodyPr/>
                    <a:lstStyle/>
                    <a:p>
                      <a:endParaRPr/>
                    </a:p>
                  </a:txBody>
                  <a:tcPr/>
                </a:tc>
                <a:tc vMerge="1">
                  <a:txBody>
                    <a:bodyPr/>
                    <a:lstStyle/>
                    <a:p>
                      <a:endParaRPr/>
                    </a:p>
                  </a:txBody>
                  <a:tcPr/>
                </a:tc>
                <a:tc>
                  <a:txBody>
                    <a:bodyPr/>
                    <a:lstStyle/>
                    <a:p>
                      <a:pPr algn="ctr">
                        <a:buNone/>
                      </a:pPr>
                      <a:r>
                        <a:rPr sz="1200" b="1" i="0" u="none">
                          <a:solidFill>
                            <a:srgbClr val="FFFFFF"/>
                          </a:solidFill>
                          <a:latin typeface="Arial"/>
                          <a:ea typeface="Arial"/>
                          <a:cs typeface="Arial"/>
                        </a:rPr>
                        <a:t>31/07/2026</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tuần</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tháng</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YTD</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Cao nhất  52w</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Thấp nhất 52w</a:t>
                      </a:r>
                    </a:p>
                  </a:txBody>
                  <a:tcPr marL="8844" marR="8844" marT="8844" marB="0" anchor="ctr">
                    <a:lnL>
                      <a:noFill/>
                    </a:lnL>
                    <a:lnR>
                      <a:noFill/>
                    </a:lnR>
                    <a:lnT>
                      <a:noFill/>
                    </a:lnT>
                    <a:lnB>
                      <a:noFill/>
                    </a:lnB>
                    <a:solidFill>
                      <a:srgbClr val="0070C0"/>
                    </a:solidFill>
                  </a:tcPr>
                </a:tc>
                <a:tc vMerge="1">
                  <a:txBody>
                    <a:bodyPr/>
                    <a:lstStyle/>
                    <a:p>
                      <a:endParaRPr/>
                    </a:p>
                  </a:txBody>
                  <a:tcPr/>
                </a:tc>
                <a:tc vMerge="1">
                  <a:txBody>
                    <a:bodyPr/>
                    <a:lstStyle/>
                    <a:p>
                      <a:endParaRPr/>
                    </a:p>
                  </a:txBody>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199004">
                <a:tc>
                  <a:txBody>
                    <a:bodyPr/>
                    <a:lstStyle/>
                    <a:p>
                      <a:pPr algn="ctr">
                        <a:buNone/>
                      </a:pPr>
                      <a:r>
                        <a:rPr sz="1200" b="0" i="1" u="none">
                          <a:solidFill>
                            <a:srgbClr val="FFFFFF"/>
                          </a:solidFill>
                          <a:latin typeface="Arial"/>
                          <a:ea typeface="Arial"/>
                          <a:cs typeface="Arial"/>
                        </a:rPr>
                        <a:t> </a:t>
                      </a:r>
                    </a:p>
                  </a:txBody>
                  <a:tcPr marL="8844" marR="8844" marT="8844" marB="0" anchor="ctr">
                    <a:lnL w="6350" cmpd="sng">
                      <a:solidFill>
                        <a:srgbClr val="002060"/>
                      </a:solidFill>
                      <a:prstDash val="solid"/>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 </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VNĐ</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w="6350" cmpd="sng">
                      <a:solidFill>
                        <a:srgbClr val="002060"/>
                      </a:solidFill>
                      <a:prstDash val="solid"/>
                    </a:lnR>
                    <a:lnT>
                      <a:noFill/>
                    </a:lnT>
                    <a:lnB>
                      <a:noFill/>
                    </a:lnB>
                    <a:solidFill>
                      <a:srgbClr val="BFBFBF"/>
                    </a:solidFill>
                  </a:tcPr>
                </a:tc>
                <a:extLst>
                  <a:ext uri="{0D108BD9-81ED-4DB2-BD59-A6C34878D82A}">
                    <a16:rowId xmlns:a16="http://schemas.microsoft.com/office/drawing/2014/main" val="10002"/>
                  </a:ext>
                </a:extLst>
              </a:tr>
              <a:tr h="199004">
                <a:tc>
                  <a:txBody>
                    <a:bodyPr/>
                    <a:lstStyle/>
                    <a:p>
                      <a:pPr algn="ctr">
                        <a:buNone/>
                      </a:pPr>
                      <a:r>
                        <a:rPr lang="en-VN" sz="1000" b="0" i="0" u="none">
                          <a:solidFill>
                            <a:srgbClr val="002060"/>
                          </a:solidFill>
                          <a:latin typeface="Arial"/>
                          <a:ea typeface="Arial"/>
                          <a:cs typeface="Arial"/>
                        </a:rPr>
                        <a:t>30</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FRT</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3"/>
                  </a:ext>
                </a:extLst>
              </a:tr>
              <a:tr h="199004">
                <a:tc>
                  <a:txBody>
                    <a:bodyPr/>
                    <a:lstStyle/>
                    <a:p>
                      <a:pPr algn="ctr">
                        <a:buNone/>
                      </a:pPr>
                      <a:r>
                        <a:rPr lang="en-VN" sz="1000" b="0" i="0" u="none">
                          <a:solidFill>
                            <a:srgbClr val="002060"/>
                          </a:solidFill>
                          <a:latin typeface="Arial"/>
                          <a:ea typeface="Arial"/>
                          <a:cs typeface="Arial"/>
                        </a:rPr>
                        <a:t>49</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VHM</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4"/>
                  </a:ext>
                </a:extLst>
              </a:tr>
              <a:tr h="199004">
                <a:tc>
                  <a:txBody>
                    <a:bodyPr/>
                    <a:lstStyle/>
                    <a:p>
                      <a:pPr algn="ctr">
                        <a:buNone/>
                      </a:pPr>
                      <a:r>
                        <a:rPr lang="en-VN" sz="1000" b="0" i="0" u="none">
                          <a:solidFill>
                            <a:srgbClr val="002060"/>
                          </a:solidFill>
                          <a:latin typeface="Arial"/>
                          <a:ea typeface="Arial"/>
                          <a:cs typeface="Arial"/>
                        </a:rPr>
                        <a:t>60</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VRE</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5"/>
                  </a:ext>
                </a:extLst>
              </a:tr>
              <a:tr h="199004">
                <a:tc>
                  <a:txBody>
                    <a:bodyPr/>
                    <a:lstStyle/>
                    <a:p>
                      <a:pPr algn="ctr">
                        <a:buNone/>
                      </a:pPr>
                      <a:r>
                        <a:rPr lang="en-VN" sz="1000" b="0" i="0" u="none">
                          <a:solidFill>
                            <a:srgbClr val="002060"/>
                          </a:solidFill>
                          <a:latin typeface="Arial"/>
                          <a:ea typeface="Arial"/>
                          <a:cs typeface="Arial"/>
                        </a:rPr>
                        <a:t>63</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CTD</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6"/>
                  </a:ext>
                </a:extLst>
              </a:tr>
              <a:tr h="199004">
                <a:tc>
                  <a:txBody>
                    <a:bodyPr/>
                    <a:lstStyle/>
                    <a:p>
                      <a:pPr algn="ctr">
                        <a:buNone/>
                      </a:pPr>
                      <a:r>
                        <a:rPr lang="en-VN" sz="1000" b="0" i="0" u="none">
                          <a:solidFill>
                            <a:srgbClr val="002060"/>
                          </a:solidFill>
                          <a:latin typeface="Arial"/>
                          <a:ea typeface="Arial"/>
                          <a:cs typeface="Arial"/>
                        </a:rPr>
                        <a:t>41</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VCB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7"/>
                  </a:ext>
                </a:extLst>
              </a:tr>
              <a:tr h="199004">
                <a:tc>
                  <a:txBody>
                    <a:bodyPr/>
                    <a:lstStyle/>
                    <a:p>
                      <a:pPr algn="ctr">
                        <a:buNone/>
                      </a:pPr>
                      <a:r>
                        <a:rPr lang="en-VN" sz="1000" b="0" i="0" u="none">
                          <a:solidFill>
                            <a:srgbClr val="002060"/>
                          </a:solidFill>
                          <a:latin typeface="Arial"/>
                          <a:ea typeface="Arial"/>
                          <a:cs typeface="Arial"/>
                        </a:rPr>
                        <a:t>36</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DGW</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8"/>
                  </a:ext>
                </a:extLst>
              </a:tr>
              <a:tr h="199004">
                <a:tc>
                  <a:txBody>
                    <a:bodyPr/>
                    <a:lstStyle/>
                    <a:p>
                      <a:pPr algn="ctr">
                        <a:buNone/>
                      </a:pPr>
                      <a:r>
                        <a:rPr lang="en-VN" sz="1000" b="0" i="0" u="none">
                          <a:solidFill>
                            <a:srgbClr val="002060"/>
                          </a:solidFill>
                          <a:latin typeface="Arial"/>
                          <a:ea typeface="Arial"/>
                          <a:cs typeface="Arial"/>
                        </a:rPr>
                        <a:t>46</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PVT</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9"/>
                  </a:ext>
                </a:extLst>
              </a:tr>
              <a:tr h="199004">
                <a:tc>
                  <a:txBody>
                    <a:bodyPr/>
                    <a:lstStyle/>
                    <a:p>
                      <a:pPr algn="ctr">
                        <a:buNone/>
                      </a:pPr>
                      <a:r>
                        <a:rPr lang="en-VN" sz="1000" b="0" i="0" u="none">
                          <a:solidFill>
                            <a:srgbClr val="002060"/>
                          </a:solidFill>
                          <a:latin typeface="Arial"/>
                          <a:ea typeface="Arial"/>
                          <a:cs typeface="Arial"/>
                        </a:rPr>
                        <a:t>70</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VCI</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0"/>
                  </a:ext>
                </a:extLst>
              </a:tr>
              <a:tr h="199004">
                <a:tc>
                  <a:txBody>
                    <a:bodyPr/>
                    <a:lstStyle/>
                    <a:p>
                      <a:pPr algn="ctr">
                        <a:buNone/>
                      </a:pPr>
                      <a:r>
                        <a:rPr lang="en-VN" sz="1000" b="0" i="0" u="none">
                          <a:solidFill>
                            <a:srgbClr val="002060"/>
                          </a:solidFill>
                          <a:latin typeface="Arial"/>
                          <a:ea typeface="Arial"/>
                          <a:cs typeface="Arial"/>
                        </a:rPr>
                        <a:t>28</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VGC</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1"/>
                  </a:ext>
                </a:extLst>
              </a:tr>
              <a:tr h="199004">
                <a:tc>
                  <a:txBody>
                    <a:bodyPr/>
                    <a:lstStyle/>
                    <a:p>
                      <a:pPr algn="ctr">
                        <a:buNone/>
                      </a:pPr>
                      <a:r>
                        <a:rPr lang="en-VN" sz="1000" b="0" i="0" u="none">
                          <a:solidFill>
                            <a:srgbClr val="002060"/>
                          </a:solidFill>
                          <a:latin typeface="Arial"/>
                          <a:ea typeface="Arial"/>
                          <a:cs typeface="Arial"/>
                        </a:rPr>
                        <a:t>55</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FPT</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2"/>
                  </a:ext>
                </a:extLst>
              </a:tr>
              <a:tr h="199004">
                <a:tc>
                  <a:txBody>
                    <a:bodyPr/>
                    <a:lstStyle/>
                    <a:p>
                      <a:pPr algn="ctr">
                        <a:buNone/>
                      </a:pPr>
                      <a:r>
                        <a:rPr lang="en-VN" sz="1000" b="0" i="0" u="none">
                          <a:solidFill>
                            <a:srgbClr val="002060"/>
                          </a:solidFill>
                          <a:latin typeface="Arial"/>
                          <a:ea typeface="Arial"/>
                          <a:cs typeface="Arial"/>
                        </a:rPr>
                        <a:t>54</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CTG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3"/>
                  </a:ext>
                </a:extLst>
              </a:tr>
              <a:tr h="199004">
                <a:tc>
                  <a:txBody>
                    <a:bodyPr/>
                    <a:lstStyle/>
                    <a:p>
                      <a:pPr algn="ctr">
                        <a:buNone/>
                      </a:pPr>
                      <a:r>
                        <a:rPr lang="en-VN" sz="1000" b="0" i="0" u="none">
                          <a:solidFill>
                            <a:srgbClr val="002060"/>
                          </a:solidFill>
                          <a:latin typeface="Arial"/>
                          <a:ea typeface="Arial"/>
                          <a:cs typeface="Arial"/>
                        </a:rPr>
                        <a:t>39</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DGC</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4"/>
                  </a:ext>
                </a:extLst>
              </a:tr>
              <a:tr h="199004">
                <a:tc>
                  <a:txBody>
                    <a:bodyPr/>
                    <a:lstStyle/>
                    <a:p>
                      <a:pPr algn="ctr">
                        <a:buNone/>
                      </a:pPr>
                      <a:r>
                        <a:rPr lang="en-VN" sz="1000" b="0" i="0" u="none">
                          <a:solidFill>
                            <a:srgbClr val="002060"/>
                          </a:solidFill>
                          <a:latin typeface="Arial"/>
                          <a:ea typeface="Arial"/>
                          <a:cs typeface="Arial"/>
                        </a:rPr>
                        <a:t>35</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BSR</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5"/>
                  </a:ext>
                </a:extLst>
              </a:tr>
              <a:tr h="199004">
                <a:tc>
                  <a:txBody>
                    <a:bodyPr/>
                    <a:lstStyle/>
                    <a:p>
                      <a:pPr algn="ctr">
                        <a:buNone/>
                      </a:pPr>
                      <a:r>
                        <a:rPr lang="en-VN" sz="1000" b="0" i="0" u="none">
                          <a:solidFill>
                            <a:srgbClr val="002060"/>
                          </a:solidFill>
                          <a:latin typeface="Arial"/>
                          <a:ea typeface="Arial"/>
                          <a:cs typeface="Arial"/>
                        </a:rPr>
                        <a:t>47</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BID</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6"/>
                  </a:ext>
                </a:extLst>
              </a:tr>
              <a:tr h="199004">
                <a:tc>
                  <a:txBody>
                    <a:bodyPr/>
                    <a:lstStyle/>
                    <a:p>
                      <a:pPr algn="ctr">
                        <a:buNone/>
                      </a:pPr>
                      <a:r>
                        <a:rPr lang="en-VN" sz="1000" b="0" i="0" u="none">
                          <a:solidFill>
                            <a:srgbClr val="002060"/>
                          </a:solidFill>
                          <a:latin typeface="Arial"/>
                          <a:ea typeface="Arial"/>
                          <a:cs typeface="Arial"/>
                        </a:rPr>
                        <a:t>6</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GMD</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7"/>
                  </a:ext>
                </a:extLst>
              </a:tr>
              <a:tr h="199004">
                <a:tc>
                  <a:txBody>
                    <a:bodyPr/>
                    <a:lstStyle/>
                    <a:p>
                      <a:pPr algn="ctr">
                        <a:buNone/>
                      </a:pPr>
                      <a:r>
                        <a:rPr lang="en-VN" sz="1000" b="0" i="0" u="none">
                          <a:solidFill>
                            <a:srgbClr val="002060"/>
                          </a:solidFill>
                          <a:latin typeface="Arial"/>
                          <a:ea typeface="Arial"/>
                          <a:cs typeface="Arial"/>
                        </a:rPr>
                        <a:t>38</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GVR</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8"/>
                  </a:ext>
                </a:extLst>
              </a:tr>
              <a:tr h="199004">
                <a:tc>
                  <a:txBody>
                    <a:bodyPr/>
                    <a:lstStyle/>
                    <a:p>
                      <a:pPr algn="ctr">
                        <a:buNone/>
                      </a:pPr>
                      <a:r>
                        <a:rPr lang="en-VN" sz="1000" b="0" i="0" u="none">
                          <a:solidFill>
                            <a:srgbClr val="002060"/>
                          </a:solidFill>
                          <a:latin typeface="Arial"/>
                          <a:ea typeface="Arial"/>
                          <a:cs typeface="Arial"/>
                        </a:rPr>
                        <a:t>29</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REE</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9"/>
                  </a:ext>
                </a:extLst>
              </a:tr>
              <a:tr h="199004">
                <a:tc>
                  <a:txBody>
                    <a:bodyPr/>
                    <a:lstStyle/>
                    <a:p>
                      <a:pPr algn="ctr">
                        <a:buNone/>
                      </a:pPr>
                      <a:r>
                        <a:rPr lang="en-VN" sz="1000" b="0" i="0" u="none">
                          <a:solidFill>
                            <a:srgbClr val="002060"/>
                          </a:solidFill>
                          <a:latin typeface="Arial"/>
                          <a:ea typeface="Arial"/>
                          <a:cs typeface="Arial"/>
                        </a:rPr>
                        <a:t>9</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MCH</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0"/>
                  </a:ext>
                </a:extLst>
              </a:tr>
              <a:tr h="199004">
                <a:tc>
                  <a:txBody>
                    <a:bodyPr/>
                    <a:lstStyle/>
                    <a:p>
                      <a:pPr algn="ctr">
                        <a:buNone/>
                      </a:pPr>
                      <a:r>
                        <a:rPr lang="en-VN" sz="1000" b="0" i="0" u="none">
                          <a:solidFill>
                            <a:srgbClr val="002060"/>
                          </a:solidFill>
                          <a:latin typeface="Arial"/>
                          <a:ea typeface="Arial"/>
                          <a:cs typeface="Arial"/>
                        </a:rPr>
                        <a:t>69</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VIX</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1"/>
                  </a:ext>
                </a:extLst>
              </a:tr>
              <a:tr h="199004">
                <a:tc>
                  <a:txBody>
                    <a:bodyPr/>
                    <a:lstStyle/>
                    <a:p>
                      <a:pPr algn="ctr">
                        <a:buNone/>
                      </a:pPr>
                      <a:r>
                        <a:rPr lang="en-VN" sz="1000" b="0" i="0" u="none">
                          <a:solidFill>
                            <a:srgbClr val="002060"/>
                          </a:solidFill>
                          <a:latin typeface="Arial"/>
                          <a:ea typeface="Arial"/>
                          <a:cs typeface="Arial"/>
                        </a:rPr>
                        <a:t>16</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MWG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2"/>
                  </a:ext>
                </a:extLst>
              </a:tr>
              <a:tr h="199004">
                <a:tc>
                  <a:txBody>
                    <a:bodyPr/>
                    <a:lstStyle/>
                    <a:p>
                      <a:pPr algn="ctr">
                        <a:buNone/>
                      </a:pPr>
                      <a:r>
                        <a:rPr lang="en-VN" sz="1000" b="0" i="0" u="none">
                          <a:solidFill>
                            <a:srgbClr val="002060"/>
                          </a:solidFill>
                          <a:latin typeface="Arial"/>
                          <a:ea typeface="Arial"/>
                          <a:cs typeface="Arial"/>
                        </a:rPr>
                        <a:t>51</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HPG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3"/>
                  </a:ext>
                </a:extLst>
              </a:tr>
              <a:tr h="199004">
                <a:tc>
                  <a:txBody>
                    <a:bodyPr/>
                    <a:lstStyle/>
                    <a:p>
                      <a:pPr algn="ctr">
                        <a:buNone/>
                      </a:pPr>
                      <a:r>
                        <a:rPr lang="en-VN" sz="1000" b="0" i="0" u="none">
                          <a:solidFill>
                            <a:srgbClr val="002060"/>
                          </a:solidFill>
                          <a:latin typeface="Arial"/>
                          <a:ea typeface="Arial"/>
                          <a:cs typeface="Arial"/>
                        </a:rPr>
                        <a:t>59</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NKG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4"/>
                  </a:ext>
                </a:extLst>
              </a:tr>
              <a:tr h="199004">
                <a:tc>
                  <a:txBody>
                    <a:bodyPr/>
                    <a:lstStyle/>
                    <a:p>
                      <a:pPr algn="ctr">
                        <a:buNone/>
                      </a:pPr>
                      <a:r>
                        <a:rPr lang="en-VN" sz="1000" b="0" i="0" u="none">
                          <a:solidFill>
                            <a:srgbClr val="002060"/>
                          </a:solidFill>
                          <a:latin typeface="Arial"/>
                          <a:ea typeface="Arial"/>
                          <a:cs typeface="Arial"/>
                        </a:rPr>
                        <a:t>14</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DPM</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5"/>
                  </a:ext>
                </a:extLst>
              </a:tr>
              <a:tr h="199004">
                <a:tc>
                  <a:txBody>
                    <a:bodyPr/>
                    <a:lstStyle/>
                    <a:p>
                      <a:pPr algn="ctr">
                        <a:buNone/>
                      </a:pPr>
                      <a:r>
                        <a:rPr lang="en-VN" sz="1000" b="0" i="0" u="none">
                          <a:solidFill>
                            <a:srgbClr val="002060"/>
                          </a:solidFill>
                          <a:latin typeface="Arial"/>
                          <a:ea typeface="Arial"/>
                          <a:cs typeface="Arial"/>
                        </a:rPr>
                        <a:t>21</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NLG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6"/>
                  </a:ext>
                </a:extLst>
              </a:tr>
              <a:tr h="199004">
                <a:tc>
                  <a:txBody>
                    <a:bodyPr/>
                    <a:lstStyle/>
                    <a:p>
                      <a:pPr algn="ctr">
                        <a:buNone/>
                      </a:pPr>
                      <a:r>
                        <a:rPr lang="en-VN" sz="1000" b="0" i="0" u="none">
                          <a:solidFill>
                            <a:srgbClr val="002060"/>
                          </a:solidFill>
                          <a:latin typeface="Arial"/>
                          <a:ea typeface="Arial"/>
                          <a:cs typeface="Arial"/>
                        </a:rPr>
                        <a:t>42</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w="6350" cmpd="sng">
                      <a:solidFill>
                        <a:srgbClr val="002060"/>
                      </a:solidFill>
                      <a:prstDash val="solid"/>
                    </a:lnB>
                    <a:noFill/>
                  </a:tcPr>
                </a:tc>
                <a:tc>
                  <a:txBody>
                    <a:bodyPr/>
                    <a:lstStyle/>
                    <a:p>
                      <a:pPr algn="ctr">
                        <a:buNone/>
                      </a:pPr>
                      <a:r>
                        <a:rPr lang="en-US" sz="1000" b="0" i="0" u="none">
                          <a:solidFill>
                            <a:srgbClr val="002060"/>
                          </a:solidFill>
                          <a:latin typeface="Arial"/>
                          <a:ea typeface="Arial"/>
                          <a:cs typeface="Arial"/>
                        </a:rPr>
                        <a:t>DCM</a:t>
                      </a: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w="6350" cmpd="sng">
                      <a:solidFill>
                        <a:srgbClr val="002060"/>
                      </a:solidFill>
                      <a:prstDash val="solid"/>
                    </a:lnB>
                    <a:noFill/>
                  </a:tcPr>
                </a:tc>
                <a:extLst>
                  <a:ext uri="{0D108BD9-81ED-4DB2-BD59-A6C34878D82A}">
                    <a16:rowId xmlns:a16="http://schemas.microsoft.com/office/drawing/2014/main" val="10027"/>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259DBB99-DC7C-4EA5-805B-D5C148AC2E2A}"/>
              </a:ext>
            </a:extLst>
          </p:cNvPr>
          <p:cNvSpPr>
            <a:spLocks noGrp="1"/>
          </p:cNvSpPr>
          <p:nvPr/>
        </p:nvSpPr>
        <p:spPr>
          <a:xfrm flipV="1">
            <a:off x="261122" y="726334"/>
            <a:ext cx="11676878"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17" name="Title 5">
            <a:extLst>
              <a:ext uri="{FF2B5EF4-FFF2-40B4-BE49-F238E27FC236}">
                <a16:creationId xmlns:a16="http://schemas.microsoft.com/office/drawing/2014/main" id="{578E1B08-BF77-124A-880E-8FCBA0C71676}"/>
              </a:ext>
            </a:extLst>
          </p:cNvPr>
          <p:cNvSpPr>
            <a:spLocks noGrp="1"/>
          </p:cNvSpPr>
          <p:nvPr/>
        </p:nvSpPr>
        <p:spPr>
          <a:xfrm>
            <a:off x="291437" y="349186"/>
            <a:ext cx="7991728" cy="355038"/>
          </a:xfrm>
          <a:prstGeom prst="rect">
            <a:avLst/>
          </a:prstGeom>
          <a:solidFill>
            <a:schemeClr val="bg1"/>
          </a:solid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DANH MỤC CỔ PHIẾU THEO DÕI</a:t>
            </a:r>
          </a:p>
        </p:txBody>
      </p:sp>
      <p:sp>
        <p:nvSpPr>
          <p:cNvPr id="2" name="Text Placeholder 7">
            <a:extLst>
              <a:ext uri="{FF2B5EF4-FFF2-40B4-BE49-F238E27FC236}">
                <a16:creationId xmlns:a16="http://schemas.microsoft.com/office/drawing/2014/main" id="{E33D6793-C142-1267-CD98-44105357C7FC}"/>
              </a:ext>
            </a:extLst>
          </p:cNvPr>
          <p:cNvSpPr>
            <a:spLocks noGrp="1"/>
          </p:cNvSpPr>
          <p:nvPr/>
        </p:nvSpPr>
        <p:spPr>
          <a:xfrm>
            <a:off x="261122" y="858133"/>
            <a:ext cx="11676878" cy="5650679"/>
          </a:xfrm>
          <a:prstGeom prst="rect">
            <a:avLst/>
          </a:prstGeom>
        </p:spPr>
        <p:txBody>
          <a:bodyPr vert="horz" lIns="91440" tIns="45720" rIns="91440" bIns="45720" anchor="t">
            <a:no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50000"/>
              </a:lnSpc>
              <a:buNone/>
            </a:pPr>
            <a:endParaRPr/>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idx="12"/>
          </p:nvPr>
        </p:nvSpPr>
        <p:spPr/>
        <p:txBody>
          <a:bodyPr/>
          <a:lstStyle/>
          <a:p>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10</a:t>
            </a:fld>
            <a:endParaRPr sz="750">
              <a:solidFill>
                <a:srgbClr val="6B7C8F"/>
              </a:solidFill>
              <a:latin typeface="Arial"/>
              <a:ea typeface="Arial"/>
              <a:cs typeface="Arial"/>
            </a:endParaRPr>
          </a:p>
        </p:txBody>
      </p:sp>
      <p:graphicFrame>
        <p:nvGraphicFramePr>
          <p:cNvPr id="26" name="Table 8"/>
          <p:cNvGraphicFramePr/>
          <p:nvPr>
            <p:extLst>
              <p:ext uri="{D42A27DB-BD31-4B8C-83A1-F6EECF244321}">
                <p14:modId xmlns:p14="http://schemas.microsoft.com/office/powerpoint/2010/main" val="1028460229"/>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20000"/>
                    </a:ext>
                  </a:extLst>
                </a:gridCol>
                <a:gridCol w="941463">
                  <a:extLst>
                    <a:ext uri="{9D8B030D-6E8A-4147-A177-3AD203B41FA5}">
                      <a16:colId xmlns:a16="http://schemas.microsoft.com/office/drawing/2014/main" val="20001"/>
                    </a:ext>
                  </a:extLst>
                </a:gridCol>
                <a:gridCol w="1101725">
                  <a:extLst>
                    <a:ext uri="{9D8B030D-6E8A-4147-A177-3AD203B41FA5}">
                      <a16:colId xmlns:a16="http://schemas.microsoft.com/office/drawing/2014/main" val="20002"/>
                    </a:ext>
                  </a:extLst>
                </a:gridCol>
                <a:gridCol w="1013639">
                  <a:extLst>
                    <a:ext uri="{9D8B030D-6E8A-4147-A177-3AD203B41FA5}">
                      <a16:colId xmlns:a16="http://schemas.microsoft.com/office/drawing/2014/main" val="20003"/>
                    </a:ext>
                  </a:extLst>
                </a:gridCol>
                <a:gridCol w="1013639">
                  <a:extLst>
                    <a:ext uri="{9D8B030D-6E8A-4147-A177-3AD203B41FA5}">
                      <a16:colId xmlns:a16="http://schemas.microsoft.com/office/drawing/2014/main" val="20004"/>
                    </a:ext>
                  </a:extLst>
                </a:gridCol>
                <a:gridCol w="1013639">
                  <a:extLst>
                    <a:ext uri="{9D8B030D-6E8A-4147-A177-3AD203B41FA5}">
                      <a16:colId xmlns:a16="http://schemas.microsoft.com/office/drawing/2014/main" val="20005"/>
                    </a:ext>
                  </a:extLst>
                </a:gridCol>
                <a:gridCol w="1013639">
                  <a:extLst>
                    <a:ext uri="{9D8B030D-6E8A-4147-A177-3AD203B41FA5}">
                      <a16:colId xmlns:a16="http://schemas.microsoft.com/office/drawing/2014/main" val="20006"/>
                    </a:ext>
                  </a:extLst>
                </a:gridCol>
                <a:gridCol w="1013639">
                  <a:extLst>
                    <a:ext uri="{9D8B030D-6E8A-4147-A177-3AD203B41FA5}">
                      <a16:colId xmlns:a16="http://schemas.microsoft.com/office/drawing/2014/main" val="20007"/>
                    </a:ext>
                  </a:extLst>
                </a:gridCol>
                <a:gridCol w="968147">
                  <a:extLst>
                    <a:ext uri="{9D8B030D-6E8A-4147-A177-3AD203B41FA5}">
                      <a16:colId xmlns:a16="http://schemas.microsoft.com/office/drawing/2014/main" val="20008"/>
                    </a:ext>
                  </a:extLst>
                </a:gridCol>
                <a:gridCol w="968147">
                  <a:extLst>
                    <a:ext uri="{9D8B030D-6E8A-4147-A177-3AD203B41FA5}">
                      <a16:colId xmlns:a16="http://schemas.microsoft.com/office/drawing/2014/main" val="20009"/>
                    </a:ext>
                  </a:extLst>
                </a:gridCol>
                <a:gridCol w="968147">
                  <a:extLst>
                    <a:ext uri="{9D8B030D-6E8A-4147-A177-3AD203B41FA5}">
                      <a16:colId xmlns:a16="http://schemas.microsoft.com/office/drawing/2014/main" val="20010"/>
                    </a:ext>
                  </a:extLst>
                </a:gridCol>
                <a:gridCol w="968147">
                  <a:extLst>
                    <a:ext uri="{9D8B030D-6E8A-4147-A177-3AD203B41FA5}">
                      <a16:colId xmlns:a16="http://schemas.microsoft.com/office/drawing/2014/main" val="20011"/>
                    </a:ext>
                  </a:extLst>
                </a:gridCol>
              </a:tblGrid>
              <a:tr h="240931">
                <a:tc rowSpan="2">
                  <a:txBody>
                    <a:bodyPr/>
                    <a:lstStyle/>
                    <a:p>
                      <a:pPr algn="ctr">
                        <a:buNone/>
                      </a:pPr>
                      <a:r>
                        <a:rPr sz="1200" b="1" i="0" u="none">
                          <a:solidFill>
                            <a:srgbClr val="FFFFFF"/>
                          </a:solidFill>
                          <a:latin typeface="Arial"/>
                          <a:ea typeface="Arial"/>
                          <a:cs typeface="Arial"/>
                        </a:rPr>
                        <a:t>STT</a:t>
                      </a:r>
                    </a:p>
                  </a:txBody>
                  <a:tcPr marL="8844" marR="8844" marT="8844" marB="0" anchor="ctr">
                    <a:lnL w="6350" cmpd="sng">
                      <a:solidFill>
                        <a:srgbClr val="002060"/>
                      </a:solidFill>
                      <a:prstDash val="solid"/>
                    </a:lnL>
                    <a:lnR>
                      <a:noFill/>
                    </a:lnR>
                    <a:lnT w="6350" cmpd="sng">
                      <a:solidFill>
                        <a:srgbClr val="002060"/>
                      </a:solidFill>
                      <a:prstDash val="solid"/>
                    </a:lnT>
                    <a:lnB>
                      <a:noFill/>
                    </a:lnB>
                    <a:solidFill>
                      <a:srgbClr val="0070C0"/>
                    </a:solidFill>
                  </a:tcPr>
                </a:tc>
                <a:tc rowSpan="2">
                  <a:txBody>
                    <a:bodyPr/>
                    <a:lstStyle/>
                    <a:p>
                      <a:pPr algn="ctr">
                        <a:buNone/>
                      </a:pPr>
                      <a:r>
                        <a:rPr lang="en-VN" sz="1200" b="1" i="0" u="none">
                          <a:solidFill>
                            <a:srgbClr val="FFFFFF"/>
                          </a:solidFill>
                          <a:latin typeface="Arial"/>
                          <a:ea typeface="Arial"/>
                          <a:cs typeface="Arial"/>
                        </a:rPr>
                        <a:t>31/07/2026</a:t>
                      </a:r>
                      <a:endParaRPr sz="1200" b="1" i="0" u="none">
                        <a:solidFill>
                          <a:srgbClr val="FFFFFF"/>
                        </a:solidFill>
                        <a:latin typeface="Arial"/>
                        <a:ea typeface="Arial"/>
                        <a:cs typeface="Arial"/>
                      </a:endParaRPr>
                    </a:p>
                  </a:txBody>
                  <a:tcPr marL="8844" marR="8844" marT="8844" marB="0" anchor="ctr">
                    <a:lnL>
                      <a:noFill/>
                    </a:lnL>
                    <a:lnR>
                      <a:noFill/>
                    </a:lnR>
                    <a:lnT w="6350" cmpd="sng">
                      <a:solidFill>
                        <a:srgbClr val="002060"/>
                      </a:solidFill>
                      <a:prstDash val="solid"/>
                    </a:lnT>
                    <a:lnB>
                      <a:noFill/>
                    </a:lnB>
                    <a:solidFill>
                      <a:srgbClr val="0070C0"/>
                    </a:solidFill>
                  </a:tcPr>
                </a:tc>
                <a:tc>
                  <a:txBody>
                    <a:bodyPr/>
                    <a:lstStyle/>
                    <a:p>
                      <a:pPr algn="ctr">
                        <a:buNone/>
                      </a:pPr>
                      <a:r>
                        <a:rPr sz="1200" b="1" i="0" u="none">
                          <a:solidFill>
                            <a:srgbClr val="FFFFFF"/>
                          </a:solidFill>
                          <a:latin typeface="Arial"/>
                          <a:ea typeface="Arial"/>
                          <a:cs typeface="Arial"/>
                        </a:rPr>
                        <a:t>Giá đóng cửa</a:t>
                      </a:r>
                    </a:p>
                  </a:txBody>
                  <a:tcPr marL="8844" marR="8844" marT="8844" marB="0" anchor="ctr">
                    <a:lnL>
                      <a:noFill/>
                    </a:lnL>
                    <a:lnR>
                      <a:noFill/>
                    </a:lnR>
                    <a:lnT w="6350" cmpd="sng">
                      <a:solidFill>
                        <a:srgbClr val="002060"/>
                      </a:solidFill>
                      <a:prstDash val="solid"/>
                    </a:lnT>
                    <a:lnB>
                      <a:noFill/>
                    </a:lnB>
                    <a:solidFill>
                      <a:srgbClr val="0070C0"/>
                    </a:solidFill>
                  </a:tcPr>
                </a:tc>
                <a:tc gridSpan="5">
                  <a:txBody>
                    <a:bodyPr/>
                    <a:lstStyle/>
                    <a:p>
                      <a:pPr algn="ctr">
                        <a:buNone/>
                      </a:pPr>
                      <a:r>
                        <a:rPr sz="1200" b="1" i="0" u="none">
                          <a:solidFill>
                            <a:srgbClr val="FFFFFF"/>
                          </a:solidFill>
                          <a:latin typeface="Arial"/>
                          <a:ea typeface="Arial"/>
                          <a:cs typeface="Arial"/>
                        </a:rPr>
                        <a:t>% Thay đổi giá</a:t>
                      </a:r>
                    </a:p>
                  </a:txBody>
                  <a:tcPr marL="8844" marR="8844" marT="8844" marB="0" anchor="ctr">
                    <a:lnL>
                      <a:noFill/>
                    </a:lnL>
                    <a:lnR>
                      <a:noFill/>
                    </a:lnR>
                    <a:lnT w="6350" cmpd="sng">
                      <a:solidFill>
                        <a:srgbClr val="002060"/>
                      </a:solidFill>
                      <a:prstDash val="solid"/>
                    </a:lnT>
                    <a:lnB>
                      <a:noFill/>
                    </a:lnB>
                    <a:solidFill>
                      <a:srgbClr val="0070C0"/>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rowSpan="2">
                  <a:txBody>
                    <a:bodyPr/>
                    <a:lstStyle/>
                    <a:p>
                      <a:pPr algn="ctr">
                        <a:buNone/>
                      </a:pPr>
                      <a:r>
                        <a:rPr sz="1200" b="1" i="0" u="none">
                          <a:solidFill>
                            <a:srgbClr val="FFFFFF"/>
                          </a:solidFill>
                          <a:latin typeface="Arial"/>
                          <a:ea typeface="Arial"/>
                          <a:cs typeface="Arial"/>
                        </a:rPr>
                        <a:t>PE</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PB</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với P/E Trung vị 5 năm</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với P/B Trung vị 5 năm</a:t>
                      </a:r>
                    </a:p>
                  </a:txBody>
                  <a:tcPr marL="8844" marR="8844" marT="8844" marB="0" anchor="ctr">
                    <a:lnL>
                      <a:noFill/>
                    </a:lnL>
                    <a:lnR w="6350" cmpd="sng">
                      <a:solidFill>
                        <a:srgbClr val="002060"/>
                      </a:solidFill>
                      <a:prstDash val="solid"/>
                    </a:lnR>
                    <a:lnT w="6350" cmpd="sng">
                      <a:solidFill>
                        <a:srgbClr val="002060"/>
                      </a:solidFill>
                      <a:prstDash val="solid"/>
                    </a:lnT>
                    <a:lnB>
                      <a:noFill/>
                    </a:lnB>
                    <a:solidFill>
                      <a:srgbClr val="0070C0"/>
                    </a:solidFill>
                  </a:tcPr>
                </a:tc>
                <a:extLst>
                  <a:ext uri="{0D108BD9-81ED-4DB2-BD59-A6C34878D82A}">
                    <a16:rowId xmlns:a16="http://schemas.microsoft.com/office/drawing/2014/main" val="10000"/>
                  </a:ext>
                </a:extLst>
              </a:tr>
              <a:tr h="199004">
                <a:tc vMerge="1">
                  <a:txBody>
                    <a:bodyPr/>
                    <a:lstStyle/>
                    <a:p>
                      <a:endParaRPr/>
                    </a:p>
                  </a:txBody>
                  <a:tcPr/>
                </a:tc>
                <a:tc vMerge="1">
                  <a:txBody>
                    <a:bodyPr/>
                    <a:lstStyle/>
                    <a:p>
                      <a:endParaRPr/>
                    </a:p>
                  </a:txBody>
                  <a:tcPr/>
                </a:tc>
                <a:tc>
                  <a:txBody>
                    <a:bodyPr/>
                    <a:lstStyle/>
                    <a:p>
                      <a:pPr algn="ctr">
                        <a:buNone/>
                      </a:pPr>
                      <a:r>
                        <a:rPr sz="1200" b="1" i="0" u="none">
                          <a:solidFill>
                            <a:srgbClr val="FFFFFF"/>
                          </a:solidFill>
                          <a:latin typeface="Arial"/>
                          <a:ea typeface="Arial"/>
                          <a:cs typeface="Arial"/>
                        </a:rPr>
                        <a:t>31/07/2026</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tuần</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tháng</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YTD</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Cao nhất  52w</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Thấp nhất 52w</a:t>
                      </a:r>
                    </a:p>
                  </a:txBody>
                  <a:tcPr marL="8844" marR="8844" marT="8844" marB="0" anchor="ctr">
                    <a:lnL>
                      <a:noFill/>
                    </a:lnL>
                    <a:lnR>
                      <a:noFill/>
                    </a:lnR>
                    <a:lnT>
                      <a:noFill/>
                    </a:lnT>
                    <a:lnB>
                      <a:noFill/>
                    </a:lnB>
                    <a:solidFill>
                      <a:srgbClr val="0070C0"/>
                    </a:solidFill>
                  </a:tcPr>
                </a:tc>
                <a:tc vMerge="1">
                  <a:txBody>
                    <a:bodyPr/>
                    <a:lstStyle/>
                    <a:p>
                      <a:endParaRPr/>
                    </a:p>
                  </a:txBody>
                  <a:tcPr/>
                </a:tc>
                <a:tc vMerge="1">
                  <a:txBody>
                    <a:bodyPr/>
                    <a:lstStyle/>
                    <a:p>
                      <a:endParaRPr/>
                    </a:p>
                  </a:txBody>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199004">
                <a:tc>
                  <a:txBody>
                    <a:bodyPr/>
                    <a:lstStyle/>
                    <a:p>
                      <a:pPr algn="ctr">
                        <a:buNone/>
                      </a:pPr>
                      <a:r>
                        <a:rPr sz="1200" b="0" i="1" u="none">
                          <a:solidFill>
                            <a:srgbClr val="FFFFFF"/>
                          </a:solidFill>
                          <a:latin typeface="Arial"/>
                          <a:ea typeface="Arial"/>
                          <a:cs typeface="Arial"/>
                        </a:rPr>
                        <a:t> </a:t>
                      </a:r>
                    </a:p>
                  </a:txBody>
                  <a:tcPr marL="8844" marR="8844" marT="8844" marB="0" anchor="ctr">
                    <a:lnL w="6350" cmpd="sng">
                      <a:solidFill>
                        <a:srgbClr val="002060"/>
                      </a:solidFill>
                      <a:prstDash val="solid"/>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 </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VNĐ</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w="6350" cmpd="sng">
                      <a:solidFill>
                        <a:srgbClr val="002060"/>
                      </a:solidFill>
                      <a:prstDash val="solid"/>
                    </a:lnR>
                    <a:lnT>
                      <a:noFill/>
                    </a:lnT>
                    <a:lnB>
                      <a:noFill/>
                    </a:lnB>
                    <a:solidFill>
                      <a:srgbClr val="BFBFBF"/>
                    </a:solidFill>
                  </a:tcPr>
                </a:tc>
                <a:extLst>
                  <a:ext uri="{0D108BD9-81ED-4DB2-BD59-A6C34878D82A}">
                    <a16:rowId xmlns:a16="http://schemas.microsoft.com/office/drawing/2014/main" val="10002"/>
                  </a:ext>
                </a:extLst>
              </a:tr>
              <a:tr h="199004">
                <a:tc>
                  <a:txBody>
                    <a:bodyPr/>
                    <a:lstStyle/>
                    <a:p>
                      <a:pPr algn="ctr">
                        <a:buNone/>
                      </a:pPr>
                      <a:r>
                        <a:rPr lang="en-VN" sz="1000" b="0" i="0" u="none">
                          <a:solidFill>
                            <a:srgbClr val="002060"/>
                          </a:solidFill>
                          <a:latin typeface="Arial"/>
                          <a:ea typeface="Arial"/>
                          <a:cs typeface="Arial"/>
                        </a:rPr>
                        <a:t>23</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MSN</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3"/>
                  </a:ext>
                </a:extLst>
              </a:tr>
              <a:tr h="199004">
                <a:tc>
                  <a:txBody>
                    <a:bodyPr/>
                    <a:lstStyle/>
                    <a:p>
                      <a:pPr algn="ctr">
                        <a:buNone/>
                      </a:pPr>
                      <a:r>
                        <a:rPr lang="en-VN" sz="1000" b="0" i="0" u="none">
                          <a:solidFill>
                            <a:srgbClr val="002060"/>
                          </a:solidFill>
                          <a:latin typeface="Arial"/>
                          <a:ea typeface="Arial"/>
                          <a:cs typeface="Arial"/>
                        </a:rPr>
                        <a:t>5</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VNM</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4"/>
                  </a:ext>
                </a:extLst>
              </a:tr>
              <a:tr h="199004">
                <a:tc>
                  <a:txBody>
                    <a:bodyPr/>
                    <a:lstStyle/>
                    <a:p>
                      <a:pPr algn="ctr">
                        <a:buNone/>
                      </a:pPr>
                      <a:r>
                        <a:rPr lang="en-VN" sz="1000" b="0" i="0" u="none">
                          <a:solidFill>
                            <a:srgbClr val="002060"/>
                          </a:solidFill>
                          <a:latin typeface="Arial"/>
                          <a:ea typeface="Arial"/>
                          <a:cs typeface="Arial"/>
                        </a:rPr>
                        <a:t>66</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SSI</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5"/>
                  </a:ext>
                </a:extLst>
              </a:tr>
              <a:tr h="199004">
                <a:tc>
                  <a:txBody>
                    <a:bodyPr/>
                    <a:lstStyle/>
                    <a:p>
                      <a:pPr algn="ctr">
                        <a:buNone/>
                      </a:pPr>
                      <a:r>
                        <a:rPr lang="en-VN" sz="1000" b="0" i="0" u="none">
                          <a:solidFill>
                            <a:srgbClr val="002060"/>
                          </a:solidFill>
                          <a:latin typeface="Arial"/>
                          <a:ea typeface="Arial"/>
                          <a:cs typeface="Arial"/>
                        </a:rPr>
                        <a:t>57</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GEX</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6"/>
                  </a:ext>
                </a:extLst>
              </a:tr>
              <a:tr h="199004">
                <a:tc>
                  <a:txBody>
                    <a:bodyPr/>
                    <a:lstStyle/>
                    <a:p>
                      <a:pPr algn="ctr">
                        <a:buNone/>
                      </a:pPr>
                      <a:r>
                        <a:rPr lang="en-VN" sz="1000" b="0" i="0" u="none">
                          <a:solidFill>
                            <a:srgbClr val="002060"/>
                          </a:solidFill>
                          <a:latin typeface="Arial"/>
                          <a:ea typeface="Arial"/>
                          <a:cs typeface="Arial"/>
                        </a:rPr>
                        <a:t>18</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HSG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7"/>
                  </a:ext>
                </a:extLst>
              </a:tr>
              <a:tr h="199004">
                <a:tc>
                  <a:txBody>
                    <a:bodyPr/>
                    <a:lstStyle/>
                    <a:p>
                      <a:pPr algn="ctr">
                        <a:buNone/>
                      </a:pPr>
                      <a:r>
                        <a:rPr lang="en-VN" sz="1000" b="0" i="0" u="none">
                          <a:solidFill>
                            <a:srgbClr val="002060"/>
                          </a:solidFill>
                          <a:latin typeface="Arial"/>
                          <a:ea typeface="Arial"/>
                          <a:cs typeface="Arial"/>
                        </a:rPr>
                        <a:t>10</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GAS</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8"/>
                  </a:ext>
                </a:extLst>
              </a:tr>
              <a:tr h="199004">
                <a:tc>
                  <a:txBody>
                    <a:bodyPr/>
                    <a:lstStyle/>
                    <a:p>
                      <a:pPr algn="ctr">
                        <a:buNone/>
                      </a:pPr>
                      <a:r>
                        <a:rPr lang="en-VN" sz="1000" b="0" i="0" u="none">
                          <a:solidFill>
                            <a:srgbClr val="002060"/>
                          </a:solidFill>
                          <a:latin typeface="Arial"/>
                          <a:ea typeface="Arial"/>
                          <a:cs typeface="Arial"/>
                        </a:rPr>
                        <a:t>11</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DXG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9"/>
                  </a:ext>
                </a:extLst>
              </a:tr>
              <a:tr h="199004">
                <a:tc>
                  <a:txBody>
                    <a:bodyPr/>
                    <a:lstStyle/>
                    <a:p>
                      <a:pPr algn="ctr">
                        <a:buNone/>
                      </a:pPr>
                      <a:r>
                        <a:rPr lang="en-VN" sz="1000" b="0" i="0" u="none">
                          <a:solidFill>
                            <a:srgbClr val="002060"/>
                          </a:solidFill>
                          <a:latin typeface="Arial"/>
                          <a:ea typeface="Arial"/>
                          <a:cs typeface="Arial"/>
                        </a:rPr>
                        <a:t>26</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POW</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0"/>
                  </a:ext>
                </a:extLst>
              </a:tr>
              <a:tr h="199004">
                <a:tc>
                  <a:txBody>
                    <a:bodyPr/>
                    <a:lstStyle/>
                    <a:p>
                      <a:pPr algn="ctr">
                        <a:buNone/>
                      </a:pPr>
                      <a:r>
                        <a:rPr lang="en-VN" sz="1000" b="0" i="0" u="none">
                          <a:solidFill>
                            <a:srgbClr val="002060"/>
                          </a:solidFill>
                          <a:latin typeface="Arial"/>
                          <a:ea typeface="Arial"/>
                          <a:cs typeface="Arial"/>
                        </a:rPr>
                        <a:t>65</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IJC</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1"/>
                  </a:ext>
                </a:extLst>
              </a:tr>
              <a:tr h="199004">
                <a:tc>
                  <a:txBody>
                    <a:bodyPr/>
                    <a:lstStyle/>
                    <a:p>
                      <a:pPr algn="ctr">
                        <a:buNone/>
                      </a:pPr>
                      <a:r>
                        <a:rPr lang="en-VN" sz="1000" b="0" i="0" u="none">
                          <a:solidFill>
                            <a:srgbClr val="002060"/>
                          </a:solidFill>
                          <a:latin typeface="Arial"/>
                          <a:ea typeface="Arial"/>
                          <a:cs typeface="Arial"/>
                        </a:rPr>
                        <a:t>34</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ACV</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2"/>
                  </a:ext>
                </a:extLst>
              </a:tr>
              <a:tr h="199004">
                <a:tc>
                  <a:txBody>
                    <a:bodyPr/>
                    <a:lstStyle/>
                    <a:p>
                      <a:pPr algn="ctr">
                        <a:buNone/>
                      </a:pPr>
                      <a:r>
                        <a:rPr lang="en-VN" sz="1000" b="0" i="0" u="none">
                          <a:solidFill>
                            <a:srgbClr val="002060"/>
                          </a:solidFill>
                          <a:latin typeface="Arial"/>
                          <a:ea typeface="Arial"/>
                          <a:cs typeface="Arial"/>
                        </a:rPr>
                        <a:t>45</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EIB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3"/>
                  </a:ext>
                </a:extLst>
              </a:tr>
              <a:tr h="199004">
                <a:tc>
                  <a:txBody>
                    <a:bodyPr/>
                    <a:lstStyle/>
                    <a:p>
                      <a:pPr algn="ctr">
                        <a:buNone/>
                      </a:pPr>
                      <a:r>
                        <a:rPr lang="en-VN" sz="1000" b="0" i="0" u="none">
                          <a:solidFill>
                            <a:srgbClr val="002060"/>
                          </a:solidFill>
                          <a:latin typeface="Arial"/>
                          <a:ea typeface="Arial"/>
                          <a:cs typeface="Arial"/>
                        </a:rPr>
                        <a:t>7</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PC1</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4"/>
                  </a:ext>
                </a:extLst>
              </a:tr>
              <a:tr h="199004">
                <a:tc>
                  <a:txBody>
                    <a:bodyPr/>
                    <a:lstStyle/>
                    <a:p>
                      <a:pPr algn="ctr">
                        <a:buNone/>
                      </a:pPr>
                      <a:r>
                        <a:rPr lang="en-VN" sz="1000" b="0" i="0" u="none">
                          <a:solidFill>
                            <a:srgbClr val="002060"/>
                          </a:solidFill>
                          <a:latin typeface="Arial"/>
                          <a:ea typeface="Arial"/>
                          <a:cs typeface="Arial"/>
                        </a:rPr>
                        <a:t>13</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DBC</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5"/>
                  </a:ext>
                </a:extLst>
              </a:tr>
              <a:tr h="199004">
                <a:tc>
                  <a:txBody>
                    <a:bodyPr/>
                    <a:lstStyle/>
                    <a:p>
                      <a:pPr algn="ctr">
                        <a:buNone/>
                      </a:pPr>
                      <a:r>
                        <a:rPr lang="en-VN" sz="1000" b="0" i="0" u="none">
                          <a:solidFill>
                            <a:srgbClr val="002060"/>
                          </a:solidFill>
                          <a:latin typeface="Arial"/>
                          <a:ea typeface="Arial"/>
                          <a:cs typeface="Arial"/>
                        </a:rPr>
                        <a:t>37</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TCB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6"/>
                  </a:ext>
                </a:extLst>
              </a:tr>
              <a:tr h="199004">
                <a:tc>
                  <a:txBody>
                    <a:bodyPr/>
                    <a:lstStyle/>
                    <a:p>
                      <a:pPr algn="ctr">
                        <a:buNone/>
                      </a:pPr>
                      <a:r>
                        <a:rPr lang="en-VN" sz="1000" b="0" i="0" u="none">
                          <a:solidFill>
                            <a:srgbClr val="002060"/>
                          </a:solidFill>
                          <a:latin typeface="Arial"/>
                          <a:ea typeface="Arial"/>
                          <a:cs typeface="Arial"/>
                        </a:rPr>
                        <a:t>62</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ANV</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7"/>
                  </a:ext>
                </a:extLst>
              </a:tr>
              <a:tr h="199004">
                <a:tc>
                  <a:txBody>
                    <a:bodyPr/>
                    <a:lstStyle/>
                    <a:p>
                      <a:pPr algn="ctr">
                        <a:buNone/>
                      </a:pPr>
                      <a:r>
                        <a:rPr lang="en-VN" sz="1000" b="0" i="0" u="none">
                          <a:solidFill>
                            <a:srgbClr val="002060"/>
                          </a:solidFill>
                          <a:latin typeface="Arial"/>
                          <a:ea typeface="Arial"/>
                          <a:cs typeface="Arial"/>
                        </a:rPr>
                        <a:t>64</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PNJ</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8"/>
                  </a:ext>
                </a:extLst>
              </a:tr>
              <a:tr h="199004">
                <a:tc>
                  <a:txBody>
                    <a:bodyPr/>
                    <a:lstStyle/>
                    <a:p>
                      <a:pPr algn="ctr">
                        <a:buNone/>
                      </a:pPr>
                      <a:r>
                        <a:rPr lang="en-VN" sz="1000" b="0" i="0" u="none">
                          <a:solidFill>
                            <a:srgbClr val="002060"/>
                          </a:solidFill>
                          <a:latin typeface="Arial"/>
                          <a:ea typeface="Arial"/>
                          <a:cs typeface="Arial"/>
                        </a:rPr>
                        <a:t>43</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VIB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9"/>
                  </a:ext>
                </a:extLst>
              </a:tr>
              <a:tr h="199004">
                <a:tc>
                  <a:txBody>
                    <a:bodyPr/>
                    <a:lstStyle/>
                    <a:p>
                      <a:pPr algn="ctr">
                        <a:buNone/>
                      </a:pPr>
                      <a:r>
                        <a:rPr lang="en-VN" sz="1000" b="0" i="0" u="none">
                          <a:solidFill>
                            <a:srgbClr val="002060"/>
                          </a:solidFill>
                          <a:latin typeface="Arial"/>
                          <a:ea typeface="Arial"/>
                          <a:cs typeface="Arial"/>
                        </a:rPr>
                        <a:t>22</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VND</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0"/>
                  </a:ext>
                </a:extLst>
              </a:tr>
              <a:tr h="199004">
                <a:tc>
                  <a:txBody>
                    <a:bodyPr/>
                    <a:lstStyle/>
                    <a:p>
                      <a:pPr algn="ctr">
                        <a:buNone/>
                      </a:pPr>
                      <a:r>
                        <a:rPr lang="en-VN" sz="1000" b="0" i="0" u="none">
                          <a:solidFill>
                            <a:srgbClr val="002060"/>
                          </a:solidFill>
                          <a:latin typeface="Arial"/>
                          <a:ea typeface="Arial"/>
                          <a:cs typeface="Arial"/>
                        </a:rPr>
                        <a:t>58</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HAH</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1"/>
                  </a:ext>
                </a:extLst>
              </a:tr>
              <a:tr h="199004">
                <a:tc>
                  <a:txBody>
                    <a:bodyPr/>
                    <a:lstStyle/>
                    <a:p>
                      <a:pPr algn="ctr">
                        <a:buNone/>
                      </a:pPr>
                      <a:r>
                        <a:rPr lang="en-VN" sz="1000" b="0" i="0" u="none">
                          <a:solidFill>
                            <a:srgbClr val="002060"/>
                          </a:solidFill>
                          <a:latin typeface="Arial"/>
                          <a:ea typeface="Arial"/>
                          <a:cs typeface="Arial"/>
                        </a:rPr>
                        <a:t>24</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VIC</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2"/>
                  </a:ext>
                </a:extLst>
              </a:tr>
              <a:tr h="199004">
                <a:tc>
                  <a:txBody>
                    <a:bodyPr/>
                    <a:lstStyle/>
                    <a:p>
                      <a:pPr algn="ctr">
                        <a:buNone/>
                      </a:pPr>
                      <a:r>
                        <a:rPr lang="en-VN" sz="1000" b="0" i="0" u="none">
                          <a:solidFill>
                            <a:srgbClr val="002060"/>
                          </a:solidFill>
                          <a:latin typeface="Arial"/>
                          <a:ea typeface="Arial"/>
                          <a:cs typeface="Arial"/>
                        </a:rPr>
                        <a:t>8</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NVL</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3"/>
                  </a:ext>
                </a:extLst>
              </a:tr>
              <a:tr h="199004">
                <a:tc>
                  <a:txBody>
                    <a:bodyPr/>
                    <a:lstStyle/>
                    <a:p>
                      <a:pPr algn="ctr">
                        <a:buNone/>
                      </a:pPr>
                      <a:r>
                        <a:rPr lang="en-VN" sz="1000" b="0" i="0" u="none">
                          <a:solidFill>
                            <a:srgbClr val="002060"/>
                          </a:solidFill>
                          <a:latin typeface="Arial"/>
                          <a:ea typeface="Arial"/>
                          <a:cs typeface="Arial"/>
                        </a:rPr>
                        <a:t>67</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KDH</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4"/>
                  </a:ext>
                </a:extLst>
              </a:tr>
              <a:tr h="199004">
                <a:tc>
                  <a:txBody>
                    <a:bodyPr/>
                    <a:lstStyle/>
                    <a:p>
                      <a:pPr algn="ctr">
                        <a:buNone/>
                      </a:pPr>
                      <a:r>
                        <a:rPr lang="en-VN" sz="1000" b="0" i="0" u="none">
                          <a:solidFill>
                            <a:srgbClr val="002060"/>
                          </a:solidFill>
                          <a:latin typeface="Arial"/>
                          <a:ea typeface="Arial"/>
                          <a:cs typeface="Arial"/>
                        </a:rPr>
                        <a:t>20</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SAB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5"/>
                  </a:ext>
                </a:extLst>
              </a:tr>
              <a:tr h="199004">
                <a:tc>
                  <a:txBody>
                    <a:bodyPr/>
                    <a:lstStyle/>
                    <a:p>
                      <a:pPr algn="ctr">
                        <a:buNone/>
                      </a:pPr>
                      <a:r>
                        <a:rPr lang="en-VN" sz="1000" b="0" i="0" u="none">
                          <a:solidFill>
                            <a:srgbClr val="002060"/>
                          </a:solidFill>
                          <a:latin typeface="Arial"/>
                          <a:ea typeface="Arial"/>
                          <a:cs typeface="Arial"/>
                        </a:rPr>
                        <a:t>44</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HHV</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6"/>
                  </a:ext>
                </a:extLst>
              </a:tr>
              <a:tr h="199004">
                <a:tc>
                  <a:txBody>
                    <a:bodyPr/>
                    <a:lstStyle/>
                    <a:p>
                      <a:pPr algn="ctr">
                        <a:buNone/>
                      </a:pPr>
                      <a:r>
                        <a:rPr lang="en-VN" sz="1000" b="0" i="0" u="none">
                          <a:solidFill>
                            <a:srgbClr val="002060"/>
                          </a:solidFill>
                          <a:latin typeface="Arial"/>
                          <a:ea typeface="Arial"/>
                          <a:cs typeface="Arial"/>
                        </a:rPr>
                        <a:t>31</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w="6350" cmpd="sng">
                      <a:solidFill>
                        <a:srgbClr val="002060"/>
                      </a:solidFill>
                      <a:prstDash val="solid"/>
                    </a:lnB>
                    <a:noFill/>
                  </a:tcPr>
                </a:tc>
                <a:tc>
                  <a:txBody>
                    <a:bodyPr/>
                    <a:lstStyle/>
                    <a:p>
                      <a:pPr algn="ctr">
                        <a:buNone/>
                      </a:pPr>
                      <a:r>
                        <a:rPr lang="en-US" sz="1000" b="0" i="0" u="none">
                          <a:solidFill>
                            <a:srgbClr val="002060"/>
                          </a:solidFill>
                          <a:latin typeface="Arial"/>
                          <a:ea typeface="Arial"/>
                          <a:cs typeface="Arial"/>
                        </a:rPr>
                        <a:t>KBC</a:t>
                      </a: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w="6350" cmpd="sng">
                      <a:solidFill>
                        <a:srgbClr val="002060"/>
                      </a:solidFill>
                      <a:prstDash val="solid"/>
                    </a:lnB>
                    <a:noFill/>
                  </a:tcPr>
                </a:tc>
                <a:extLst>
                  <a:ext uri="{0D108BD9-81ED-4DB2-BD59-A6C34878D82A}">
                    <a16:rowId xmlns:a16="http://schemas.microsoft.com/office/drawing/2014/main" val="10027"/>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0" name="Straight Connector 19">
            <a:extLst>
              <a:ext uri="{FF2B5EF4-FFF2-40B4-BE49-F238E27FC236}">
                <a16:creationId xmlns:a16="http://schemas.microsoft.com/office/drawing/2014/main" id="{69DCA7AA-51CB-4C04-9EE8-9EC3A1F85696}"/>
              </a:ext>
            </a:extLst>
          </p:cNvPr>
          <p:cNvSpPr>
            <a:spLocks noGrp="1"/>
          </p:cNvSpPr>
          <p:nvPr/>
        </p:nvSpPr>
        <p:spPr>
          <a:xfrm flipV="1">
            <a:off x="261122" y="726334"/>
            <a:ext cx="11676878" cy="0"/>
          </a:xfrm>
          <a:prstGeom prst="line">
            <a:avLst/>
          </a:prstGeom>
          <a:ln w="19050">
            <a:solidFill>
              <a:srgbClr val="163A63"/>
            </a:solidFill>
            <a:prstDash val="solid"/>
          </a:ln>
        </p:spPr>
        <p:style>
          <a:lnRef idx="1">
            <a:schemeClr val="accent1"/>
          </a:lnRef>
          <a:fillRef idx="0">
            <a:schemeClr val="accent1"/>
          </a:fillRef>
          <a:effectRef idx="0">
            <a:schemeClr val="accent1"/>
          </a:effectRef>
          <a:fontRef idx="minor">
            <a:schemeClr val="tx1"/>
          </a:fontRef>
        </p:style>
      </p:sp>
      <p:sp>
        <p:nvSpPr>
          <p:cNvPr id="17" name="Title 5">
            <a:extLst>
              <a:ext uri="{FF2B5EF4-FFF2-40B4-BE49-F238E27FC236}">
                <a16:creationId xmlns:a16="http://schemas.microsoft.com/office/drawing/2014/main" id="{50C06C6F-9E47-2E51-CCE2-125829A70D57}"/>
              </a:ext>
            </a:extLst>
          </p:cNvPr>
          <p:cNvSpPr>
            <a:spLocks noGrp="1"/>
          </p:cNvSpPr>
          <p:nvPr/>
        </p:nvSpPr>
        <p:spPr>
          <a:xfrm>
            <a:off x="291437" y="349186"/>
            <a:ext cx="7991728" cy="355038"/>
          </a:xfrm>
          <a:prstGeom prst="rect">
            <a:avLst/>
          </a:prstGeom>
          <a:solidFill>
            <a:schemeClr val="bg1"/>
          </a:solidFill>
        </p:spPr>
        <p:txBody>
          <a:bodyPr vert="horz" lIns="91440" tIns="45720" rIns="91440" bIns="45720" anchor="t">
            <a:noAutofit/>
          </a:bodyPr>
          <a:lstStyle>
            <a:lvl1pPr algn="l" defTabSz="914400">
              <a:lnSpc>
                <a:spcPct val="90000"/>
              </a:lnSpc>
              <a:spcBef>
                <a:spcPct val="0"/>
              </a:spcBef>
              <a:buNone/>
              <a:defRPr sz="1875" kern="1200">
                <a:solidFill>
                  <a:schemeClr val="accent1"/>
                </a:solidFill>
                <a:latin typeface="+mj-lt"/>
                <a:ea typeface="+mj-lt"/>
                <a:cs typeface="+mj-lt"/>
              </a:defRPr>
            </a:lvl1pPr>
          </a:lstStyle>
          <a:p>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DANH MỤC CỔ PHIẾU THEO DÕI</a:t>
            </a:r>
          </a:p>
        </p:txBody>
      </p:sp>
      <p:sp>
        <p:nvSpPr>
          <p:cNvPr id="2" name="Text Placeholder 7">
            <a:extLst>
              <a:ext uri="{FF2B5EF4-FFF2-40B4-BE49-F238E27FC236}">
                <a16:creationId xmlns:a16="http://schemas.microsoft.com/office/drawing/2014/main" id="{BE555233-330D-C30B-8BEA-B65C630650DB}"/>
              </a:ext>
            </a:extLst>
          </p:cNvPr>
          <p:cNvSpPr>
            <a:spLocks noGrp="1"/>
          </p:cNvSpPr>
          <p:nvPr/>
        </p:nvSpPr>
        <p:spPr>
          <a:xfrm>
            <a:off x="261122" y="858133"/>
            <a:ext cx="11676878" cy="5650679"/>
          </a:xfrm>
          <a:prstGeom prst="rect">
            <a:avLst/>
          </a:prstGeom>
        </p:spPr>
        <p:txBody>
          <a:bodyPr vert="horz" lIns="91440" tIns="45720" rIns="91440" bIns="45720" anchor="t">
            <a:no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50000"/>
              </a:lnSpc>
              <a:buNone/>
            </a:pPr>
            <a:endParaRPr/>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idx="12"/>
          </p:nvPr>
        </p:nvSpPr>
        <p:spPr/>
        <p:txBody>
          <a:bodyPr/>
          <a:lstStyle/>
          <a:p>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11</a:t>
            </a:fld>
            <a:endParaRPr sz="750">
              <a:solidFill>
                <a:srgbClr val="6B7C8F"/>
              </a:solidFill>
              <a:latin typeface="Arial"/>
              <a:ea typeface="Arial"/>
              <a:cs typeface="Arial"/>
            </a:endParaRPr>
          </a:p>
        </p:txBody>
      </p:sp>
      <p:graphicFrame>
        <p:nvGraphicFramePr>
          <p:cNvPr id="26" name="Table 4"/>
          <p:cNvGraphicFramePr/>
          <p:nvPr>
            <p:extLst>
              <p:ext uri="{D42A27DB-BD31-4B8C-83A1-F6EECF244321}">
                <p14:modId xmlns:p14="http://schemas.microsoft.com/office/powerpoint/2010/main" val="2802504285"/>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20000"/>
                    </a:ext>
                  </a:extLst>
                </a:gridCol>
                <a:gridCol w="941463">
                  <a:extLst>
                    <a:ext uri="{9D8B030D-6E8A-4147-A177-3AD203B41FA5}">
                      <a16:colId xmlns:a16="http://schemas.microsoft.com/office/drawing/2014/main" val="20001"/>
                    </a:ext>
                  </a:extLst>
                </a:gridCol>
                <a:gridCol w="1101725">
                  <a:extLst>
                    <a:ext uri="{9D8B030D-6E8A-4147-A177-3AD203B41FA5}">
                      <a16:colId xmlns:a16="http://schemas.microsoft.com/office/drawing/2014/main" val="20002"/>
                    </a:ext>
                  </a:extLst>
                </a:gridCol>
                <a:gridCol w="1013639">
                  <a:extLst>
                    <a:ext uri="{9D8B030D-6E8A-4147-A177-3AD203B41FA5}">
                      <a16:colId xmlns:a16="http://schemas.microsoft.com/office/drawing/2014/main" val="20003"/>
                    </a:ext>
                  </a:extLst>
                </a:gridCol>
                <a:gridCol w="1013639">
                  <a:extLst>
                    <a:ext uri="{9D8B030D-6E8A-4147-A177-3AD203B41FA5}">
                      <a16:colId xmlns:a16="http://schemas.microsoft.com/office/drawing/2014/main" val="20004"/>
                    </a:ext>
                  </a:extLst>
                </a:gridCol>
                <a:gridCol w="1013639">
                  <a:extLst>
                    <a:ext uri="{9D8B030D-6E8A-4147-A177-3AD203B41FA5}">
                      <a16:colId xmlns:a16="http://schemas.microsoft.com/office/drawing/2014/main" val="20005"/>
                    </a:ext>
                  </a:extLst>
                </a:gridCol>
                <a:gridCol w="1013639">
                  <a:extLst>
                    <a:ext uri="{9D8B030D-6E8A-4147-A177-3AD203B41FA5}">
                      <a16:colId xmlns:a16="http://schemas.microsoft.com/office/drawing/2014/main" val="20006"/>
                    </a:ext>
                  </a:extLst>
                </a:gridCol>
                <a:gridCol w="1013639">
                  <a:extLst>
                    <a:ext uri="{9D8B030D-6E8A-4147-A177-3AD203B41FA5}">
                      <a16:colId xmlns:a16="http://schemas.microsoft.com/office/drawing/2014/main" val="20007"/>
                    </a:ext>
                  </a:extLst>
                </a:gridCol>
                <a:gridCol w="968147">
                  <a:extLst>
                    <a:ext uri="{9D8B030D-6E8A-4147-A177-3AD203B41FA5}">
                      <a16:colId xmlns:a16="http://schemas.microsoft.com/office/drawing/2014/main" val="20008"/>
                    </a:ext>
                  </a:extLst>
                </a:gridCol>
                <a:gridCol w="968147">
                  <a:extLst>
                    <a:ext uri="{9D8B030D-6E8A-4147-A177-3AD203B41FA5}">
                      <a16:colId xmlns:a16="http://schemas.microsoft.com/office/drawing/2014/main" val="20009"/>
                    </a:ext>
                  </a:extLst>
                </a:gridCol>
                <a:gridCol w="968147">
                  <a:extLst>
                    <a:ext uri="{9D8B030D-6E8A-4147-A177-3AD203B41FA5}">
                      <a16:colId xmlns:a16="http://schemas.microsoft.com/office/drawing/2014/main" val="20010"/>
                    </a:ext>
                  </a:extLst>
                </a:gridCol>
                <a:gridCol w="968147">
                  <a:extLst>
                    <a:ext uri="{9D8B030D-6E8A-4147-A177-3AD203B41FA5}">
                      <a16:colId xmlns:a16="http://schemas.microsoft.com/office/drawing/2014/main" val="20011"/>
                    </a:ext>
                  </a:extLst>
                </a:gridCol>
              </a:tblGrid>
              <a:tr h="240931">
                <a:tc rowSpan="2">
                  <a:txBody>
                    <a:bodyPr/>
                    <a:lstStyle/>
                    <a:p>
                      <a:pPr algn="ctr">
                        <a:buNone/>
                      </a:pPr>
                      <a:r>
                        <a:rPr sz="1200" b="1" i="0" u="none">
                          <a:solidFill>
                            <a:srgbClr val="FFFFFF"/>
                          </a:solidFill>
                          <a:latin typeface="Arial"/>
                          <a:ea typeface="Arial"/>
                          <a:cs typeface="Arial"/>
                        </a:rPr>
                        <a:t>STT</a:t>
                      </a:r>
                    </a:p>
                  </a:txBody>
                  <a:tcPr marL="8844" marR="8844" marT="8844" marB="0" anchor="ctr">
                    <a:lnL w="6350" cmpd="sng">
                      <a:solidFill>
                        <a:srgbClr val="002060"/>
                      </a:solidFill>
                      <a:prstDash val="solid"/>
                    </a:lnL>
                    <a:lnR>
                      <a:noFill/>
                    </a:lnR>
                    <a:lnT w="6350" cmpd="sng">
                      <a:solidFill>
                        <a:srgbClr val="002060"/>
                      </a:solidFill>
                      <a:prstDash val="solid"/>
                    </a:lnT>
                    <a:lnB>
                      <a:noFill/>
                    </a:lnB>
                    <a:solidFill>
                      <a:srgbClr val="0070C0"/>
                    </a:solidFill>
                  </a:tcPr>
                </a:tc>
                <a:tc rowSpan="2">
                  <a:txBody>
                    <a:bodyPr/>
                    <a:lstStyle/>
                    <a:p>
                      <a:pPr algn="ctr">
                        <a:buNone/>
                      </a:pPr>
                      <a:r>
                        <a:rPr lang="en-VN" sz="1200" b="1" i="0" u="none">
                          <a:solidFill>
                            <a:srgbClr val="FFFFFF"/>
                          </a:solidFill>
                          <a:latin typeface="Arial"/>
                          <a:ea typeface="Arial"/>
                          <a:cs typeface="Arial"/>
                        </a:rPr>
                        <a:t>31/07/2026</a:t>
                      </a:r>
                      <a:endParaRPr sz="1200" b="1" i="0" u="none">
                        <a:solidFill>
                          <a:srgbClr val="FFFFFF"/>
                        </a:solidFill>
                        <a:latin typeface="Arial"/>
                        <a:ea typeface="Arial"/>
                        <a:cs typeface="Arial"/>
                      </a:endParaRPr>
                    </a:p>
                  </a:txBody>
                  <a:tcPr marL="8844" marR="8844" marT="8844" marB="0" anchor="ctr">
                    <a:lnL>
                      <a:noFill/>
                    </a:lnL>
                    <a:lnR>
                      <a:noFill/>
                    </a:lnR>
                    <a:lnT w="6350" cmpd="sng">
                      <a:solidFill>
                        <a:srgbClr val="002060"/>
                      </a:solidFill>
                      <a:prstDash val="solid"/>
                    </a:lnT>
                    <a:lnB>
                      <a:noFill/>
                    </a:lnB>
                    <a:solidFill>
                      <a:srgbClr val="0070C0"/>
                    </a:solidFill>
                  </a:tcPr>
                </a:tc>
                <a:tc>
                  <a:txBody>
                    <a:bodyPr/>
                    <a:lstStyle/>
                    <a:p>
                      <a:pPr algn="ctr">
                        <a:buNone/>
                      </a:pPr>
                      <a:r>
                        <a:rPr sz="1200" b="1" i="0" u="none">
                          <a:solidFill>
                            <a:srgbClr val="FFFFFF"/>
                          </a:solidFill>
                          <a:latin typeface="Arial"/>
                          <a:ea typeface="Arial"/>
                          <a:cs typeface="Arial"/>
                        </a:rPr>
                        <a:t>Giá đóng cửa</a:t>
                      </a:r>
                    </a:p>
                  </a:txBody>
                  <a:tcPr marL="8844" marR="8844" marT="8844" marB="0" anchor="ctr">
                    <a:lnL>
                      <a:noFill/>
                    </a:lnL>
                    <a:lnR>
                      <a:noFill/>
                    </a:lnR>
                    <a:lnT w="6350" cmpd="sng">
                      <a:solidFill>
                        <a:srgbClr val="002060"/>
                      </a:solidFill>
                      <a:prstDash val="solid"/>
                    </a:lnT>
                    <a:lnB>
                      <a:noFill/>
                    </a:lnB>
                    <a:solidFill>
                      <a:srgbClr val="0070C0"/>
                    </a:solidFill>
                  </a:tcPr>
                </a:tc>
                <a:tc gridSpan="5">
                  <a:txBody>
                    <a:bodyPr/>
                    <a:lstStyle/>
                    <a:p>
                      <a:pPr algn="ctr">
                        <a:buNone/>
                      </a:pPr>
                      <a:r>
                        <a:rPr sz="1200" b="1" i="0" u="none">
                          <a:solidFill>
                            <a:srgbClr val="FFFFFF"/>
                          </a:solidFill>
                          <a:latin typeface="Arial"/>
                          <a:ea typeface="Arial"/>
                          <a:cs typeface="Arial"/>
                        </a:rPr>
                        <a:t>% Thay đổi giá</a:t>
                      </a:r>
                    </a:p>
                  </a:txBody>
                  <a:tcPr marL="8844" marR="8844" marT="8844" marB="0" anchor="ctr">
                    <a:lnL>
                      <a:noFill/>
                    </a:lnL>
                    <a:lnR>
                      <a:noFill/>
                    </a:lnR>
                    <a:lnT w="6350" cmpd="sng">
                      <a:solidFill>
                        <a:srgbClr val="002060"/>
                      </a:solidFill>
                      <a:prstDash val="solid"/>
                    </a:lnT>
                    <a:lnB>
                      <a:noFill/>
                    </a:lnB>
                    <a:solidFill>
                      <a:srgbClr val="0070C0"/>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rowSpan="2">
                  <a:txBody>
                    <a:bodyPr/>
                    <a:lstStyle/>
                    <a:p>
                      <a:pPr algn="ctr">
                        <a:buNone/>
                      </a:pPr>
                      <a:r>
                        <a:rPr sz="1200" b="1" i="0" u="none">
                          <a:solidFill>
                            <a:srgbClr val="FFFFFF"/>
                          </a:solidFill>
                          <a:latin typeface="Arial"/>
                          <a:ea typeface="Arial"/>
                          <a:cs typeface="Arial"/>
                        </a:rPr>
                        <a:t>PE</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PB</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với P/E Trung vị 5 năm</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với P/B Trung vị 5 năm</a:t>
                      </a:r>
                    </a:p>
                  </a:txBody>
                  <a:tcPr marL="8844" marR="8844" marT="8844" marB="0" anchor="ctr">
                    <a:lnL>
                      <a:noFill/>
                    </a:lnL>
                    <a:lnR w="6350" cmpd="sng">
                      <a:solidFill>
                        <a:srgbClr val="002060"/>
                      </a:solidFill>
                      <a:prstDash val="solid"/>
                    </a:lnR>
                    <a:lnT w="6350" cmpd="sng">
                      <a:solidFill>
                        <a:srgbClr val="002060"/>
                      </a:solidFill>
                      <a:prstDash val="solid"/>
                    </a:lnT>
                    <a:lnB>
                      <a:noFill/>
                    </a:lnB>
                    <a:solidFill>
                      <a:srgbClr val="0070C0"/>
                    </a:solidFill>
                  </a:tcPr>
                </a:tc>
                <a:extLst>
                  <a:ext uri="{0D108BD9-81ED-4DB2-BD59-A6C34878D82A}">
                    <a16:rowId xmlns:a16="http://schemas.microsoft.com/office/drawing/2014/main" val="10000"/>
                  </a:ext>
                </a:extLst>
              </a:tr>
              <a:tr h="199004">
                <a:tc vMerge="1">
                  <a:txBody>
                    <a:bodyPr/>
                    <a:lstStyle/>
                    <a:p>
                      <a:endParaRPr/>
                    </a:p>
                  </a:txBody>
                  <a:tcPr/>
                </a:tc>
                <a:tc vMerge="1">
                  <a:txBody>
                    <a:bodyPr/>
                    <a:lstStyle/>
                    <a:p>
                      <a:endParaRPr/>
                    </a:p>
                  </a:txBody>
                  <a:tcPr/>
                </a:tc>
                <a:tc>
                  <a:txBody>
                    <a:bodyPr/>
                    <a:lstStyle/>
                    <a:p>
                      <a:pPr algn="ctr">
                        <a:buNone/>
                      </a:pPr>
                      <a:r>
                        <a:rPr sz="1200" b="1" i="0" u="none">
                          <a:solidFill>
                            <a:srgbClr val="FFFFFF"/>
                          </a:solidFill>
                          <a:latin typeface="Arial"/>
                          <a:ea typeface="Arial"/>
                          <a:cs typeface="Arial"/>
                        </a:rPr>
                        <a:t>31/07/2026</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tuần</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tháng</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YTD</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Cao nhất  52w</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Thấp nhất 52w</a:t>
                      </a:r>
                    </a:p>
                  </a:txBody>
                  <a:tcPr marL="8844" marR="8844" marT="8844" marB="0" anchor="ctr">
                    <a:lnL>
                      <a:noFill/>
                    </a:lnL>
                    <a:lnR>
                      <a:noFill/>
                    </a:lnR>
                    <a:lnT>
                      <a:noFill/>
                    </a:lnT>
                    <a:lnB>
                      <a:noFill/>
                    </a:lnB>
                    <a:solidFill>
                      <a:srgbClr val="0070C0"/>
                    </a:solidFill>
                  </a:tcPr>
                </a:tc>
                <a:tc vMerge="1">
                  <a:txBody>
                    <a:bodyPr/>
                    <a:lstStyle/>
                    <a:p>
                      <a:endParaRPr/>
                    </a:p>
                  </a:txBody>
                  <a:tcPr/>
                </a:tc>
                <a:tc vMerge="1">
                  <a:txBody>
                    <a:bodyPr/>
                    <a:lstStyle/>
                    <a:p>
                      <a:endParaRPr/>
                    </a:p>
                  </a:txBody>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199004">
                <a:tc>
                  <a:txBody>
                    <a:bodyPr/>
                    <a:lstStyle/>
                    <a:p>
                      <a:pPr algn="ctr">
                        <a:buNone/>
                      </a:pPr>
                      <a:r>
                        <a:rPr sz="1200" b="0" i="1" u="none">
                          <a:solidFill>
                            <a:srgbClr val="FFFFFF"/>
                          </a:solidFill>
                          <a:latin typeface="Arial"/>
                          <a:ea typeface="Arial"/>
                          <a:cs typeface="Arial"/>
                        </a:rPr>
                        <a:t> </a:t>
                      </a:r>
                    </a:p>
                  </a:txBody>
                  <a:tcPr marL="8844" marR="8844" marT="8844" marB="0" anchor="ctr">
                    <a:lnL w="6350" cmpd="sng">
                      <a:solidFill>
                        <a:srgbClr val="002060"/>
                      </a:solidFill>
                      <a:prstDash val="solid"/>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 </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VNĐ</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w="6350" cmpd="sng">
                      <a:solidFill>
                        <a:srgbClr val="002060"/>
                      </a:solidFill>
                      <a:prstDash val="solid"/>
                    </a:lnR>
                    <a:lnT>
                      <a:noFill/>
                    </a:lnT>
                    <a:lnB>
                      <a:noFill/>
                    </a:lnB>
                    <a:solidFill>
                      <a:srgbClr val="BFBFBF"/>
                    </a:solidFill>
                  </a:tcPr>
                </a:tc>
                <a:extLst>
                  <a:ext uri="{0D108BD9-81ED-4DB2-BD59-A6C34878D82A}">
                    <a16:rowId xmlns:a16="http://schemas.microsoft.com/office/drawing/2014/main" val="10002"/>
                  </a:ext>
                </a:extLst>
              </a:tr>
              <a:tr h="199004">
                <a:tc>
                  <a:txBody>
                    <a:bodyPr/>
                    <a:lstStyle/>
                    <a:p>
                      <a:pPr algn="ctr">
                        <a:buNone/>
                      </a:pPr>
                      <a:r>
                        <a:rPr lang="en-VN" sz="1000" b="0" i="0" u="none">
                          <a:solidFill>
                            <a:srgbClr val="002060"/>
                          </a:solidFill>
                          <a:latin typeface="Arial"/>
                          <a:ea typeface="Arial"/>
                          <a:cs typeface="Arial"/>
                        </a:rPr>
                        <a:t>2</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PVS</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3"/>
                  </a:ext>
                </a:extLst>
              </a:tr>
              <a:tr h="199004">
                <a:tc>
                  <a:txBody>
                    <a:bodyPr/>
                    <a:lstStyle/>
                    <a:p>
                      <a:pPr algn="ctr">
                        <a:buNone/>
                      </a:pPr>
                      <a:r>
                        <a:rPr lang="en-VN" sz="1000" b="0" i="0" u="none">
                          <a:solidFill>
                            <a:srgbClr val="002060"/>
                          </a:solidFill>
                          <a:latin typeface="Arial"/>
                          <a:ea typeface="Arial"/>
                          <a:cs typeface="Arial"/>
                        </a:rPr>
                        <a:t>61</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VCG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4"/>
                  </a:ext>
                </a:extLst>
              </a:tr>
              <a:tr h="199004">
                <a:tc>
                  <a:txBody>
                    <a:bodyPr/>
                    <a:lstStyle/>
                    <a:p>
                      <a:pPr algn="ctr">
                        <a:buNone/>
                      </a:pPr>
                      <a:r>
                        <a:rPr lang="en-VN" sz="1000" b="0" i="0" u="none">
                          <a:solidFill>
                            <a:srgbClr val="002060"/>
                          </a:solidFill>
                          <a:latin typeface="Arial"/>
                          <a:ea typeface="Arial"/>
                          <a:cs typeface="Arial"/>
                        </a:rPr>
                        <a:t>25</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OCB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5"/>
                  </a:ext>
                </a:extLst>
              </a:tr>
              <a:tr h="199004">
                <a:tc>
                  <a:txBody>
                    <a:bodyPr/>
                    <a:lstStyle/>
                    <a:p>
                      <a:pPr algn="ctr">
                        <a:buNone/>
                      </a:pPr>
                      <a:r>
                        <a:rPr lang="en-VN" sz="1000" b="0" i="0" u="none">
                          <a:solidFill>
                            <a:srgbClr val="002060"/>
                          </a:solidFill>
                          <a:latin typeface="Arial"/>
                          <a:ea typeface="Arial"/>
                          <a:cs typeface="Arial"/>
                        </a:rPr>
                        <a:t>40</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VPB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6"/>
                  </a:ext>
                </a:extLst>
              </a:tr>
              <a:tr h="199004">
                <a:tc>
                  <a:txBody>
                    <a:bodyPr/>
                    <a:lstStyle/>
                    <a:p>
                      <a:pPr algn="ctr">
                        <a:buNone/>
                      </a:pPr>
                      <a:r>
                        <a:rPr lang="en-VN" sz="1000" b="0" i="0" u="none">
                          <a:solidFill>
                            <a:srgbClr val="002060"/>
                          </a:solidFill>
                          <a:latin typeface="Arial"/>
                          <a:ea typeface="Arial"/>
                          <a:cs typeface="Arial"/>
                        </a:rPr>
                        <a:t>50</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TPB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7"/>
                  </a:ext>
                </a:extLst>
              </a:tr>
              <a:tr h="199004">
                <a:tc>
                  <a:txBody>
                    <a:bodyPr/>
                    <a:lstStyle/>
                    <a:p>
                      <a:pPr algn="ctr">
                        <a:buNone/>
                      </a:pPr>
                      <a:r>
                        <a:rPr lang="en-VN" sz="1000" b="0" i="0" u="none">
                          <a:solidFill>
                            <a:srgbClr val="002060"/>
                          </a:solidFill>
                          <a:latin typeface="Arial"/>
                          <a:ea typeface="Arial"/>
                          <a:cs typeface="Arial"/>
                        </a:rPr>
                        <a:t>56</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HDG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8"/>
                  </a:ext>
                </a:extLst>
              </a:tr>
              <a:tr h="199004">
                <a:tc>
                  <a:txBody>
                    <a:bodyPr/>
                    <a:lstStyle/>
                    <a:p>
                      <a:pPr algn="ctr">
                        <a:buNone/>
                      </a:pPr>
                      <a:r>
                        <a:rPr lang="en-VN" sz="1000" b="0" i="0" u="none">
                          <a:solidFill>
                            <a:srgbClr val="002060"/>
                          </a:solidFill>
                          <a:latin typeface="Arial"/>
                          <a:ea typeface="Arial"/>
                          <a:cs typeface="Arial"/>
                        </a:rPr>
                        <a:t>33</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PLX</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09"/>
                  </a:ext>
                </a:extLst>
              </a:tr>
              <a:tr h="199004">
                <a:tc>
                  <a:txBody>
                    <a:bodyPr/>
                    <a:lstStyle/>
                    <a:p>
                      <a:pPr algn="ctr">
                        <a:buNone/>
                      </a:pPr>
                      <a:r>
                        <a:rPr lang="en-VN" sz="1000" b="0" i="0" u="none">
                          <a:solidFill>
                            <a:srgbClr val="002060"/>
                          </a:solidFill>
                          <a:latin typeface="Arial"/>
                          <a:ea typeface="Arial"/>
                          <a:cs typeface="Arial"/>
                        </a:rPr>
                        <a:t>17</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BVB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0"/>
                  </a:ext>
                </a:extLst>
              </a:tr>
              <a:tr h="199004">
                <a:tc>
                  <a:txBody>
                    <a:bodyPr/>
                    <a:lstStyle/>
                    <a:p>
                      <a:pPr algn="ctr">
                        <a:buNone/>
                      </a:pPr>
                      <a:r>
                        <a:rPr lang="en-VN" sz="1000" b="0" i="0" u="none">
                          <a:solidFill>
                            <a:srgbClr val="002060"/>
                          </a:solidFill>
                          <a:latin typeface="Arial"/>
                          <a:ea typeface="Arial"/>
                          <a:cs typeface="Arial"/>
                        </a:rPr>
                        <a:t>52</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IDC</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1"/>
                  </a:ext>
                </a:extLst>
              </a:tr>
              <a:tr h="199004">
                <a:tc>
                  <a:txBody>
                    <a:bodyPr/>
                    <a:lstStyle/>
                    <a:p>
                      <a:pPr algn="ctr">
                        <a:buNone/>
                      </a:pPr>
                      <a:r>
                        <a:rPr lang="en-VN" sz="1000" b="0" i="0" u="none">
                          <a:solidFill>
                            <a:srgbClr val="002060"/>
                          </a:solidFill>
                          <a:latin typeface="Arial"/>
                          <a:ea typeface="Arial"/>
                          <a:cs typeface="Arial"/>
                        </a:rPr>
                        <a:t>1</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HCM</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2"/>
                  </a:ext>
                </a:extLst>
              </a:tr>
              <a:tr h="199004">
                <a:tc>
                  <a:txBody>
                    <a:bodyPr/>
                    <a:lstStyle/>
                    <a:p>
                      <a:pPr algn="ctr">
                        <a:buNone/>
                      </a:pPr>
                      <a:r>
                        <a:rPr lang="en-VN" sz="1000" b="0" i="0" u="none">
                          <a:solidFill>
                            <a:srgbClr val="002060"/>
                          </a:solidFill>
                          <a:latin typeface="Arial"/>
                          <a:ea typeface="Arial"/>
                          <a:cs typeface="Arial"/>
                        </a:rPr>
                        <a:t>19</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VHC</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3"/>
                  </a:ext>
                </a:extLst>
              </a:tr>
              <a:tr h="199004">
                <a:tc>
                  <a:txBody>
                    <a:bodyPr/>
                    <a:lstStyle/>
                    <a:p>
                      <a:pPr algn="ctr">
                        <a:buNone/>
                      </a:pPr>
                      <a:r>
                        <a:rPr lang="en-VN" sz="1000" b="0" i="0" u="none">
                          <a:solidFill>
                            <a:srgbClr val="002060"/>
                          </a:solidFill>
                          <a:latin typeface="Arial"/>
                          <a:ea typeface="Arial"/>
                          <a:cs typeface="Arial"/>
                        </a:rPr>
                        <a:t>32</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DIG</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4"/>
                  </a:ext>
                </a:extLst>
              </a:tr>
              <a:tr h="199004">
                <a:tc>
                  <a:txBody>
                    <a:bodyPr/>
                    <a:lstStyle/>
                    <a:p>
                      <a:pPr algn="ctr">
                        <a:buNone/>
                      </a:pPr>
                      <a:r>
                        <a:rPr lang="en-VN" sz="1000" b="0" i="0" u="none">
                          <a:solidFill>
                            <a:srgbClr val="002060"/>
                          </a:solidFill>
                          <a:latin typeface="Arial"/>
                          <a:ea typeface="Arial"/>
                          <a:cs typeface="Arial"/>
                        </a:rPr>
                        <a:t>12</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HDB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5"/>
                  </a:ext>
                </a:extLst>
              </a:tr>
              <a:tr h="199004">
                <a:tc>
                  <a:txBody>
                    <a:bodyPr/>
                    <a:lstStyle/>
                    <a:p>
                      <a:pPr algn="ctr">
                        <a:buNone/>
                      </a:pPr>
                      <a:r>
                        <a:rPr lang="en-VN" sz="1000" b="0" i="0" u="none">
                          <a:solidFill>
                            <a:srgbClr val="002060"/>
                          </a:solidFill>
                          <a:latin typeface="Arial"/>
                          <a:ea typeface="Arial"/>
                          <a:cs typeface="Arial"/>
                        </a:rPr>
                        <a:t>27</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TCH</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6"/>
                  </a:ext>
                </a:extLst>
              </a:tr>
              <a:tr h="199004">
                <a:tc>
                  <a:txBody>
                    <a:bodyPr/>
                    <a:lstStyle/>
                    <a:p>
                      <a:pPr algn="ctr">
                        <a:buNone/>
                      </a:pPr>
                      <a:r>
                        <a:rPr lang="en-VN" sz="1000" b="0" i="0" u="none">
                          <a:solidFill>
                            <a:srgbClr val="002060"/>
                          </a:solidFill>
                          <a:latin typeface="Arial"/>
                          <a:ea typeface="Arial"/>
                          <a:cs typeface="Arial"/>
                        </a:rPr>
                        <a:t>4</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ACB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7"/>
                  </a:ext>
                </a:extLst>
              </a:tr>
              <a:tr h="199004">
                <a:tc>
                  <a:txBody>
                    <a:bodyPr/>
                    <a:lstStyle/>
                    <a:p>
                      <a:pPr algn="ctr">
                        <a:buNone/>
                      </a:pPr>
                      <a:r>
                        <a:rPr lang="en-VN" sz="1000" b="0" i="0" u="none">
                          <a:solidFill>
                            <a:srgbClr val="002060"/>
                          </a:solidFill>
                          <a:latin typeface="Arial"/>
                          <a:ea typeface="Arial"/>
                          <a:cs typeface="Arial"/>
                        </a:rPr>
                        <a:t>3</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STB</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8"/>
                  </a:ext>
                </a:extLst>
              </a:tr>
              <a:tr h="199004">
                <a:tc>
                  <a:txBody>
                    <a:bodyPr/>
                    <a:lstStyle/>
                    <a:p>
                      <a:pPr algn="ctr">
                        <a:buNone/>
                      </a:pPr>
                      <a:r>
                        <a:rPr lang="en-VN" sz="1000" b="0" i="0" u="none">
                          <a:solidFill>
                            <a:srgbClr val="002060"/>
                          </a:solidFill>
                          <a:latin typeface="Arial"/>
                          <a:ea typeface="Arial"/>
                          <a:cs typeface="Arial"/>
                        </a:rPr>
                        <a:t>53</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CII</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19"/>
                  </a:ext>
                </a:extLst>
              </a:tr>
              <a:tr h="199004">
                <a:tc>
                  <a:txBody>
                    <a:bodyPr/>
                    <a:lstStyle/>
                    <a:p>
                      <a:pPr algn="ctr">
                        <a:buNone/>
                      </a:pPr>
                      <a:r>
                        <a:rPr lang="en-VN" sz="1000" b="0" i="0" u="none">
                          <a:solidFill>
                            <a:srgbClr val="002060"/>
                          </a:solidFill>
                          <a:latin typeface="Arial"/>
                          <a:ea typeface="Arial"/>
                          <a:cs typeface="Arial"/>
                        </a:rPr>
                        <a:t>48</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PDR</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0"/>
                  </a:ext>
                </a:extLst>
              </a:tr>
              <a:tr h="199004">
                <a:tc>
                  <a:txBody>
                    <a:bodyPr/>
                    <a:lstStyle/>
                    <a:p>
                      <a:pPr algn="ctr">
                        <a:buNone/>
                      </a:pPr>
                      <a:r>
                        <a:rPr lang="en-VN" sz="1000" b="0" i="0" u="none">
                          <a:solidFill>
                            <a:srgbClr val="002060"/>
                          </a:solidFill>
                          <a:latin typeface="Arial"/>
                          <a:ea typeface="Arial"/>
                          <a:cs typeface="Arial"/>
                        </a:rPr>
                        <a:t>15</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lang="en-US" sz="1000" b="0" i="0" u="none">
                          <a:solidFill>
                            <a:srgbClr val="002060"/>
                          </a:solidFill>
                          <a:latin typeface="Arial"/>
                          <a:ea typeface="Arial"/>
                          <a:cs typeface="Arial"/>
                        </a:rPr>
                        <a:t>PVD</a:t>
                      </a: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a:noFill/>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w="6350" cmpd="sng">
                      <a:solidFill>
                        <a:srgbClr val="002060"/>
                      </a:solidFill>
                      <a:prstDash val="solid"/>
                    </a:lnR>
                    <a:lnT>
                      <a:noFill/>
                    </a:lnT>
                    <a:lnB>
                      <a:noFill/>
                    </a:lnB>
                    <a:noFill/>
                  </a:tcPr>
                </a:tc>
                <a:extLst>
                  <a:ext uri="{0D108BD9-81ED-4DB2-BD59-A6C34878D82A}">
                    <a16:rowId xmlns:a16="http://schemas.microsoft.com/office/drawing/2014/main" val="10021"/>
                  </a:ext>
                </a:extLst>
              </a:tr>
              <a:tr h="199004">
                <a:tc>
                  <a:txBody>
                    <a:bodyPr/>
                    <a:lstStyle/>
                    <a:p>
                      <a:pPr algn="ctr">
                        <a:buNone/>
                      </a:pPr>
                      <a:r>
                        <a:rPr lang="en-VN" sz="1000" b="0" i="0" u="none">
                          <a:solidFill>
                            <a:srgbClr val="002060"/>
                          </a:solidFill>
                          <a:latin typeface="Arial"/>
                          <a:ea typeface="Arial"/>
                          <a:cs typeface="Arial"/>
                        </a:rPr>
                        <a:t>68</a:t>
                      </a:r>
                      <a:endParaRPr sz="1000" b="0" i="0" u="none">
                        <a:solidFill>
                          <a:srgbClr val="002060"/>
                        </a:solidFill>
                        <a:latin typeface="Arial"/>
                        <a:ea typeface="Arial"/>
                        <a:cs typeface="Arial"/>
                      </a:endParaRPr>
                    </a:p>
                  </a:txBody>
                  <a:tcPr marL="9525" marR="9525" marT="9525" marB="0" anchor="ctr">
                    <a:lnL w="6350" cmpd="sng">
                      <a:solidFill>
                        <a:srgbClr val="002060"/>
                      </a:solidFill>
                      <a:prstDash val="solid"/>
                    </a:lnL>
                    <a:lnR>
                      <a:noFill/>
                    </a:lnR>
                    <a:lnT>
                      <a:noFill/>
                    </a:lnT>
                    <a:lnB w="6350" cmpd="sng">
                      <a:solidFill>
                        <a:srgbClr val="002060"/>
                      </a:solidFill>
                      <a:prstDash val="solid"/>
                    </a:lnB>
                    <a:noFill/>
                  </a:tcPr>
                </a:tc>
                <a:tc>
                  <a:txBody>
                    <a:bodyPr/>
                    <a:lstStyle/>
                    <a:p>
                      <a:pPr algn="ctr">
                        <a:buNone/>
                      </a:pPr>
                      <a:r>
                        <a:rPr lang="en-US" sz="1000" b="0" i="0" u="none">
                          <a:solidFill>
                            <a:srgbClr val="002060"/>
                          </a:solidFill>
                          <a:latin typeface="Arial"/>
                          <a:ea typeface="Arial"/>
                          <a:cs typeface="Arial"/>
                        </a:rPr>
                        <a:t>BCM</a:t>
                      </a: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l">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B05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002060"/>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a:noFill/>
                    </a:lnR>
                    <a:lnT>
                      <a:noFill/>
                    </a:lnT>
                    <a:lnB w="6350" cmpd="sng">
                      <a:solidFill>
                        <a:srgbClr val="002060"/>
                      </a:solidFill>
                      <a:prstDash val="solid"/>
                    </a:lnB>
                    <a:noFill/>
                  </a:tcPr>
                </a:tc>
                <a:tc>
                  <a:txBody>
                    <a:bodyPr/>
                    <a:lstStyle/>
                    <a:p>
                      <a:pPr algn="ctr">
                        <a:buNone/>
                      </a:pPr>
                      <a:endParaRPr sz="1000" b="0" i="0" u="none">
                        <a:solidFill>
                          <a:srgbClr val="9C0006"/>
                        </a:solidFill>
                        <a:latin typeface="Arial"/>
                        <a:ea typeface="Arial"/>
                        <a:cs typeface="Arial"/>
                      </a:endParaRPr>
                    </a:p>
                  </a:txBody>
                  <a:tcPr marL="9525" marR="9525" marT="9525" marB="0" anchor="ctr">
                    <a:lnL>
                      <a:noFill/>
                    </a:lnL>
                    <a:lnR w="6350" cmpd="sng">
                      <a:solidFill>
                        <a:srgbClr val="002060"/>
                      </a:solidFill>
                      <a:prstDash val="solid"/>
                    </a:lnR>
                    <a:lnT>
                      <a:noFill/>
                    </a:lnT>
                    <a:lnB w="6350" cmpd="sng">
                      <a:solidFill>
                        <a:srgbClr val="002060"/>
                      </a:solidFill>
                      <a:prstDash val="solid"/>
                    </a:lnB>
                    <a:no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2225</Words>
  <Application>Microsoft Macintosh PowerPoint</Application>
  <DocSecurity>0</DocSecurity>
  <PresentationFormat>Widescreen</PresentationFormat>
  <Paragraphs>601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Long Dang</cp:lastModifiedBy>
  <cp:revision>1</cp:revision>
  <dcterms:created xsi:type="dcterms:W3CDTF">2026-08-04T09:01:58Z</dcterms:created>
  <dcterms:modified xsi:type="dcterms:W3CDTF">2026-08-04T09:05:37Z</dcterms:modified>
</cp:coreProperties>
</file>