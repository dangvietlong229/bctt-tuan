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4/8/26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03/08/2026 – 07/08/2026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332398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27/07 – 31/07/2026</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03/08/2026 – 07/08/2026</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2" name="Chart 6 Auto">
            <a:extLst>
              <a:ext uri="{FF2B5EF4-FFF2-40B4-BE49-F238E27FC236}">
                <a16:creationId xmlns:a16="http://schemas.microsoft.com/office/drawing/2014/main" id="{42AD6EB1-DD57-D035-CC13-D9BEA2200462}"/>
              </a:ext>
            </a:extLst>
          </p:cNvPr>
          <p:cNvPicPr>
            <a:picLocks/>
          </p:cNvPicPr>
          <p:nvPr/>
        </p:nvPicPr>
        <p:blipFill>
          <a:blip r:embed="rId3"/>
          <a:stretch>
            <a:fillRect/>
          </a:stretch>
        </p:blipFill>
        <p:spPr>
          <a:xfrm>
            <a:off x="7757279" y="3677493"/>
            <a:ext cx="4248526" cy="2878911"/>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3988058215"/>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-11,14%</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-9,93%</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-6,84%</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-8,99%</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-0,99%</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-3,05%</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-5,60%</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-10,24%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27/07-31/07/2026,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681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384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58780196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a:t>
                      </a:r>
                    </a:p>
                    <a:p>
                      <a:pPr algn="r" fontAlgn="ctr"/>
                      <a:r>
                        <a:rPr lang="en-US" sz="1000" b="1" u="none" strike="noStrike">
                          <a:solidFill>
                            <a:srgbClr val="FFFFFF"/>
                          </a:solidFill>
                          <a:effectLst/>
                        </a:rPr>
                        <a:t>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POW</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-133.837.690.000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8,32%</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-115.044.020.000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3,97%</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-79.504.650.000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9,96%</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-78.434.940.000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12,89%</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-71.242.630.000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9,85%</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-51.252.425.000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VJC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-47.052.790.000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6,68%</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-39.589.604.000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9,46%</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FUEVFVND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32.440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-38.107.090.000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36,40%</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33.700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-35.818.329.000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53,01%</a:t>
                      </a: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61173612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Mua</a:t>
                      </a:r>
                      <a:r>
                        <a:rPr lang="en-US" sz="1000" b="1" u="none" strike="noStrike" dirty="0">
                          <a:solidFill>
                            <a:srgbClr val="FFFFFF"/>
                          </a:solidFill>
                          <a:effectLst/>
                        </a:rPr>
                        <a:t>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a:solidFill>
                            <a:srgbClr val="FFFFFF"/>
                          </a:solidFill>
                          <a:effectLst/>
                        </a:rPr>
                        <a:t>Tỷ </a:t>
                      </a:r>
                      <a:r>
                        <a:rPr lang="en-US" sz="1000" b="1" u="none" strike="noStrike" dirty="0" err="1">
                          <a:solidFill>
                            <a:srgbClr val="FFFFFF"/>
                          </a:solidFill>
                          <a:effectLst/>
                        </a:rPr>
                        <a:t>trọng</a:t>
                      </a:r>
                      <a:r>
                        <a:rPr lang="en-US" sz="1000" b="1" u="none" strike="noStrike" dirty="0">
                          <a:solidFill>
                            <a:srgbClr val="FFFFFF"/>
                          </a:solidFill>
                          <a:effectLst/>
                        </a:rPr>
                        <a:t> </a:t>
                      </a:r>
                      <a:r>
                        <a:rPr lang="en-US" sz="1000" b="1" u="none" strike="noStrike" dirty="0" err="1">
                          <a:solidFill>
                            <a:srgbClr val="FFFFFF"/>
                          </a:solidFill>
                          <a:effectLst/>
                        </a:rPr>
                        <a:t>mua</a:t>
                      </a:r>
                      <a:r>
                        <a:rPr lang="en-US" sz="1000" b="1" u="none" strike="noStrike" dirty="0">
                          <a:solidFill>
                            <a:srgbClr val="FFFFFF"/>
                          </a:solidFill>
                          <a:effectLst/>
                        </a:rPr>
                        <a:t> của </a:t>
                      </a:r>
                      <a:r>
                        <a:rPr lang="en-US" sz="1000" b="1" u="none" strike="noStrike" dirty="0" err="1">
                          <a:solidFill>
                            <a:srgbClr val="FFFFFF"/>
                          </a:solidFill>
                          <a:effectLst/>
                        </a:rPr>
                        <a:t>Khối</a:t>
                      </a:r>
                      <a:endParaRPr lang="en-US" sz="1000" b="1" u="none" strike="noStrike" dirty="0">
                        <a:solidFill>
                          <a:srgbClr val="FFFFFF"/>
                        </a:solidFill>
                        <a:effectLst/>
                      </a:endParaRPr>
                    </a:p>
                    <a:p>
                      <a:pPr algn="r" fontAlgn="ctr"/>
                      <a:r>
                        <a:rPr lang="en-US" sz="1000" b="1" u="none" strike="noStrike" dirty="0">
                          <a:solidFill>
                            <a:srgbClr val="FFFFFF"/>
                          </a:solidFill>
                          <a:effectLst/>
                        </a:rPr>
                        <a:t> </a:t>
                      </a:r>
                      <a:r>
                        <a:rPr lang="en-US" sz="1000" b="1" u="none" strike="noStrike" dirty="0" err="1">
                          <a:solidFill>
                            <a:srgbClr val="FFFFFF"/>
                          </a:solidFill>
                          <a:effectLst/>
                        </a:rPr>
                        <a:t>Tự</a:t>
                      </a:r>
                      <a:r>
                        <a:rPr lang="en-US" sz="1000" b="1" u="none" strike="noStrike" dirty="0">
                          <a:solidFill>
                            <a:srgbClr val="FFFFFF"/>
                          </a:solidFill>
                          <a:effectLst/>
                        </a:rPr>
                        <a:t>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VPX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577.171.900.000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45,55%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110.050.100.000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56.268.401.000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49.617.640.000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REE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38.159.400.000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33.983.990.000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8,54%</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32.946.787.000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6,39%</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FUEMAV30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23.190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27.172.518.000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49,98%</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21.850.054.000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15,60%</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19.679.225.000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3,74%</a:t>
                      </a: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1337847620"/>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453.206.561.200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360.929.511.400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334.575.454.150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308.275.896.900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262.715.524.800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253.465.305.100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249.209.847.100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168.397.080.500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15,57%</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167.693.860.000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116.760.717.850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2397318513"/>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-3.445.478.678.100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-376.569.390.550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-278.784.238.950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-243.482.009.400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-209.489.006.300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-207.581.893.150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-138.865.045.700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-113.275.752.300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-101.722.392.350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EIB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-51.607.960.000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27/07 – 31/07/2026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127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r>
              <a:rPr lang="en-US" sz="1100" dirty="0" err="1">
                <a:solidFill>
                  <a:schemeClr val="tx1"/>
                </a:solidFill>
                <a:latin typeface="Arial" panose="020B0604020202020204" pitchFamily="34" charset="0"/>
                <a:cs typeface="Arial" panose="020B0604020202020204" pitchFamily="34" charset="0"/>
              </a:rPr>
              <a:t>đối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NDTNN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493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294293165"/>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31/07/2026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Báo cáo tình hình Quản trị công ty 6 tháng đầu năm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30/07/2026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Nghị quyết HĐQT số 3411 ngày 28/07/2026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29/07/2026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Điều lệ công ty sửa đổi</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665309979"/>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-17.370.861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-17.860.342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-41.923.991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-38.085.620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4.293.512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-16.017.491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-32.182.660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-32.762.639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-228.820.850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-53.116.009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-103.383.042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-108.872.152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03/08/2026 – 07/08/2026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4045339891"/>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07/08/2026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[United States] Non Farm Payrolls</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09/08/2026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[China] Inflation Rate YoY</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03/08/2026 – 07/08/2026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305902112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148.100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59.300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288,24%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30.700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-43,70%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-21,33%</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505669743"/>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28.950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311,73%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9.960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27.800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-0,18%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22,7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21,73%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-19,85%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072457080"/>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35.700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-32,39%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-41,23%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-54,60%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-62,45%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-54,75%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87552</TotalTime>
  <Words>3747</Words>
  <Application>Microsoft Macintosh PowerPoint</Application>
  <PresentationFormat>Widescreen</PresentationFormat>
  <Paragraphs>1309</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3857</cp:revision>
  <dcterms:created xsi:type="dcterms:W3CDTF">2020-03-18T03:42:50Z</dcterms:created>
  <dcterms:modified xsi:type="dcterms:W3CDTF">2026-08-04T08:09:35Z</dcterms:modified>
</cp:coreProperties>
</file>