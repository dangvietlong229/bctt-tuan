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91" r:id="rId2"/>
    <p:sldId id="2738" r:id="rId3"/>
    <p:sldId id="2898" r:id="rId4"/>
    <p:sldId id="2922" r:id="rId5"/>
    <p:sldId id="2899" r:id="rId6"/>
    <p:sldId id="2926" r:id="rId7"/>
    <p:sldId id="2920" r:id="rId8"/>
    <p:sldId id="2921" r:id="rId9"/>
    <p:sldId id="2925" r:id="rId10"/>
    <p:sldId id="2915" r:id="rId11"/>
    <p:sldId id="292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99133-360E-B7FA-5670-27D0F42E245D}" name="Tran Khanh Hien" initials="TKH" userId="4f6d85d472746b1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rương Thùy Dương" initials="TTD" lastIdx="12" clrIdx="0"/>
  <p:cmAuthor id="1" name="Trần Thị Khánh Hiền" initials="TKH" lastIdx="7" clrIdx="1">
    <p:extLst>
      <p:ext uri="{19B8F6BF-5375-455C-9EA6-DF929625EA0E}">
        <p15:presenceInfo xmlns:p15="http://schemas.microsoft.com/office/powerpoint/2012/main" userId="4f6d85d472746b1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CC4"/>
    <a:srgbClr val="07A9F0"/>
    <a:srgbClr val="EB2D4B"/>
    <a:srgbClr val="141ED2"/>
    <a:srgbClr val="54C4AE"/>
    <a:srgbClr val="FF7F0C"/>
    <a:srgbClr val="0000FF"/>
    <a:srgbClr val="2355CA"/>
    <a:srgbClr val="40B3FF"/>
    <a:srgbClr val="8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3909"/>
  </p:normalViewPr>
  <p:slideViewPr>
    <p:cSldViewPr snapToGrid="0">
      <p:cViewPr varScale="1">
        <p:scale>
          <a:sx n="106" d="100"/>
          <a:sy n="106" d="100"/>
        </p:scale>
        <p:origin x="846" y="114"/>
      </p:cViewPr>
      <p:guideLst>
        <p:guide orient="horz" pos="2160"/>
        <p:guide pos="3840"/>
      </p:guideLst>
    </p:cSldViewPr>
  </p:slideViewPr>
  <p:notesTextViewPr>
    <p:cViewPr>
      <p:scale>
        <a:sx n="90" d="100"/>
        <a:sy n="9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ong.dangviet\Documents\GitHub\BCTT%20Tuan\dong%20gop%20cua%20vingroup\Dong%20gop%20cua%20vingroup_update%20210826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2"/>
          <c:order val="0"/>
          <c:tx>
            <c:v>VNINDEX</c:v>
          </c:tx>
          <c:spPr>
            <a:ln>
              <a:prstDash val="solid"/>
            </a:ln>
          </c:spPr>
          <c:marker>
            <c:symbol val="none"/>
          </c:marker>
          <c:cat>
            <c:numRef>
              <c:f>Sheet1!$A$2:$A$388</c:f>
              <c:numCache>
                <c:formatCode>mm/dd/yyyy</c:formatCode>
                <c:ptCount val="387"/>
                <c:pt idx="1">
                  <c:v>46262</c:v>
                </c:pt>
                <c:pt idx="2">
                  <c:v>46261</c:v>
                </c:pt>
                <c:pt idx="3">
                  <c:v>46260</c:v>
                </c:pt>
                <c:pt idx="4">
                  <c:v>46259</c:v>
                </c:pt>
                <c:pt idx="5">
                  <c:v>46258</c:v>
                </c:pt>
                <c:pt idx="6">
                  <c:v>46255</c:v>
                </c:pt>
                <c:pt idx="7">
                  <c:v>46254</c:v>
                </c:pt>
                <c:pt idx="8">
                  <c:v>46253</c:v>
                </c:pt>
                <c:pt idx="9">
                  <c:v>46252</c:v>
                </c:pt>
                <c:pt idx="10">
                  <c:v>46251</c:v>
                </c:pt>
                <c:pt idx="11">
                  <c:v>46248</c:v>
                </c:pt>
                <c:pt idx="12">
                  <c:v>46247</c:v>
                </c:pt>
                <c:pt idx="13">
                  <c:v>46246</c:v>
                </c:pt>
                <c:pt idx="14">
                  <c:v>46245</c:v>
                </c:pt>
                <c:pt idx="15">
                  <c:v>46244</c:v>
                </c:pt>
                <c:pt idx="16">
                  <c:v>46241</c:v>
                </c:pt>
                <c:pt idx="17">
                  <c:v>46240</c:v>
                </c:pt>
                <c:pt idx="18">
                  <c:v>46239</c:v>
                </c:pt>
                <c:pt idx="19">
                  <c:v>46238</c:v>
                </c:pt>
                <c:pt idx="20">
                  <c:v>46237</c:v>
                </c:pt>
                <c:pt idx="21">
                  <c:v>46234</c:v>
                </c:pt>
                <c:pt idx="22">
                  <c:v>46233</c:v>
                </c:pt>
                <c:pt idx="23">
                  <c:v>46232</c:v>
                </c:pt>
                <c:pt idx="24">
                  <c:v>46231</c:v>
                </c:pt>
                <c:pt idx="25">
                  <c:v>46230</c:v>
                </c:pt>
                <c:pt idx="26">
                  <c:v>46227</c:v>
                </c:pt>
                <c:pt idx="27">
                  <c:v>46226</c:v>
                </c:pt>
                <c:pt idx="28">
                  <c:v>46225</c:v>
                </c:pt>
                <c:pt idx="29">
                  <c:v>46224</c:v>
                </c:pt>
                <c:pt idx="30">
                  <c:v>46223</c:v>
                </c:pt>
                <c:pt idx="31">
                  <c:v>46220</c:v>
                </c:pt>
                <c:pt idx="32">
                  <c:v>46219</c:v>
                </c:pt>
                <c:pt idx="33">
                  <c:v>46218</c:v>
                </c:pt>
                <c:pt idx="34">
                  <c:v>46217</c:v>
                </c:pt>
                <c:pt idx="35">
                  <c:v>46216</c:v>
                </c:pt>
                <c:pt idx="36">
                  <c:v>46213</c:v>
                </c:pt>
                <c:pt idx="37">
                  <c:v>46212</c:v>
                </c:pt>
                <c:pt idx="38">
                  <c:v>46211</c:v>
                </c:pt>
                <c:pt idx="39">
                  <c:v>46210</c:v>
                </c:pt>
                <c:pt idx="40">
                  <c:v>46209</c:v>
                </c:pt>
                <c:pt idx="41">
                  <c:v>46206</c:v>
                </c:pt>
                <c:pt idx="42">
                  <c:v>46205</c:v>
                </c:pt>
                <c:pt idx="43">
                  <c:v>46204</c:v>
                </c:pt>
                <c:pt idx="44">
                  <c:v>46203</c:v>
                </c:pt>
                <c:pt idx="45">
                  <c:v>46202</c:v>
                </c:pt>
                <c:pt idx="46">
                  <c:v>46199</c:v>
                </c:pt>
                <c:pt idx="47">
                  <c:v>46198</c:v>
                </c:pt>
                <c:pt idx="48">
                  <c:v>46197</c:v>
                </c:pt>
                <c:pt idx="49">
                  <c:v>46196</c:v>
                </c:pt>
                <c:pt idx="50">
                  <c:v>46195</c:v>
                </c:pt>
                <c:pt idx="51">
                  <c:v>46192</c:v>
                </c:pt>
                <c:pt idx="52">
                  <c:v>46191</c:v>
                </c:pt>
                <c:pt idx="53">
                  <c:v>46190</c:v>
                </c:pt>
                <c:pt idx="54">
                  <c:v>46189</c:v>
                </c:pt>
                <c:pt idx="55">
                  <c:v>46188</c:v>
                </c:pt>
                <c:pt idx="56">
                  <c:v>46185</c:v>
                </c:pt>
                <c:pt idx="57">
                  <c:v>46184</c:v>
                </c:pt>
                <c:pt idx="58">
                  <c:v>46183</c:v>
                </c:pt>
                <c:pt idx="59">
                  <c:v>46182</c:v>
                </c:pt>
                <c:pt idx="60">
                  <c:v>46181</c:v>
                </c:pt>
                <c:pt idx="61">
                  <c:v>46178</c:v>
                </c:pt>
                <c:pt idx="62">
                  <c:v>46177</c:v>
                </c:pt>
                <c:pt idx="63">
                  <c:v>46176</c:v>
                </c:pt>
                <c:pt idx="64">
                  <c:v>46175</c:v>
                </c:pt>
                <c:pt idx="65">
                  <c:v>46174</c:v>
                </c:pt>
                <c:pt idx="66">
                  <c:v>46171</c:v>
                </c:pt>
                <c:pt idx="67">
                  <c:v>46170</c:v>
                </c:pt>
                <c:pt idx="68">
                  <c:v>46169</c:v>
                </c:pt>
                <c:pt idx="69">
                  <c:v>46168</c:v>
                </c:pt>
                <c:pt idx="70">
                  <c:v>46167</c:v>
                </c:pt>
                <c:pt idx="71">
                  <c:v>46164</c:v>
                </c:pt>
                <c:pt idx="72">
                  <c:v>46163</c:v>
                </c:pt>
                <c:pt idx="73">
                  <c:v>46162</c:v>
                </c:pt>
                <c:pt idx="74">
                  <c:v>46161</c:v>
                </c:pt>
                <c:pt idx="75">
                  <c:v>46160</c:v>
                </c:pt>
                <c:pt idx="76">
                  <c:v>46157</c:v>
                </c:pt>
                <c:pt idx="77">
                  <c:v>46156</c:v>
                </c:pt>
                <c:pt idx="78">
                  <c:v>46155</c:v>
                </c:pt>
                <c:pt idx="79">
                  <c:v>46154</c:v>
                </c:pt>
                <c:pt idx="80">
                  <c:v>46153</c:v>
                </c:pt>
                <c:pt idx="81">
                  <c:v>46150</c:v>
                </c:pt>
                <c:pt idx="82">
                  <c:v>46149</c:v>
                </c:pt>
                <c:pt idx="83">
                  <c:v>46148</c:v>
                </c:pt>
                <c:pt idx="84">
                  <c:v>46147</c:v>
                </c:pt>
                <c:pt idx="85">
                  <c:v>46146</c:v>
                </c:pt>
                <c:pt idx="86">
                  <c:v>46141</c:v>
                </c:pt>
                <c:pt idx="87">
                  <c:v>46140</c:v>
                </c:pt>
                <c:pt idx="88">
                  <c:v>46136</c:v>
                </c:pt>
                <c:pt idx="89">
                  <c:v>46135</c:v>
                </c:pt>
                <c:pt idx="90">
                  <c:v>46134</c:v>
                </c:pt>
                <c:pt idx="91">
                  <c:v>46133</c:v>
                </c:pt>
                <c:pt idx="92">
                  <c:v>46132</c:v>
                </c:pt>
                <c:pt idx="93">
                  <c:v>46129</c:v>
                </c:pt>
                <c:pt idx="94">
                  <c:v>46128</c:v>
                </c:pt>
                <c:pt idx="95">
                  <c:v>46127</c:v>
                </c:pt>
                <c:pt idx="96">
                  <c:v>46126</c:v>
                </c:pt>
                <c:pt idx="97">
                  <c:v>46125</c:v>
                </c:pt>
                <c:pt idx="98">
                  <c:v>46122</c:v>
                </c:pt>
                <c:pt idx="99">
                  <c:v>46121</c:v>
                </c:pt>
                <c:pt idx="100">
                  <c:v>46120</c:v>
                </c:pt>
                <c:pt idx="101">
                  <c:v>46119</c:v>
                </c:pt>
                <c:pt idx="102">
                  <c:v>46118</c:v>
                </c:pt>
                <c:pt idx="103">
                  <c:v>46115</c:v>
                </c:pt>
                <c:pt idx="104">
                  <c:v>46114</c:v>
                </c:pt>
                <c:pt idx="105">
                  <c:v>46113</c:v>
                </c:pt>
                <c:pt idx="106">
                  <c:v>46112</c:v>
                </c:pt>
                <c:pt idx="107">
                  <c:v>46111</c:v>
                </c:pt>
                <c:pt idx="108">
                  <c:v>46108</c:v>
                </c:pt>
                <c:pt idx="109">
                  <c:v>46107</c:v>
                </c:pt>
                <c:pt idx="110">
                  <c:v>46106</c:v>
                </c:pt>
                <c:pt idx="111">
                  <c:v>46105</c:v>
                </c:pt>
                <c:pt idx="112">
                  <c:v>46104</c:v>
                </c:pt>
                <c:pt idx="113">
                  <c:v>46101</c:v>
                </c:pt>
                <c:pt idx="114">
                  <c:v>46100</c:v>
                </c:pt>
                <c:pt idx="115">
                  <c:v>46099</c:v>
                </c:pt>
                <c:pt idx="116">
                  <c:v>46098</c:v>
                </c:pt>
                <c:pt idx="117">
                  <c:v>46097</c:v>
                </c:pt>
                <c:pt idx="118">
                  <c:v>46094</c:v>
                </c:pt>
                <c:pt idx="119">
                  <c:v>46093</c:v>
                </c:pt>
                <c:pt idx="120">
                  <c:v>46092</c:v>
                </c:pt>
                <c:pt idx="121">
                  <c:v>46091</c:v>
                </c:pt>
                <c:pt idx="122">
                  <c:v>46090</c:v>
                </c:pt>
                <c:pt idx="123">
                  <c:v>46087</c:v>
                </c:pt>
                <c:pt idx="124">
                  <c:v>46086</c:v>
                </c:pt>
                <c:pt idx="125">
                  <c:v>46085</c:v>
                </c:pt>
                <c:pt idx="126">
                  <c:v>46084</c:v>
                </c:pt>
                <c:pt idx="127">
                  <c:v>46083</c:v>
                </c:pt>
                <c:pt idx="128">
                  <c:v>46080</c:v>
                </c:pt>
                <c:pt idx="129">
                  <c:v>46079</c:v>
                </c:pt>
                <c:pt idx="130">
                  <c:v>46078</c:v>
                </c:pt>
                <c:pt idx="131">
                  <c:v>46077</c:v>
                </c:pt>
                <c:pt idx="132">
                  <c:v>46076</c:v>
                </c:pt>
                <c:pt idx="133">
                  <c:v>46066</c:v>
                </c:pt>
                <c:pt idx="134">
                  <c:v>46065</c:v>
                </c:pt>
                <c:pt idx="135">
                  <c:v>46064</c:v>
                </c:pt>
                <c:pt idx="136">
                  <c:v>46063</c:v>
                </c:pt>
                <c:pt idx="137">
                  <c:v>46062</c:v>
                </c:pt>
                <c:pt idx="138">
                  <c:v>46059</c:v>
                </c:pt>
                <c:pt idx="139">
                  <c:v>46058</c:v>
                </c:pt>
                <c:pt idx="140">
                  <c:v>46057</c:v>
                </c:pt>
                <c:pt idx="141">
                  <c:v>46056</c:v>
                </c:pt>
                <c:pt idx="142">
                  <c:v>46055</c:v>
                </c:pt>
                <c:pt idx="143">
                  <c:v>46052</c:v>
                </c:pt>
                <c:pt idx="144">
                  <c:v>46051</c:v>
                </c:pt>
                <c:pt idx="145">
                  <c:v>46050</c:v>
                </c:pt>
                <c:pt idx="146">
                  <c:v>46049</c:v>
                </c:pt>
                <c:pt idx="147">
                  <c:v>46048</c:v>
                </c:pt>
                <c:pt idx="148">
                  <c:v>46045</c:v>
                </c:pt>
                <c:pt idx="149">
                  <c:v>46044</c:v>
                </c:pt>
                <c:pt idx="150">
                  <c:v>46043</c:v>
                </c:pt>
                <c:pt idx="151">
                  <c:v>46042</c:v>
                </c:pt>
                <c:pt idx="152">
                  <c:v>46041</c:v>
                </c:pt>
                <c:pt idx="153">
                  <c:v>46038</c:v>
                </c:pt>
                <c:pt idx="154">
                  <c:v>46037</c:v>
                </c:pt>
                <c:pt idx="155">
                  <c:v>46036</c:v>
                </c:pt>
                <c:pt idx="156">
                  <c:v>46035</c:v>
                </c:pt>
                <c:pt idx="157">
                  <c:v>46034</c:v>
                </c:pt>
                <c:pt idx="158">
                  <c:v>46031</c:v>
                </c:pt>
                <c:pt idx="159">
                  <c:v>46030</c:v>
                </c:pt>
                <c:pt idx="160">
                  <c:v>46029</c:v>
                </c:pt>
                <c:pt idx="161">
                  <c:v>46028</c:v>
                </c:pt>
                <c:pt idx="162">
                  <c:v>46027</c:v>
                </c:pt>
                <c:pt idx="163" formatCode="m/d/yyyy">
                  <c:v>46022</c:v>
                </c:pt>
                <c:pt idx="164" formatCode="m/d/yyyy">
                  <c:v>46021</c:v>
                </c:pt>
                <c:pt idx="165" formatCode="m/d/yyyy">
                  <c:v>46020</c:v>
                </c:pt>
                <c:pt idx="166" formatCode="m/d/yyyy">
                  <c:v>46017</c:v>
                </c:pt>
                <c:pt idx="167" formatCode="m/d/yyyy">
                  <c:v>46016</c:v>
                </c:pt>
                <c:pt idx="168" formatCode="m/d/yyyy">
                  <c:v>46015</c:v>
                </c:pt>
                <c:pt idx="169" formatCode="m/d/yyyy">
                  <c:v>46014</c:v>
                </c:pt>
                <c:pt idx="170" formatCode="m/d/yyyy">
                  <c:v>46013</c:v>
                </c:pt>
                <c:pt idx="171" formatCode="m/d/yyyy">
                  <c:v>46010</c:v>
                </c:pt>
                <c:pt idx="172" formatCode="m/d/yyyy">
                  <c:v>46009</c:v>
                </c:pt>
                <c:pt idx="173" formatCode="m/d/yyyy">
                  <c:v>46008</c:v>
                </c:pt>
                <c:pt idx="174" formatCode="m/d/yyyy">
                  <c:v>46007</c:v>
                </c:pt>
                <c:pt idx="175" formatCode="m/d/yyyy">
                  <c:v>46006</c:v>
                </c:pt>
                <c:pt idx="176" formatCode="m/d/yyyy">
                  <c:v>46003</c:v>
                </c:pt>
                <c:pt idx="177" formatCode="m/d/yyyy">
                  <c:v>46002</c:v>
                </c:pt>
                <c:pt idx="178" formatCode="m/d/yyyy">
                  <c:v>46001</c:v>
                </c:pt>
                <c:pt idx="179" formatCode="m/d/yyyy">
                  <c:v>46000</c:v>
                </c:pt>
                <c:pt idx="180" formatCode="m/d/yyyy">
                  <c:v>45999</c:v>
                </c:pt>
                <c:pt idx="181" formatCode="m/d/yyyy">
                  <c:v>45996</c:v>
                </c:pt>
                <c:pt idx="182" formatCode="m/d/yyyy">
                  <c:v>45995</c:v>
                </c:pt>
                <c:pt idx="183" formatCode="m/d/yyyy">
                  <c:v>45994</c:v>
                </c:pt>
                <c:pt idx="184" formatCode="m/d/yyyy">
                  <c:v>45993</c:v>
                </c:pt>
                <c:pt idx="185" formatCode="m/d/yyyy">
                  <c:v>45992</c:v>
                </c:pt>
                <c:pt idx="186" formatCode="m/d/yyyy">
                  <c:v>45989</c:v>
                </c:pt>
                <c:pt idx="187" formatCode="m/d/yyyy">
                  <c:v>45988</c:v>
                </c:pt>
                <c:pt idx="188" formatCode="m/d/yyyy">
                  <c:v>45987</c:v>
                </c:pt>
                <c:pt idx="189" formatCode="m/d/yyyy">
                  <c:v>45986</c:v>
                </c:pt>
                <c:pt idx="190" formatCode="m/d/yyyy">
                  <c:v>45985</c:v>
                </c:pt>
                <c:pt idx="191" formatCode="m/d/yyyy">
                  <c:v>45982</c:v>
                </c:pt>
                <c:pt idx="192" formatCode="m/d/yyyy">
                  <c:v>45981</c:v>
                </c:pt>
                <c:pt idx="193" formatCode="m/d/yyyy">
                  <c:v>45980</c:v>
                </c:pt>
                <c:pt idx="194" formatCode="m/d/yyyy">
                  <c:v>45979</c:v>
                </c:pt>
                <c:pt idx="195" formatCode="m/d/yyyy">
                  <c:v>45978</c:v>
                </c:pt>
                <c:pt idx="196" formatCode="m/d/yyyy">
                  <c:v>45975</c:v>
                </c:pt>
                <c:pt idx="197" formatCode="m/d/yyyy">
                  <c:v>45974</c:v>
                </c:pt>
                <c:pt idx="198" formatCode="m/d/yyyy">
                  <c:v>45973</c:v>
                </c:pt>
                <c:pt idx="199" formatCode="m/d/yyyy">
                  <c:v>45972</c:v>
                </c:pt>
                <c:pt idx="200" formatCode="m/d/yyyy">
                  <c:v>45971</c:v>
                </c:pt>
                <c:pt idx="201" formatCode="m/d/yyyy">
                  <c:v>45968</c:v>
                </c:pt>
                <c:pt idx="202" formatCode="m/d/yyyy">
                  <c:v>45967</c:v>
                </c:pt>
                <c:pt idx="203" formatCode="m/d/yyyy">
                  <c:v>45966</c:v>
                </c:pt>
                <c:pt idx="204" formatCode="m/d/yyyy">
                  <c:v>45965</c:v>
                </c:pt>
                <c:pt idx="205" formatCode="m/d/yyyy">
                  <c:v>45964</c:v>
                </c:pt>
                <c:pt idx="206" formatCode="m/d/yyyy">
                  <c:v>45961</c:v>
                </c:pt>
                <c:pt idx="207" formatCode="m/d/yyyy">
                  <c:v>45960</c:v>
                </c:pt>
                <c:pt idx="208" formatCode="m/d/yyyy">
                  <c:v>45959</c:v>
                </c:pt>
                <c:pt idx="209" formatCode="m/d/yyyy">
                  <c:v>45958</c:v>
                </c:pt>
                <c:pt idx="210" formatCode="m/d/yyyy">
                  <c:v>45957</c:v>
                </c:pt>
                <c:pt idx="211" formatCode="m/d/yyyy">
                  <c:v>45954</c:v>
                </c:pt>
                <c:pt idx="212" formatCode="m/d/yyyy">
                  <c:v>45953</c:v>
                </c:pt>
                <c:pt idx="213" formatCode="m/d/yyyy">
                  <c:v>45952</c:v>
                </c:pt>
                <c:pt idx="214" formatCode="m/d/yyyy">
                  <c:v>45951</c:v>
                </c:pt>
                <c:pt idx="215" formatCode="m/d/yyyy">
                  <c:v>45950</c:v>
                </c:pt>
                <c:pt idx="216" formatCode="m/d/yyyy">
                  <c:v>45947</c:v>
                </c:pt>
                <c:pt idx="217" formatCode="m/d/yyyy">
                  <c:v>45946</c:v>
                </c:pt>
                <c:pt idx="218" formatCode="m/d/yyyy">
                  <c:v>45945</c:v>
                </c:pt>
                <c:pt idx="219" formatCode="m/d/yyyy">
                  <c:v>45944</c:v>
                </c:pt>
                <c:pt idx="220" formatCode="m/d/yyyy">
                  <c:v>45943</c:v>
                </c:pt>
                <c:pt idx="221" formatCode="m/d/yyyy">
                  <c:v>45940</c:v>
                </c:pt>
                <c:pt idx="222" formatCode="m/d/yyyy">
                  <c:v>45939</c:v>
                </c:pt>
                <c:pt idx="223" formatCode="m/d/yyyy">
                  <c:v>45938</c:v>
                </c:pt>
                <c:pt idx="224" formatCode="m/d/yyyy">
                  <c:v>45937</c:v>
                </c:pt>
                <c:pt idx="225" formatCode="m/d/yyyy">
                  <c:v>45936</c:v>
                </c:pt>
                <c:pt idx="226" formatCode="m/d/yyyy">
                  <c:v>45933</c:v>
                </c:pt>
                <c:pt idx="227" formatCode="m/d/yyyy">
                  <c:v>45932</c:v>
                </c:pt>
                <c:pt idx="228" formatCode="m/d/yyyy">
                  <c:v>45931</c:v>
                </c:pt>
                <c:pt idx="229" formatCode="m/d/yyyy">
                  <c:v>45930</c:v>
                </c:pt>
                <c:pt idx="230" formatCode="m/d/yyyy">
                  <c:v>45929</c:v>
                </c:pt>
                <c:pt idx="231" formatCode="m/d/yyyy">
                  <c:v>45926</c:v>
                </c:pt>
                <c:pt idx="232" formatCode="m/d/yyyy">
                  <c:v>45925</c:v>
                </c:pt>
                <c:pt idx="233" formatCode="m/d/yyyy">
                  <c:v>45924</c:v>
                </c:pt>
                <c:pt idx="234" formatCode="m/d/yyyy">
                  <c:v>45923</c:v>
                </c:pt>
                <c:pt idx="235" formatCode="m/d/yyyy">
                  <c:v>45922</c:v>
                </c:pt>
                <c:pt idx="236" formatCode="m/d/yyyy">
                  <c:v>45919</c:v>
                </c:pt>
                <c:pt idx="237" formatCode="m/d/yyyy">
                  <c:v>45918</c:v>
                </c:pt>
                <c:pt idx="238" formatCode="m/d/yyyy">
                  <c:v>45917</c:v>
                </c:pt>
                <c:pt idx="239" formatCode="m/d/yyyy">
                  <c:v>45916</c:v>
                </c:pt>
                <c:pt idx="240" formatCode="m/d/yyyy">
                  <c:v>45915</c:v>
                </c:pt>
                <c:pt idx="241" formatCode="m/d/yyyy">
                  <c:v>45912</c:v>
                </c:pt>
                <c:pt idx="242" formatCode="m/d/yyyy">
                  <c:v>45911</c:v>
                </c:pt>
                <c:pt idx="243" formatCode="m/d/yyyy">
                  <c:v>45910</c:v>
                </c:pt>
                <c:pt idx="244" formatCode="m/d/yyyy">
                  <c:v>45909</c:v>
                </c:pt>
                <c:pt idx="245" formatCode="m/d/yyyy">
                  <c:v>45908</c:v>
                </c:pt>
                <c:pt idx="246" formatCode="m/d/yyyy">
                  <c:v>45905</c:v>
                </c:pt>
                <c:pt idx="247" formatCode="m/d/yyyy">
                  <c:v>45904</c:v>
                </c:pt>
                <c:pt idx="248" formatCode="m/d/yyyy">
                  <c:v>45903</c:v>
                </c:pt>
                <c:pt idx="249" formatCode="m/d/yyyy">
                  <c:v>45898</c:v>
                </c:pt>
                <c:pt idx="250" formatCode="m/d/yyyy">
                  <c:v>45897</c:v>
                </c:pt>
                <c:pt idx="251" formatCode="m/d/yyyy">
                  <c:v>45896</c:v>
                </c:pt>
                <c:pt idx="252" formatCode="m/d/yyyy">
                  <c:v>45895</c:v>
                </c:pt>
                <c:pt idx="253" formatCode="m/d/yyyy">
                  <c:v>45894</c:v>
                </c:pt>
                <c:pt idx="254" formatCode="m/d/yyyy">
                  <c:v>45891</c:v>
                </c:pt>
                <c:pt idx="255" formatCode="m/d/yyyy">
                  <c:v>45890</c:v>
                </c:pt>
                <c:pt idx="256" formatCode="m/d/yyyy">
                  <c:v>45889</c:v>
                </c:pt>
                <c:pt idx="257" formatCode="m/d/yyyy">
                  <c:v>45888</c:v>
                </c:pt>
                <c:pt idx="258" formatCode="m/d/yyyy">
                  <c:v>45887</c:v>
                </c:pt>
                <c:pt idx="259" formatCode="m/d/yyyy">
                  <c:v>45884</c:v>
                </c:pt>
                <c:pt idx="260" formatCode="m/d/yyyy">
                  <c:v>45883</c:v>
                </c:pt>
                <c:pt idx="261" formatCode="m/d/yyyy">
                  <c:v>45882</c:v>
                </c:pt>
                <c:pt idx="262" formatCode="m/d/yyyy">
                  <c:v>45881</c:v>
                </c:pt>
                <c:pt idx="263" formatCode="m/d/yyyy">
                  <c:v>45880</c:v>
                </c:pt>
                <c:pt idx="264" formatCode="m/d/yyyy">
                  <c:v>45877</c:v>
                </c:pt>
                <c:pt idx="265" formatCode="m/d/yyyy">
                  <c:v>45876</c:v>
                </c:pt>
                <c:pt idx="266" formatCode="m/d/yyyy">
                  <c:v>45875</c:v>
                </c:pt>
                <c:pt idx="267" formatCode="m/d/yyyy">
                  <c:v>45874</c:v>
                </c:pt>
                <c:pt idx="268" formatCode="m/d/yyyy">
                  <c:v>45873</c:v>
                </c:pt>
                <c:pt idx="269" formatCode="m/d/yyyy">
                  <c:v>45870</c:v>
                </c:pt>
                <c:pt idx="270" formatCode="m/d/yyyy">
                  <c:v>45869</c:v>
                </c:pt>
                <c:pt idx="271" formatCode="m/d/yyyy">
                  <c:v>45868</c:v>
                </c:pt>
                <c:pt idx="272" formatCode="m/d/yyyy">
                  <c:v>45867</c:v>
                </c:pt>
                <c:pt idx="273" formatCode="m/d/yyyy">
                  <c:v>45866</c:v>
                </c:pt>
                <c:pt idx="274" formatCode="m/d/yyyy">
                  <c:v>45863</c:v>
                </c:pt>
                <c:pt idx="275" formatCode="m/d/yyyy">
                  <c:v>45862</c:v>
                </c:pt>
                <c:pt idx="276" formatCode="m/d/yyyy">
                  <c:v>45861</c:v>
                </c:pt>
                <c:pt idx="277" formatCode="m/d/yyyy">
                  <c:v>45860</c:v>
                </c:pt>
                <c:pt idx="278" formatCode="m/d/yyyy">
                  <c:v>45859</c:v>
                </c:pt>
                <c:pt idx="279" formatCode="m/d/yyyy">
                  <c:v>45856</c:v>
                </c:pt>
                <c:pt idx="280" formatCode="m/d/yyyy">
                  <c:v>45855</c:v>
                </c:pt>
                <c:pt idx="281" formatCode="m/d/yyyy">
                  <c:v>45854</c:v>
                </c:pt>
                <c:pt idx="282" formatCode="m/d/yyyy">
                  <c:v>45853</c:v>
                </c:pt>
                <c:pt idx="283" formatCode="m/d/yyyy">
                  <c:v>45852</c:v>
                </c:pt>
                <c:pt idx="284" formatCode="m/d/yyyy">
                  <c:v>45849</c:v>
                </c:pt>
                <c:pt idx="285" formatCode="m/d/yyyy">
                  <c:v>45848</c:v>
                </c:pt>
                <c:pt idx="286" formatCode="m/d/yyyy">
                  <c:v>45847</c:v>
                </c:pt>
                <c:pt idx="287" formatCode="m/d/yyyy">
                  <c:v>45846</c:v>
                </c:pt>
                <c:pt idx="288" formatCode="m/d/yyyy">
                  <c:v>45845</c:v>
                </c:pt>
                <c:pt idx="289" formatCode="m/d/yyyy">
                  <c:v>45842</c:v>
                </c:pt>
                <c:pt idx="290" formatCode="m/d/yyyy">
                  <c:v>45841</c:v>
                </c:pt>
                <c:pt idx="291" formatCode="m/d/yyyy">
                  <c:v>45840</c:v>
                </c:pt>
                <c:pt idx="292" formatCode="m/d/yyyy">
                  <c:v>45839</c:v>
                </c:pt>
                <c:pt idx="293" formatCode="m/d/yyyy">
                  <c:v>45838</c:v>
                </c:pt>
                <c:pt idx="294" formatCode="m/d/yyyy">
                  <c:v>45835</c:v>
                </c:pt>
                <c:pt idx="295" formatCode="m/d/yyyy">
                  <c:v>45834</c:v>
                </c:pt>
                <c:pt idx="296" formatCode="m/d/yyyy">
                  <c:v>45833</c:v>
                </c:pt>
                <c:pt idx="297" formatCode="m/d/yyyy">
                  <c:v>45832</c:v>
                </c:pt>
                <c:pt idx="298" formatCode="m/d/yyyy">
                  <c:v>45831</c:v>
                </c:pt>
                <c:pt idx="299" formatCode="m/d/yyyy">
                  <c:v>45828</c:v>
                </c:pt>
                <c:pt idx="300" formatCode="m/d/yyyy">
                  <c:v>45827</c:v>
                </c:pt>
                <c:pt idx="301" formatCode="m/d/yyyy">
                  <c:v>45826</c:v>
                </c:pt>
                <c:pt idx="302" formatCode="m/d/yyyy">
                  <c:v>45825</c:v>
                </c:pt>
                <c:pt idx="303" formatCode="m/d/yyyy">
                  <c:v>45824</c:v>
                </c:pt>
                <c:pt idx="304" formatCode="m/d/yyyy">
                  <c:v>45821</c:v>
                </c:pt>
                <c:pt idx="305" formatCode="m/d/yyyy">
                  <c:v>45820</c:v>
                </c:pt>
                <c:pt idx="306" formatCode="m/d/yyyy">
                  <c:v>45819</c:v>
                </c:pt>
                <c:pt idx="307" formatCode="m/d/yyyy">
                  <c:v>45818</c:v>
                </c:pt>
                <c:pt idx="308" formatCode="m/d/yyyy">
                  <c:v>45817</c:v>
                </c:pt>
                <c:pt idx="309" formatCode="m/d/yyyy">
                  <c:v>45814</c:v>
                </c:pt>
                <c:pt idx="310" formatCode="m/d/yyyy">
                  <c:v>45813</c:v>
                </c:pt>
                <c:pt idx="311" formatCode="m/d/yyyy">
                  <c:v>45812</c:v>
                </c:pt>
                <c:pt idx="312" formatCode="m/d/yyyy">
                  <c:v>45811</c:v>
                </c:pt>
                <c:pt idx="313" formatCode="m/d/yyyy">
                  <c:v>45810</c:v>
                </c:pt>
                <c:pt idx="314" formatCode="m/d/yyyy">
                  <c:v>45807</c:v>
                </c:pt>
                <c:pt idx="315" formatCode="m/d/yyyy">
                  <c:v>45806</c:v>
                </c:pt>
                <c:pt idx="316" formatCode="m/d/yyyy">
                  <c:v>45805</c:v>
                </c:pt>
                <c:pt idx="317" formatCode="m/d/yyyy">
                  <c:v>45804</c:v>
                </c:pt>
                <c:pt idx="318" formatCode="m/d/yyyy">
                  <c:v>45803</c:v>
                </c:pt>
                <c:pt idx="319" formatCode="m/d/yyyy">
                  <c:v>45800</c:v>
                </c:pt>
                <c:pt idx="320" formatCode="m/d/yyyy">
                  <c:v>45799</c:v>
                </c:pt>
                <c:pt idx="321" formatCode="m/d/yyyy">
                  <c:v>45798</c:v>
                </c:pt>
                <c:pt idx="322" formatCode="m/d/yyyy">
                  <c:v>45797</c:v>
                </c:pt>
                <c:pt idx="323" formatCode="m/d/yyyy">
                  <c:v>45796</c:v>
                </c:pt>
                <c:pt idx="324" formatCode="m/d/yyyy">
                  <c:v>45793</c:v>
                </c:pt>
                <c:pt idx="325" formatCode="m/d/yyyy">
                  <c:v>45792</c:v>
                </c:pt>
                <c:pt idx="326" formatCode="m/d/yyyy">
                  <c:v>45791</c:v>
                </c:pt>
                <c:pt idx="327" formatCode="m/d/yyyy">
                  <c:v>45790</c:v>
                </c:pt>
                <c:pt idx="328" formatCode="m/d/yyyy">
                  <c:v>45789</c:v>
                </c:pt>
                <c:pt idx="329" formatCode="m/d/yyyy">
                  <c:v>45786</c:v>
                </c:pt>
                <c:pt idx="330" formatCode="m/d/yyyy">
                  <c:v>45785</c:v>
                </c:pt>
                <c:pt idx="331" formatCode="m/d/yyyy">
                  <c:v>45784</c:v>
                </c:pt>
                <c:pt idx="332" formatCode="m/d/yyyy">
                  <c:v>45783</c:v>
                </c:pt>
                <c:pt idx="333" formatCode="m/d/yyyy">
                  <c:v>45782</c:v>
                </c:pt>
                <c:pt idx="334" formatCode="m/d/yyyy">
                  <c:v>45776</c:v>
                </c:pt>
                <c:pt idx="335" formatCode="m/d/yyyy">
                  <c:v>45775</c:v>
                </c:pt>
                <c:pt idx="336" formatCode="m/d/yyyy">
                  <c:v>45772</c:v>
                </c:pt>
                <c:pt idx="337" formatCode="m/d/yyyy">
                  <c:v>45771</c:v>
                </c:pt>
                <c:pt idx="338" formatCode="m/d/yyyy">
                  <c:v>45770</c:v>
                </c:pt>
                <c:pt idx="339" formatCode="m/d/yyyy">
                  <c:v>45769</c:v>
                </c:pt>
                <c:pt idx="340" formatCode="m/d/yyyy">
                  <c:v>45768</c:v>
                </c:pt>
                <c:pt idx="341" formatCode="m/d/yyyy">
                  <c:v>45765</c:v>
                </c:pt>
                <c:pt idx="342" formatCode="m/d/yyyy">
                  <c:v>45764</c:v>
                </c:pt>
                <c:pt idx="343" formatCode="m/d/yyyy">
                  <c:v>45763</c:v>
                </c:pt>
                <c:pt idx="344" formatCode="m/d/yyyy">
                  <c:v>45762</c:v>
                </c:pt>
                <c:pt idx="345" formatCode="m/d/yyyy">
                  <c:v>45761</c:v>
                </c:pt>
                <c:pt idx="346" formatCode="m/d/yyyy">
                  <c:v>45758</c:v>
                </c:pt>
                <c:pt idx="347" formatCode="m/d/yyyy">
                  <c:v>45757</c:v>
                </c:pt>
                <c:pt idx="348" formatCode="m/d/yyyy">
                  <c:v>45756</c:v>
                </c:pt>
                <c:pt idx="349" formatCode="m/d/yyyy">
                  <c:v>45755</c:v>
                </c:pt>
                <c:pt idx="350" formatCode="m/d/yyyy">
                  <c:v>45751</c:v>
                </c:pt>
                <c:pt idx="351" formatCode="m/d/yyyy">
                  <c:v>45750</c:v>
                </c:pt>
                <c:pt idx="352" formatCode="m/d/yyyy">
                  <c:v>45749</c:v>
                </c:pt>
                <c:pt idx="353" formatCode="m/d/yyyy">
                  <c:v>45748</c:v>
                </c:pt>
                <c:pt idx="354" formatCode="m/d/yyyy">
                  <c:v>45747</c:v>
                </c:pt>
                <c:pt idx="355" formatCode="m/d/yyyy">
                  <c:v>45744</c:v>
                </c:pt>
                <c:pt idx="356" formatCode="m/d/yyyy">
                  <c:v>45743</c:v>
                </c:pt>
                <c:pt idx="357" formatCode="m/d/yyyy">
                  <c:v>45742</c:v>
                </c:pt>
                <c:pt idx="358" formatCode="m/d/yyyy">
                  <c:v>45741</c:v>
                </c:pt>
                <c:pt idx="359" formatCode="m/d/yyyy">
                  <c:v>45740</c:v>
                </c:pt>
                <c:pt idx="360" formatCode="m/d/yyyy">
                  <c:v>45737</c:v>
                </c:pt>
                <c:pt idx="361" formatCode="m/d/yyyy">
                  <c:v>45736</c:v>
                </c:pt>
                <c:pt idx="362" formatCode="m/d/yyyy">
                  <c:v>45735</c:v>
                </c:pt>
                <c:pt idx="363" formatCode="m/d/yyyy">
                  <c:v>45734</c:v>
                </c:pt>
                <c:pt idx="364" formatCode="m/d/yyyy">
                  <c:v>45733</c:v>
                </c:pt>
                <c:pt idx="365" formatCode="m/d/yyyy">
                  <c:v>45730</c:v>
                </c:pt>
                <c:pt idx="366" formatCode="m/d/yyyy">
                  <c:v>45729</c:v>
                </c:pt>
                <c:pt idx="367" formatCode="m/d/yyyy">
                  <c:v>45728</c:v>
                </c:pt>
                <c:pt idx="368" formatCode="m/d/yyyy">
                  <c:v>45727</c:v>
                </c:pt>
                <c:pt idx="369" formatCode="m/d/yyyy">
                  <c:v>45726</c:v>
                </c:pt>
                <c:pt idx="370" formatCode="m/d/yyyy">
                  <c:v>45723</c:v>
                </c:pt>
                <c:pt idx="371" formatCode="m/d/yyyy">
                  <c:v>45722</c:v>
                </c:pt>
                <c:pt idx="372" formatCode="m/d/yyyy">
                  <c:v>45721</c:v>
                </c:pt>
                <c:pt idx="373" formatCode="m/d/yyyy">
                  <c:v>45720</c:v>
                </c:pt>
                <c:pt idx="374" formatCode="m/d/yyyy">
                  <c:v>45719</c:v>
                </c:pt>
                <c:pt idx="375" formatCode="m/d/yyyy">
                  <c:v>45716</c:v>
                </c:pt>
                <c:pt idx="376" formatCode="m/d/yyyy">
                  <c:v>45715</c:v>
                </c:pt>
                <c:pt idx="377" formatCode="m/d/yyyy">
                  <c:v>45714</c:v>
                </c:pt>
                <c:pt idx="378" formatCode="m/d/yyyy">
                  <c:v>45713</c:v>
                </c:pt>
                <c:pt idx="379" formatCode="m/d/yyyy">
                  <c:v>45712</c:v>
                </c:pt>
                <c:pt idx="380" formatCode="m/d/yyyy">
                  <c:v>45709</c:v>
                </c:pt>
                <c:pt idx="381" formatCode="m/d/yyyy">
                  <c:v>45708</c:v>
                </c:pt>
                <c:pt idx="382" formatCode="m/d/yyyy">
                  <c:v>45707</c:v>
                </c:pt>
                <c:pt idx="383" formatCode="m/d/yyyy">
                  <c:v>45706</c:v>
                </c:pt>
                <c:pt idx="384" formatCode="m/d/yyyy">
                  <c:v>45705</c:v>
                </c:pt>
                <c:pt idx="385" formatCode="m/d/yyyy">
                  <c:v>45702</c:v>
                </c:pt>
                <c:pt idx="386" formatCode="m/d/yyyy">
                  <c:v>45701</c:v>
                </c:pt>
              </c:numCache>
            </c:numRef>
          </c:cat>
          <c:val>
            <c:numRef>
              <c:f>Sheet1!$B$2:$B$388</c:f>
              <c:numCache>
                <c:formatCode>#,##0.00</c:formatCode>
                <c:ptCount val="387"/>
                <c:pt idx="0">
                  <c:v>0</c:v>
                </c:pt>
                <c:pt idx="1">
                  <c:v>1832.12</c:v>
                </c:pt>
                <c:pt idx="2">
                  <c:v>1831.56</c:v>
                </c:pt>
                <c:pt idx="3">
                  <c:v>1821.32</c:v>
                </c:pt>
                <c:pt idx="4">
                  <c:v>1791.41</c:v>
                </c:pt>
                <c:pt idx="5">
                  <c:v>1788.78</c:v>
                </c:pt>
                <c:pt idx="6">
                  <c:v>1768.12</c:v>
                </c:pt>
                <c:pt idx="7">
                  <c:v>1734.24</c:v>
                </c:pt>
                <c:pt idx="8">
                  <c:v>1726.69</c:v>
                </c:pt>
                <c:pt idx="9">
                  <c:v>1732.02</c:v>
                </c:pt>
                <c:pt idx="10">
                  <c:v>1727.46</c:v>
                </c:pt>
                <c:pt idx="11">
                  <c:v>1729.08</c:v>
                </c:pt>
                <c:pt idx="12">
                  <c:v>1765.63</c:v>
                </c:pt>
                <c:pt idx="13">
                  <c:v>1793.18</c:v>
                </c:pt>
                <c:pt idx="14">
                  <c:v>1773.41</c:v>
                </c:pt>
                <c:pt idx="15">
                  <c:v>1776.77</c:v>
                </c:pt>
                <c:pt idx="16">
                  <c:v>1768.06</c:v>
                </c:pt>
                <c:pt idx="17">
                  <c:v>1764.78</c:v>
                </c:pt>
                <c:pt idx="18">
                  <c:v>1776.46</c:v>
                </c:pt>
                <c:pt idx="19">
                  <c:v>1777.23</c:v>
                </c:pt>
                <c:pt idx="20">
                  <c:v>1762.84</c:v>
                </c:pt>
                <c:pt idx="21">
                  <c:v>1735.78</c:v>
                </c:pt>
                <c:pt idx="22">
                  <c:v>1744.66</c:v>
                </c:pt>
                <c:pt idx="23">
                  <c:v>1704.68</c:v>
                </c:pt>
                <c:pt idx="24">
                  <c:v>1680.62</c:v>
                </c:pt>
                <c:pt idx="25">
                  <c:v>1669.01</c:v>
                </c:pt>
                <c:pt idx="26">
                  <c:v>1686.11</c:v>
                </c:pt>
                <c:pt idx="27">
                  <c:v>1699.38</c:v>
                </c:pt>
                <c:pt idx="28">
                  <c:v>1668.53</c:v>
                </c:pt>
                <c:pt idx="29">
                  <c:v>1730.56</c:v>
                </c:pt>
                <c:pt idx="30">
                  <c:v>1743.51</c:v>
                </c:pt>
                <c:pt idx="31">
                  <c:v>1787.45</c:v>
                </c:pt>
                <c:pt idx="32">
                  <c:v>1804.24</c:v>
                </c:pt>
                <c:pt idx="33">
                  <c:v>1782.12</c:v>
                </c:pt>
                <c:pt idx="34">
                  <c:v>1806.63</c:v>
                </c:pt>
                <c:pt idx="35">
                  <c:v>1800.54</c:v>
                </c:pt>
                <c:pt idx="36">
                  <c:v>1828.34</c:v>
                </c:pt>
                <c:pt idx="37">
                  <c:v>1840.7</c:v>
                </c:pt>
                <c:pt idx="38">
                  <c:v>1853.7</c:v>
                </c:pt>
                <c:pt idx="39">
                  <c:v>1848.25</c:v>
                </c:pt>
                <c:pt idx="40">
                  <c:v>1843.5</c:v>
                </c:pt>
                <c:pt idx="41">
                  <c:v>1862.08</c:v>
                </c:pt>
                <c:pt idx="42">
                  <c:v>1866.35</c:v>
                </c:pt>
                <c:pt idx="43">
                  <c:v>1867.21</c:v>
                </c:pt>
                <c:pt idx="44">
                  <c:v>1860.01</c:v>
                </c:pt>
                <c:pt idx="45">
                  <c:v>1854.97</c:v>
                </c:pt>
                <c:pt idx="46">
                  <c:v>1871.91</c:v>
                </c:pt>
                <c:pt idx="47">
                  <c:v>1863.07</c:v>
                </c:pt>
                <c:pt idx="48">
                  <c:v>1878.02</c:v>
                </c:pt>
                <c:pt idx="49">
                  <c:v>1869.04</c:v>
                </c:pt>
                <c:pt idx="50">
                  <c:v>1857.91</c:v>
                </c:pt>
                <c:pt idx="51">
                  <c:v>1824.53</c:v>
                </c:pt>
                <c:pt idx="52">
                  <c:v>1830.47</c:v>
                </c:pt>
                <c:pt idx="53">
                  <c:v>1806.2</c:v>
                </c:pt>
                <c:pt idx="54">
                  <c:v>1807.94</c:v>
                </c:pt>
                <c:pt idx="55">
                  <c:v>1799.31</c:v>
                </c:pt>
                <c:pt idx="56">
                  <c:v>1791.65</c:v>
                </c:pt>
                <c:pt idx="57">
                  <c:v>1798.61</c:v>
                </c:pt>
                <c:pt idx="58">
                  <c:v>1803.71</c:v>
                </c:pt>
                <c:pt idx="59">
                  <c:v>1793.05</c:v>
                </c:pt>
                <c:pt idx="60">
                  <c:v>1790.53</c:v>
                </c:pt>
                <c:pt idx="61">
                  <c:v>1838.9</c:v>
                </c:pt>
                <c:pt idx="62">
                  <c:v>1831.55</c:v>
                </c:pt>
                <c:pt idx="63">
                  <c:v>1819.01</c:v>
                </c:pt>
                <c:pt idx="64">
                  <c:v>1826.47</c:v>
                </c:pt>
                <c:pt idx="65">
                  <c:v>1844.54</c:v>
                </c:pt>
                <c:pt idx="66">
                  <c:v>1863.49</c:v>
                </c:pt>
                <c:pt idx="67">
                  <c:v>1863.67</c:v>
                </c:pt>
                <c:pt idx="68">
                  <c:v>1874.43</c:v>
                </c:pt>
                <c:pt idx="69">
                  <c:v>1884.18</c:v>
                </c:pt>
                <c:pt idx="70">
                  <c:v>1886.03</c:v>
                </c:pt>
                <c:pt idx="71">
                  <c:v>1877.13</c:v>
                </c:pt>
                <c:pt idx="72">
                  <c:v>1896.89</c:v>
                </c:pt>
                <c:pt idx="73">
                  <c:v>1913.23</c:v>
                </c:pt>
                <c:pt idx="74">
                  <c:v>1912.93</c:v>
                </c:pt>
                <c:pt idx="75">
                  <c:v>1927.94</c:v>
                </c:pt>
                <c:pt idx="76">
                  <c:v>1921.6</c:v>
                </c:pt>
                <c:pt idx="77">
                  <c:v>1925.46</c:v>
                </c:pt>
                <c:pt idx="78">
                  <c:v>1898.37</c:v>
                </c:pt>
                <c:pt idx="79">
                  <c:v>1901.1</c:v>
                </c:pt>
                <c:pt idx="80">
                  <c:v>1895.5</c:v>
                </c:pt>
                <c:pt idx="81">
                  <c:v>1915.37</c:v>
                </c:pt>
                <c:pt idx="82">
                  <c:v>1909.01</c:v>
                </c:pt>
                <c:pt idx="83">
                  <c:v>1891.2</c:v>
                </c:pt>
                <c:pt idx="84">
                  <c:v>1874.85</c:v>
                </c:pt>
                <c:pt idx="85">
                  <c:v>1854.06</c:v>
                </c:pt>
                <c:pt idx="86">
                  <c:v>1854.1</c:v>
                </c:pt>
                <c:pt idx="87">
                  <c:v>1875.84</c:v>
                </c:pt>
                <c:pt idx="88">
                  <c:v>1853.29</c:v>
                </c:pt>
                <c:pt idx="89">
                  <c:v>1870.36</c:v>
                </c:pt>
                <c:pt idx="90">
                  <c:v>1857.3</c:v>
                </c:pt>
                <c:pt idx="91">
                  <c:v>1833.48</c:v>
                </c:pt>
                <c:pt idx="92">
                  <c:v>1837.11</c:v>
                </c:pt>
                <c:pt idx="93">
                  <c:v>1817.17</c:v>
                </c:pt>
                <c:pt idx="94">
                  <c:v>1819.83</c:v>
                </c:pt>
                <c:pt idx="95">
                  <c:v>1800.65</c:v>
                </c:pt>
                <c:pt idx="96">
                  <c:v>1775.65</c:v>
                </c:pt>
                <c:pt idx="97">
                  <c:v>1758.96</c:v>
                </c:pt>
                <c:pt idx="98">
                  <c:v>1750</c:v>
                </c:pt>
                <c:pt idx="99">
                  <c:v>1736.68</c:v>
                </c:pt>
                <c:pt idx="100">
                  <c:v>1756.55</c:v>
                </c:pt>
                <c:pt idx="101">
                  <c:v>1677.54</c:v>
                </c:pt>
                <c:pt idx="102">
                  <c:v>1674.99</c:v>
                </c:pt>
                <c:pt idx="103">
                  <c:v>1684.04</c:v>
                </c:pt>
                <c:pt idx="104">
                  <c:v>1694.82</c:v>
                </c:pt>
                <c:pt idx="105">
                  <c:v>1702.93</c:v>
                </c:pt>
                <c:pt idx="106">
                  <c:v>1674.49</c:v>
                </c:pt>
                <c:pt idx="107">
                  <c:v>1662.54</c:v>
                </c:pt>
                <c:pt idx="108">
                  <c:v>1672.8</c:v>
                </c:pt>
                <c:pt idx="109">
                  <c:v>1644.63</c:v>
                </c:pt>
                <c:pt idx="110">
                  <c:v>1658.19</c:v>
                </c:pt>
                <c:pt idx="111">
                  <c:v>1614.77</c:v>
                </c:pt>
                <c:pt idx="112">
                  <c:v>1591.17</c:v>
                </c:pt>
                <c:pt idx="113">
                  <c:v>1647.81</c:v>
                </c:pt>
                <c:pt idx="114">
                  <c:v>1699.13</c:v>
                </c:pt>
                <c:pt idx="115">
                  <c:v>1713.83</c:v>
                </c:pt>
                <c:pt idx="116">
                  <c:v>1710.29</c:v>
                </c:pt>
                <c:pt idx="117">
                  <c:v>1693.21</c:v>
                </c:pt>
                <c:pt idx="118">
                  <c:v>1696.24</c:v>
                </c:pt>
                <c:pt idx="119">
                  <c:v>1709.61</c:v>
                </c:pt>
                <c:pt idx="120">
                  <c:v>1728.34</c:v>
                </c:pt>
                <c:pt idx="121">
                  <c:v>1676.73</c:v>
                </c:pt>
                <c:pt idx="122">
                  <c:v>1652.79</c:v>
                </c:pt>
                <c:pt idx="123">
                  <c:v>1767.84</c:v>
                </c:pt>
                <c:pt idx="124">
                  <c:v>1808.51</c:v>
                </c:pt>
                <c:pt idx="125">
                  <c:v>1818.27</c:v>
                </c:pt>
                <c:pt idx="126">
                  <c:v>1813.14</c:v>
                </c:pt>
                <c:pt idx="127">
                  <c:v>1846.1</c:v>
                </c:pt>
                <c:pt idx="128">
                  <c:v>1880.33</c:v>
                </c:pt>
                <c:pt idx="129">
                  <c:v>1879.64</c:v>
                </c:pt>
                <c:pt idx="130">
                  <c:v>1860.91</c:v>
                </c:pt>
                <c:pt idx="131">
                  <c:v>1867.62</c:v>
                </c:pt>
                <c:pt idx="132">
                  <c:v>1860.14</c:v>
                </c:pt>
                <c:pt idx="133">
                  <c:v>1824.09</c:v>
                </c:pt>
                <c:pt idx="134">
                  <c:v>1814.09</c:v>
                </c:pt>
                <c:pt idx="135">
                  <c:v>1796.85</c:v>
                </c:pt>
                <c:pt idx="136">
                  <c:v>1754.03</c:v>
                </c:pt>
                <c:pt idx="137">
                  <c:v>1754.82</c:v>
                </c:pt>
                <c:pt idx="138">
                  <c:v>1755.49</c:v>
                </c:pt>
                <c:pt idx="139">
                  <c:v>1782.56</c:v>
                </c:pt>
                <c:pt idx="140">
                  <c:v>1791.43</c:v>
                </c:pt>
                <c:pt idx="141">
                  <c:v>1813.4</c:v>
                </c:pt>
                <c:pt idx="142">
                  <c:v>1806.5</c:v>
                </c:pt>
                <c:pt idx="143">
                  <c:v>1829.04</c:v>
                </c:pt>
                <c:pt idx="144">
                  <c:v>1814.98</c:v>
                </c:pt>
                <c:pt idx="145">
                  <c:v>1802.91</c:v>
                </c:pt>
                <c:pt idx="146">
                  <c:v>1830.5</c:v>
                </c:pt>
                <c:pt idx="147">
                  <c:v>1843.72</c:v>
                </c:pt>
                <c:pt idx="148">
                  <c:v>1870.79</c:v>
                </c:pt>
                <c:pt idx="149">
                  <c:v>1882.73</c:v>
                </c:pt>
                <c:pt idx="150">
                  <c:v>1885.44</c:v>
                </c:pt>
                <c:pt idx="151">
                  <c:v>1893.78</c:v>
                </c:pt>
                <c:pt idx="152">
                  <c:v>1896.59</c:v>
                </c:pt>
                <c:pt idx="153">
                  <c:v>1879.13</c:v>
                </c:pt>
                <c:pt idx="154">
                  <c:v>1864.8</c:v>
                </c:pt>
                <c:pt idx="155">
                  <c:v>1894.44</c:v>
                </c:pt>
                <c:pt idx="156">
                  <c:v>1902.93</c:v>
                </c:pt>
                <c:pt idx="157">
                  <c:v>1877.33</c:v>
                </c:pt>
                <c:pt idx="158">
                  <c:v>1867.9</c:v>
                </c:pt>
                <c:pt idx="159">
                  <c:v>1855.56</c:v>
                </c:pt>
                <c:pt idx="160">
                  <c:v>1861.58</c:v>
                </c:pt>
                <c:pt idx="161">
                  <c:v>1816.27</c:v>
                </c:pt>
                <c:pt idx="162">
                  <c:v>1788.4</c:v>
                </c:pt>
                <c:pt idx="163">
                  <c:v>1784.49</c:v>
                </c:pt>
                <c:pt idx="164">
                  <c:v>1766.9</c:v>
                </c:pt>
                <c:pt idx="165">
                  <c:v>1754.84</c:v>
                </c:pt>
                <c:pt idx="166">
                  <c:v>1729.8</c:v>
                </c:pt>
                <c:pt idx="167">
                  <c:v>1742.85</c:v>
                </c:pt>
                <c:pt idx="168">
                  <c:v>1782.82</c:v>
                </c:pt>
                <c:pt idx="169">
                  <c:v>1772.15</c:v>
                </c:pt>
                <c:pt idx="170">
                  <c:v>1751.03</c:v>
                </c:pt>
                <c:pt idx="171">
                  <c:v>1704.31</c:v>
                </c:pt>
                <c:pt idx="172">
                  <c:v>1676.98</c:v>
                </c:pt>
                <c:pt idx="173">
                  <c:v>1673.66</c:v>
                </c:pt>
                <c:pt idx="174">
                  <c:v>1679.18</c:v>
                </c:pt>
                <c:pt idx="175">
                  <c:v>1646.01</c:v>
                </c:pt>
                <c:pt idx="176">
                  <c:v>1646.89</c:v>
                </c:pt>
                <c:pt idx="177">
                  <c:v>1698.9</c:v>
                </c:pt>
                <c:pt idx="178">
                  <c:v>1718.98</c:v>
                </c:pt>
                <c:pt idx="179">
                  <c:v>1747.17</c:v>
                </c:pt>
                <c:pt idx="180">
                  <c:v>1753.74</c:v>
                </c:pt>
                <c:pt idx="181">
                  <c:v>1741.32</c:v>
                </c:pt>
                <c:pt idx="182">
                  <c:v>1737.24</c:v>
                </c:pt>
                <c:pt idx="183">
                  <c:v>1731.77</c:v>
                </c:pt>
                <c:pt idx="184">
                  <c:v>1717.06</c:v>
                </c:pt>
                <c:pt idx="185">
                  <c:v>1701.67</c:v>
                </c:pt>
                <c:pt idx="186">
                  <c:v>1690.99</c:v>
                </c:pt>
                <c:pt idx="187">
                  <c:v>1684.32</c:v>
                </c:pt>
                <c:pt idx="188">
                  <c:v>1680.36</c:v>
                </c:pt>
                <c:pt idx="189">
                  <c:v>1660.36</c:v>
                </c:pt>
                <c:pt idx="190">
                  <c:v>1667.98</c:v>
                </c:pt>
                <c:pt idx="191">
                  <c:v>1654.93</c:v>
                </c:pt>
                <c:pt idx="192">
                  <c:v>1655.99</c:v>
                </c:pt>
                <c:pt idx="193">
                  <c:v>1649</c:v>
                </c:pt>
                <c:pt idx="194">
                  <c:v>1659.92</c:v>
                </c:pt>
                <c:pt idx="195">
                  <c:v>1654.42</c:v>
                </c:pt>
                <c:pt idx="196">
                  <c:v>1635.46</c:v>
                </c:pt>
                <c:pt idx="197">
                  <c:v>1631.44</c:v>
                </c:pt>
                <c:pt idx="198">
                  <c:v>1631.86</c:v>
                </c:pt>
                <c:pt idx="199">
                  <c:v>1593.61</c:v>
                </c:pt>
                <c:pt idx="200">
                  <c:v>1580.54</c:v>
                </c:pt>
                <c:pt idx="201">
                  <c:v>1599.1</c:v>
                </c:pt>
                <c:pt idx="202">
                  <c:v>1642.64</c:v>
                </c:pt>
                <c:pt idx="203">
                  <c:v>1654.89</c:v>
                </c:pt>
                <c:pt idx="204">
                  <c:v>1651.98</c:v>
                </c:pt>
                <c:pt idx="205">
                  <c:v>1617</c:v>
                </c:pt>
                <c:pt idx="206">
                  <c:v>1639.65</c:v>
                </c:pt>
                <c:pt idx="207">
                  <c:v>1669.57</c:v>
                </c:pt>
                <c:pt idx="208">
                  <c:v>1685.83</c:v>
                </c:pt>
                <c:pt idx="209">
                  <c:v>1680.5</c:v>
                </c:pt>
                <c:pt idx="210">
                  <c:v>1652.54</c:v>
                </c:pt>
                <c:pt idx="211">
                  <c:v>1683.18</c:v>
                </c:pt>
                <c:pt idx="212">
                  <c:v>1687.06</c:v>
                </c:pt>
                <c:pt idx="213">
                  <c:v>1678.5</c:v>
                </c:pt>
                <c:pt idx="214">
                  <c:v>1663.43</c:v>
                </c:pt>
                <c:pt idx="215">
                  <c:v>1636.43</c:v>
                </c:pt>
                <c:pt idx="216">
                  <c:v>1731.19</c:v>
                </c:pt>
                <c:pt idx="217">
                  <c:v>1766.85</c:v>
                </c:pt>
                <c:pt idx="218">
                  <c:v>1757.95</c:v>
                </c:pt>
                <c:pt idx="219">
                  <c:v>1761.06</c:v>
                </c:pt>
                <c:pt idx="220">
                  <c:v>1765.12</c:v>
                </c:pt>
                <c:pt idx="221">
                  <c:v>1747.55</c:v>
                </c:pt>
                <c:pt idx="222">
                  <c:v>1716.47</c:v>
                </c:pt>
                <c:pt idx="223">
                  <c:v>1697.83</c:v>
                </c:pt>
                <c:pt idx="224">
                  <c:v>1685.3</c:v>
                </c:pt>
                <c:pt idx="225">
                  <c:v>1695.5</c:v>
                </c:pt>
                <c:pt idx="226">
                  <c:v>1645.82</c:v>
                </c:pt>
                <c:pt idx="227">
                  <c:v>1652.71</c:v>
                </c:pt>
                <c:pt idx="228">
                  <c:v>1665.05</c:v>
                </c:pt>
                <c:pt idx="229">
                  <c:v>1661.7</c:v>
                </c:pt>
                <c:pt idx="230">
                  <c:v>1666.48</c:v>
                </c:pt>
                <c:pt idx="231">
                  <c:v>1660.7</c:v>
                </c:pt>
                <c:pt idx="232">
                  <c:v>1666.09</c:v>
                </c:pt>
                <c:pt idx="233">
                  <c:v>1657.46</c:v>
                </c:pt>
                <c:pt idx="234">
                  <c:v>1635.26</c:v>
                </c:pt>
                <c:pt idx="235">
                  <c:v>1634.45</c:v>
                </c:pt>
                <c:pt idx="236">
                  <c:v>1658.62</c:v>
                </c:pt>
                <c:pt idx="237">
                  <c:v>1665.18</c:v>
                </c:pt>
                <c:pt idx="238">
                  <c:v>1670.97</c:v>
                </c:pt>
                <c:pt idx="239">
                  <c:v>1680.9</c:v>
                </c:pt>
                <c:pt idx="240">
                  <c:v>1684.9</c:v>
                </c:pt>
                <c:pt idx="241">
                  <c:v>1667.26</c:v>
                </c:pt>
                <c:pt idx="242">
                  <c:v>1657.75</c:v>
                </c:pt>
                <c:pt idx="243">
                  <c:v>1643.26</c:v>
                </c:pt>
                <c:pt idx="244">
                  <c:v>1637.32</c:v>
                </c:pt>
                <c:pt idx="245">
                  <c:v>1624.53</c:v>
                </c:pt>
                <c:pt idx="246">
                  <c:v>1666.97</c:v>
                </c:pt>
                <c:pt idx="247">
                  <c:v>1696.29</c:v>
                </c:pt>
                <c:pt idx="248">
                  <c:v>1681.3</c:v>
                </c:pt>
                <c:pt idx="249">
                  <c:v>1682.21</c:v>
                </c:pt>
                <c:pt idx="250">
                  <c:v>1680.86</c:v>
                </c:pt>
                <c:pt idx="251">
                  <c:v>1672.78</c:v>
                </c:pt>
                <c:pt idx="252">
                  <c:v>1667.63</c:v>
                </c:pt>
                <c:pt idx="253">
                  <c:v>1614.03</c:v>
                </c:pt>
                <c:pt idx="254">
                  <c:v>1645.47</c:v>
                </c:pt>
                <c:pt idx="255">
                  <c:v>1688</c:v>
                </c:pt>
                <c:pt idx="256">
                  <c:v>1664.36</c:v>
                </c:pt>
                <c:pt idx="257">
                  <c:v>1654.2</c:v>
                </c:pt>
                <c:pt idx="258">
                  <c:v>1636.37</c:v>
                </c:pt>
                <c:pt idx="259">
                  <c:v>1630</c:v>
                </c:pt>
                <c:pt idx="260">
                  <c:v>1640.69</c:v>
                </c:pt>
                <c:pt idx="261">
                  <c:v>1611.6</c:v>
                </c:pt>
                <c:pt idx="262">
                  <c:v>1608.22</c:v>
                </c:pt>
                <c:pt idx="263">
                  <c:v>1596.86</c:v>
                </c:pt>
                <c:pt idx="264">
                  <c:v>1584.95</c:v>
                </c:pt>
                <c:pt idx="265">
                  <c:v>1581.81</c:v>
                </c:pt>
                <c:pt idx="266">
                  <c:v>1573.71</c:v>
                </c:pt>
                <c:pt idx="267">
                  <c:v>1547.15</c:v>
                </c:pt>
                <c:pt idx="268">
                  <c:v>1528.19</c:v>
                </c:pt>
                <c:pt idx="269">
                  <c:v>1495.21</c:v>
                </c:pt>
                <c:pt idx="270">
                  <c:v>1502.52</c:v>
                </c:pt>
                <c:pt idx="271">
                  <c:v>1507.63</c:v>
                </c:pt>
                <c:pt idx="272">
                  <c:v>1493.41</c:v>
                </c:pt>
                <c:pt idx="273">
                  <c:v>1557.42</c:v>
                </c:pt>
                <c:pt idx="274">
                  <c:v>1531.13</c:v>
                </c:pt>
                <c:pt idx="275">
                  <c:v>1521.02</c:v>
                </c:pt>
                <c:pt idx="276">
                  <c:v>1512.31</c:v>
                </c:pt>
                <c:pt idx="277">
                  <c:v>1509.54</c:v>
                </c:pt>
                <c:pt idx="278">
                  <c:v>1485.05</c:v>
                </c:pt>
                <c:pt idx="279">
                  <c:v>1497.28</c:v>
                </c:pt>
                <c:pt idx="280">
                  <c:v>1490.01</c:v>
                </c:pt>
                <c:pt idx="281">
                  <c:v>1475.47</c:v>
                </c:pt>
                <c:pt idx="282">
                  <c:v>1460.65</c:v>
                </c:pt>
                <c:pt idx="283">
                  <c:v>1470.42</c:v>
                </c:pt>
                <c:pt idx="284">
                  <c:v>1457.76</c:v>
                </c:pt>
                <c:pt idx="285">
                  <c:v>1445.64</c:v>
                </c:pt>
                <c:pt idx="286">
                  <c:v>1431.32</c:v>
                </c:pt>
                <c:pt idx="287">
                  <c:v>1415.46</c:v>
                </c:pt>
                <c:pt idx="288">
                  <c:v>1402.06</c:v>
                </c:pt>
                <c:pt idx="289">
                  <c:v>1386.97</c:v>
                </c:pt>
                <c:pt idx="290">
                  <c:v>1381.96</c:v>
                </c:pt>
                <c:pt idx="291">
                  <c:v>1384.59</c:v>
                </c:pt>
                <c:pt idx="292">
                  <c:v>1377.84</c:v>
                </c:pt>
                <c:pt idx="293">
                  <c:v>1376.07</c:v>
                </c:pt>
                <c:pt idx="294">
                  <c:v>1371.44</c:v>
                </c:pt>
                <c:pt idx="295">
                  <c:v>1365.67</c:v>
                </c:pt>
                <c:pt idx="296">
                  <c:v>1366.75</c:v>
                </c:pt>
                <c:pt idx="297">
                  <c:v>1366.77</c:v>
                </c:pt>
                <c:pt idx="298">
                  <c:v>1358.18</c:v>
                </c:pt>
                <c:pt idx="299">
                  <c:v>1349.35</c:v>
                </c:pt>
                <c:pt idx="300">
                  <c:v>1352.04</c:v>
                </c:pt>
                <c:pt idx="301">
                  <c:v>1346.83</c:v>
                </c:pt>
                <c:pt idx="302">
                  <c:v>1347.69</c:v>
                </c:pt>
                <c:pt idx="303">
                  <c:v>1338.11</c:v>
                </c:pt>
                <c:pt idx="304">
                  <c:v>1315.49</c:v>
                </c:pt>
                <c:pt idx="305">
                  <c:v>1322.99</c:v>
                </c:pt>
                <c:pt idx="306">
                  <c:v>1315.2</c:v>
                </c:pt>
                <c:pt idx="307">
                  <c:v>1316.23</c:v>
                </c:pt>
                <c:pt idx="308">
                  <c:v>1310.57</c:v>
                </c:pt>
                <c:pt idx="309">
                  <c:v>1329.89</c:v>
                </c:pt>
                <c:pt idx="310">
                  <c:v>1342.09</c:v>
                </c:pt>
                <c:pt idx="311">
                  <c:v>1345.74</c:v>
                </c:pt>
                <c:pt idx="312">
                  <c:v>1347.25</c:v>
                </c:pt>
                <c:pt idx="313">
                  <c:v>1336.3</c:v>
                </c:pt>
                <c:pt idx="314">
                  <c:v>1332.6</c:v>
                </c:pt>
                <c:pt idx="315">
                  <c:v>1341.86</c:v>
                </c:pt>
                <c:pt idx="316">
                  <c:v>1341.87</c:v>
                </c:pt>
                <c:pt idx="317">
                  <c:v>1339.81</c:v>
                </c:pt>
                <c:pt idx="318">
                  <c:v>1332.51</c:v>
                </c:pt>
                <c:pt idx="319">
                  <c:v>1314.46</c:v>
                </c:pt>
                <c:pt idx="320">
                  <c:v>1313.84</c:v>
                </c:pt>
                <c:pt idx="321">
                  <c:v>1323.05</c:v>
                </c:pt>
                <c:pt idx="322">
                  <c:v>1315.15</c:v>
                </c:pt>
                <c:pt idx="323">
                  <c:v>1296.29</c:v>
                </c:pt>
                <c:pt idx="324">
                  <c:v>1301.3900000000001</c:v>
                </c:pt>
                <c:pt idx="325">
                  <c:v>1313.2</c:v>
                </c:pt>
                <c:pt idx="326">
                  <c:v>1309.73</c:v>
                </c:pt>
                <c:pt idx="327">
                  <c:v>1293.43</c:v>
                </c:pt>
                <c:pt idx="328">
                  <c:v>1283.26</c:v>
                </c:pt>
                <c:pt idx="329">
                  <c:v>1267.3</c:v>
                </c:pt>
                <c:pt idx="330">
                  <c:v>1269.8</c:v>
                </c:pt>
                <c:pt idx="331">
                  <c:v>1250.3699999999999</c:v>
                </c:pt>
                <c:pt idx="332">
                  <c:v>1241.95</c:v>
                </c:pt>
                <c:pt idx="333">
                  <c:v>1240.05</c:v>
                </c:pt>
                <c:pt idx="334">
                  <c:v>1226.3</c:v>
                </c:pt>
                <c:pt idx="335">
                  <c:v>1226.8</c:v>
                </c:pt>
                <c:pt idx="336">
                  <c:v>1229.23</c:v>
                </c:pt>
                <c:pt idx="337">
                  <c:v>1223.3499999999999</c:v>
                </c:pt>
                <c:pt idx="338">
                  <c:v>1211</c:v>
                </c:pt>
                <c:pt idx="339">
                  <c:v>1197.1300000000001</c:v>
                </c:pt>
                <c:pt idx="340">
                  <c:v>1207.07</c:v>
                </c:pt>
                <c:pt idx="341">
                  <c:v>1219.1199999999999</c:v>
                </c:pt>
                <c:pt idx="342">
                  <c:v>1217.25</c:v>
                </c:pt>
                <c:pt idx="343">
                  <c:v>1210.3</c:v>
                </c:pt>
                <c:pt idx="344">
                  <c:v>1227.79</c:v>
                </c:pt>
                <c:pt idx="345">
                  <c:v>1241.44</c:v>
                </c:pt>
                <c:pt idx="346">
                  <c:v>1222.46</c:v>
                </c:pt>
                <c:pt idx="347">
                  <c:v>1168.3399999999999</c:v>
                </c:pt>
                <c:pt idx="348">
                  <c:v>1094.3</c:v>
                </c:pt>
                <c:pt idx="349">
                  <c:v>1132.79</c:v>
                </c:pt>
                <c:pt idx="350">
                  <c:v>1210.67</c:v>
                </c:pt>
                <c:pt idx="351">
                  <c:v>1229.8399999999999</c:v>
                </c:pt>
                <c:pt idx="352">
                  <c:v>1317.83</c:v>
                </c:pt>
                <c:pt idx="353">
                  <c:v>1317.33</c:v>
                </c:pt>
                <c:pt idx="354">
                  <c:v>1306.8599999999999</c:v>
                </c:pt>
                <c:pt idx="355">
                  <c:v>1317.46</c:v>
                </c:pt>
                <c:pt idx="356">
                  <c:v>1323.81</c:v>
                </c:pt>
                <c:pt idx="357">
                  <c:v>1326.09</c:v>
                </c:pt>
                <c:pt idx="358">
                  <c:v>1331.92</c:v>
                </c:pt>
                <c:pt idx="359">
                  <c:v>1330.32</c:v>
                </c:pt>
                <c:pt idx="360">
                  <c:v>1324.88</c:v>
                </c:pt>
                <c:pt idx="361">
                  <c:v>1323.93</c:v>
                </c:pt>
                <c:pt idx="362">
                  <c:v>1324.63</c:v>
                </c:pt>
                <c:pt idx="363">
                  <c:v>1330.97</c:v>
                </c:pt>
                <c:pt idx="364">
                  <c:v>1336.26</c:v>
                </c:pt>
                <c:pt idx="365">
                  <c:v>1326.15</c:v>
                </c:pt>
                <c:pt idx="366">
                  <c:v>1326.27</c:v>
                </c:pt>
                <c:pt idx="367">
                  <c:v>1334.41</c:v>
                </c:pt>
                <c:pt idx="368">
                  <c:v>1332.54</c:v>
                </c:pt>
                <c:pt idx="369">
                  <c:v>1330.28</c:v>
                </c:pt>
                <c:pt idx="370">
                  <c:v>1326.05</c:v>
                </c:pt>
                <c:pt idx="371">
                  <c:v>1318.22</c:v>
                </c:pt>
                <c:pt idx="372">
                  <c:v>1304.71</c:v>
                </c:pt>
                <c:pt idx="373">
                  <c:v>1311.91</c:v>
                </c:pt>
                <c:pt idx="374">
                  <c:v>1309.3699999999999</c:v>
                </c:pt>
                <c:pt idx="375">
                  <c:v>1305.3599999999999</c:v>
                </c:pt>
                <c:pt idx="376">
                  <c:v>1307.8</c:v>
                </c:pt>
                <c:pt idx="377">
                  <c:v>1302.96</c:v>
                </c:pt>
                <c:pt idx="378">
                  <c:v>1303.1600000000001</c:v>
                </c:pt>
                <c:pt idx="379">
                  <c:v>1304.56</c:v>
                </c:pt>
                <c:pt idx="380">
                  <c:v>1296.75</c:v>
                </c:pt>
                <c:pt idx="381">
                  <c:v>1292.98</c:v>
                </c:pt>
                <c:pt idx="382">
                  <c:v>1288.56</c:v>
                </c:pt>
                <c:pt idx="383">
                  <c:v>1278.1400000000001</c:v>
                </c:pt>
                <c:pt idx="384">
                  <c:v>1272.72</c:v>
                </c:pt>
                <c:pt idx="385">
                  <c:v>1276.08</c:v>
                </c:pt>
                <c:pt idx="386">
                  <c:v>1270.3499999999999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5B-48D1-B572-593D7CCB4842}"/>
            </c:ext>
          </c:extLst>
        </c:ser>
        <c:ser>
          <c:idx val="3"/>
          <c:order val="1"/>
          <c:tx>
            <c:strRef>
              <c:f>Sheet1!$AL$1</c:f>
              <c:strCache>
                <c:ptCount val="1"/>
                <c:pt idx="0">
                  <c:v>VNINDEX loại trừ Vingroup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cat>
            <c:numRef>
              <c:f>Sheet1!$A$2:$A$388</c:f>
              <c:numCache>
                <c:formatCode>mm/dd/yyyy</c:formatCode>
                <c:ptCount val="387"/>
                <c:pt idx="1">
                  <c:v>46262</c:v>
                </c:pt>
                <c:pt idx="2">
                  <c:v>46261</c:v>
                </c:pt>
                <c:pt idx="3">
                  <c:v>46260</c:v>
                </c:pt>
                <c:pt idx="4">
                  <c:v>46259</c:v>
                </c:pt>
                <c:pt idx="5">
                  <c:v>46258</c:v>
                </c:pt>
                <c:pt idx="6">
                  <c:v>46255</c:v>
                </c:pt>
                <c:pt idx="7">
                  <c:v>46254</c:v>
                </c:pt>
                <c:pt idx="8">
                  <c:v>46253</c:v>
                </c:pt>
                <c:pt idx="9">
                  <c:v>46252</c:v>
                </c:pt>
                <c:pt idx="10">
                  <c:v>46251</c:v>
                </c:pt>
                <c:pt idx="11">
                  <c:v>46248</c:v>
                </c:pt>
                <c:pt idx="12">
                  <c:v>46247</c:v>
                </c:pt>
                <c:pt idx="13">
                  <c:v>46246</c:v>
                </c:pt>
                <c:pt idx="14">
                  <c:v>46245</c:v>
                </c:pt>
                <c:pt idx="15">
                  <c:v>46244</c:v>
                </c:pt>
                <c:pt idx="16">
                  <c:v>46241</c:v>
                </c:pt>
                <c:pt idx="17">
                  <c:v>46240</c:v>
                </c:pt>
                <c:pt idx="18">
                  <c:v>46239</c:v>
                </c:pt>
                <c:pt idx="19">
                  <c:v>46238</c:v>
                </c:pt>
                <c:pt idx="20">
                  <c:v>46237</c:v>
                </c:pt>
                <c:pt idx="21">
                  <c:v>46234</c:v>
                </c:pt>
                <c:pt idx="22">
                  <c:v>46233</c:v>
                </c:pt>
                <c:pt idx="23">
                  <c:v>46232</c:v>
                </c:pt>
                <c:pt idx="24">
                  <c:v>46231</c:v>
                </c:pt>
                <c:pt idx="25">
                  <c:v>46230</c:v>
                </c:pt>
                <c:pt idx="26">
                  <c:v>46227</c:v>
                </c:pt>
                <c:pt idx="27">
                  <c:v>46226</c:v>
                </c:pt>
                <c:pt idx="28">
                  <c:v>46225</c:v>
                </c:pt>
                <c:pt idx="29">
                  <c:v>46224</c:v>
                </c:pt>
                <c:pt idx="30">
                  <c:v>46223</c:v>
                </c:pt>
                <c:pt idx="31">
                  <c:v>46220</c:v>
                </c:pt>
                <c:pt idx="32">
                  <c:v>46219</c:v>
                </c:pt>
                <c:pt idx="33">
                  <c:v>46218</c:v>
                </c:pt>
                <c:pt idx="34">
                  <c:v>46217</c:v>
                </c:pt>
                <c:pt idx="35">
                  <c:v>46216</c:v>
                </c:pt>
                <c:pt idx="36">
                  <c:v>46213</c:v>
                </c:pt>
                <c:pt idx="37">
                  <c:v>46212</c:v>
                </c:pt>
                <c:pt idx="38">
                  <c:v>46211</c:v>
                </c:pt>
                <c:pt idx="39">
                  <c:v>46210</c:v>
                </c:pt>
                <c:pt idx="40">
                  <c:v>46209</c:v>
                </c:pt>
                <c:pt idx="41">
                  <c:v>46206</c:v>
                </c:pt>
                <c:pt idx="42">
                  <c:v>46205</c:v>
                </c:pt>
                <c:pt idx="43">
                  <c:v>46204</c:v>
                </c:pt>
                <c:pt idx="44">
                  <c:v>46203</c:v>
                </c:pt>
                <c:pt idx="45">
                  <c:v>46202</c:v>
                </c:pt>
                <c:pt idx="46">
                  <c:v>46199</c:v>
                </c:pt>
                <c:pt idx="47">
                  <c:v>46198</c:v>
                </c:pt>
                <c:pt idx="48">
                  <c:v>46197</c:v>
                </c:pt>
                <c:pt idx="49">
                  <c:v>46196</c:v>
                </c:pt>
                <c:pt idx="50">
                  <c:v>46195</c:v>
                </c:pt>
                <c:pt idx="51">
                  <c:v>46192</c:v>
                </c:pt>
                <c:pt idx="52">
                  <c:v>46191</c:v>
                </c:pt>
                <c:pt idx="53">
                  <c:v>46190</c:v>
                </c:pt>
                <c:pt idx="54">
                  <c:v>46189</c:v>
                </c:pt>
                <c:pt idx="55">
                  <c:v>46188</c:v>
                </c:pt>
                <c:pt idx="56">
                  <c:v>46185</c:v>
                </c:pt>
                <c:pt idx="57">
                  <c:v>46184</c:v>
                </c:pt>
                <c:pt idx="58">
                  <c:v>46183</c:v>
                </c:pt>
                <c:pt idx="59">
                  <c:v>46182</c:v>
                </c:pt>
                <c:pt idx="60">
                  <c:v>46181</c:v>
                </c:pt>
                <c:pt idx="61">
                  <c:v>46178</c:v>
                </c:pt>
                <c:pt idx="62">
                  <c:v>46177</c:v>
                </c:pt>
                <c:pt idx="63">
                  <c:v>46176</c:v>
                </c:pt>
                <c:pt idx="64">
                  <c:v>46175</c:v>
                </c:pt>
                <c:pt idx="65">
                  <c:v>46174</c:v>
                </c:pt>
                <c:pt idx="66">
                  <c:v>46171</c:v>
                </c:pt>
                <c:pt idx="67">
                  <c:v>46170</c:v>
                </c:pt>
                <c:pt idx="68">
                  <c:v>46169</c:v>
                </c:pt>
                <c:pt idx="69">
                  <c:v>46168</c:v>
                </c:pt>
                <c:pt idx="70">
                  <c:v>46167</c:v>
                </c:pt>
                <c:pt idx="71">
                  <c:v>46164</c:v>
                </c:pt>
                <c:pt idx="72">
                  <c:v>46163</c:v>
                </c:pt>
                <c:pt idx="73">
                  <c:v>46162</c:v>
                </c:pt>
                <c:pt idx="74">
                  <c:v>46161</c:v>
                </c:pt>
                <c:pt idx="75">
                  <c:v>46160</c:v>
                </c:pt>
                <c:pt idx="76">
                  <c:v>46157</c:v>
                </c:pt>
                <c:pt idx="77">
                  <c:v>46156</c:v>
                </c:pt>
                <c:pt idx="78">
                  <c:v>46155</c:v>
                </c:pt>
                <c:pt idx="79">
                  <c:v>46154</c:v>
                </c:pt>
                <c:pt idx="80">
                  <c:v>46153</c:v>
                </c:pt>
                <c:pt idx="81">
                  <c:v>46150</c:v>
                </c:pt>
                <c:pt idx="82">
                  <c:v>46149</c:v>
                </c:pt>
                <c:pt idx="83">
                  <c:v>46148</c:v>
                </c:pt>
                <c:pt idx="84">
                  <c:v>46147</c:v>
                </c:pt>
                <c:pt idx="85">
                  <c:v>46146</c:v>
                </c:pt>
                <c:pt idx="86">
                  <c:v>46141</c:v>
                </c:pt>
                <c:pt idx="87">
                  <c:v>46140</c:v>
                </c:pt>
                <c:pt idx="88">
                  <c:v>46136</c:v>
                </c:pt>
                <c:pt idx="89">
                  <c:v>46135</c:v>
                </c:pt>
                <c:pt idx="90">
                  <c:v>46134</c:v>
                </c:pt>
                <c:pt idx="91">
                  <c:v>46133</c:v>
                </c:pt>
                <c:pt idx="92">
                  <c:v>46132</c:v>
                </c:pt>
                <c:pt idx="93">
                  <c:v>46129</c:v>
                </c:pt>
                <c:pt idx="94">
                  <c:v>46128</c:v>
                </c:pt>
                <c:pt idx="95">
                  <c:v>46127</c:v>
                </c:pt>
                <c:pt idx="96">
                  <c:v>46126</c:v>
                </c:pt>
                <c:pt idx="97">
                  <c:v>46125</c:v>
                </c:pt>
                <c:pt idx="98">
                  <c:v>46122</c:v>
                </c:pt>
                <c:pt idx="99">
                  <c:v>46121</c:v>
                </c:pt>
                <c:pt idx="100">
                  <c:v>46120</c:v>
                </c:pt>
                <c:pt idx="101">
                  <c:v>46119</c:v>
                </c:pt>
                <c:pt idx="102">
                  <c:v>46118</c:v>
                </c:pt>
                <c:pt idx="103">
                  <c:v>46115</c:v>
                </c:pt>
                <c:pt idx="104">
                  <c:v>46114</c:v>
                </c:pt>
                <c:pt idx="105">
                  <c:v>46113</c:v>
                </c:pt>
                <c:pt idx="106">
                  <c:v>46112</c:v>
                </c:pt>
                <c:pt idx="107">
                  <c:v>46111</c:v>
                </c:pt>
                <c:pt idx="108">
                  <c:v>46108</c:v>
                </c:pt>
                <c:pt idx="109">
                  <c:v>46107</c:v>
                </c:pt>
                <c:pt idx="110">
                  <c:v>46106</c:v>
                </c:pt>
                <c:pt idx="111">
                  <c:v>46105</c:v>
                </c:pt>
                <c:pt idx="112">
                  <c:v>46104</c:v>
                </c:pt>
                <c:pt idx="113">
                  <c:v>46101</c:v>
                </c:pt>
                <c:pt idx="114">
                  <c:v>46100</c:v>
                </c:pt>
                <c:pt idx="115">
                  <c:v>46099</c:v>
                </c:pt>
                <c:pt idx="116">
                  <c:v>46098</c:v>
                </c:pt>
                <c:pt idx="117">
                  <c:v>46097</c:v>
                </c:pt>
                <c:pt idx="118">
                  <c:v>46094</c:v>
                </c:pt>
                <c:pt idx="119">
                  <c:v>46093</c:v>
                </c:pt>
                <c:pt idx="120">
                  <c:v>46092</c:v>
                </c:pt>
                <c:pt idx="121">
                  <c:v>46091</c:v>
                </c:pt>
                <c:pt idx="122">
                  <c:v>46090</c:v>
                </c:pt>
                <c:pt idx="123">
                  <c:v>46087</c:v>
                </c:pt>
                <c:pt idx="124">
                  <c:v>46086</c:v>
                </c:pt>
                <c:pt idx="125">
                  <c:v>46085</c:v>
                </c:pt>
                <c:pt idx="126">
                  <c:v>46084</c:v>
                </c:pt>
                <c:pt idx="127">
                  <c:v>46083</c:v>
                </c:pt>
                <c:pt idx="128">
                  <c:v>46080</c:v>
                </c:pt>
                <c:pt idx="129">
                  <c:v>46079</c:v>
                </c:pt>
                <c:pt idx="130">
                  <c:v>46078</c:v>
                </c:pt>
                <c:pt idx="131">
                  <c:v>46077</c:v>
                </c:pt>
                <c:pt idx="132">
                  <c:v>46076</c:v>
                </c:pt>
                <c:pt idx="133">
                  <c:v>46066</c:v>
                </c:pt>
                <c:pt idx="134">
                  <c:v>46065</c:v>
                </c:pt>
                <c:pt idx="135">
                  <c:v>46064</c:v>
                </c:pt>
                <c:pt idx="136">
                  <c:v>46063</c:v>
                </c:pt>
                <c:pt idx="137">
                  <c:v>46062</c:v>
                </c:pt>
                <c:pt idx="138">
                  <c:v>46059</c:v>
                </c:pt>
                <c:pt idx="139">
                  <c:v>46058</c:v>
                </c:pt>
                <c:pt idx="140">
                  <c:v>46057</c:v>
                </c:pt>
                <c:pt idx="141">
                  <c:v>46056</c:v>
                </c:pt>
                <c:pt idx="142">
                  <c:v>46055</c:v>
                </c:pt>
                <c:pt idx="143">
                  <c:v>46052</c:v>
                </c:pt>
                <c:pt idx="144">
                  <c:v>46051</c:v>
                </c:pt>
                <c:pt idx="145">
                  <c:v>46050</c:v>
                </c:pt>
                <c:pt idx="146">
                  <c:v>46049</c:v>
                </c:pt>
                <c:pt idx="147">
                  <c:v>46048</c:v>
                </c:pt>
                <c:pt idx="148">
                  <c:v>46045</c:v>
                </c:pt>
                <c:pt idx="149">
                  <c:v>46044</c:v>
                </c:pt>
                <c:pt idx="150">
                  <c:v>46043</c:v>
                </c:pt>
                <c:pt idx="151">
                  <c:v>46042</c:v>
                </c:pt>
                <c:pt idx="152">
                  <c:v>46041</c:v>
                </c:pt>
                <c:pt idx="153">
                  <c:v>46038</c:v>
                </c:pt>
                <c:pt idx="154">
                  <c:v>46037</c:v>
                </c:pt>
                <c:pt idx="155">
                  <c:v>46036</c:v>
                </c:pt>
                <c:pt idx="156">
                  <c:v>46035</c:v>
                </c:pt>
                <c:pt idx="157">
                  <c:v>46034</c:v>
                </c:pt>
                <c:pt idx="158">
                  <c:v>46031</c:v>
                </c:pt>
                <c:pt idx="159">
                  <c:v>46030</c:v>
                </c:pt>
                <c:pt idx="160">
                  <c:v>46029</c:v>
                </c:pt>
                <c:pt idx="161">
                  <c:v>46028</c:v>
                </c:pt>
                <c:pt idx="162">
                  <c:v>46027</c:v>
                </c:pt>
                <c:pt idx="163" formatCode="m/d/yyyy">
                  <c:v>46022</c:v>
                </c:pt>
                <c:pt idx="164" formatCode="m/d/yyyy">
                  <c:v>46021</c:v>
                </c:pt>
                <c:pt idx="165" formatCode="m/d/yyyy">
                  <c:v>46020</c:v>
                </c:pt>
                <c:pt idx="166" formatCode="m/d/yyyy">
                  <c:v>46017</c:v>
                </c:pt>
                <c:pt idx="167" formatCode="m/d/yyyy">
                  <c:v>46016</c:v>
                </c:pt>
                <c:pt idx="168" formatCode="m/d/yyyy">
                  <c:v>46015</c:v>
                </c:pt>
                <c:pt idx="169" formatCode="m/d/yyyy">
                  <c:v>46014</c:v>
                </c:pt>
                <c:pt idx="170" formatCode="m/d/yyyy">
                  <c:v>46013</c:v>
                </c:pt>
                <c:pt idx="171" formatCode="m/d/yyyy">
                  <c:v>46010</c:v>
                </c:pt>
                <c:pt idx="172" formatCode="m/d/yyyy">
                  <c:v>46009</c:v>
                </c:pt>
                <c:pt idx="173" formatCode="m/d/yyyy">
                  <c:v>46008</c:v>
                </c:pt>
                <c:pt idx="174" formatCode="m/d/yyyy">
                  <c:v>46007</c:v>
                </c:pt>
                <c:pt idx="175" formatCode="m/d/yyyy">
                  <c:v>46006</c:v>
                </c:pt>
                <c:pt idx="176" formatCode="m/d/yyyy">
                  <c:v>46003</c:v>
                </c:pt>
                <c:pt idx="177" formatCode="m/d/yyyy">
                  <c:v>46002</c:v>
                </c:pt>
                <c:pt idx="178" formatCode="m/d/yyyy">
                  <c:v>46001</c:v>
                </c:pt>
                <c:pt idx="179" formatCode="m/d/yyyy">
                  <c:v>46000</c:v>
                </c:pt>
                <c:pt idx="180" formatCode="m/d/yyyy">
                  <c:v>45999</c:v>
                </c:pt>
                <c:pt idx="181" formatCode="m/d/yyyy">
                  <c:v>45996</c:v>
                </c:pt>
                <c:pt idx="182" formatCode="m/d/yyyy">
                  <c:v>45995</c:v>
                </c:pt>
                <c:pt idx="183" formatCode="m/d/yyyy">
                  <c:v>45994</c:v>
                </c:pt>
                <c:pt idx="184" formatCode="m/d/yyyy">
                  <c:v>45993</c:v>
                </c:pt>
                <c:pt idx="185" formatCode="m/d/yyyy">
                  <c:v>45992</c:v>
                </c:pt>
                <c:pt idx="186" formatCode="m/d/yyyy">
                  <c:v>45989</c:v>
                </c:pt>
                <c:pt idx="187" formatCode="m/d/yyyy">
                  <c:v>45988</c:v>
                </c:pt>
                <c:pt idx="188" formatCode="m/d/yyyy">
                  <c:v>45987</c:v>
                </c:pt>
                <c:pt idx="189" formatCode="m/d/yyyy">
                  <c:v>45986</c:v>
                </c:pt>
                <c:pt idx="190" formatCode="m/d/yyyy">
                  <c:v>45985</c:v>
                </c:pt>
                <c:pt idx="191" formatCode="m/d/yyyy">
                  <c:v>45982</c:v>
                </c:pt>
                <c:pt idx="192" formatCode="m/d/yyyy">
                  <c:v>45981</c:v>
                </c:pt>
                <c:pt idx="193" formatCode="m/d/yyyy">
                  <c:v>45980</c:v>
                </c:pt>
                <c:pt idx="194" formatCode="m/d/yyyy">
                  <c:v>45979</c:v>
                </c:pt>
                <c:pt idx="195" formatCode="m/d/yyyy">
                  <c:v>45978</c:v>
                </c:pt>
                <c:pt idx="196" formatCode="m/d/yyyy">
                  <c:v>45975</c:v>
                </c:pt>
                <c:pt idx="197" formatCode="m/d/yyyy">
                  <c:v>45974</c:v>
                </c:pt>
                <c:pt idx="198" formatCode="m/d/yyyy">
                  <c:v>45973</c:v>
                </c:pt>
                <c:pt idx="199" formatCode="m/d/yyyy">
                  <c:v>45972</c:v>
                </c:pt>
                <c:pt idx="200" formatCode="m/d/yyyy">
                  <c:v>45971</c:v>
                </c:pt>
                <c:pt idx="201" formatCode="m/d/yyyy">
                  <c:v>45968</c:v>
                </c:pt>
                <c:pt idx="202" formatCode="m/d/yyyy">
                  <c:v>45967</c:v>
                </c:pt>
                <c:pt idx="203" formatCode="m/d/yyyy">
                  <c:v>45966</c:v>
                </c:pt>
                <c:pt idx="204" formatCode="m/d/yyyy">
                  <c:v>45965</c:v>
                </c:pt>
                <c:pt idx="205" formatCode="m/d/yyyy">
                  <c:v>45964</c:v>
                </c:pt>
                <c:pt idx="206" formatCode="m/d/yyyy">
                  <c:v>45961</c:v>
                </c:pt>
                <c:pt idx="207" formatCode="m/d/yyyy">
                  <c:v>45960</c:v>
                </c:pt>
                <c:pt idx="208" formatCode="m/d/yyyy">
                  <c:v>45959</c:v>
                </c:pt>
                <c:pt idx="209" formatCode="m/d/yyyy">
                  <c:v>45958</c:v>
                </c:pt>
                <c:pt idx="210" formatCode="m/d/yyyy">
                  <c:v>45957</c:v>
                </c:pt>
                <c:pt idx="211" formatCode="m/d/yyyy">
                  <c:v>45954</c:v>
                </c:pt>
                <c:pt idx="212" formatCode="m/d/yyyy">
                  <c:v>45953</c:v>
                </c:pt>
                <c:pt idx="213" formatCode="m/d/yyyy">
                  <c:v>45952</c:v>
                </c:pt>
                <c:pt idx="214" formatCode="m/d/yyyy">
                  <c:v>45951</c:v>
                </c:pt>
                <c:pt idx="215" formatCode="m/d/yyyy">
                  <c:v>45950</c:v>
                </c:pt>
                <c:pt idx="216" formatCode="m/d/yyyy">
                  <c:v>45947</c:v>
                </c:pt>
                <c:pt idx="217" formatCode="m/d/yyyy">
                  <c:v>45946</c:v>
                </c:pt>
                <c:pt idx="218" formatCode="m/d/yyyy">
                  <c:v>45945</c:v>
                </c:pt>
                <c:pt idx="219" formatCode="m/d/yyyy">
                  <c:v>45944</c:v>
                </c:pt>
                <c:pt idx="220" formatCode="m/d/yyyy">
                  <c:v>45943</c:v>
                </c:pt>
                <c:pt idx="221" formatCode="m/d/yyyy">
                  <c:v>45940</c:v>
                </c:pt>
                <c:pt idx="222" formatCode="m/d/yyyy">
                  <c:v>45939</c:v>
                </c:pt>
                <c:pt idx="223" formatCode="m/d/yyyy">
                  <c:v>45938</c:v>
                </c:pt>
                <c:pt idx="224" formatCode="m/d/yyyy">
                  <c:v>45937</c:v>
                </c:pt>
                <c:pt idx="225" formatCode="m/d/yyyy">
                  <c:v>45936</c:v>
                </c:pt>
                <c:pt idx="226" formatCode="m/d/yyyy">
                  <c:v>45933</c:v>
                </c:pt>
                <c:pt idx="227" formatCode="m/d/yyyy">
                  <c:v>45932</c:v>
                </c:pt>
                <c:pt idx="228" formatCode="m/d/yyyy">
                  <c:v>45931</c:v>
                </c:pt>
                <c:pt idx="229" formatCode="m/d/yyyy">
                  <c:v>45930</c:v>
                </c:pt>
                <c:pt idx="230" formatCode="m/d/yyyy">
                  <c:v>45929</c:v>
                </c:pt>
                <c:pt idx="231" formatCode="m/d/yyyy">
                  <c:v>45926</c:v>
                </c:pt>
                <c:pt idx="232" formatCode="m/d/yyyy">
                  <c:v>45925</c:v>
                </c:pt>
                <c:pt idx="233" formatCode="m/d/yyyy">
                  <c:v>45924</c:v>
                </c:pt>
                <c:pt idx="234" formatCode="m/d/yyyy">
                  <c:v>45923</c:v>
                </c:pt>
                <c:pt idx="235" formatCode="m/d/yyyy">
                  <c:v>45922</c:v>
                </c:pt>
                <c:pt idx="236" formatCode="m/d/yyyy">
                  <c:v>45919</c:v>
                </c:pt>
                <c:pt idx="237" formatCode="m/d/yyyy">
                  <c:v>45918</c:v>
                </c:pt>
                <c:pt idx="238" formatCode="m/d/yyyy">
                  <c:v>45917</c:v>
                </c:pt>
                <c:pt idx="239" formatCode="m/d/yyyy">
                  <c:v>45916</c:v>
                </c:pt>
                <c:pt idx="240" formatCode="m/d/yyyy">
                  <c:v>45915</c:v>
                </c:pt>
                <c:pt idx="241" formatCode="m/d/yyyy">
                  <c:v>45912</c:v>
                </c:pt>
                <c:pt idx="242" formatCode="m/d/yyyy">
                  <c:v>45911</c:v>
                </c:pt>
                <c:pt idx="243" formatCode="m/d/yyyy">
                  <c:v>45910</c:v>
                </c:pt>
                <c:pt idx="244" formatCode="m/d/yyyy">
                  <c:v>45909</c:v>
                </c:pt>
                <c:pt idx="245" formatCode="m/d/yyyy">
                  <c:v>45908</c:v>
                </c:pt>
                <c:pt idx="246" formatCode="m/d/yyyy">
                  <c:v>45905</c:v>
                </c:pt>
                <c:pt idx="247" formatCode="m/d/yyyy">
                  <c:v>45904</c:v>
                </c:pt>
                <c:pt idx="248" formatCode="m/d/yyyy">
                  <c:v>45903</c:v>
                </c:pt>
                <c:pt idx="249" formatCode="m/d/yyyy">
                  <c:v>45898</c:v>
                </c:pt>
                <c:pt idx="250" formatCode="m/d/yyyy">
                  <c:v>45897</c:v>
                </c:pt>
                <c:pt idx="251" formatCode="m/d/yyyy">
                  <c:v>45896</c:v>
                </c:pt>
                <c:pt idx="252" formatCode="m/d/yyyy">
                  <c:v>45895</c:v>
                </c:pt>
                <c:pt idx="253" formatCode="m/d/yyyy">
                  <c:v>45894</c:v>
                </c:pt>
                <c:pt idx="254" formatCode="m/d/yyyy">
                  <c:v>45891</c:v>
                </c:pt>
                <c:pt idx="255" formatCode="m/d/yyyy">
                  <c:v>45890</c:v>
                </c:pt>
                <c:pt idx="256" formatCode="m/d/yyyy">
                  <c:v>45889</c:v>
                </c:pt>
                <c:pt idx="257" formatCode="m/d/yyyy">
                  <c:v>45888</c:v>
                </c:pt>
                <c:pt idx="258" formatCode="m/d/yyyy">
                  <c:v>45887</c:v>
                </c:pt>
                <c:pt idx="259" formatCode="m/d/yyyy">
                  <c:v>45884</c:v>
                </c:pt>
                <c:pt idx="260" formatCode="m/d/yyyy">
                  <c:v>45883</c:v>
                </c:pt>
                <c:pt idx="261" formatCode="m/d/yyyy">
                  <c:v>45882</c:v>
                </c:pt>
                <c:pt idx="262" formatCode="m/d/yyyy">
                  <c:v>45881</c:v>
                </c:pt>
                <c:pt idx="263" formatCode="m/d/yyyy">
                  <c:v>45880</c:v>
                </c:pt>
                <c:pt idx="264" formatCode="m/d/yyyy">
                  <c:v>45877</c:v>
                </c:pt>
                <c:pt idx="265" formatCode="m/d/yyyy">
                  <c:v>45876</c:v>
                </c:pt>
                <c:pt idx="266" formatCode="m/d/yyyy">
                  <c:v>45875</c:v>
                </c:pt>
                <c:pt idx="267" formatCode="m/d/yyyy">
                  <c:v>45874</c:v>
                </c:pt>
                <c:pt idx="268" formatCode="m/d/yyyy">
                  <c:v>45873</c:v>
                </c:pt>
                <c:pt idx="269" formatCode="m/d/yyyy">
                  <c:v>45870</c:v>
                </c:pt>
                <c:pt idx="270" formatCode="m/d/yyyy">
                  <c:v>45869</c:v>
                </c:pt>
                <c:pt idx="271" formatCode="m/d/yyyy">
                  <c:v>45868</c:v>
                </c:pt>
                <c:pt idx="272" formatCode="m/d/yyyy">
                  <c:v>45867</c:v>
                </c:pt>
                <c:pt idx="273" formatCode="m/d/yyyy">
                  <c:v>45866</c:v>
                </c:pt>
                <c:pt idx="274" formatCode="m/d/yyyy">
                  <c:v>45863</c:v>
                </c:pt>
                <c:pt idx="275" formatCode="m/d/yyyy">
                  <c:v>45862</c:v>
                </c:pt>
                <c:pt idx="276" formatCode="m/d/yyyy">
                  <c:v>45861</c:v>
                </c:pt>
                <c:pt idx="277" formatCode="m/d/yyyy">
                  <c:v>45860</c:v>
                </c:pt>
                <c:pt idx="278" formatCode="m/d/yyyy">
                  <c:v>45859</c:v>
                </c:pt>
                <c:pt idx="279" formatCode="m/d/yyyy">
                  <c:v>45856</c:v>
                </c:pt>
                <c:pt idx="280" formatCode="m/d/yyyy">
                  <c:v>45855</c:v>
                </c:pt>
                <c:pt idx="281" formatCode="m/d/yyyy">
                  <c:v>45854</c:v>
                </c:pt>
                <c:pt idx="282" formatCode="m/d/yyyy">
                  <c:v>45853</c:v>
                </c:pt>
                <c:pt idx="283" formatCode="m/d/yyyy">
                  <c:v>45852</c:v>
                </c:pt>
                <c:pt idx="284" formatCode="m/d/yyyy">
                  <c:v>45849</c:v>
                </c:pt>
                <c:pt idx="285" formatCode="m/d/yyyy">
                  <c:v>45848</c:v>
                </c:pt>
                <c:pt idx="286" formatCode="m/d/yyyy">
                  <c:v>45847</c:v>
                </c:pt>
                <c:pt idx="287" formatCode="m/d/yyyy">
                  <c:v>45846</c:v>
                </c:pt>
                <c:pt idx="288" formatCode="m/d/yyyy">
                  <c:v>45845</c:v>
                </c:pt>
                <c:pt idx="289" formatCode="m/d/yyyy">
                  <c:v>45842</c:v>
                </c:pt>
                <c:pt idx="290" formatCode="m/d/yyyy">
                  <c:v>45841</c:v>
                </c:pt>
                <c:pt idx="291" formatCode="m/d/yyyy">
                  <c:v>45840</c:v>
                </c:pt>
                <c:pt idx="292" formatCode="m/d/yyyy">
                  <c:v>45839</c:v>
                </c:pt>
                <c:pt idx="293" formatCode="m/d/yyyy">
                  <c:v>45838</c:v>
                </c:pt>
                <c:pt idx="294" formatCode="m/d/yyyy">
                  <c:v>45835</c:v>
                </c:pt>
                <c:pt idx="295" formatCode="m/d/yyyy">
                  <c:v>45834</c:v>
                </c:pt>
                <c:pt idx="296" formatCode="m/d/yyyy">
                  <c:v>45833</c:v>
                </c:pt>
                <c:pt idx="297" formatCode="m/d/yyyy">
                  <c:v>45832</c:v>
                </c:pt>
                <c:pt idx="298" formatCode="m/d/yyyy">
                  <c:v>45831</c:v>
                </c:pt>
                <c:pt idx="299" formatCode="m/d/yyyy">
                  <c:v>45828</c:v>
                </c:pt>
                <c:pt idx="300" formatCode="m/d/yyyy">
                  <c:v>45827</c:v>
                </c:pt>
                <c:pt idx="301" formatCode="m/d/yyyy">
                  <c:v>45826</c:v>
                </c:pt>
                <c:pt idx="302" formatCode="m/d/yyyy">
                  <c:v>45825</c:v>
                </c:pt>
                <c:pt idx="303" formatCode="m/d/yyyy">
                  <c:v>45824</c:v>
                </c:pt>
                <c:pt idx="304" formatCode="m/d/yyyy">
                  <c:v>45821</c:v>
                </c:pt>
                <c:pt idx="305" formatCode="m/d/yyyy">
                  <c:v>45820</c:v>
                </c:pt>
                <c:pt idx="306" formatCode="m/d/yyyy">
                  <c:v>45819</c:v>
                </c:pt>
                <c:pt idx="307" formatCode="m/d/yyyy">
                  <c:v>45818</c:v>
                </c:pt>
                <c:pt idx="308" formatCode="m/d/yyyy">
                  <c:v>45817</c:v>
                </c:pt>
                <c:pt idx="309" formatCode="m/d/yyyy">
                  <c:v>45814</c:v>
                </c:pt>
                <c:pt idx="310" formatCode="m/d/yyyy">
                  <c:v>45813</c:v>
                </c:pt>
                <c:pt idx="311" formatCode="m/d/yyyy">
                  <c:v>45812</c:v>
                </c:pt>
                <c:pt idx="312" formatCode="m/d/yyyy">
                  <c:v>45811</c:v>
                </c:pt>
                <c:pt idx="313" formatCode="m/d/yyyy">
                  <c:v>45810</c:v>
                </c:pt>
                <c:pt idx="314" formatCode="m/d/yyyy">
                  <c:v>45807</c:v>
                </c:pt>
                <c:pt idx="315" formatCode="m/d/yyyy">
                  <c:v>45806</c:v>
                </c:pt>
                <c:pt idx="316" formatCode="m/d/yyyy">
                  <c:v>45805</c:v>
                </c:pt>
                <c:pt idx="317" formatCode="m/d/yyyy">
                  <c:v>45804</c:v>
                </c:pt>
                <c:pt idx="318" formatCode="m/d/yyyy">
                  <c:v>45803</c:v>
                </c:pt>
                <c:pt idx="319" formatCode="m/d/yyyy">
                  <c:v>45800</c:v>
                </c:pt>
                <c:pt idx="320" formatCode="m/d/yyyy">
                  <c:v>45799</c:v>
                </c:pt>
                <c:pt idx="321" formatCode="m/d/yyyy">
                  <c:v>45798</c:v>
                </c:pt>
                <c:pt idx="322" formatCode="m/d/yyyy">
                  <c:v>45797</c:v>
                </c:pt>
                <c:pt idx="323" formatCode="m/d/yyyy">
                  <c:v>45796</c:v>
                </c:pt>
                <c:pt idx="324" formatCode="m/d/yyyy">
                  <c:v>45793</c:v>
                </c:pt>
                <c:pt idx="325" formatCode="m/d/yyyy">
                  <c:v>45792</c:v>
                </c:pt>
                <c:pt idx="326" formatCode="m/d/yyyy">
                  <c:v>45791</c:v>
                </c:pt>
                <c:pt idx="327" formatCode="m/d/yyyy">
                  <c:v>45790</c:v>
                </c:pt>
                <c:pt idx="328" formatCode="m/d/yyyy">
                  <c:v>45789</c:v>
                </c:pt>
                <c:pt idx="329" formatCode="m/d/yyyy">
                  <c:v>45786</c:v>
                </c:pt>
                <c:pt idx="330" formatCode="m/d/yyyy">
                  <c:v>45785</c:v>
                </c:pt>
                <c:pt idx="331" formatCode="m/d/yyyy">
                  <c:v>45784</c:v>
                </c:pt>
                <c:pt idx="332" formatCode="m/d/yyyy">
                  <c:v>45783</c:v>
                </c:pt>
                <c:pt idx="333" formatCode="m/d/yyyy">
                  <c:v>45782</c:v>
                </c:pt>
                <c:pt idx="334" formatCode="m/d/yyyy">
                  <c:v>45776</c:v>
                </c:pt>
                <c:pt idx="335" formatCode="m/d/yyyy">
                  <c:v>45775</c:v>
                </c:pt>
                <c:pt idx="336" formatCode="m/d/yyyy">
                  <c:v>45772</c:v>
                </c:pt>
                <c:pt idx="337" formatCode="m/d/yyyy">
                  <c:v>45771</c:v>
                </c:pt>
                <c:pt idx="338" formatCode="m/d/yyyy">
                  <c:v>45770</c:v>
                </c:pt>
                <c:pt idx="339" formatCode="m/d/yyyy">
                  <c:v>45769</c:v>
                </c:pt>
                <c:pt idx="340" formatCode="m/d/yyyy">
                  <c:v>45768</c:v>
                </c:pt>
                <c:pt idx="341" formatCode="m/d/yyyy">
                  <c:v>45765</c:v>
                </c:pt>
                <c:pt idx="342" formatCode="m/d/yyyy">
                  <c:v>45764</c:v>
                </c:pt>
                <c:pt idx="343" formatCode="m/d/yyyy">
                  <c:v>45763</c:v>
                </c:pt>
                <c:pt idx="344" formatCode="m/d/yyyy">
                  <c:v>45762</c:v>
                </c:pt>
                <c:pt idx="345" formatCode="m/d/yyyy">
                  <c:v>45761</c:v>
                </c:pt>
                <c:pt idx="346" formatCode="m/d/yyyy">
                  <c:v>45758</c:v>
                </c:pt>
                <c:pt idx="347" formatCode="m/d/yyyy">
                  <c:v>45757</c:v>
                </c:pt>
                <c:pt idx="348" formatCode="m/d/yyyy">
                  <c:v>45756</c:v>
                </c:pt>
                <c:pt idx="349" formatCode="m/d/yyyy">
                  <c:v>45755</c:v>
                </c:pt>
                <c:pt idx="350" formatCode="m/d/yyyy">
                  <c:v>45751</c:v>
                </c:pt>
                <c:pt idx="351" formatCode="m/d/yyyy">
                  <c:v>45750</c:v>
                </c:pt>
                <c:pt idx="352" formatCode="m/d/yyyy">
                  <c:v>45749</c:v>
                </c:pt>
                <c:pt idx="353" formatCode="m/d/yyyy">
                  <c:v>45748</c:v>
                </c:pt>
                <c:pt idx="354" formatCode="m/d/yyyy">
                  <c:v>45747</c:v>
                </c:pt>
                <c:pt idx="355" formatCode="m/d/yyyy">
                  <c:v>45744</c:v>
                </c:pt>
                <c:pt idx="356" formatCode="m/d/yyyy">
                  <c:v>45743</c:v>
                </c:pt>
                <c:pt idx="357" formatCode="m/d/yyyy">
                  <c:v>45742</c:v>
                </c:pt>
                <c:pt idx="358" formatCode="m/d/yyyy">
                  <c:v>45741</c:v>
                </c:pt>
                <c:pt idx="359" formatCode="m/d/yyyy">
                  <c:v>45740</c:v>
                </c:pt>
                <c:pt idx="360" formatCode="m/d/yyyy">
                  <c:v>45737</c:v>
                </c:pt>
                <c:pt idx="361" formatCode="m/d/yyyy">
                  <c:v>45736</c:v>
                </c:pt>
                <c:pt idx="362" formatCode="m/d/yyyy">
                  <c:v>45735</c:v>
                </c:pt>
                <c:pt idx="363" formatCode="m/d/yyyy">
                  <c:v>45734</c:v>
                </c:pt>
                <c:pt idx="364" formatCode="m/d/yyyy">
                  <c:v>45733</c:v>
                </c:pt>
                <c:pt idx="365" formatCode="m/d/yyyy">
                  <c:v>45730</c:v>
                </c:pt>
                <c:pt idx="366" formatCode="m/d/yyyy">
                  <c:v>45729</c:v>
                </c:pt>
                <c:pt idx="367" formatCode="m/d/yyyy">
                  <c:v>45728</c:v>
                </c:pt>
                <c:pt idx="368" formatCode="m/d/yyyy">
                  <c:v>45727</c:v>
                </c:pt>
                <c:pt idx="369" formatCode="m/d/yyyy">
                  <c:v>45726</c:v>
                </c:pt>
                <c:pt idx="370" formatCode="m/d/yyyy">
                  <c:v>45723</c:v>
                </c:pt>
                <c:pt idx="371" formatCode="m/d/yyyy">
                  <c:v>45722</c:v>
                </c:pt>
                <c:pt idx="372" formatCode="m/d/yyyy">
                  <c:v>45721</c:v>
                </c:pt>
                <c:pt idx="373" formatCode="m/d/yyyy">
                  <c:v>45720</c:v>
                </c:pt>
                <c:pt idx="374" formatCode="m/d/yyyy">
                  <c:v>45719</c:v>
                </c:pt>
                <c:pt idx="375" formatCode="m/d/yyyy">
                  <c:v>45716</c:v>
                </c:pt>
                <c:pt idx="376" formatCode="m/d/yyyy">
                  <c:v>45715</c:v>
                </c:pt>
                <c:pt idx="377" formatCode="m/d/yyyy">
                  <c:v>45714</c:v>
                </c:pt>
                <c:pt idx="378" formatCode="m/d/yyyy">
                  <c:v>45713</c:v>
                </c:pt>
                <c:pt idx="379" formatCode="m/d/yyyy">
                  <c:v>45712</c:v>
                </c:pt>
                <c:pt idx="380" formatCode="m/d/yyyy">
                  <c:v>45709</c:v>
                </c:pt>
                <c:pt idx="381" formatCode="m/d/yyyy">
                  <c:v>45708</c:v>
                </c:pt>
                <c:pt idx="382" formatCode="m/d/yyyy">
                  <c:v>45707</c:v>
                </c:pt>
                <c:pt idx="383" formatCode="m/d/yyyy">
                  <c:v>45706</c:v>
                </c:pt>
                <c:pt idx="384" formatCode="m/d/yyyy">
                  <c:v>45705</c:v>
                </c:pt>
                <c:pt idx="385" formatCode="m/d/yyyy">
                  <c:v>45702</c:v>
                </c:pt>
                <c:pt idx="386" formatCode="m/d/yyyy">
                  <c:v>45701</c:v>
                </c:pt>
              </c:numCache>
            </c:numRef>
          </c:cat>
          <c:val>
            <c:numRef>
              <c:f>Sheet1!$AL$2:$AL$388</c:f>
              <c:numCache>
                <c:formatCode>#,##0.00</c:formatCode>
                <c:ptCount val="387"/>
                <c:pt idx="1">
                  <c:v>1361.8870814025722</c:v>
                </c:pt>
                <c:pt idx="2">
                  <c:v>1360.054247125669</c:v>
                </c:pt>
                <c:pt idx="3">
                  <c:v>1360.8077020320411</c:v>
                </c:pt>
                <c:pt idx="4">
                  <c:v>1345.8279387418745</c:v>
                </c:pt>
                <c:pt idx="5">
                  <c:v>1352.9572126696171</c:v>
                </c:pt>
                <c:pt idx="6">
                  <c:v>1350.4042335277984</c:v>
                </c:pt>
                <c:pt idx="7">
                  <c:v>1326.3059105703414</c:v>
                </c:pt>
                <c:pt idx="8">
                  <c:v>1322.6998992971701</c:v>
                </c:pt>
                <c:pt idx="9">
                  <c:v>1327.6825308124385</c:v>
                </c:pt>
                <c:pt idx="10">
                  <c:v>1328.0498313322137</c:v>
                </c:pt>
                <c:pt idx="11">
                  <c:v>1326.2014996768125</c:v>
                </c:pt>
                <c:pt idx="12">
                  <c:v>1343.2925631357386</c:v>
                </c:pt>
                <c:pt idx="13">
                  <c:v>1354.2650899815599</c:v>
                </c:pt>
                <c:pt idx="14">
                  <c:v>1348.6716668110339</c:v>
                </c:pt>
                <c:pt idx="15">
                  <c:v>1352.8005635418613</c:v>
                </c:pt>
                <c:pt idx="16">
                  <c:v>1331.3155586230312</c:v>
                </c:pt>
                <c:pt idx="17">
                  <c:v>1314.0365668048387</c:v>
                </c:pt>
                <c:pt idx="18">
                  <c:v>1324.2067073572121</c:v>
                </c:pt>
                <c:pt idx="19">
                  <c:v>1328.2771047602234</c:v>
                </c:pt>
                <c:pt idx="20">
                  <c:v>1326.933244617228</c:v>
                </c:pt>
                <c:pt idx="21">
                  <c:v>1298.7100733086327</c:v>
                </c:pt>
                <c:pt idx="22">
                  <c:v>1298.4058848391583</c:v>
                </c:pt>
                <c:pt idx="23">
                  <c:v>1267.9530924200694</c:v>
                </c:pt>
                <c:pt idx="24">
                  <c:v>1261.6338297209145</c:v>
                </c:pt>
                <c:pt idx="25">
                  <c:v>1251.4559584571134</c:v>
                </c:pt>
                <c:pt idx="26">
                  <c:v>1269.6215808096088</c:v>
                </c:pt>
                <c:pt idx="27">
                  <c:v>1279.4953127304589</c:v>
                </c:pt>
                <c:pt idx="28">
                  <c:v>1273.1338610503396</c:v>
                </c:pt>
                <c:pt idx="29">
                  <c:v>1299.9636307055598</c:v>
                </c:pt>
                <c:pt idx="30">
                  <c:v>1307.9712554819143</c:v>
                </c:pt>
                <c:pt idx="31">
                  <c:v>1347.3437294341711</c:v>
                </c:pt>
                <c:pt idx="32">
                  <c:v>1356.2066389381644</c:v>
                </c:pt>
                <c:pt idx="33">
                  <c:v>1349.9413955239042</c:v>
                </c:pt>
                <c:pt idx="34">
                  <c:v>1366.6455030355487</c:v>
                </c:pt>
                <c:pt idx="35">
                  <c:v>1353.9941340548917</c:v>
                </c:pt>
                <c:pt idx="36">
                  <c:v>1375.8721456420913</c:v>
                </c:pt>
                <c:pt idx="37">
                  <c:v>1389.4084750264954</c:v>
                </c:pt>
                <c:pt idx="38">
                  <c:v>1401.3932917116226</c:v>
                </c:pt>
                <c:pt idx="39">
                  <c:v>1396.9702976181004</c:v>
                </c:pt>
                <c:pt idx="40">
                  <c:v>1388.3527663691007</c:v>
                </c:pt>
                <c:pt idx="41">
                  <c:v>1407.8255700244963</c:v>
                </c:pt>
                <c:pt idx="42">
                  <c:v>1412.6824121304098</c:v>
                </c:pt>
                <c:pt idx="43">
                  <c:v>1419.703430227657</c:v>
                </c:pt>
                <c:pt idx="44">
                  <c:v>1404.3859446210467</c:v>
                </c:pt>
                <c:pt idx="45">
                  <c:v>1405.3659446009178</c:v>
                </c:pt>
                <c:pt idx="46">
                  <c:v>1394.0562651842806</c:v>
                </c:pt>
                <c:pt idx="47">
                  <c:v>1395.4117951216369</c:v>
                </c:pt>
                <c:pt idx="48">
                  <c:v>1397.384771043251</c:v>
                </c:pt>
                <c:pt idx="49">
                  <c:v>1394.2159250664752</c:v>
                </c:pt>
                <c:pt idx="50">
                  <c:v>1397.6347965196833</c:v>
                </c:pt>
                <c:pt idx="51">
                  <c:v>1397.3157412472681</c:v>
                </c:pt>
                <c:pt idx="52">
                  <c:v>1403.8399819821489</c:v>
                </c:pt>
                <c:pt idx="53">
                  <c:v>1411.1491742738767</c:v>
                </c:pt>
                <c:pt idx="54">
                  <c:v>1408.0865846217009</c:v>
                </c:pt>
                <c:pt idx="55">
                  <c:v>1402.3991581788341</c:v>
                </c:pt>
                <c:pt idx="56">
                  <c:v>1388.3372540060759</c:v>
                </c:pt>
                <c:pt idx="57">
                  <c:v>1388.0798751013278</c:v>
                </c:pt>
                <c:pt idx="58">
                  <c:v>1390.903725955555</c:v>
                </c:pt>
                <c:pt idx="59">
                  <c:v>1385.7662562203122</c:v>
                </c:pt>
                <c:pt idx="60">
                  <c:v>1379.843684770723</c:v>
                </c:pt>
                <c:pt idx="61">
                  <c:v>1402.334744996012</c:v>
                </c:pt>
                <c:pt idx="62">
                  <c:v>1408.156299293697</c:v>
                </c:pt>
                <c:pt idx="63">
                  <c:v>1401.2560308080654</c:v>
                </c:pt>
                <c:pt idx="64">
                  <c:v>1394.2749360906378</c:v>
                </c:pt>
                <c:pt idx="65">
                  <c:v>1411.1303139732831</c:v>
                </c:pt>
                <c:pt idx="66">
                  <c:v>1415.1741664513297</c:v>
                </c:pt>
                <c:pt idx="67">
                  <c:v>1415.3370373568371</c:v>
                </c:pt>
                <c:pt idx="68">
                  <c:v>1435.564892842229</c:v>
                </c:pt>
                <c:pt idx="69">
                  <c:v>1433.9534318062081</c:v>
                </c:pt>
                <c:pt idx="70">
                  <c:v>1422.0428262570065</c:v>
                </c:pt>
                <c:pt idx="71">
                  <c:v>1422.5509973248618</c:v>
                </c:pt>
                <c:pt idx="72">
                  <c:v>1432.9432568635566</c:v>
                </c:pt>
                <c:pt idx="73">
                  <c:v>1436.5373126088264</c:v>
                </c:pt>
                <c:pt idx="74">
                  <c:v>1441.4039201178562</c:v>
                </c:pt>
                <c:pt idx="75">
                  <c:v>1459.7933218945946</c:v>
                </c:pt>
                <c:pt idx="76">
                  <c:v>1445.4133616196773</c:v>
                </c:pt>
                <c:pt idx="77">
                  <c:v>1446.6048375182104</c:v>
                </c:pt>
                <c:pt idx="78">
                  <c:v>1438.2460481297965</c:v>
                </c:pt>
                <c:pt idx="79">
                  <c:v>1431.6679300315152</c:v>
                </c:pt>
                <c:pt idx="80">
                  <c:v>1424.821703222362</c:v>
                </c:pt>
                <c:pt idx="81">
                  <c:v>1435.1411271529073</c:v>
                </c:pt>
                <c:pt idx="82">
                  <c:v>1433.9248420477991</c:v>
                </c:pt>
                <c:pt idx="83">
                  <c:v>1433.0934578437705</c:v>
                </c:pt>
                <c:pt idx="84">
                  <c:v>1418.0012432409167</c:v>
                </c:pt>
                <c:pt idx="85">
                  <c:v>1419.210761201716</c:v>
                </c:pt>
                <c:pt idx="86">
                  <c:v>1412.9990588726541</c:v>
                </c:pt>
                <c:pt idx="87">
                  <c:v>1412.8947980546689</c:v>
                </c:pt>
                <c:pt idx="88">
                  <c:v>1422.7295555623705</c:v>
                </c:pt>
                <c:pt idx="89">
                  <c:v>1428.2297074899766</c:v>
                </c:pt>
                <c:pt idx="90">
                  <c:v>1425.3573677561728</c:v>
                </c:pt>
                <c:pt idx="91">
                  <c:v>1427.8453371019141</c:v>
                </c:pt>
                <c:pt idx="92">
                  <c:v>1435.8063464850445</c:v>
                </c:pt>
                <c:pt idx="93">
                  <c:v>1430.4455670916207</c:v>
                </c:pt>
                <c:pt idx="94">
                  <c:v>1422.6591357598957</c:v>
                </c:pt>
                <c:pt idx="95">
                  <c:v>1429.7734394310487</c:v>
                </c:pt>
                <c:pt idx="96">
                  <c:v>1432.7506714921947</c:v>
                </c:pt>
                <c:pt idx="97">
                  <c:v>1430.3328742636149</c:v>
                </c:pt>
                <c:pt idx="98">
                  <c:v>1436.1875646726983</c:v>
                </c:pt>
                <c:pt idx="99">
                  <c:v>1426.4921840445845</c:v>
                </c:pt>
                <c:pt idx="100">
                  <c:v>1436.7499783664211</c:v>
                </c:pt>
                <c:pt idx="101">
                  <c:v>1383.0339531240143</c:v>
                </c:pt>
                <c:pt idx="102">
                  <c:v>1381.4389922579371</c:v>
                </c:pt>
                <c:pt idx="103">
                  <c:v>1388.967320047185</c:v>
                </c:pt>
                <c:pt idx="104">
                  <c:v>1402.0696723842771</c:v>
                </c:pt>
                <c:pt idx="105">
                  <c:v>1414.9119120035264</c:v>
                </c:pt>
                <c:pt idx="106">
                  <c:v>1403.575379830226</c:v>
                </c:pt>
                <c:pt idx="107">
                  <c:v>1400.6833017878698</c:v>
                </c:pt>
                <c:pt idx="108">
                  <c:v>1405.9527423793995</c:v>
                </c:pt>
                <c:pt idx="109">
                  <c:v>1384.2271070537658</c:v>
                </c:pt>
                <c:pt idx="110">
                  <c:v>1396.5603463315465</c:v>
                </c:pt>
                <c:pt idx="111">
                  <c:v>1367.065216372059</c:v>
                </c:pt>
                <c:pt idx="112">
                  <c:v>1342.078647401577</c:v>
                </c:pt>
                <c:pt idx="113">
                  <c:v>1380.9745423878701</c:v>
                </c:pt>
                <c:pt idx="114">
                  <c:v>1413.2476328466371</c:v>
                </c:pt>
                <c:pt idx="115">
                  <c:v>1427.7677188626853</c:v>
                </c:pt>
                <c:pt idx="116">
                  <c:v>1424.0745784469946</c:v>
                </c:pt>
                <c:pt idx="117">
                  <c:v>1411.565004649389</c:v>
                </c:pt>
                <c:pt idx="118">
                  <c:v>1415.7864160826659</c:v>
                </c:pt>
                <c:pt idx="119">
                  <c:v>1429.6382141457761</c:v>
                </c:pt>
                <c:pt idx="120">
                  <c:v>1447.7155290094906</c:v>
                </c:pt>
                <c:pt idx="121">
                  <c:v>1410.961717822805</c:v>
                </c:pt>
                <c:pt idx="122">
                  <c:v>1382.4487697286086</c:v>
                </c:pt>
                <c:pt idx="123">
                  <c:v>1471.0644960097986</c:v>
                </c:pt>
                <c:pt idx="124">
                  <c:v>1498.2532869037636</c:v>
                </c:pt>
                <c:pt idx="125">
                  <c:v>1524.3439215774836</c:v>
                </c:pt>
                <c:pt idx="126">
                  <c:v>1519.5642689183237</c:v>
                </c:pt>
                <c:pt idx="127">
                  <c:v>1524.9873784681777</c:v>
                </c:pt>
                <c:pt idx="128">
                  <c:v>1542.9310637836124</c:v>
                </c:pt>
                <c:pt idx="129">
                  <c:v>1548.0076035944744</c:v>
                </c:pt>
                <c:pt idx="130">
                  <c:v>1548.4737107751625</c:v>
                </c:pt>
                <c:pt idx="131">
                  <c:v>1542.2722847350055</c:v>
                </c:pt>
                <c:pt idx="132">
                  <c:v>1535.3372876580916</c:v>
                </c:pt>
                <c:pt idx="133">
                  <c:v>1504.2846220803979</c:v>
                </c:pt>
                <c:pt idx="134">
                  <c:v>1495.9240110473702</c:v>
                </c:pt>
                <c:pt idx="135">
                  <c:v>1497.3623472320876</c:v>
                </c:pt>
                <c:pt idx="136">
                  <c:v>1472.0215955280642</c:v>
                </c:pt>
                <c:pt idx="137">
                  <c:v>1494.2824034501459</c:v>
                </c:pt>
                <c:pt idx="138">
                  <c:v>1494.971537550412</c:v>
                </c:pt>
                <c:pt idx="139">
                  <c:v>1521.922186835983</c:v>
                </c:pt>
                <c:pt idx="140">
                  <c:v>1550.7438639712377</c:v>
                </c:pt>
                <c:pt idx="141">
                  <c:v>1551.9621446978431</c:v>
                </c:pt>
                <c:pt idx="142">
                  <c:v>1544.0300803385278</c:v>
                </c:pt>
                <c:pt idx="143">
                  <c:v>1540.7728073946168</c:v>
                </c:pt>
                <c:pt idx="144">
                  <c:v>1526.1246149650958</c:v>
                </c:pt>
                <c:pt idx="145">
                  <c:v>1517.2403679274162</c:v>
                </c:pt>
                <c:pt idx="146">
                  <c:v>1520.8210245550208</c:v>
                </c:pt>
                <c:pt idx="147">
                  <c:v>1511.4654138935891</c:v>
                </c:pt>
                <c:pt idx="148">
                  <c:v>1525.5396021998654</c:v>
                </c:pt>
                <c:pt idx="149">
                  <c:v>1547.2608965520508</c:v>
                </c:pt>
                <c:pt idx="150">
                  <c:v>1549.2595496913736</c:v>
                </c:pt>
                <c:pt idx="151">
                  <c:v>1556.738013288151</c:v>
                </c:pt>
                <c:pt idx="152">
                  <c:v>1555.04837471683</c:v>
                </c:pt>
                <c:pt idx="153">
                  <c:v>1542.0230074057392</c:v>
                </c:pt>
                <c:pt idx="154">
                  <c:v>1543.1687702775976</c:v>
                </c:pt>
                <c:pt idx="155">
                  <c:v>1555.1788381175058</c:v>
                </c:pt>
                <c:pt idx="156">
                  <c:v>1542.4647866351702</c:v>
                </c:pt>
                <c:pt idx="157">
                  <c:v>1528.2650227900797</c:v>
                </c:pt>
                <c:pt idx="158">
                  <c:v>1488.8179673720094</c:v>
                </c:pt>
                <c:pt idx="159">
                  <c:v>1475.459512294419</c:v>
                </c:pt>
                <c:pt idx="160">
                  <c:v>1464.6570678005291</c:v>
                </c:pt>
                <c:pt idx="161">
                  <c:v>1435.1470706000403</c:v>
                </c:pt>
                <c:pt idx="162">
                  <c:v>1417.6575224839862</c:v>
                </c:pt>
                <c:pt idx="163">
                  <c:v>1430.2467303271922</c:v>
                </c:pt>
                <c:pt idx="164">
                  <c:v>1430.8886073763715</c:v>
                </c:pt>
                <c:pt idx="165">
                  <c:v>1422.7474973880908</c:v>
                </c:pt>
                <c:pt idx="166">
                  <c:v>1413.5321592908485</c:v>
                </c:pt>
                <c:pt idx="167">
                  <c:v>1415.0902991544292</c:v>
                </c:pt>
                <c:pt idx="168">
                  <c:v>1424.9456067208707</c:v>
                </c:pt>
                <c:pt idx="169">
                  <c:v>1421.0608962758033</c:v>
                </c:pt>
                <c:pt idx="170">
                  <c:v>1428.1769646860321</c:v>
                </c:pt>
                <c:pt idx="171">
                  <c:v>1406.5948035721835</c:v>
                </c:pt>
                <c:pt idx="172">
                  <c:v>1397.7360640540412</c:v>
                </c:pt>
                <c:pt idx="173">
                  <c:v>1394.7577067430923</c:v>
                </c:pt>
                <c:pt idx="174">
                  <c:v>1401.6604164820919</c:v>
                </c:pt>
                <c:pt idx="175">
                  <c:v>1373.326830658948</c:v>
                </c:pt>
                <c:pt idx="176">
                  <c:v>1369.2349414935939</c:v>
                </c:pt>
                <c:pt idx="177">
                  <c:v>1407.8606926462426</c:v>
                </c:pt>
                <c:pt idx="178">
                  <c:v>1418.6667164259743</c:v>
                </c:pt>
                <c:pt idx="179">
                  <c:v>1419.7775306603007</c:v>
                </c:pt>
                <c:pt idx="180">
                  <c:v>1434.888809329771</c:v>
                </c:pt>
                <c:pt idx="181">
                  <c:v>1442.9447370337261</c:v>
                </c:pt>
                <c:pt idx="182">
                  <c:v>1457.1945283174723</c:v>
                </c:pt>
                <c:pt idx="183">
                  <c:v>1448.9147749058991</c:v>
                </c:pt>
                <c:pt idx="184">
                  <c:v>1427.5973632991017</c:v>
                </c:pt>
                <c:pt idx="185">
                  <c:v>1418.5473454961523</c:v>
                </c:pt>
                <c:pt idx="186">
                  <c:v>1421.7176138499517</c:v>
                </c:pt>
                <c:pt idx="187">
                  <c:v>1428.724133933626</c:v>
                </c:pt>
                <c:pt idx="188">
                  <c:v>1428.5690619945026</c:v>
                </c:pt>
                <c:pt idx="189">
                  <c:v>1412.3800734014781</c:v>
                </c:pt>
                <c:pt idx="190">
                  <c:v>1423.8670377349872</c:v>
                </c:pt>
                <c:pt idx="191">
                  <c:v>1425.0118733599629</c:v>
                </c:pt>
                <c:pt idx="192">
                  <c:v>1430.0525475723193</c:v>
                </c:pt>
                <c:pt idx="193">
                  <c:v>1430.6200880532206</c:v>
                </c:pt>
                <c:pt idx="194">
                  <c:v>1441.4975730171122</c:v>
                </c:pt>
                <c:pt idx="195">
                  <c:v>1440.5754316240002</c:v>
                </c:pt>
                <c:pt idx="196">
                  <c:v>1427.8602996374088</c:v>
                </c:pt>
                <c:pt idx="197">
                  <c:v>1423.9352044871466</c:v>
                </c:pt>
                <c:pt idx="198">
                  <c:v>1423.02630216127</c:v>
                </c:pt>
                <c:pt idx="199">
                  <c:v>1398.8719252439373</c:v>
                </c:pt>
                <c:pt idx="200">
                  <c:v>1391.6684606939764</c:v>
                </c:pt>
                <c:pt idx="201">
                  <c:v>1403.6862359662177</c:v>
                </c:pt>
                <c:pt idx="202">
                  <c:v>1432.5055531766684</c:v>
                </c:pt>
                <c:pt idx="203">
                  <c:v>1444.6568003040202</c:v>
                </c:pt>
                <c:pt idx="204">
                  <c:v>1445.5053777458866</c:v>
                </c:pt>
                <c:pt idx="205">
                  <c:v>1417.6779360689061</c:v>
                </c:pt>
                <c:pt idx="206">
                  <c:v>1441.8597277192473</c:v>
                </c:pt>
                <c:pt idx="207">
                  <c:v>1455.0869084048234</c:v>
                </c:pt>
                <c:pt idx="208">
                  <c:v>1463.2710331769265</c:v>
                </c:pt>
                <c:pt idx="209">
                  <c:v>1447.1506481137699</c:v>
                </c:pt>
                <c:pt idx="210">
                  <c:v>1424.9238573862694</c:v>
                </c:pt>
                <c:pt idx="211">
                  <c:v>1441.9034549731118</c:v>
                </c:pt>
                <c:pt idx="212">
                  <c:v>1449.144602713654</c:v>
                </c:pt>
                <c:pt idx="213">
                  <c:v>1453.752321826752</c:v>
                </c:pt>
                <c:pt idx="214">
                  <c:v>1442.4318819559842</c:v>
                </c:pt>
                <c:pt idx="215">
                  <c:v>1426.2757126944523</c:v>
                </c:pt>
                <c:pt idx="216">
                  <c:v>1501.6831055007522</c:v>
                </c:pt>
                <c:pt idx="217">
                  <c:v>1521.0902083125602</c:v>
                </c:pt>
                <c:pt idx="218">
                  <c:v>1513.6140065959023</c:v>
                </c:pt>
                <c:pt idx="219">
                  <c:v>1510.169004932357</c:v>
                </c:pt>
                <c:pt idx="220">
                  <c:v>1521.3879439731716</c:v>
                </c:pt>
                <c:pt idx="221">
                  <c:v>1518.3296753886855</c:v>
                </c:pt>
                <c:pt idx="222">
                  <c:v>1507.905999329033</c:v>
                </c:pt>
                <c:pt idx="223">
                  <c:v>1498.7534745634953</c:v>
                </c:pt>
                <c:pt idx="224">
                  <c:v>1489.3843571101856</c:v>
                </c:pt>
                <c:pt idx="225">
                  <c:v>1502.5458585385061</c:v>
                </c:pt>
                <c:pt idx="226">
                  <c:v>1459.8596305438805</c:v>
                </c:pt>
                <c:pt idx="227">
                  <c:v>1473.3634978955652</c:v>
                </c:pt>
                <c:pt idx="228">
                  <c:v>1483.4367342189169</c:v>
                </c:pt>
                <c:pt idx="229">
                  <c:v>1474.5774038845734</c:v>
                </c:pt>
                <c:pt idx="230">
                  <c:v>1483.4482150278427</c:v>
                </c:pt>
                <c:pt idx="231">
                  <c:v>1488.4727651781184</c:v>
                </c:pt>
                <c:pt idx="232">
                  <c:v>1498.7648216127022</c:v>
                </c:pt>
                <c:pt idx="233">
                  <c:v>1499.7680916812699</c:v>
                </c:pt>
                <c:pt idx="234">
                  <c:v>1477.0524743872677</c:v>
                </c:pt>
                <c:pt idx="235">
                  <c:v>1475.5776738445638</c:v>
                </c:pt>
                <c:pt idx="236">
                  <c:v>1493.4921853604526</c:v>
                </c:pt>
                <c:pt idx="237">
                  <c:v>1505.2488045553671</c:v>
                </c:pt>
                <c:pt idx="238">
                  <c:v>1513.1748196207932</c:v>
                </c:pt>
                <c:pt idx="239">
                  <c:v>1530.3394678724537</c:v>
                </c:pt>
                <c:pt idx="240">
                  <c:v>1530.0679224562289</c:v>
                </c:pt>
                <c:pt idx="241">
                  <c:v>1511.4257132895088</c:v>
                </c:pt>
                <c:pt idx="242">
                  <c:v>1502.9555007953575</c:v>
                </c:pt>
                <c:pt idx="243">
                  <c:v>1497.1651815644186</c:v>
                </c:pt>
                <c:pt idx="244">
                  <c:v>1493.2771821678286</c:v>
                </c:pt>
                <c:pt idx="245">
                  <c:v>1485.5584714306215</c:v>
                </c:pt>
                <c:pt idx="246">
                  <c:v>1527.9570067857214</c:v>
                </c:pt>
                <c:pt idx="247">
                  <c:v>1555.2170537816662</c:v>
                </c:pt>
                <c:pt idx="248">
                  <c:v>1539.8845131433054</c:v>
                </c:pt>
                <c:pt idx="249">
                  <c:v>1536.013710316241</c:v>
                </c:pt>
                <c:pt idx="250">
                  <c:v>1532.8075124072404</c:v>
                </c:pt>
                <c:pt idx="251">
                  <c:v>1523.0873461825981</c:v>
                </c:pt>
                <c:pt idx="252">
                  <c:v>1513.8817178986633</c:v>
                </c:pt>
                <c:pt idx="253">
                  <c:v>1471.1827230701733</c:v>
                </c:pt>
                <c:pt idx="254">
                  <c:v>1509.0548348700981</c:v>
                </c:pt>
                <c:pt idx="255">
                  <c:v>1548.9168775240414</c:v>
                </c:pt>
                <c:pt idx="256">
                  <c:v>1526.7053769574868</c:v>
                </c:pt>
                <c:pt idx="257">
                  <c:v>1526.723230570854</c:v>
                </c:pt>
                <c:pt idx="258">
                  <c:v>1508.8517520944692</c:v>
                </c:pt>
                <c:pt idx="259">
                  <c:v>1501.6635746289751</c:v>
                </c:pt>
                <c:pt idx="260">
                  <c:v>1512.5689134556837</c:v>
                </c:pt>
                <c:pt idx="261">
                  <c:v>1486.4406005035357</c:v>
                </c:pt>
                <c:pt idx="262">
                  <c:v>1483.2124837399142</c:v>
                </c:pt>
                <c:pt idx="263">
                  <c:v>1471.4299381506232</c:v>
                </c:pt>
                <c:pt idx="264">
                  <c:v>1456.6160565969296</c:v>
                </c:pt>
                <c:pt idx="265">
                  <c:v>1454.4189538443939</c:v>
                </c:pt>
                <c:pt idx="266">
                  <c:v>1441.057591455477</c:v>
                </c:pt>
                <c:pt idx="267">
                  <c:v>1416.7340849089499</c:v>
                </c:pt>
                <c:pt idx="268">
                  <c:v>1407.5156642348875</c:v>
                </c:pt>
                <c:pt idx="269">
                  <c:v>1384.733117330233</c:v>
                </c:pt>
                <c:pt idx="270">
                  <c:v>1390.4709395061484</c:v>
                </c:pt>
                <c:pt idx="271">
                  <c:v>1389.5294497121888</c:v>
                </c:pt>
                <c:pt idx="272">
                  <c:v>1371.2223173310435</c:v>
                </c:pt>
                <c:pt idx="273">
                  <c:v>1428.2750784783293</c:v>
                </c:pt>
                <c:pt idx="274">
                  <c:v>1405.170268954404</c:v>
                </c:pt>
                <c:pt idx="275">
                  <c:v>1394.6704010456647</c:v>
                </c:pt>
                <c:pt idx="276">
                  <c:v>1386.8631594496062</c:v>
                </c:pt>
                <c:pt idx="277">
                  <c:v>1378.2479505582774</c:v>
                </c:pt>
                <c:pt idx="278">
                  <c:v>1362.2975227831635</c:v>
                </c:pt>
                <c:pt idx="279">
                  <c:v>1363.7467522459933</c:v>
                </c:pt>
                <c:pt idx="280">
                  <c:v>1355.3823362620385</c:v>
                </c:pt>
                <c:pt idx="281">
                  <c:v>1350.8418829609673</c:v>
                </c:pt>
                <c:pt idx="282">
                  <c:v>1341.8025480738645</c:v>
                </c:pt>
                <c:pt idx="283">
                  <c:v>1348.5600919725603</c:v>
                </c:pt>
                <c:pt idx="284">
                  <c:v>1341.2726039091306</c:v>
                </c:pt>
                <c:pt idx="285">
                  <c:v>1336.1520814985399</c:v>
                </c:pt>
                <c:pt idx="286">
                  <c:v>1332.4151591085467</c:v>
                </c:pt>
                <c:pt idx="287">
                  <c:v>1321.0778349215964</c:v>
                </c:pt>
                <c:pt idx="288">
                  <c:v>1310.2999993569804</c:v>
                </c:pt>
                <c:pt idx="289">
                  <c:v>1297.2326943060004</c:v>
                </c:pt>
                <c:pt idx="290">
                  <c:v>1289.677110606465</c:v>
                </c:pt>
                <c:pt idx="291">
                  <c:v>1291.5056239919386</c:v>
                </c:pt>
                <c:pt idx="292">
                  <c:v>1284.5026053641857</c:v>
                </c:pt>
                <c:pt idx="293">
                  <c:v>1282.4298025104947</c:v>
                </c:pt>
                <c:pt idx="294">
                  <c:v>1277.5229085672038</c:v>
                </c:pt>
                <c:pt idx="295">
                  <c:v>1273.3111881919219</c:v>
                </c:pt>
                <c:pt idx="296">
                  <c:v>1271.7857297032783</c:v>
                </c:pt>
                <c:pt idx="297">
                  <c:v>1272.2467160113968</c:v>
                </c:pt>
                <c:pt idx="298">
                  <c:v>1269.6008092741899</c:v>
                </c:pt>
                <c:pt idx="299">
                  <c:v>1270.2374834779305</c:v>
                </c:pt>
                <c:pt idx="300">
                  <c:v>1268.8356511504526</c:v>
                </c:pt>
                <c:pt idx="301">
                  <c:v>1265.1429968932146</c:v>
                </c:pt>
                <c:pt idx="302">
                  <c:v>1267.5844357129604</c:v>
                </c:pt>
                <c:pt idx="303">
                  <c:v>1262.7649961087156</c:v>
                </c:pt>
                <c:pt idx="304">
                  <c:v>1241.4943249614616</c:v>
                </c:pt>
                <c:pt idx="305">
                  <c:v>1245.9642179917082</c:v>
                </c:pt>
                <c:pt idx="306">
                  <c:v>1232.6651501079784</c:v>
                </c:pt>
                <c:pt idx="307">
                  <c:v>1232.6496899043966</c:v>
                </c:pt>
                <c:pt idx="308">
                  <c:v>1229.5756815770562</c:v>
                </c:pt>
                <c:pt idx="309">
                  <c:v>1237.3630135719302</c:v>
                </c:pt>
                <c:pt idx="310">
                  <c:v>1247.6436939242101</c:v>
                </c:pt>
                <c:pt idx="311">
                  <c:v>1251.027804599333</c:v>
                </c:pt>
                <c:pt idx="312">
                  <c:v>1252.5064948712263</c:v>
                </c:pt>
                <c:pt idx="313">
                  <c:v>1242.1133657048008</c:v>
                </c:pt>
                <c:pt idx="314">
                  <c:v>1236.434418273941</c:v>
                </c:pt>
                <c:pt idx="315">
                  <c:v>1247.7391015847656</c:v>
                </c:pt>
                <c:pt idx="316">
                  <c:v>1249.6076053322624</c:v>
                </c:pt>
                <c:pt idx="317">
                  <c:v>1252.1856833065581</c:v>
                </c:pt>
                <c:pt idx="318">
                  <c:v>1244.375965727301</c:v>
                </c:pt>
                <c:pt idx="319">
                  <c:v>1231.9501236166682</c:v>
                </c:pt>
                <c:pt idx="320">
                  <c:v>1231.8935075985269</c:v>
                </c:pt>
                <c:pt idx="321">
                  <c:v>1238.2620606762619</c:v>
                </c:pt>
                <c:pt idx="322">
                  <c:v>1235.696931839582</c:v>
                </c:pt>
                <c:pt idx="323">
                  <c:v>1227.1073016447681</c:v>
                </c:pt>
                <c:pt idx="324">
                  <c:v>1236.9203216874762</c:v>
                </c:pt>
                <c:pt idx="325">
                  <c:v>1250.4711537645335</c:v>
                </c:pt>
                <c:pt idx="326">
                  <c:v>1247.0454426822412</c:v>
                </c:pt>
                <c:pt idx="327">
                  <c:v>1231.5077521531821</c:v>
                </c:pt>
                <c:pt idx="328">
                  <c:v>1221.1713559363841</c:v>
                </c:pt>
                <c:pt idx="329">
                  <c:v>1208.2377469720154</c:v>
                </c:pt>
                <c:pt idx="330">
                  <c:v>1208.90532520542</c:v>
                </c:pt>
                <c:pt idx="331">
                  <c:v>1194.3992914181163</c:v>
                </c:pt>
                <c:pt idx="332">
                  <c:v>1189.7220280263102</c:v>
                </c:pt>
                <c:pt idx="333">
                  <c:v>1188.2805143182904</c:v>
                </c:pt>
                <c:pt idx="334">
                  <c:v>1179.4993254252568</c:v>
                </c:pt>
                <c:pt idx="335">
                  <c:v>1180.2001751301195</c:v>
                </c:pt>
                <c:pt idx="336">
                  <c:v>1179.9724240395817</c:v>
                </c:pt>
                <c:pt idx="337">
                  <c:v>1179.1096353221023</c:v>
                </c:pt>
                <c:pt idx="338">
                  <c:v>1173.6291120393162</c:v>
                </c:pt>
                <c:pt idx="339">
                  <c:v>1161.1105100035804</c:v>
                </c:pt>
                <c:pt idx="340">
                  <c:v>1171.3291879390185</c:v>
                </c:pt>
                <c:pt idx="341">
                  <c:v>1179.1668731681307</c:v>
                </c:pt>
                <c:pt idx="342">
                  <c:v>1171.0390964048922</c:v>
                </c:pt>
                <c:pt idx="343">
                  <c:v>1167.222975315168</c:v>
                </c:pt>
                <c:pt idx="344">
                  <c:v>1181.4027621729974</c:v>
                </c:pt>
                <c:pt idx="345">
                  <c:v>1196.172041159457</c:v>
                </c:pt>
                <c:pt idx="346">
                  <c:v>1185.4422458606034</c:v>
                </c:pt>
                <c:pt idx="347">
                  <c:v>1136.9222449946044</c:v>
                </c:pt>
                <c:pt idx="348">
                  <c:v>1070.3800768664607</c:v>
                </c:pt>
                <c:pt idx="349">
                  <c:v>1112.3576988502227</c:v>
                </c:pt>
                <c:pt idx="350">
                  <c:v>1183.3535652276041</c:v>
                </c:pt>
                <c:pt idx="351">
                  <c:v>1205.4576761735498</c:v>
                </c:pt>
                <c:pt idx="352">
                  <c:v>1285.1996035390998</c:v>
                </c:pt>
                <c:pt idx="353">
                  <c:v>1285.4222830338663</c:v>
                </c:pt>
                <c:pt idx="354">
                  <c:v>1278.6440555379859</c:v>
                </c:pt>
                <c:pt idx="355">
                  <c:v>1289.1519151223824</c:v>
                </c:pt>
                <c:pt idx="356">
                  <c:v>1296.2448013997059</c:v>
                </c:pt>
                <c:pt idx="357">
                  <c:v>1298.1578351202463</c:v>
                </c:pt>
                <c:pt idx="358">
                  <c:v>1304.1611196235656</c:v>
                </c:pt>
                <c:pt idx="359">
                  <c:v>1303.2951542321002</c:v>
                </c:pt>
                <c:pt idx="360">
                  <c:v>1304.6437174900893</c:v>
                </c:pt>
                <c:pt idx="361">
                  <c:v>1305.9810974018008</c:v>
                </c:pt>
                <c:pt idx="362">
                  <c:v>1306.2873794215629</c:v>
                </c:pt>
                <c:pt idx="363">
                  <c:v>1313.2264247957589</c:v>
                </c:pt>
                <c:pt idx="364">
                  <c:v>1317.15498740003</c:v>
                </c:pt>
                <c:pt idx="365">
                  <c:v>1306.8276850811178</c:v>
                </c:pt>
                <c:pt idx="366">
                  <c:v>1307.7519934444829</c:v>
                </c:pt>
                <c:pt idx="367">
                  <c:v>1320.0249923047763</c:v>
                </c:pt>
                <c:pt idx="368">
                  <c:v>1320.3698442983382</c:v>
                </c:pt>
                <c:pt idx="369">
                  <c:v>1318.2794858278264</c:v>
                </c:pt>
                <c:pt idx="370">
                  <c:v>1316.2539385012121</c:v>
                </c:pt>
                <c:pt idx="371">
                  <c:v>1312.6466415727427</c:v>
                </c:pt>
                <c:pt idx="372">
                  <c:v>1300.1687644257756</c:v>
                </c:pt>
                <c:pt idx="373">
                  <c:v>1308.310833656197</c:v>
                </c:pt>
                <c:pt idx="374">
                  <c:v>1305.186392158955</c:v>
                </c:pt>
                <c:pt idx="375">
                  <c:v>1303.4499906606945</c:v>
                </c:pt>
                <c:pt idx="376">
                  <c:v>1306.2844376773037</c:v>
                </c:pt>
                <c:pt idx="377">
                  <c:v>1301.8624971203287</c:v>
                </c:pt>
                <c:pt idx="378">
                  <c:v>1302.2339290400248</c:v>
                </c:pt>
                <c:pt idx="379">
                  <c:v>1304.1639060912512</c:v>
                </c:pt>
                <c:pt idx="380">
                  <c:v>1296.3132800987064</c:v>
                </c:pt>
                <c:pt idx="381">
                  <c:v>1291.9671410457734</c:v>
                </c:pt>
                <c:pt idx="382">
                  <c:v>1289.5625434552194</c:v>
                </c:pt>
                <c:pt idx="383">
                  <c:v>1279.7139629861424</c:v>
                </c:pt>
                <c:pt idx="384">
                  <c:v>1274.7023478174192</c:v>
                </c:pt>
                <c:pt idx="385">
                  <c:v>1277.8429481620733</c:v>
                </c:pt>
                <c:pt idx="386">
                  <c:v>1272.1349637533583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5B-48D1-B572-593D7CCB48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0324447"/>
        <c:axId val="390324927"/>
      </c:lineChart>
      <c:dateAx>
        <c:axId val="390324447"/>
        <c:scaling>
          <c:orientation val="minMax"/>
        </c:scaling>
        <c:delete val="0"/>
        <c:axPos val="b"/>
        <c:numFmt formatCode="mm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0324927"/>
        <c:crosses val="autoZero"/>
        <c:auto val="1"/>
        <c:lblOffset val="100"/>
        <c:baseTimeUnit val="days"/>
      </c:dateAx>
      <c:valAx>
        <c:axId val="390324927"/>
        <c:scaling>
          <c:orientation val="minMax"/>
          <c:min val="110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0324447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94628D-3C0F-054D-8791-1E014C8126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34F8D-CF95-4841-86AD-E6D3A29459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B8269-38C2-7D4D-A383-B0DE858D0BF5}" type="datetimeFigureOut">
              <a:rPr lang="x-none" smtClean="0"/>
              <a:t>8/28/2026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0004C-873E-8F4F-9235-C7C87821E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FA5B4-0FAA-3343-8A05-50FF71F8AB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9DF604-DC69-804E-BCB1-065D48F4168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802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BFE7D8-6C5D-4769-A7FE-A35B5E58901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F6FFC7-E364-467E-B51E-FE8228D3C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522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223838" y="809625"/>
            <a:ext cx="7185026" cy="40417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/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7B6B41B-6250-4DA8-B3C5-CA30F599117A}" type="slidenum">
              <a:rPr lang="en-GB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812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53" name="Google Shape;1153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54" name="Google Shape;1154;p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893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6FFC7-E364-467E-B51E-FE8228D3C2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2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6FFC7-E364-467E-B51E-FE8228D3C2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799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6125"/>
            <a:ext cx="6616700" cy="3722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</a:rPr>
              <a:pPr/>
              <a:t>7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451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6125"/>
            <a:ext cx="6616700" cy="3722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</a:rPr>
              <a:pPr/>
              <a:t>8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973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BD5E2-7F34-5282-6559-1ECB96B8A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ACDFE-1497-52C4-51FE-79E9938C9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6125"/>
            <a:ext cx="6616700" cy="37226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D9E50-697A-1197-15C9-5F9544E2D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66EF2-6376-461F-8AC7-4CEF50AA0C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</a:rPr>
              <a:pPr/>
              <a:t>9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787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6125"/>
            <a:ext cx="6616700" cy="3722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</a:rPr>
              <a:pPr/>
              <a:t>10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4184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B4426-FFF4-B44A-FA04-B77C7D98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DBB6B-8716-E98D-0D09-DEC016C84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6125"/>
            <a:ext cx="6616700" cy="37226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F76C0-7D3F-0435-C09E-7B0269222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CDAF5-6C87-E27C-8840-F3B244A20A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</a:rPr>
              <a:pPr/>
              <a:t>11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805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67FE3-425C-42A1-AE9C-713B30FCD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025D80-0906-4C19-AC06-9A76AB6A7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F3C1B-D018-41EC-9DD8-35E592534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13718-5FC1-46E3-B40D-F64201D29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CCA59-DEEA-4AF5-801B-CFEBB5216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9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C136D-F0E5-4FB0-A259-AF1615BE9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5C46-DC0F-4FBC-AB77-DDA913A5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FFCD8-937C-4E51-916A-732F9D02D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C4CC0-7ED2-4542-B745-AB8F970EE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CB079-703F-49FE-8D6D-195218E9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79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9EDAE-A1AC-475C-8AC5-07279944F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F99F5-2D96-45B7-8850-A7DA2985C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47F52-6459-47BE-933F-90EFB9729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588B8-AFDF-4E5A-A2B3-C521C97CD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E6209-CCC2-4ADB-93BA-9F97301A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39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76752-E32E-4BC1-94E9-319BA0919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AC5A1-EF86-4A94-B13E-88FE4CAEB2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AC424-233F-4707-A9A3-929522B8B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8A4CF-8853-4052-9790-D4BF4F4C8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BABD7-38E1-41B2-9D10-38464EAB1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A3BA7-5191-4FB5-92F1-589212245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03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F12C-2C78-4094-8663-B3E298066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854BC-E799-481C-B4BE-C171195B5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09149-061E-4A65-B1F8-C97FF564E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EA436-8591-49CB-BB4E-E5CBB7CB9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4B6BF6-4AF6-49C1-AFF7-6AE37265E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676EBF-F919-49B4-8002-5E87F6C8B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D3E8DC-C3E7-4CEF-86C5-0CA0AB27C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2717F2-7AFC-4FED-8914-FF5716E92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26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97812-7F36-4618-8CD6-7B412EE0A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C52E1C-8F86-4DE2-885F-E6E8D9FD9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6019F5-EEA6-46E9-BE03-694C83533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009F0-993E-4226-90F5-107C5E1C6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72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C63E2D-020B-49D4-B656-C478EE3F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771F2-13AB-47E2-B4BF-E7AFA63B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1DBCA-47AD-46FB-9033-0C38A3E4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3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AD464-3DE3-4E8B-B53F-4DA175040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520A3-E416-4CD8-8623-A7325A101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CDF86-E1EE-4D6D-835B-D3B1B4C7D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EFA61-F0D4-4DCB-8E76-639EF5A4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9A2F2-C01F-4896-8633-2983D0CF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4CFC5-BDFE-4D87-AE10-3BCCDBCF4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67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4970-9460-4E10-8E98-5EA375BC0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5598D2-5974-4407-92C0-3A74B50C2F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41C1B-5054-4D1E-8537-7EF09D6D2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B1C9C-90D2-4467-A13B-4F1C4431D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FB0B2-7B8B-413D-8D91-5BB3EFEBD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84AC2-9F95-4ACC-8F44-7EA09554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58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7E74C-8A2E-4504-95D5-2D71303A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FC900-DB26-401A-9BA4-6E5D8292A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8C0EE-4169-4AAA-BA44-A1CCB133A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CE93F-CCFF-4811-AAA5-EDF17F11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2352F-13E5-4C33-A32D-D631932B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09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F74B45-594F-4B68-B4D6-0436FBCF63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62B570-CB02-4ACC-BE2E-FBC46954E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CCE57-58B7-4E1A-A687-EEB98D67D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95271-FB2E-44A4-9272-646D01787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B3868-1496-4F1F-A048-FAAA02ED2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504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568" y="1828800"/>
            <a:ext cx="7142913" cy="828000"/>
          </a:xfrm>
        </p:spPr>
        <p:txBody>
          <a:bodyPr>
            <a:noAutofit/>
          </a:bodyPr>
          <a:lstStyle>
            <a:lvl1pPr>
              <a:defRPr sz="1875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568" y="4286257"/>
            <a:ext cx="7142913" cy="1500198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chemeClr val="accent5"/>
                </a:solidFill>
              </a:defRPr>
            </a:lvl1pPr>
            <a:lvl2pPr marL="359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8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76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71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6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62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4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629332" y="6408009"/>
            <a:ext cx="1056117" cy="25200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525" b="0">
                <a:solidFill>
                  <a:schemeClr val="tx2"/>
                </a:solidFill>
              </a:defRPr>
            </a:lvl1pPr>
          </a:lstStyle>
          <a:p>
            <a:fld id="{95CC1D26-A9BD-4BDE-BDD9-08EDBAE96860}" type="slidenum">
              <a:rPr lang="en-GB" smtClean="0">
                <a:solidFill>
                  <a:srgbClr val="313131"/>
                </a:solidFill>
              </a:rPr>
              <a:pPr/>
              <a:t>‹#›</a:t>
            </a:fld>
            <a:endParaRPr lang="en-GB">
              <a:solidFill>
                <a:srgbClr val="313131"/>
              </a:solidFill>
            </a:endParaRP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95568" y="2663188"/>
            <a:ext cx="7142913" cy="1623070"/>
          </a:xfrm>
        </p:spPr>
        <p:txBody>
          <a:bodyPr>
            <a:noAutofit/>
          </a:bodyPr>
          <a:lstStyle>
            <a:lvl1pPr marL="0" indent="0">
              <a:buNone/>
              <a:defRPr sz="1875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103845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63AF56-BF11-4CA7-B503-D1FFEC1E5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B6D12-3677-496D-A39F-DB5E2B463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D4FF2-8384-48B8-88EE-7D7DF329BF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6BF04-42FB-45DF-8C3C-1E250DAF7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8EF0-3E78-4DBB-9DA0-2B1EED3E8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C8EBE-3F66-4987-8598-90D38544136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4CC494-26F7-44C2-B49D-DC25A759A9B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6663" y="106860"/>
            <a:ext cx="1325339" cy="44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380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067;p107">
            <a:extLst>
              <a:ext uri="{FF2B5EF4-FFF2-40B4-BE49-F238E27FC236}">
                <a16:creationId xmlns:a16="http://schemas.microsoft.com/office/drawing/2014/main" id="{BD446205-A9C9-145C-FBBE-181C87632E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91115"/>
            <a:ext cx="12192000" cy="6133754"/>
          </a:xfrm>
          <a:prstGeom prst="rect">
            <a:avLst/>
          </a:prstGeom>
          <a:noFill/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20" name="Straight Connector 19"/>
          <p:cNvCxnSpPr/>
          <p:nvPr/>
        </p:nvCxnSpPr>
        <p:spPr>
          <a:xfrm flipV="1">
            <a:off x="261939" y="677863"/>
            <a:ext cx="116760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3FA8882-DBA4-3986-D746-678C5CCE12AF}"/>
              </a:ext>
            </a:extLst>
          </p:cNvPr>
          <p:cNvSpPr txBox="1"/>
          <p:nvPr/>
        </p:nvSpPr>
        <p:spPr>
          <a:xfrm>
            <a:off x="914401" y="3868301"/>
            <a:ext cx="6006352" cy="1384995"/>
          </a:xfrm>
          <a:prstGeom prst="rect">
            <a:avLst/>
          </a:prstGeom>
          <a:noFill/>
          <a:ln w="15875">
            <a:solidFill>
              <a:srgbClr val="141ED2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BÁO CÁO TUẦN</a:t>
            </a:r>
          </a:p>
          <a:p>
            <a:r>
              <a:rPr lang="vi-VN" sz="2800" b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NHẬN ĐỊNH THỊ TRƯỜNG TUẦN 31/08/2026 – 04/09/2026</a:t>
            </a:r>
            <a:endParaRPr lang="en-AU" sz="2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9A8FD-B872-9ACA-6333-0D02A6917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>
                <a:solidFill>
                  <a:srgbClr val="3131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GB">
              <a:solidFill>
                <a:srgbClr val="3131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99991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CCwAAANqCAYAAABMrkioAAAAAXNSR0IArs4c6QAAIABJREFUeF7s2jENAAAMw7CVP+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4" name="AutoShape 4" descr="data:image/png;base64,iVBORw0KGgoAAAANSUhEUgAACCwAAANqCAYAAABMrkioAAAAAXNSR0IArs4c6QAAIABJREFUeF7s2jENAAAMw7CVP+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/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+AABAgQIECBAgAABAgQIECBAgAABAgQIECBAgAABAgQIECCwCwgWdnKDBAgQIECAAAECBAgQIECAAAECBAgQIECAAAECBAgQIECAgGDBBwgQIECAAAECBAgQIECAAAECBAgQIECAAAECBAgQIECAAIFdQLCwkxskQIAAAQIECBAgQIAAAQIECBAgQIAAAQIECBAgQIAAAQIEBAs+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E378D81-16B3-BA0A-CD81-7E78B8D6F2C3}"/>
              </a:ext>
            </a:extLst>
          </p:cNvPr>
          <p:cNvCxnSpPr/>
          <p:nvPr/>
        </p:nvCxnSpPr>
        <p:spPr>
          <a:xfrm flipV="1">
            <a:off x="261939" y="677863"/>
            <a:ext cx="116760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5">
            <a:extLst>
              <a:ext uri="{FF2B5EF4-FFF2-40B4-BE49-F238E27FC236}">
                <a16:creationId xmlns:a16="http://schemas.microsoft.com/office/drawing/2014/main" id="{4A4D2A7D-D274-BA45-B498-25785F845D87}"/>
              </a:ext>
            </a:extLst>
          </p:cNvPr>
          <p:cNvSpPr txBox="1">
            <a:spLocks/>
          </p:cNvSpPr>
          <p:nvPr/>
        </p:nvSpPr>
        <p:spPr>
          <a:xfrm>
            <a:off x="261939" y="304973"/>
            <a:ext cx="7991728" cy="35503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18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MỤC LỤC</a:t>
            </a:r>
            <a:endParaRPr lang="en-AU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94612C-C222-90EB-0421-98AC31DBAA7B}"/>
              </a:ext>
            </a:extLst>
          </p:cNvPr>
          <p:cNvSpPr txBox="1"/>
          <p:nvPr/>
        </p:nvSpPr>
        <p:spPr>
          <a:xfrm>
            <a:off x="307974" y="957047"/>
            <a:ext cx="6570497" cy="4253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DIỄN BIẾN THỊ TRƯỜNG TUẦN 24/08 – 28/08/2026</a:t>
            </a:r>
          </a:p>
          <a:p>
            <a:pPr>
              <a:lnSpc>
                <a:spcPct val="150000"/>
              </a:lnSpc>
            </a:pP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 h</a:t>
            </a: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ớng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rộng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</a:t>
            </a: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ờng</a:t>
            </a: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nhóm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ngành</a:t>
            </a: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nhóm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SỰ KIỆN DIỄN RA TRONG TUẦN 31/08/2026 – 04/09/2026</a:t>
            </a:r>
          </a:p>
          <a:p>
            <a:pPr>
              <a:lnSpc>
                <a:spcPct val="150000"/>
              </a:lnSpc>
            </a:pP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NHẬN ĐỊNH XU HƯỚNG THỊ TRƯỜNG TUẦN 31/08/2026 – 04/09/2026</a:t>
            </a:r>
          </a:p>
          <a:p>
            <a:pPr>
              <a:lnSpc>
                <a:spcPct val="150000"/>
              </a:lnSpc>
            </a:pP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NHẬN ĐỊNH XU H</a:t>
            </a: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ỚNG THỊ TR</a:t>
            </a: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ỜNG TUẦN 31/08 – 04/09/2026</a:t>
            </a:r>
          </a:p>
          <a:p>
            <a:pPr>
              <a:lnSpc>
                <a:spcPct val="150000"/>
              </a:lnSpc>
            </a:pP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DANH MỤC CỔ PHIẾU CẦN THEO DÕI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C31D33-6EF9-2BF6-21CD-B166BC5D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875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D2BB2A-EEE2-3747-A4B7-A68C71ED55D3}"/>
              </a:ext>
            </a:extLst>
          </p:cNvPr>
          <p:cNvCxnSpPr/>
          <p:nvPr/>
        </p:nvCxnSpPr>
        <p:spPr>
          <a:xfrm flipV="1">
            <a:off x="261939" y="677863"/>
            <a:ext cx="116760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5">
            <a:extLst>
              <a:ext uri="{FF2B5EF4-FFF2-40B4-BE49-F238E27FC236}">
                <a16:creationId xmlns:a16="http://schemas.microsoft.com/office/drawing/2014/main" id="{9516C03B-CB8D-022C-BB34-4ECE32498F98}"/>
              </a:ext>
            </a:extLst>
          </p:cNvPr>
          <p:cNvSpPr txBox="1">
            <a:spLocks/>
          </p:cNvSpPr>
          <p:nvPr/>
        </p:nvSpPr>
        <p:spPr>
          <a:xfrm>
            <a:off x="261939" y="301596"/>
            <a:ext cx="7991728" cy="35503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1800" b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DIỄN BIẾN THỊ TRƯỜNG TUẦN 24/08 – 28/08/2026</a:t>
            </a:r>
            <a:endParaRPr lang="en-US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4F60C0-301D-43A6-BB17-648BC55F0C62}"/>
              </a:ext>
            </a:extLst>
          </p:cNvPr>
          <p:cNvSpPr txBox="1">
            <a:spLocks/>
          </p:cNvSpPr>
          <p:nvPr/>
        </p:nvSpPr>
        <p:spPr>
          <a:xfrm>
            <a:off x="261121" y="677863"/>
            <a:ext cx="7449864" cy="59410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359532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1906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859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3812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9765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5718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1671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7625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Xu h</a:t>
            </a: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ư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ớng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và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độ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rộng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thị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tr</a:t>
            </a: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ư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ờng</a:t>
            </a: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Trong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tuần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24/08–28/08/2026, VNINDEX tăng 64,0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(3,6%) lên 1.832,1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, trong khi thanh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khoản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khớp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lệnh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đạt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78,4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nghìn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tỷ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đồng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, tăng 36,3% so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với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tuần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trước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 VN30 tăng 55,2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(2,9%) lên 1.983,0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với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thanh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khoản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khớp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lệnh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đạt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48,0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nghìn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tỷ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đồng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Thị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trường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tăng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bền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bỉ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trong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cả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năm phiên,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khởi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đầu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từ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mức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1.788,8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vào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đầu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tuần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trước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khi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bứt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phá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mạnh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hơn 30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trong phiên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ngày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26/08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duy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trì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vững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chắc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trên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mốc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1.830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về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cuối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tuần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 Thanh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khoản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khớp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lệnh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tăng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trưởng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tích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cực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đồng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thuận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cùng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tăng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số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tuy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ch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ư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a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bứt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phá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rõ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rệt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Việc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chỉ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số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đóng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cửa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tại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mức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cao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nhất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tuần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tín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hiệu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kỹ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thuật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tích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cực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cần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tiếp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tục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theo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dõi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Về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diễn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biến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địa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chính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trị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Goldman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Sachs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cho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biết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lượng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dầu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xuất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khẩu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từ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Vịnh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Ba Tư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đã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phục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hồi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về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mức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tương đương 2/3 giai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đoạn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trước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chiến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sự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nhờ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lưu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lượng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vận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chuyển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qua eo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biển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Hormuz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gia tăng.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Tổng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lượng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xuất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khẩu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dầu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thô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từ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khu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vực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này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được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ghi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nhận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đã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tăng lên 15–16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triệu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thùng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/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ngày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dù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vẫn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thấp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hơn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khoảng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7–8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triệu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thùng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so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với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mức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trước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xung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đột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 Iran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Oman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cũng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đã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đạt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được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thỏa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thuận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chia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sẻ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doanh thu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đối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với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tuyến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hàng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hải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chiến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lược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này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Dự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báo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q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uán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tính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tăng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cùng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thanh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khoản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cải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thiện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kỳ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vọng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sẽ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tiếp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tục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hỗ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trợ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thị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trường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duy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trì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xu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hướng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ăng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ư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ớng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về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1880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tr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ư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ớc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khi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có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nhịp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điều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 panose="020B0604020202020204" pitchFamily="34" charset="0"/>
              </a:rPr>
              <a:t>chỉnh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</a:t>
            </a:r>
            <a:r>
              <a:rPr lang="en-US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endParaRPr lang="vi-VN" sz="11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err="1">
                <a:solidFill>
                  <a:schemeClr val="tx1"/>
                </a:solidFill>
              </a:rPr>
              <a:t>Xét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về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đóng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góp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của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nhóm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Vingroup</a:t>
            </a:r>
            <a:r>
              <a:rPr lang="vi-VN" sz="1100" dirty="0">
                <a:solidFill>
                  <a:schemeClr val="tx1"/>
                </a:solidFill>
              </a:rPr>
              <a:t>, </a:t>
            </a:r>
            <a:r>
              <a:rPr lang="vi-VN" sz="1100" dirty="0" err="1">
                <a:solidFill>
                  <a:schemeClr val="tx1"/>
                </a:solidFill>
              </a:rPr>
              <a:t>từ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đầu</a:t>
            </a:r>
            <a:r>
              <a:rPr lang="vi-VN" sz="1100" dirty="0">
                <a:solidFill>
                  <a:schemeClr val="tx1"/>
                </a:solidFill>
              </a:rPr>
              <a:t> năm </a:t>
            </a:r>
            <a:r>
              <a:rPr lang="vi-VN" sz="1100" dirty="0" err="1">
                <a:solidFill>
                  <a:schemeClr val="tx1"/>
                </a:solidFill>
              </a:rPr>
              <a:t>nhóm</a:t>
            </a:r>
            <a:r>
              <a:rPr lang="vi-VN" sz="1100" dirty="0">
                <a:solidFill>
                  <a:schemeClr val="tx1"/>
                </a:solidFill>
              </a:rPr>
              <a:t> VIC, VHM, VRE </a:t>
            </a:r>
            <a:r>
              <a:rPr lang="vi-VN" sz="1100" dirty="0" err="1">
                <a:solidFill>
                  <a:schemeClr val="tx1"/>
                </a:solidFill>
              </a:rPr>
              <a:t>và</a:t>
            </a:r>
            <a:r>
              <a:rPr lang="vi-VN" sz="1100" dirty="0">
                <a:solidFill>
                  <a:schemeClr val="tx1"/>
                </a:solidFill>
              </a:rPr>
              <a:t> VPL </a:t>
            </a:r>
            <a:r>
              <a:rPr lang="vi-VN" sz="1100" dirty="0" err="1">
                <a:solidFill>
                  <a:schemeClr val="tx1"/>
                </a:solidFill>
              </a:rPr>
              <a:t>đóng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góp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tăng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en-US" sz="1100" dirty="0">
                <a:solidFill>
                  <a:schemeClr val="tx1"/>
                </a:solidFill>
              </a:rPr>
              <a:t>116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 trong khi VNINDEX </a:t>
            </a:r>
            <a:r>
              <a:rPr lang="en-US" sz="1100" dirty="0" err="1">
                <a:solidFill>
                  <a:schemeClr val="tx1"/>
                </a:solidFill>
              </a:rPr>
              <a:t>tăng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en-US" sz="1100" dirty="0">
                <a:solidFill>
                  <a:schemeClr val="tx1"/>
                </a:solidFill>
              </a:rPr>
              <a:t>47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. </a:t>
            </a:r>
            <a:r>
              <a:rPr lang="vi-VN" sz="1100" dirty="0" err="1">
                <a:solidFill>
                  <a:schemeClr val="tx1"/>
                </a:solidFill>
              </a:rPr>
              <a:t>Từ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đầu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tháng</a:t>
            </a:r>
            <a:r>
              <a:rPr lang="vi-VN" sz="1100" dirty="0">
                <a:solidFill>
                  <a:schemeClr val="tx1"/>
                </a:solidFill>
              </a:rPr>
              <a:t>, </a:t>
            </a:r>
            <a:r>
              <a:rPr lang="vi-VN" sz="1100" dirty="0" err="1">
                <a:solidFill>
                  <a:schemeClr val="tx1"/>
                </a:solidFill>
              </a:rPr>
              <a:t>nhóm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đóng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góp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tăng</a:t>
            </a:r>
            <a:r>
              <a:rPr lang="en-US" sz="1100" dirty="0">
                <a:solidFill>
                  <a:schemeClr val="tx1"/>
                </a:solidFill>
              </a:rPr>
              <a:t> 33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, so </a:t>
            </a:r>
            <a:r>
              <a:rPr lang="vi-VN" sz="1100" dirty="0" err="1">
                <a:solidFill>
                  <a:schemeClr val="tx1"/>
                </a:solidFill>
              </a:rPr>
              <a:t>với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mức</a:t>
            </a:r>
            <a:r>
              <a:rPr lang="vi-VN" sz="1100" dirty="0">
                <a:solidFill>
                  <a:schemeClr val="tx1"/>
                </a:solidFill>
              </a:rPr>
              <a:t> tăng </a:t>
            </a:r>
            <a:r>
              <a:rPr lang="en-US" sz="1100" dirty="0">
                <a:solidFill>
                  <a:schemeClr val="tx1"/>
                </a:solidFill>
              </a:rPr>
              <a:t>96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của</a:t>
            </a:r>
            <a:r>
              <a:rPr lang="vi-VN" sz="1100" dirty="0">
                <a:solidFill>
                  <a:schemeClr val="tx1"/>
                </a:solidFill>
              </a:rPr>
              <a:t> VNINDEX. Riêng trong </a:t>
            </a:r>
            <a:r>
              <a:rPr lang="vi-VN" sz="1100" dirty="0" err="1">
                <a:solidFill>
                  <a:schemeClr val="tx1"/>
                </a:solidFill>
              </a:rPr>
              <a:t>tuần</a:t>
            </a:r>
            <a:r>
              <a:rPr lang="vi-VN" sz="1100" dirty="0">
                <a:solidFill>
                  <a:schemeClr val="tx1"/>
                </a:solidFill>
              </a:rPr>
              <a:t>, </a:t>
            </a:r>
            <a:r>
              <a:rPr lang="vi-VN" sz="1100" dirty="0" err="1">
                <a:solidFill>
                  <a:schemeClr val="tx1"/>
                </a:solidFill>
              </a:rPr>
              <a:t>nhóm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đóng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góp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tăng</a:t>
            </a:r>
            <a:r>
              <a:rPr lang="en-US" sz="1100" dirty="0">
                <a:solidFill>
                  <a:schemeClr val="tx1"/>
                </a:solidFill>
              </a:rPr>
              <a:t> 52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, trong khi VNINDEX tăng </a:t>
            </a:r>
            <a:r>
              <a:rPr lang="en-US" sz="1100" dirty="0">
                <a:solidFill>
                  <a:schemeClr val="tx1"/>
                </a:solidFill>
              </a:rPr>
              <a:t>64</a:t>
            </a:r>
            <a:r>
              <a:rPr lang="vi-VN" sz="1100" dirty="0">
                <a:solidFill>
                  <a:schemeClr val="tx1"/>
                </a:solidFill>
              </a:rPr>
              <a:t> </a:t>
            </a:r>
            <a:r>
              <a:rPr lang="vi-VN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</a:rPr>
              <a:t>. </a:t>
            </a:r>
            <a:r>
              <a:rPr lang="en-US" sz="1100" dirty="0" err="1">
                <a:solidFill>
                  <a:schemeClr val="tx1"/>
                </a:solidFill>
              </a:rPr>
              <a:t>Nếu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loại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trừ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nhóm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Vingroup</a:t>
            </a:r>
            <a:r>
              <a:rPr lang="en-US" sz="1100" dirty="0">
                <a:solidFill>
                  <a:schemeClr val="tx1"/>
                </a:solidFill>
              </a:rPr>
              <a:t>, </a:t>
            </a:r>
            <a:r>
              <a:rPr lang="en-US" sz="1100" dirty="0" err="1">
                <a:solidFill>
                  <a:schemeClr val="tx1"/>
                </a:solidFill>
              </a:rPr>
              <a:t>điểm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số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của</a:t>
            </a:r>
            <a:r>
              <a:rPr lang="en-US" sz="1100" dirty="0">
                <a:solidFill>
                  <a:schemeClr val="tx1"/>
                </a:solidFill>
              </a:rPr>
              <a:t> VNINDEX </a:t>
            </a:r>
            <a:r>
              <a:rPr lang="en-US" sz="1100" dirty="0" err="1">
                <a:solidFill>
                  <a:schemeClr val="tx1"/>
                </a:solidFill>
              </a:rPr>
              <a:t>hiện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tại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là</a:t>
            </a:r>
            <a:r>
              <a:rPr lang="en-US" sz="1100" dirty="0">
                <a:solidFill>
                  <a:schemeClr val="tx1"/>
                </a:solidFill>
              </a:rPr>
              <a:t> 1.361 </a:t>
            </a:r>
            <a:r>
              <a:rPr lang="en-US" sz="1100" dirty="0" err="1">
                <a:solidFill>
                  <a:schemeClr val="tx1"/>
                </a:solidFill>
              </a:rPr>
              <a:t>điểm</a:t>
            </a:r>
            <a:r>
              <a:rPr lang="vi-V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46BBBE7-79B2-883E-C577-2EC6A3256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>
                <a:solidFill>
                  <a:srgbClr val="3131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GB">
              <a:solidFill>
                <a:srgbClr val="3131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292170CF-5DAB-478A-802E-A868BD0FBA6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7281" y="763728"/>
            <a:ext cx="4248525" cy="2913765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025456"/>
              </p:ext>
            </p:extLst>
          </p:nvPr>
        </p:nvGraphicFramePr>
        <p:xfrm>
          <a:off x="7757280" y="3705149"/>
          <a:ext cx="4248526" cy="2913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4576596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D2BB2A-EEE2-3747-A4B7-A68C71ED55D3}"/>
              </a:ext>
            </a:extLst>
          </p:cNvPr>
          <p:cNvCxnSpPr/>
          <p:nvPr/>
        </p:nvCxnSpPr>
        <p:spPr>
          <a:xfrm flipV="1">
            <a:off x="261939" y="677863"/>
            <a:ext cx="116760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5">
            <a:extLst>
              <a:ext uri="{FF2B5EF4-FFF2-40B4-BE49-F238E27FC236}">
                <a16:creationId xmlns:a16="http://schemas.microsoft.com/office/drawing/2014/main" id="{9516C03B-CB8D-022C-BB34-4ECE32498F98}"/>
              </a:ext>
            </a:extLst>
          </p:cNvPr>
          <p:cNvSpPr txBox="1">
            <a:spLocks/>
          </p:cNvSpPr>
          <p:nvPr/>
        </p:nvSpPr>
        <p:spPr>
          <a:xfrm>
            <a:off x="261939" y="301596"/>
            <a:ext cx="7991728" cy="35503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1800" b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DIỄN BIẾN THỊ TRƯỜNG TUẦN 24/08 – 28/08/2026</a:t>
            </a:r>
            <a:endParaRPr lang="en-US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4F60C0-301D-43A6-BB17-648BC55F0C62}"/>
              </a:ext>
            </a:extLst>
          </p:cNvPr>
          <p:cNvSpPr txBox="1">
            <a:spLocks/>
          </p:cNvSpPr>
          <p:nvPr/>
        </p:nvSpPr>
        <p:spPr>
          <a:xfrm>
            <a:off x="275870" y="872464"/>
            <a:ext cx="6773859" cy="57464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359532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1906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859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3812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9765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5718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1671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7625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Biến động các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nhóm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ngành</a:t>
            </a: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Xét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về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các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nhóm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ngành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sắc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xanh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chiếm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ưu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thế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trong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tuần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với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13/18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nhóm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ngành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tăng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giá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5/18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nhóm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ngành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giảm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giá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Bất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động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sản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Hàng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cá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nhân &amp; Gia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dụng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dẫn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đầu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tăng,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lần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lượt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tăng 10,3%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3,2%. Ở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chiều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ngược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lại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Truyền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thông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nhóm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diễn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biến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kém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tích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cực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nhất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khi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giảm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2,2%, theo sau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Bảo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hiểm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giảm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2,2%.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tăng duy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trì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độ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lan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tỏa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tốt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khi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phần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lớn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các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nhóm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ngành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giữ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được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sắc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xanh trong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tuần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Xét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trong khung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thời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gian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một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tháng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toàn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bộ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18/18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nhóm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ngành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đều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ghi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nhận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mức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tăng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trưởng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dương.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Sự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đồng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thuận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tích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cực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giữa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diễn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biến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một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tuần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một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tháng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cho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thấy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xu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hướng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tăng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điểm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đang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được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củng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cố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vững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chắc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trên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diện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rộng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thay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vì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chỉ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là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nhịp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phục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hồi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cục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vi-VN" sz="1100" dirty="0" err="1">
                <a:solidFill>
                  <a:schemeClr val="tx1"/>
                </a:solidFill>
                <a:cs typeface="Arial" panose="020B0604020202020204" pitchFamily="34" charset="0"/>
              </a:rPr>
              <a:t>bộ</a:t>
            </a:r>
            <a:r>
              <a:rPr lang="vi-VN" sz="1100" dirty="0">
                <a:solidFill>
                  <a:schemeClr val="tx1"/>
                </a:solidFill>
                <a:cs typeface="Arial" panose="020B0604020202020204" pitchFamily="34" charset="0"/>
              </a:rPr>
              <a:t>.</a:t>
            </a:r>
            <a:endParaRPr lang="vi-VN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B309FE-C3BB-4440-9EE1-CF5913798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531302"/>
              </p:ext>
            </p:extLst>
          </p:nvPr>
        </p:nvGraphicFramePr>
        <p:xfrm>
          <a:off x="7264866" y="1482010"/>
          <a:ext cx="4666012" cy="4123013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070863">
                  <a:extLst>
                    <a:ext uri="{9D8B030D-6E8A-4147-A177-3AD203B41FA5}">
                      <a16:colId xmlns:a16="http://schemas.microsoft.com/office/drawing/2014/main" val="1939264631"/>
                    </a:ext>
                  </a:extLst>
                </a:gridCol>
                <a:gridCol w="796107">
                  <a:extLst>
                    <a:ext uri="{9D8B030D-6E8A-4147-A177-3AD203B41FA5}">
                      <a16:colId xmlns:a16="http://schemas.microsoft.com/office/drawing/2014/main" val="3494045"/>
                    </a:ext>
                  </a:extLst>
                </a:gridCol>
                <a:gridCol w="908078">
                  <a:extLst>
                    <a:ext uri="{9D8B030D-6E8A-4147-A177-3AD203B41FA5}">
                      <a16:colId xmlns:a16="http://schemas.microsoft.com/office/drawing/2014/main" val="1423265677"/>
                    </a:ext>
                  </a:extLst>
                </a:gridCol>
                <a:gridCol w="890964">
                  <a:extLst>
                    <a:ext uri="{9D8B030D-6E8A-4147-A177-3AD203B41FA5}">
                      <a16:colId xmlns:a16="http://schemas.microsoft.com/office/drawing/2014/main" val="3340808993"/>
                    </a:ext>
                  </a:extLst>
                </a:gridCol>
              </a:tblGrid>
              <a:tr h="162859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Ngành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9525" marT="18000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Thay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đổi</a:t>
                      </a:r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9525" marT="1800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26659"/>
                  </a:ext>
                </a:extLst>
              </a:tr>
              <a:tr h="199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000" b="1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ngày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9525" marT="1800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000" b="1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tuần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9525" marT="1800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tháng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9525" marT="1800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12050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Bất động sản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-0,20%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10,30%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10,99%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15288796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Hàng cá nhân &amp; Gia dụng</a:t>
                      </a:r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3,16%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16,94%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5598061"/>
                  </a:ext>
                </a:extLst>
              </a:tr>
              <a:tr h="18351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Ngân hàng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1,93%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9,12%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3026902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Tài nguyên Cơ bản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-0,35%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5,36%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5266804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nghệ Thông tin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1,65%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14,85%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3390970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 tế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1,24%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4,01%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05675849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 lịch và Giải trí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-0,37%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3,77%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1055151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Hóa chất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-1,25%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16,91%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80095949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Bán lẻ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-0,17%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19,85%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3460031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Ô tô và phụ tùng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2140904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Thực phẩm và đồ uống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4,96%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96151128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Điện, nước &amp; xăng dầu khí đốt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14,15%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3183893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Dịch vụ tài chính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-0,02%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7,81%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5693035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Xây dựng và Vật liệu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-0,27%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-0,93%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8,28%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53198948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Hàng &amp; Dịch vụ Công nghiệp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-1,16%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10,14%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1709414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Dầu khí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-1,43%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11,39%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1904298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Bảo hiểm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-2,20%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12,33%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9587826"/>
                  </a:ext>
                </a:extLst>
              </a:tr>
              <a:tr h="2099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Truyền thông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-1,70%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-2,23%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0,37%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71627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F8204-603B-9BA4-6DCB-6299323F0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>
                <a:solidFill>
                  <a:srgbClr val="3131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GB">
              <a:solidFill>
                <a:srgbClr val="3131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87250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D2BB2A-EEE2-3747-A4B7-A68C71ED55D3}"/>
              </a:ext>
            </a:extLst>
          </p:cNvPr>
          <p:cNvCxnSpPr/>
          <p:nvPr/>
        </p:nvCxnSpPr>
        <p:spPr>
          <a:xfrm flipV="1">
            <a:off x="261939" y="677863"/>
            <a:ext cx="116760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5">
            <a:extLst>
              <a:ext uri="{FF2B5EF4-FFF2-40B4-BE49-F238E27FC236}">
                <a16:creationId xmlns:a16="http://schemas.microsoft.com/office/drawing/2014/main" id="{C7B400DF-E852-3B21-5B29-27FBDA5499ED}"/>
              </a:ext>
            </a:extLst>
          </p:cNvPr>
          <p:cNvSpPr txBox="1">
            <a:spLocks/>
          </p:cNvSpPr>
          <p:nvPr/>
        </p:nvSpPr>
        <p:spPr>
          <a:xfrm>
            <a:off x="261939" y="288876"/>
            <a:ext cx="7991728" cy="35503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1800" b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DIỄN BIẾN THỊ TRƯỜNG TUẦN 24/08 – 28/08/2026</a:t>
            </a:r>
            <a:endParaRPr lang="en-US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D2477056-2295-443A-AA08-60DBDA6FCCAD}"/>
              </a:ext>
            </a:extLst>
          </p:cNvPr>
          <p:cNvSpPr txBox="1">
            <a:spLocks/>
          </p:cNvSpPr>
          <p:nvPr/>
        </p:nvSpPr>
        <p:spPr>
          <a:xfrm>
            <a:off x="261940" y="677864"/>
            <a:ext cx="10725608" cy="58912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359532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1906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859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3812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9765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5718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1671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7625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Giao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dịch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các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nhóm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nhà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đầu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t</a:t>
            </a: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ư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tuần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</a:t>
            </a:r>
            <a:r>
              <a:rPr lang="vi-V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ròng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519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tỷ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ròng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713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tỷ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60000"/>
              </a:lnSpc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GD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GD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Khối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ngoại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A8BC4CC-9D0A-423C-A157-B4DF37B19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709628"/>
              </p:ext>
            </p:extLst>
          </p:nvPr>
        </p:nvGraphicFramePr>
        <p:xfrm>
          <a:off x="517525" y="1935413"/>
          <a:ext cx="4729594" cy="221446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840220">
                  <a:extLst>
                    <a:ext uri="{9D8B030D-6E8A-4147-A177-3AD203B41FA5}">
                      <a16:colId xmlns:a16="http://schemas.microsoft.com/office/drawing/2014/main" val="476193012"/>
                    </a:ext>
                  </a:extLst>
                </a:gridCol>
                <a:gridCol w="941075">
                  <a:extLst>
                    <a:ext uri="{9D8B030D-6E8A-4147-A177-3AD203B41FA5}">
                      <a16:colId xmlns:a16="http://schemas.microsoft.com/office/drawing/2014/main" val="3541350674"/>
                    </a:ext>
                  </a:extLst>
                </a:gridCol>
                <a:gridCol w="1375873">
                  <a:extLst>
                    <a:ext uri="{9D8B030D-6E8A-4147-A177-3AD203B41FA5}">
                      <a16:colId xmlns:a16="http://schemas.microsoft.com/office/drawing/2014/main" val="373586832"/>
                    </a:ext>
                  </a:extLst>
                </a:gridCol>
                <a:gridCol w="1572426">
                  <a:extLst>
                    <a:ext uri="{9D8B030D-6E8A-4147-A177-3AD203B41FA5}">
                      <a16:colId xmlns:a16="http://schemas.microsoft.com/office/drawing/2014/main" val="149220529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9525" marT="180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9525" marT="180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Bán ròng (GT)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9525" marT="180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Tỷ trọng bán của Khối Tự doanh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9525" marT="18000" marB="0" anchor="ctr"/>
                </a:tc>
                <a:extLst>
                  <a:ext uri="{0D108BD9-81ED-4DB2-BD59-A6C34878D82A}">
                    <a16:rowId xmlns:a16="http://schemas.microsoft.com/office/drawing/2014/main" val="4153642203"/>
                  </a:ext>
                </a:extLst>
              </a:tr>
              <a:tr h="1586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LPB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49.950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-248.764.980.000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15,11%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305394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VPB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-194.111.812.000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7,22%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526624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FPT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73.200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-160.622.570.000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7,30%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331816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VCK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30.450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-156.535.489.000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19,46%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5606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236.000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-149.741.360.000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2,52%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57009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VNM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62.300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-143.147.245.000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14,56%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488398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MCH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143.000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-117.965.930.000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17,10%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88042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HDB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-99.510.204.000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984817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22.650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-98.317.385.000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14,48%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961039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HPG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22.100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-96.143.630.000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12,53%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4253128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5F517E2-A8B1-49E1-9B1E-1D5C00CE0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170010"/>
              </p:ext>
            </p:extLst>
          </p:nvPr>
        </p:nvGraphicFramePr>
        <p:xfrm>
          <a:off x="6082353" y="1929390"/>
          <a:ext cx="4729594" cy="224747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937189">
                  <a:extLst>
                    <a:ext uri="{9D8B030D-6E8A-4147-A177-3AD203B41FA5}">
                      <a16:colId xmlns:a16="http://schemas.microsoft.com/office/drawing/2014/main" val="682583455"/>
                    </a:ext>
                  </a:extLst>
                </a:gridCol>
                <a:gridCol w="880217">
                  <a:extLst>
                    <a:ext uri="{9D8B030D-6E8A-4147-A177-3AD203B41FA5}">
                      <a16:colId xmlns:a16="http://schemas.microsoft.com/office/drawing/2014/main" val="1140088890"/>
                    </a:ext>
                  </a:extLst>
                </a:gridCol>
                <a:gridCol w="1418601">
                  <a:extLst>
                    <a:ext uri="{9D8B030D-6E8A-4147-A177-3AD203B41FA5}">
                      <a16:colId xmlns:a16="http://schemas.microsoft.com/office/drawing/2014/main" val="3285455083"/>
                    </a:ext>
                  </a:extLst>
                </a:gridCol>
                <a:gridCol w="1493587">
                  <a:extLst>
                    <a:ext uri="{9D8B030D-6E8A-4147-A177-3AD203B41FA5}">
                      <a16:colId xmlns:a16="http://schemas.microsoft.com/office/drawing/2014/main" val="2755322544"/>
                    </a:ext>
                  </a:extLst>
                </a:gridCol>
              </a:tblGrid>
              <a:tr h="3175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0" marT="180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0" marT="180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Mua ròng (GT)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0" marT="180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Tỷ trọng mua của Khối Tự doanh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000" marR="0" marT="18000" marB="0" anchor="ctr"/>
                </a:tc>
                <a:extLst>
                  <a:ext uri="{0D108BD9-81ED-4DB2-BD59-A6C34878D82A}">
                    <a16:rowId xmlns:a16="http://schemas.microsoft.com/office/drawing/2014/main" val="901127028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GMD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79.500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227.975.730.000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19,30%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8757191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33.400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33.977.405.000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8,41%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88216377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26.239.425.000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757996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14.950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24.239.772.000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4,82%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2016339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40.450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9.571.955.000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18,52%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71833493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45.550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9.391.620.000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7,98%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566206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26.450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8.026.170.000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72218016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VTP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53.500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5.105.740.000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4,50%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28515178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GVR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32.350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4.531.845.000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2,25%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86965531"/>
                  </a:ext>
                </a:extLst>
              </a:tr>
              <a:tr h="1924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36.250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4.441.825.000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0,51%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40895381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F8EC5B45-3871-449D-AA94-FF528E886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40791"/>
              </p:ext>
            </p:extLst>
          </p:nvPr>
        </p:nvGraphicFramePr>
        <p:xfrm>
          <a:off x="6096000" y="4625975"/>
          <a:ext cx="4729594" cy="20955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91322">
                  <a:extLst>
                    <a:ext uri="{9D8B030D-6E8A-4147-A177-3AD203B41FA5}">
                      <a16:colId xmlns:a16="http://schemas.microsoft.com/office/drawing/2014/main" val="263410430"/>
                    </a:ext>
                  </a:extLst>
                </a:gridCol>
                <a:gridCol w="968188">
                  <a:extLst>
                    <a:ext uri="{9D8B030D-6E8A-4147-A177-3AD203B41FA5}">
                      <a16:colId xmlns:a16="http://schemas.microsoft.com/office/drawing/2014/main" val="1620157925"/>
                    </a:ext>
                  </a:extLst>
                </a:gridCol>
                <a:gridCol w="1457302">
                  <a:extLst>
                    <a:ext uri="{9D8B030D-6E8A-4147-A177-3AD203B41FA5}">
                      <a16:colId xmlns:a16="http://schemas.microsoft.com/office/drawing/2014/main" val="4010576076"/>
                    </a:ext>
                  </a:extLst>
                </a:gridCol>
                <a:gridCol w="1512782">
                  <a:extLst>
                    <a:ext uri="{9D8B030D-6E8A-4147-A177-3AD203B41FA5}">
                      <a16:colId xmlns:a16="http://schemas.microsoft.com/office/drawing/2014/main" val="21226686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Mua </a:t>
                      </a: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ròng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(GT)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NN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Sở</a:t>
                      </a:r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hữu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14571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33.400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718.019.844.250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21,13%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0101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FPT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73.200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430.183.470.200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27,06%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0707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236.000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380.627.742.900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3,16%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372319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VPB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280.559.351.750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23,35%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166712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HPG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220.630.986.050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21,55%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496524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PNJ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157.401.876.800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42,64%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57567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MCH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143.000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140.360.670.600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15,57%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32988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HCM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26.050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135.675.409.200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34,18%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83287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123.528.242.600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073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VPI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68.100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122.383.692.400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9,67%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8613862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8D254E8-9BE5-4B20-AD2E-FE0C3AEEA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442029"/>
              </p:ext>
            </p:extLst>
          </p:nvPr>
        </p:nvGraphicFramePr>
        <p:xfrm>
          <a:off x="531172" y="4599948"/>
          <a:ext cx="4729594" cy="212152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851647">
                  <a:extLst>
                    <a:ext uri="{9D8B030D-6E8A-4147-A177-3AD203B41FA5}">
                      <a16:colId xmlns:a16="http://schemas.microsoft.com/office/drawing/2014/main" val="1197368528"/>
                    </a:ext>
                  </a:extLst>
                </a:gridCol>
                <a:gridCol w="968188">
                  <a:extLst>
                    <a:ext uri="{9D8B030D-6E8A-4147-A177-3AD203B41FA5}">
                      <a16:colId xmlns:a16="http://schemas.microsoft.com/office/drawing/2014/main" val="3730308002"/>
                    </a:ext>
                  </a:extLst>
                </a:gridCol>
                <a:gridCol w="1395083">
                  <a:extLst>
                    <a:ext uri="{9D8B030D-6E8A-4147-A177-3AD203B41FA5}">
                      <a16:colId xmlns:a16="http://schemas.microsoft.com/office/drawing/2014/main" val="62363021"/>
                    </a:ext>
                  </a:extLst>
                </a:gridCol>
                <a:gridCol w="1514676">
                  <a:extLst>
                    <a:ext uri="{9D8B030D-6E8A-4147-A177-3AD203B41FA5}">
                      <a16:colId xmlns:a16="http://schemas.microsoft.com/office/drawing/2014/main" val="412189218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Bán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ròng</a:t>
                      </a:r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(GT)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NN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Sở</a:t>
                      </a:r>
                      <a:r>
                        <a:rPr lang="en-US" sz="1000" b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hữu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48978472"/>
                  </a:ext>
                </a:extLst>
              </a:tr>
              <a:tr h="2165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60.100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-203.808.385.300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20,06%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24795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31.950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-190.284.278.500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24,51%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598437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-183.408.296.500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4,63%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383756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40.800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-125.579.259.050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9,31%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955444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36.850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-113.685.357.050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17,52%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21918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DCM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30.850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-93.873.826.000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6,40%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261984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22.650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-91.231.169.300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24,34%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171375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-83.265.923.100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6,93%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71503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36.250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-82.744.545.000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14,02%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126481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64.800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-70.217.154.700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1,02%</a:t>
                      </a:r>
                      <a:endParaRPr lang="en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34345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78591D-EBD3-4A78-A389-694F47B20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204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BC5E1-222D-5D88-9964-4A8FF259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D5383B4-C0C0-C437-0842-ECBE904CDC74}"/>
              </a:ext>
            </a:extLst>
          </p:cNvPr>
          <p:cNvCxnSpPr/>
          <p:nvPr/>
        </p:nvCxnSpPr>
        <p:spPr>
          <a:xfrm flipV="1">
            <a:off x="261939" y="677863"/>
            <a:ext cx="116760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5">
            <a:extLst>
              <a:ext uri="{FF2B5EF4-FFF2-40B4-BE49-F238E27FC236}">
                <a16:creationId xmlns:a16="http://schemas.microsoft.com/office/drawing/2014/main" id="{BB5C97C4-862A-269F-A388-3BA6E6A2B487}"/>
              </a:ext>
            </a:extLst>
          </p:cNvPr>
          <p:cNvSpPr txBox="1">
            <a:spLocks/>
          </p:cNvSpPr>
          <p:nvPr/>
        </p:nvSpPr>
        <p:spPr>
          <a:xfrm>
            <a:off x="261939" y="288876"/>
            <a:ext cx="7991728" cy="35503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DIỄN BIẾN DANH MỤC THEO DÕI TUẦN 24/08 – 28/08/2026</a:t>
            </a:r>
            <a:endParaRPr lang="en-US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EC378252-A32A-9839-7495-0D5F68F1E791}"/>
              </a:ext>
            </a:extLst>
          </p:cNvPr>
          <p:cNvSpPr txBox="1">
            <a:spLocks/>
          </p:cNvSpPr>
          <p:nvPr/>
        </p:nvSpPr>
        <p:spPr>
          <a:xfrm>
            <a:off x="261940" y="677864"/>
            <a:ext cx="10725608" cy="58912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 b="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359532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1906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859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3812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9765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5718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1671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7625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Sự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kiện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doanh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nghiệp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trong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tuần</a:t>
            </a: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vi-VN" sz="14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Diễn biến giao dịch NDTNN 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8, NDTNN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ròng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79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triệu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cổ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phiếu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4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mã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dõi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5E438-760F-A277-DDDD-CB26F7549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B2CB95-BB19-5CE2-096D-C942A23B0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475705"/>
              </p:ext>
            </p:extLst>
          </p:nvPr>
        </p:nvGraphicFramePr>
        <p:xfrm>
          <a:off x="364321" y="1265121"/>
          <a:ext cx="11463359" cy="1532892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1399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858">
                  <a:extLst>
                    <a:ext uri="{9D8B030D-6E8A-4147-A177-3AD203B41FA5}">
                      <a16:colId xmlns:a16="http://schemas.microsoft.com/office/drawing/2014/main" val="3086632694"/>
                    </a:ext>
                  </a:extLst>
                </a:gridCol>
                <a:gridCol w="92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33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Ngày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Sự</a:t>
                      </a: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kiện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27/08/2026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VIB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VIB: Thông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báo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giao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dịch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cổ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phiếu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của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người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có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liên quan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của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Người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nội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bộ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Đỗ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Xuân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Thụ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bán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300.000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cổ</a:t>
                      </a:r>
                      <a:r>
                        <a:rPr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phiếu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936472446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879009439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40068412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3DB183-A5CC-8AA9-CAC4-E0699E1A7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962206"/>
              </p:ext>
            </p:extLst>
          </p:nvPr>
        </p:nvGraphicFramePr>
        <p:xfrm>
          <a:off x="364321" y="4048812"/>
          <a:ext cx="7733305" cy="162529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46661">
                  <a:extLst>
                    <a:ext uri="{9D8B030D-6E8A-4147-A177-3AD203B41FA5}">
                      <a16:colId xmlns:a16="http://schemas.microsoft.com/office/drawing/2014/main" val="476193012"/>
                    </a:ext>
                  </a:extLst>
                </a:gridCol>
                <a:gridCol w="1546661">
                  <a:extLst>
                    <a:ext uri="{9D8B030D-6E8A-4147-A177-3AD203B41FA5}">
                      <a16:colId xmlns:a16="http://schemas.microsoft.com/office/drawing/2014/main" val="3541350674"/>
                    </a:ext>
                  </a:extLst>
                </a:gridCol>
                <a:gridCol w="1546661">
                  <a:extLst>
                    <a:ext uri="{9D8B030D-6E8A-4147-A177-3AD203B41FA5}">
                      <a16:colId xmlns:a16="http://schemas.microsoft.com/office/drawing/2014/main" val="373586832"/>
                    </a:ext>
                  </a:extLst>
                </a:gridCol>
                <a:gridCol w="1546661">
                  <a:extLst>
                    <a:ext uri="{9D8B030D-6E8A-4147-A177-3AD203B41FA5}">
                      <a16:colId xmlns:a16="http://schemas.microsoft.com/office/drawing/2014/main" val="1492205293"/>
                    </a:ext>
                  </a:extLst>
                </a:gridCol>
                <a:gridCol w="1546661">
                  <a:extLst>
                    <a:ext uri="{9D8B030D-6E8A-4147-A177-3AD203B41FA5}">
                      <a16:colId xmlns:a16="http://schemas.microsoft.com/office/drawing/2014/main" val="3276923108"/>
                    </a:ext>
                  </a:extLst>
                </a:gridCol>
              </a:tblGrid>
              <a:tr h="270883">
                <a:tc>
                  <a:txBody>
                    <a:bodyPr/>
                    <a:lstStyle/>
                    <a:p>
                      <a:pPr algn="l" fontAlgn="b"/>
                      <a:r>
                        <a:rPr lang="en-V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KLGD NDTNN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VPB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TCB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3642203"/>
                  </a:ext>
                </a:extLst>
              </a:tr>
              <a:tr h="27088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Tháng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-13.874.435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-15.838.065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-57.219.998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-46.266.718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30539495"/>
                  </a:ext>
                </a:extLst>
              </a:tr>
              <a:tr h="27088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Tháng 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-20.044.268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-25.052.808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-39.496.132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-43.747.657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52662491"/>
                  </a:ext>
                </a:extLst>
              </a:tr>
              <a:tr h="27088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Tháng 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-26.925.294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-6.326.504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-33.422.661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-12.545.859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33181617"/>
                  </a:ext>
                </a:extLst>
              </a:tr>
              <a:tr h="27088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Từ đầu năm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-255.020.660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-59.478.013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-139.070.813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-121.288.752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560680"/>
                  </a:ext>
                </a:extLst>
              </a:tr>
              <a:tr h="27088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Room NN còn lại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7,0%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1,7%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7,2%</a:t>
                      </a:r>
                      <a:endParaRPr lang="en-V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V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7387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020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19F68D-5A43-40F5-8D46-9A0989284A32}"/>
              </a:ext>
            </a:extLst>
          </p:cNvPr>
          <p:cNvCxnSpPr/>
          <p:nvPr/>
        </p:nvCxnSpPr>
        <p:spPr>
          <a:xfrm flipV="1">
            <a:off x="261122" y="726334"/>
            <a:ext cx="11676878" cy="0"/>
          </a:xfrm>
          <a:prstGeom prst="line">
            <a:avLst/>
          </a:prstGeom>
          <a:ln>
            <a:solidFill>
              <a:srgbClr val="141E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5">
            <a:extLst>
              <a:ext uri="{FF2B5EF4-FFF2-40B4-BE49-F238E27FC236}">
                <a16:creationId xmlns:a16="http://schemas.microsoft.com/office/drawing/2014/main" id="{578E1B08-BF77-124A-880E-8FCBA0C71676}"/>
              </a:ext>
            </a:extLst>
          </p:cNvPr>
          <p:cNvSpPr txBox="1">
            <a:spLocks/>
          </p:cNvSpPr>
          <p:nvPr/>
        </p:nvSpPr>
        <p:spPr>
          <a:xfrm>
            <a:off x="291437" y="349186"/>
            <a:ext cx="7991728" cy="3550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CÁC SỰ KIỆN DIỄN RA TRONG TUẦN 31/08/2026 – 04/09/2026</a:t>
            </a:r>
            <a:endParaRPr lang="en-AU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5735BD-8F3E-4D76-B4E3-A85529B82324}"/>
              </a:ext>
            </a:extLst>
          </p:cNvPr>
          <p:cNvSpPr txBox="1"/>
          <p:nvPr/>
        </p:nvSpPr>
        <p:spPr>
          <a:xfrm>
            <a:off x="306595" y="922013"/>
            <a:ext cx="11493675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ớc</a:t>
            </a: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780BA3-FEDF-45F2-A2CF-3F69BACA285D}"/>
              </a:ext>
            </a:extLst>
          </p:cNvPr>
          <p:cNvSpPr txBox="1"/>
          <p:nvPr/>
        </p:nvSpPr>
        <p:spPr>
          <a:xfrm>
            <a:off x="306595" y="3124233"/>
            <a:ext cx="11493675" cy="69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Quốc </a:t>
            </a:r>
            <a:r>
              <a:rPr lang="en-US" sz="1400" b="1" dirty="0" err="1">
                <a:solidFill>
                  <a:srgbClr val="141E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endParaRPr lang="en-US" sz="1400" b="1" dirty="0">
              <a:solidFill>
                <a:srgbClr val="141ED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E5AEA-65D3-A6C9-7C6A-63F9481C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43C129-FA9E-58D6-50EA-AE21A11F0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207238"/>
              </p:ext>
            </p:extLst>
          </p:nvPr>
        </p:nvGraphicFramePr>
        <p:xfrm>
          <a:off x="364321" y="3577080"/>
          <a:ext cx="11463358" cy="2396175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49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33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Ngày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Sự</a:t>
                      </a: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kiện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31/08/2026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• [Đức]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Lạm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theo năm (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YoY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01/09/2026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• [Khu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vực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Euro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]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Lạm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theo năm (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YoY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• [Ý]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Lạm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theo năm (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YoY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568331513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02/09/2026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• [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Úc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] Tăng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trưởng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GDP, theo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quý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QoQ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• [Canada]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Quyết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định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lãi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suất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của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BoC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936472446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04/09/2026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• [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Mỹ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]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Bảng</a:t>
                      </a:r>
                      <a:r>
                        <a:rPr lang="vi-VN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lương phi nông </a:t>
                      </a:r>
                      <a:r>
                        <a:rPr lang="vi-VN" sz="12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nghiệp</a:t>
                      </a: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703509514"/>
                  </a:ext>
                </a:extLst>
              </a:tr>
              <a:tr h="169612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87900943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D4413C-9908-D492-D53F-AD247402B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466646"/>
              </p:ext>
            </p:extLst>
          </p:nvPr>
        </p:nvGraphicFramePr>
        <p:xfrm>
          <a:off x="364321" y="1385240"/>
          <a:ext cx="11463358" cy="27432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49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33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Ngày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Sự</a:t>
                      </a: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kiện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437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19F68D-5A43-40F5-8D46-9A0989284A32}"/>
              </a:ext>
            </a:extLst>
          </p:cNvPr>
          <p:cNvCxnSpPr/>
          <p:nvPr/>
        </p:nvCxnSpPr>
        <p:spPr>
          <a:xfrm flipV="1">
            <a:off x="261122" y="726334"/>
            <a:ext cx="11676878" cy="0"/>
          </a:xfrm>
          <a:prstGeom prst="line">
            <a:avLst/>
          </a:prstGeom>
          <a:ln>
            <a:solidFill>
              <a:srgbClr val="141E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C2EF0C-B614-16E0-B17F-10D8DAD09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7561" y="914400"/>
            <a:ext cx="11676878" cy="5807075"/>
          </a:xfrm>
        </p:spPr>
        <p:txBody>
          <a:bodyPr anchor="t">
            <a:no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b="0" dirty="0">
                <a:cs typeface="Arial" panose="020B0604020202020204" pitchFamily="34" charset="0"/>
              </a:rPr>
              <a:t>Trong </a:t>
            </a:r>
            <a:r>
              <a:rPr lang="vi-VN" sz="1100" b="0" dirty="0" err="1">
                <a:cs typeface="Arial" panose="020B0604020202020204" pitchFamily="34" charset="0"/>
              </a:rPr>
              <a:t>tuần</a:t>
            </a:r>
            <a:r>
              <a:rPr lang="vi-VN" sz="1100" b="0" dirty="0">
                <a:cs typeface="Arial" panose="020B0604020202020204" pitchFamily="34" charset="0"/>
              </a:rPr>
              <a:t> 24/08–28/08/2026, VNINDEX tăng 64,0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 (3,6%) lên 1.832,1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, trong khi thanh </a:t>
            </a:r>
            <a:r>
              <a:rPr lang="vi-VN" sz="1100" b="0" dirty="0" err="1">
                <a:cs typeface="Arial" panose="020B0604020202020204" pitchFamily="34" charset="0"/>
              </a:rPr>
              <a:t>khoản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khớp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lệnh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đạt</a:t>
            </a:r>
            <a:r>
              <a:rPr lang="vi-VN" sz="1100" b="0" dirty="0">
                <a:cs typeface="Arial" panose="020B0604020202020204" pitchFamily="34" charset="0"/>
              </a:rPr>
              <a:t> 78,4 </a:t>
            </a:r>
            <a:r>
              <a:rPr lang="vi-VN" sz="1100" b="0" dirty="0" err="1">
                <a:cs typeface="Arial" panose="020B0604020202020204" pitchFamily="34" charset="0"/>
              </a:rPr>
              <a:t>nghìn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tỷ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đồng</a:t>
            </a:r>
            <a:r>
              <a:rPr lang="vi-VN" sz="1100" b="0" dirty="0">
                <a:cs typeface="Arial" panose="020B0604020202020204" pitchFamily="34" charset="0"/>
              </a:rPr>
              <a:t>, tăng 36,3% so </a:t>
            </a:r>
            <a:r>
              <a:rPr lang="vi-VN" sz="1100" b="0" dirty="0" err="1">
                <a:cs typeface="Arial" panose="020B0604020202020204" pitchFamily="34" charset="0"/>
              </a:rPr>
              <a:t>với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tuần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trước</a:t>
            </a:r>
            <a:r>
              <a:rPr lang="vi-VN" sz="1100" b="0" dirty="0">
                <a:cs typeface="Arial" panose="020B0604020202020204" pitchFamily="34" charset="0"/>
              </a:rPr>
              <a:t>. VN30 tăng 55,2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 (2,9%) lên 1.983,0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, </a:t>
            </a:r>
            <a:r>
              <a:rPr lang="vi-VN" sz="1100" b="0" dirty="0" err="1">
                <a:cs typeface="Arial" panose="020B0604020202020204" pitchFamily="34" charset="0"/>
              </a:rPr>
              <a:t>với</a:t>
            </a:r>
            <a:r>
              <a:rPr lang="vi-VN" sz="1100" b="0" dirty="0">
                <a:cs typeface="Arial" panose="020B0604020202020204" pitchFamily="34" charset="0"/>
              </a:rPr>
              <a:t> thanh </a:t>
            </a:r>
            <a:r>
              <a:rPr lang="vi-VN" sz="1100" b="0" dirty="0" err="1">
                <a:cs typeface="Arial" panose="020B0604020202020204" pitchFamily="34" charset="0"/>
              </a:rPr>
              <a:t>khoản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khớp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lệnh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đạt</a:t>
            </a:r>
            <a:r>
              <a:rPr lang="vi-VN" sz="1100" b="0" dirty="0">
                <a:cs typeface="Arial" panose="020B0604020202020204" pitchFamily="34" charset="0"/>
              </a:rPr>
              <a:t> 48,0 </a:t>
            </a:r>
            <a:r>
              <a:rPr lang="vi-VN" sz="1100" b="0" dirty="0" err="1">
                <a:cs typeface="Arial" panose="020B0604020202020204" pitchFamily="34" charset="0"/>
              </a:rPr>
              <a:t>nghìn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tỷ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đồng</a:t>
            </a:r>
            <a:r>
              <a:rPr lang="vi-VN" sz="1100" b="0" dirty="0">
                <a:cs typeface="Arial" panose="020B0604020202020204" pitchFamily="34" charset="0"/>
              </a:rPr>
              <a:t>. </a:t>
            </a:r>
            <a:r>
              <a:rPr lang="vi-VN" sz="1100" b="0" dirty="0" err="1">
                <a:cs typeface="Arial" panose="020B0604020202020204" pitchFamily="34" charset="0"/>
              </a:rPr>
              <a:t>Thị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trường</a:t>
            </a:r>
            <a:r>
              <a:rPr lang="vi-VN" sz="1100" b="0" dirty="0">
                <a:cs typeface="Arial" panose="020B0604020202020204" pitchFamily="34" charset="0"/>
              </a:rPr>
              <a:t> tăng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bền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bỉ</a:t>
            </a:r>
            <a:r>
              <a:rPr lang="vi-VN" sz="1100" b="0" dirty="0">
                <a:cs typeface="Arial" panose="020B0604020202020204" pitchFamily="34" charset="0"/>
              </a:rPr>
              <a:t> trong </a:t>
            </a:r>
            <a:r>
              <a:rPr lang="vi-VN" sz="1100" b="0" dirty="0" err="1">
                <a:cs typeface="Arial" panose="020B0604020202020204" pitchFamily="34" charset="0"/>
              </a:rPr>
              <a:t>cả</a:t>
            </a:r>
            <a:r>
              <a:rPr lang="vi-VN" sz="1100" b="0" dirty="0">
                <a:cs typeface="Arial" panose="020B0604020202020204" pitchFamily="34" charset="0"/>
              </a:rPr>
              <a:t> năm phiên, </a:t>
            </a:r>
            <a:r>
              <a:rPr lang="vi-VN" sz="1100" b="0" dirty="0" err="1">
                <a:cs typeface="Arial" panose="020B0604020202020204" pitchFamily="34" charset="0"/>
              </a:rPr>
              <a:t>khởi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đầu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từ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mức</a:t>
            </a:r>
            <a:r>
              <a:rPr lang="vi-VN" sz="1100" b="0" dirty="0">
                <a:cs typeface="Arial" panose="020B0604020202020204" pitchFamily="34" charset="0"/>
              </a:rPr>
              <a:t> 1.788,8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vào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đầu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tuần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trước</a:t>
            </a:r>
            <a:r>
              <a:rPr lang="vi-VN" sz="1100" b="0" dirty="0">
                <a:cs typeface="Arial" panose="020B0604020202020204" pitchFamily="34" charset="0"/>
              </a:rPr>
              <a:t> khi </a:t>
            </a:r>
            <a:r>
              <a:rPr lang="vi-VN" sz="1100" b="0" dirty="0" err="1">
                <a:cs typeface="Arial" panose="020B0604020202020204" pitchFamily="34" charset="0"/>
              </a:rPr>
              <a:t>bứt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phá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mạnh</a:t>
            </a:r>
            <a:r>
              <a:rPr lang="vi-VN" sz="1100" b="0" dirty="0">
                <a:cs typeface="Arial" panose="020B0604020202020204" pitchFamily="34" charset="0"/>
              </a:rPr>
              <a:t> hơn 30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 trong phiên </a:t>
            </a:r>
            <a:r>
              <a:rPr lang="vi-VN" sz="1100" b="0" dirty="0" err="1">
                <a:cs typeface="Arial" panose="020B0604020202020204" pitchFamily="34" charset="0"/>
              </a:rPr>
              <a:t>ngày</a:t>
            </a:r>
            <a:r>
              <a:rPr lang="vi-VN" sz="1100" b="0" dirty="0">
                <a:cs typeface="Arial" panose="020B0604020202020204" pitchFamily="34" charset="0"/>
              </a:rPr>
              <a:t> 26/08 </a:t>
            </a:r>
            <a:r>
              <a:rPr lang="vi-VN" sz="1100" b="0" dirty="0" err="1">
                <a:cs typeface="Arial" panose="020B0604020202020204" pitchFamily="34" charset="0"/>
              </a:rPr>
              <a:t>và</a:t>
            </a:r>
            <a:r>
              <a:rPr lang="vi-VN" sz="1100" b="0" dirty="0">
                <a:cs typeface="Arial" panose="020B0604020202020204" pitchFamily="34" charset="0"/>
              </a:rPr>
              <a:t> duy </a:t>
            </a:r>
            <a:r>
              <a:rPr lang="vi-VN" sz="1100" b="0" dirty="0" err="1">
                <a:cs typeface="Arial" panose="020B0604020202020204" pitchFamily="34" charset="0"/>
              </a:rPr>
              <a:t>trì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vững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chắc</a:t>
            </a:r>
            <a:r>
              <a:rPr lang="vi-VN" sz="1100" b="0" dirty="0">
                <a:cs typeface="Arial" panose="020B0604020202020204" pitchFamily="34" charset="0"/>
              </a:rPr>
              <a:t> trên </a:t>
            </a:r>
            <a:r>
              <a:rPr lang="vi-VN" sz="1100" b="0" dirty="0" err="1">
                <a:cs typeface="Arial" panose="020B0604020202020204" pitchFamily="34" charset="0"/>
              </a:rPr>
              <a:t>mốc</a:t>
            </a:r>
            <a:r>
              <a:rPr lang="vi-VN" sz="1100" b="0" dirty="0">
                <a:cs typeface="Arial" panose="020B0604020202020204" pitchFamily="34" charset="0"/>
              </a:rPr>
              <a:t> 1.830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về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cuối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tuần</a:t>
            </a:r>
            <a:r>
              <a:rPr lang="vi-VN" sz="1100" b="0" dirty="0">
                <a:cs typeface="Arial" panose="020B0604020202020204" pitchFamily="34" charset="0"/>
              </a:rPr>
              <a:t>. Thanh </a:t>
            </a:r>
            <a:r>
              <a:rPr lang="vi-VN" sz="1100" b="0" dirty="0" err="1">
                <a:cs typeface="Arial" panose="020B0604020202020204" pitchFamily="34" charset="0"/>
              </a:rPr>
              <a:t>khoản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khớp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lệnh</a:t>
            </a:r>
            <a:r>
              <a:rPr lang="vi-VN" sz="1100" b="0" dirty="0">
                <a:cs typeface="Arial" panose="020B0604020202020204" pitchFamily="34" charset="0"/>
              </a:rPr>
              <a:t> tăng </a:t>
            </a:r>
            <a:r>
              <a:rPr lang="vi-VN" sz="1100" b="0" dirty="0" err="1">
                <a:cs typeface="Arial" panose="020B0604020202020204" pitchFamily="34" charset="0"/>
              </a:rPr>
              <a:t>trưởng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tích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cực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đồng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thuận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cùng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đà</a:t>
            </a:r>
            <a:r>
              <a:rPr lang="vi-VN" sz="1100" b="0" dirty="0">
                <a:cs typeface="Arial" panose="020B0604020202020204" pitchFamily="34" charset="0"/>
              </a:rPr>
              <a:t> tăng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số</a:t>
            </a:r>
            <a:r>
              <a:rPr lang="vi-VN" sz="1100" b="0" dirty="0">
                <a:cs typeface="Arial" panose="020B0604020202020204" pitchFamily="34" charset="0"/>
              </a:rPr>
              <a:t>, tuy chưa </a:t>
            </a:r>
            <a:r>
              <a:rPr lang="vi-VN" sz="1100" b="0" dirty="0" err="1">
                <a:cs typeface="Arial" panose="020B0604020202020204" pitchFamily="34" charset="0"/>
              </a:rPr>
              <a:t>bứt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phá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rõ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rệt</a:t>
            </a:r>
            <a:r>
              <a:rPr lang="vi-VN" sz="1100" b="0" dirty="0">
                <a:cs typeface="Arial" panose="020B0604020202020204" pitchFamily="34" charset="0"/>
              </a:rPr>
              <a:t>. </a:t>
            </a:r>
            <a:r>
              <a:rPr lang="vi-VN" sz="1100" b="0" dirty="0" err="1">
                <a:cs typeface="Arial" panose="020B0604020202020204" pitchFamily="34" charset="0"/>
              </a:rPr>
              <a:t>Việc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chỉ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số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đóng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cửa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tại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mức</a:t>
            </a:r>
            <a:r>
              <a:rPr lang="vi-VN" sz="1100" b="0" dirty="0">
                <a:cs typeface="Arial" panose="020B0604020202020204" pitchFamily="34" charset="0"/>
              </a:rPr>
              <a:t> cao </a:t>
            </a:r>
            <a:r>
              <a:rPr lang="vi-VN" sz="1100" b="0" dirty="0" err="1">
                <a:cs typeface="Arial" panose="020B0604020202020204" pitchFamily="34" charset="0"/>
              </a:rPr>
              <a:t>nhất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tuần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là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tín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hiệu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kỹ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thuật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tích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cực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cần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tiếp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tục</a:t>
            </a:r>
            <a:r>
              <a:rPr lang="vi-VN" sz="1100" b="0" dirty="0">
                <a:cs typeface="Arial" panose="020B0604020202020204" pitchFamily="34" charset="0"/>
              </a:rPr>
              <a:t> theo </a:t>
            </a:r>
            <a:r>
              <a:rPr lang="vi-VN" sz="1100" b="0" dirty="0" err="1">
                <a:cs typeface="Arial" panose="020B0604020202020204" pitchFamily="34" charset="0"/>
              </a:rPr>
              <a:t>dõi</a:t>
            </a:r>
            <a:r>
              <a:rPr lang="vi-VN" sz="1100" b="0" dirty="0"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b="0" dirty="0" err="1">
                <a:cs typeface="Arial" panose="020B0604020202020204" pitchFamily="34" charset="0"/>
              </a:rPr>
              <a:t>Về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diễn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biến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địa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chính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trị</a:t>
            </a:r>
            <a:r>
              <a:rPr lang="vi-VN" sz="1100" b="0" dirty="0">
                <a:cs typeface="Arial" panose="020B0604020202020204" pitchFamily="34" charset="0"/>
              </a:rPr>
              <a:t>, </a:t>
            </a:r>
            <a:r>
              <a:rPr lang="vi-VN" sz="1100" b="0" dirty="0" err="1">
                <a:cs typeface="Arial" panose="020B0604020202020204" pitchFamily="34" charset="0"/>
              </a:rPr>
              <a:t>Goldman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Sachs</a:t>
            </a:r>
            <a:r>
              <a:rPr lang="vi-VN" sz="1100" b="0" dirty="0">
                <a:cs typeface="Arial" panose="020B0604020202020204" pitchFamily="34" charset="0"/>
              </a:rPr>
              <a:t> cho </a:t>
            </a:r>
            <a:r>
              <a:rPr lang="vi-VN" sz="1100" b="0" dirty="0" err="1">
                <a:cs typeface="Arial" panose="020B0604020202020204" pitchFamily="34" charset="0"/>
              </a:rPr>
              <a:t>biết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lượng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dầu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xuất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khẩu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từ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Vịnh</a:t>
            </a:r>
            <a:r>
              <a:rPr lang="vi-VN" sz="1100" b="0" dirty="0">
                <a:cs typeface="Arial" panose="020B0604020202020204" pitchFamily="34" charset="0"/>
              </a:rPr>
              <a:t> Ba Tư </a:t>
            </a:r>
            <a:r>
              <a:rPr lang="vi-VN" sz="1100" b="0" dirty="0" err="1">
                <a:cs typeface="Arial" panose="020B0604020202020204" pitchFamily="34" charset="0"/>
              </a:rPr>
              <a:t>đã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phục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hồi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về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mức</a:t>
            </a:r>
            <a:r>
              <a:rPr lang="vi-VN" sz="1100" b="0" dirty="0">
                <a:cs typeface="Arial" panose="020B0604020202020204" pitchFamily="34" charset="0"/>
              </a:rPr>
              <a:t> tương đương 2/3 giai </a:t>
            </a:r>
            <a:r>
              <a:rPr lang="vi-VN" sz="1100" b="0" dirty="0" err="1">
                <a:cs typeface="Arial" panose="020B0604020202020204" pitchFamily="34" charset="0"/>
              </a:rPr>
              <a:t>đoạn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trước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chiến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sự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nhờ</a:t>
            </a:r>
            <a:r>
              <a:rPr lang="vi-VN" sz="1100" b="0" dirty="0">
                <a:cs typeface="Arial" panose="020B0604020202020204" pitchFamily="34" charset="0"/>
              </a:rPr>
              <a:t> lưu </a:t>
            </a:r>
            <a:r>
              <a:rPr lang="vi-VN" sz="1100" b="0" dirty="0" err="1">
                <a:cs typeface="Arial" panose="020B0604020202020204" pitchFamily="34" charset="0"/>
              </a:rPr>
              <a:t>lượng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vận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chuyển</a:t>
            </a:r>
            <a:r>
              <a:rPr lang="vi-VN" sz="1100" b="0" dirty="0">
                <a:cs typeface="Arial" panose="020B0604020202020204" pitchFamily="34" charset="0"/>
              </a:rPr>
              <a:t> qua eo </a:t>
            </a:r>
            <a:r>
              <a:rPr lang="vi-VN" sz="1100" b="0" dirty="0" err="1">
                <a:cs typeface="Arial" panose="020B0604020202020204" pitchFamily="34" charset="0"/>
              </a:rPr>
              <a:t>biển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Hormuz</a:t>
            </a:r>
            <a:r>
              <a:rPr lang="vi-VN" sz="1100" b="0" dirty="0">
                <a:cs typeface="Arial" panose="020B0604020202020204" pitchFamily="34" charset="0"/>
              </a:rPr>
              <a:t> gia tăng. </a:t>
            </a:r>
            <a:r>
              <a:rPr lang="vi-VN" sz="1100" b="0" dirty="0" err="1">
                <a:cs typeface="Arial" panose="020B0604020202020204" pitchFamily="34" charset="0"/>
              </a:rPr>
              <a:t>Tổng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lượng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xuất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khẩu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dầu</a:t>
            </a:r>
            <a:r>
              <a:rPr lang="vi-VN" sz="1100" b="0" dirty="0">
                <a:cs typeface="Arial" panose="020B0604020202020204" pitchFamily="34" charset="0"/>
              </a:rPr>
              <a:t> thô </a:t>
            </a:r>
            <a:r>
              <a:rPr lang="vi-VN" sz="1100" b="0" dirty="0" err="1">
                <a:cs typeface="Arial" panose="020B0604020202020204" pitchFamily="34" charset="0"/>
              </a:rPr>
              <a:t>từ</a:t>
            </a:r>
            <a:r>
              <a:rPr lang="vi-VN" sz="1100" b="0" dirty="0">
                <a:cs typeface="Arial" panose="020B0604020202020204" pitchFamily="34" charset="0"/>
              </a:rPr>
              <a:t> khu </a:t>
            </a:r>
            <a:r>
              <a:rPr lang="vi-VN" sz="1100" b="0" dirty="0" err="1">
                <a:cs typeface="Arial" panose="020B0604020202020204" pitchFamily="34" charset="0"/>
              </a:rPr>
              <a:t>vực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này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được</a:t>
            </a:r>
            <a:r>
              <a:rPr lang="vi-VN" sz="1100" b="0" dirty="0">
                <a:cs typeface="Arial" panose="020B0604020202020204" pitchFamily="34" charset="0"/>
              </a:rPr>
              <a:t> ghi </a:t>
            </a:r>
            <a:r>
              <a:rPr lang="vi-VN" sz="1100" b="0" dirty="0" err="1">
                <a:cs typeface="Arial" panose="020B0604020202020204" pitchFamily="34" charset="0"/>
              </a:rPr>
              <a:t>nhận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đã</a:t>
            </a:r>
            <a:r>
              <a:rPr lang="vi-VN" sz="1100" b="0" dirty="0">
                <a:cs typeface="Arial" panose="020B0604020202020204" pitchFamily="34" charset="0"/>
              </a:rPr>
              <a:t> tăng lên 15–16 </a:t>
            </a:r>
            <a:r>
              <a:rPr lang="vi-VN" sz="1100" b="0" dirty="0" err="1">
                <a:cs typeface="Arial" panose="020B0604020202020204" pitchFamily="34" charset="0"/>
              </a:rPr>
              <a:t>triệu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thùng</a:t>
            </a:r>
            <a:r>
              <a:rPr lang="vi-VN" sz="1100" b="0" dirty="0">
                <a:cs typeface="Arial" panose="020B0604020202020204" pitchFamily="34" charset="0"/>
              </a:rPr>
              <a:t>/</a:t>
            </a:r>
            <a:r>
              <a:rPr lang="vi-VN" sz="1100" b="0" dirty="0" err="1">
                <a:cs typeface="Arial" panose="020B0604020202020204" pitchFamily="34" charset="0"/>
              </a:rPr>
              <a:t>ngày</a:t>
            </a:r>
            <a:r>
              <a:rPr lang="vi-VN" sz="1100" b="0" dirty="0">
                <a:cs typeface="Arial" panose="020B0604020202020204" pitchFamily="34" charset="0"/>
              </a:rPr>
              <a:t>, </a:t>
            </a:r>
            <a:r>
              <a:rPr lang="vi-VN" sz="1100" b="0" dirty="0" err="1">
                <a:cs typeface="Arial" panose="020B0604020202020204" pitchFamily="34" charset="0"/>
              </a:rPr>
              <a:t>dù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vẫn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thấp</a:t>
            </a:r>
            <a:r>
              <a:rPr lang="vi-VN" sz="1100" b="0" dirty="0">
                <a:cs typeface="Arial" panose="020B0604020202020204" pitchFamily="34" charset="0"/>
              </a:rPr>
              <a:t> hơn </a:t>
            </a:r>
            <a:r>
              <a:rPr lang="vi-VN" sz="1100" b="0" dirty="0" err="1">
                <a:cs typeface="Arial" panose="020B0604020202020204" pitchFamily="34" charset="0"/>
              </a:rPr>
              <a:t>khoảng</a:t>
            </a:r>
            <a:r>
              <a:rPr lang="vi-VN" sz="1100" b="0" dirty="0">
                <a:cs typeface="Arial" panose="020B0604020202020204" pitchFamily="34" charset="0"/>
              </a:rPr>
              <a:t> 7–8 </a:t>
            </a:r>
            <a:r>
              <a:rPr lang="vi-VN" sz="1100" b="0" dirty="0" err="1">
                <a:cs typeface="Arial" panose="020B0604020202020204" pitchFamily="34" charset="0"/>
              </a:rPr>
              <a:t>triệu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thùng</a:t>
            </a:r>
            <a:r>
              <a:rPr lang="vi-VN" sz="1100" b="0" dirty="0">
                <a:cs typeface="Arial" panose="020B0604020202020204" pitchFamily="34" charset="0"/>
              </a:rPr>
              <a:t> so </a:t>
            </a:r>
            <a:r>
              <a:rPr lang="vi-VN" sz="1100" b="0" dirty="0" err="1">
                <a:cs typeface="Arial" panose="020B0604020202020204" pitchFamily="34" charset="0"/>
              </a:rPr>
              <a:t>với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mức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trước</a:t>
            </a:r>
            <a:r>
              <a:rPr lang="vi-VN" sz="1100" b="0" dirty="0">
                <a:cs typeface="Arial" panose="020B0604020202020204" pitchFamily="34" charset="0"/>
              </a:rPr>
              <a:t> xung </a:t>
            </a:r>
            <a:r>
              <a:rPr lang="vi-VN" sz="1100" b="0" dirty="0" err="1">
                <a:cs typeface="Arial" panose="020B0604020202020204" pitchFamily="34" charset="0"/>
              </a:rPr>
              <a:t>đột</a:t>
            </a:r>
            <a:r>
              <a:rPr lang="vi-VN" sz="1100" b="0" dirty="0">
                <a:cs typeface="Arial" panose="020B0604020202020204" pitchFamily="34" charset="0"/>
              </a:rPr>
              <a:t>. Iran </a:t>
            </a:r>
            <a:r>
              <a:rPr lang="vi-VN" sz="1100" b="0" dirty="0" err="1">
                <a:cs typeface="Arial" panose="020B0604020202020204" pitchFamily="34" charset="0"/>
              </a:rPr>
              <a:t>và</a:t>
            </a:r>
            <a:r>
              <a:rPr lang="vi-VN" sz="1100" b="0" dirty="0">
                <a:cs typeface="Arial" panose="020B0604020202020204" pitchFamily="34" charset="0"/>
              </a:rPr>
              <a:t> Oman </a:t>
            </a:r>
            <a:r>
              <a:rPr lang="vi-VN" sz="1100" b="0" dirty="0" err="1">
                <a:cs typeface="Arial" panose="020B0604020202020204" pitchFamily="34" charset="0"/>
              </a:rPr>
              <a:t>cũng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đã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đạt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được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thỏa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thuận</a:t>
            </a:r>
            <a:r>
              <a:rPr lang="vi-VN" sz="1100" b="0" dirty="0">
                <a:cs typeface="Arial" panose="020B0604020202020204" pitchFamily="34" charset="0"/>
              </a:rPr>
              <a:t> chia </a:t>
            </a:r>
            <a:r>
              <a:rPr lang="vi-VN" sz="1100" b="0" dirty="0" err="1">
                <a:cs typeface="Arial" panose="020B0604020202020204" pitchFamily="34" charset="0"/>
              </a:rPr>
              <a:t>sẻ</a:t>
            </a:r>
            <a:r>
              <a:rPr lang="vi-VN" sz="1100" b="0" dirty="0">
                <a:cs typeface="Arial" panose="020B0604020202020204" pitchFamily="34" charset="0"/>
              </a:rPr>
              <a:t> doanh thu </a:t>
            </a:r>
            <a:r>
              <a:rPr lang="vi-VN" sz="1100" b="0" dirty="0" err="1">
                <a:cs typeface="Arial" panose="020B0604020202020204" pitchFamily="34" charset="0"/>
              </a:rPr>
              <a:t>đối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với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tuyến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hàng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hải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chiến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lược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này</a:t>
            </a:r>
            <a:r>
              <a:rPr lang="vi-VN" sz="1100" b="0" dirty="0">
                <a:cs typeface="Arial" panose="020B0604020202020204" pitchFamily="34" charset="0"/>
              </a:rPr>
              <a:t>. </a:t>
            </a:r>
            <a:endParaRPr lang="en-US" sz="1100" b="0" dirty="0"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100" b="0" dirty="0" err="1">
                <a:cs typeface="Arial" panose="020B0604020202020204" pitchFamily="34" charset="0"/>
              </a:rPr>
              <a:t>Dự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báo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quán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tính</a:t>
            </a:r>
            <a:r>
              <a:rPr lang="vi-VN" sz="1100" b="0" dirty="0">
                <a:cs typeface="Arial" panose="020B0604020202020204" pitchFamily="34" charset="0"/>
              </a:rPr>
              <a:t> tăng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cùng</a:t>
            </a:r>
            <a:r>
              <a:rPr lang="vi-VN" sz="1100" b="0" dirty="0">
                <a:cs typeface="Arial" panose="020B0604020202020204" pitchFamily="34" charset="0"/>
              </a:rPr>
              <a:t> thanh </a:t>
            </a:r>
            <a:r>
              <a:rPr lang="vi-VN" sz="1100" b="0" dirty="0" err="1">
                <a:cs typeface="Arial" panose="020B0604020202020204" pitchFamily="34" charset="0"/>
              </a:rPr>
              <a:t>khoản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cải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thiện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kỳ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vọng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sẽ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tiếp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tục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hỗ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trợ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thị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trường</a:t>
            </a:r>
            <a:r>
              <a:rPr lang="vi-VN" sz="1100" b="0" dirty="0">
                <a:cs typeface="Arial" panose="020B0604020202020204" pitchFamily="34" charset="0"/>
              </a:rPr>
              <a:t> duy </a:t>
            </a:r>
            <a:r>
              <a:rPr lang="vi-VN" sz="1100" b="0" dirty="0" err="1">
                <a:cs typeface="Arial" panose="020B0604020202020204" pitchFamily="34" charset="0"/>
              </a:rPr>
              <a:t>trì</a:t>
            </a:r>
            <a:r>
              <a:rPr lang="vi-VN" sz="1100" b="0" dirty="0">
                <a:cs typeface="Arial" panose="020B0604020202020204" pitchFamily="34" charset="0"/>
              </a:rPr>
              <a:t> xu </a:t>
            </a:r>
            <a:r>
              <a:rPr lang="vi-VN" sz="1100" b="0" dirty="0" err="1">
                <a:cs typeface="Arial" panose="020B0604020202020204" pitchFamily="34" charset="0"/>
              </a:rPr>
              <a:t>hướng</a:t>
            </a:r>
            <a:r>
              <a:rPr lang="vi-VN" sz="1100" b="0" dirty="0">
                <a:cs typeface="Arial" panose="020B0604020202020204" pitchFamily="34" charset="0"/>
              </a:rPr>
              <a:t> tăng </a:t>
            </a:r>
            <a:r>
              <a:rPr lang="vi-VN" sz="1100" b="0" dirty="0" err="1">
                <a:cs typeface="Arial" panose="020B0604020202020204" pitchFamily="34" charset="0"/>
              </a:rPr>
              <a:t>hướng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về</a:t>
            </a:r>
            <a:r>
              <a:rPr lang="vi-VN" sz="1100" b="0" dirty="0">
                <a:cs typeface="Arial" panose="020B0604020202020204" pitchFamily="34" charset="0"/>
              </a:rPr>
              <a:t> 1880 </a:t>
            </a:r>
            <a:r>
              <a:rPr lang="vi-VN" sz="1100" b="0" dirty="0" err="1">
                <a:cs typeface="Arial" panose="020B0604020202020204" pitchFamily="34" charset="0"/>
              </a:rPr>
              <a:t>điểm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trước</a:t>
            </a:r>
            <a:r>
              <a:rPr lang="vi-VN" sz="1100" b="0" dirty="0">
                <a:cs typeface="Arial" panose="020B0604020202020204" pitchFamily="34" charset="0"/>
              </a:rPr>
              <a:t> khi </a:t>
            </a:r>
            <a:r>
              <a:rPr lang="vi-VN" sz="1100" b="0" dirty="0" err="1">
                <a:cs typeface="Arial" panose="020B0604020202020204" pitchFamily="34" charset="0"/>
              </a:rPr>
              <a:t>có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nhịp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điều</a:t>
            </a:r>
            <a:r>
              <a:rPr lang="vi-VN" sz="1100" b="0" dirty="0">
                <a:cs typeface="Arial" panose="020B0604020202020204" pitchFamily="34" charset="0"/>
              </a:rPr>
              <a:t> </a:t>
            </a:r>
            <a:r>
              <a:rPr lang="vi-VN" sz="1100" b="0" dirty="0" err="1">
                <a:cs typeface="Arial" panose="020B0604020202020204" pitchFamily="34" charset="0"/>
              </a:rPr>
              <a:t>chỉnh</a:t>
            </a:r>
            <a:r>
              <a:rPr lang="vi-VN" sz="1100" b="0" dirty="0">
                <a:cs typeface="Arial" panose="020B0604020202020204" pitchFamily="34" charset="0"/>
              </a:rPr>
              <a:t>. </a:t>
            </a:r>
            <a:endParaRPr lang="vi-VN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vi-VN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578E1B08-BF77-124A-880E-8FCBA0C71676}"/>
              </a:ext>
            </a:extLst>
          </p:cNvPr>
          <p:cNvSpPr txBox="1">
            <a:spLocks/>
          </p:cNvSpPr>
          <p:nvPr/>
        </p:nvSpPr>
        <p:spPr>
          <a:xfrm>
            <a:off x="291437" y="349186"/>
            <a:ext cx="7991728" cy="3550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vi-VN" sz="1800" b="1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NHẬN ĐỊNH THỊ TRƯỜNG TUẦN 31/08/2026 – 04/09/2026</a:t>
            </a:r>
            <a:endParaRPr lang="en-AU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99392C-D4F1-51F2-AE95-76854FE8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680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0CF2F-2891-B675-F483-98B3FC69F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C42DA8-CC49-FACB-ED37-68E72B51C25C}"/>
              </a:ext>
            </a:extLst>
          </p:cNvPr>
          <p:cNvCxnSpPr/>
          <p:nvPr/>
        </p:nvCxnSpPr>
        <p:spPr>
          <a:xfrm flipV="1">
            <a:off x="261122" y="726334"/>
            <a:ext cx="11676878" cy="0"/>
          </a:xfrm>
          <a:prstGeom prst="line">
            <a:avLst/>
          </a:prstGeom>
          <a:ln>
            <a:solidFill>
              <a:srgbClr val="141E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5">
            <a:extLst>
              <a:ext uri="{FF2B5EF4-FFF2-40B4-BE49-F238E27FC236}">
                <a16:creationId xmlns:a16="http://schemas.microsoft.com/office/drawing/2014/main" id="{623AE942-9D6D-ED13-84E7-98B768A2EFD3}"/>
              </a:ext>
            </a:extLst>
          </p:cNvPr>
          <p:cNvSpPr txBox="1">
            <a:spLocks/>
          </p:cNvSpPr>
          <p:nvPr/>
        </p:nvSpPr>
        <p:spPr>
          <a:xfrm>
            <a:off x="291437" y="349186"/>
            <a:ext cx="7991728" cy="3550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DANH MỤC CỔ PHIẾU THEO DÕI</a:t>
            </a:r>
            <a:endParaRPr lang="en-AU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24FC048D-159C-5638-DF97-BF8F03F2A6E9}"/>
              </a:ext>
            </a:extLst>
          </p:cNvPr>
          <p:cNvSpPr txBox="1">
            <a:spLocks/>
          </p:cNvSpPr>
          <p:nvPr/>
        </p:nvSpPr>
        <p:spPr>
          <a:xfrm>
            <a:off x="261122" y="858133"/>
            <a:ext cx="11676878" cy="56506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vi-VN" sz="11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2486F2-7BBA-4111-65B4-16D124443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DA4063-CA1C-ACAF-5ED4-A58412D18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564090"/>
              </p:ext>
            </p:extLst>
          </p:nvPr>
        </p:nvGraphicFramePr>
        <p:xfrm>
          <a:off x="254000" y="800222"/>
          <a:ext cx="11649965" cy="5789639"/>
        </p:xfrm>
        <a:graphic>
          <a:graphicData uri="http://schemas.openxmlformats.org/drawingml/2006/table">
            <a:tbl>
              <a:tblPr/>
              <a:tblGrid>
                <a:gridCol w="665994">
                  <a:extLst>
                    <a:ext uri="{9D8B030D-6E8A-4147-A177-3AD203B41FA5}">
                      <a16:colId xmlns:a16="http://schemas.microsoft.com/office/drawing/2014/main" val="3609177296"/>
                    </a:ext>
                  </a:extLst>
                </a:gridCol>
                <a:gridCol w="941463">
                  <a:extLst>
                    <a:ext uri="{9D8B030D-6E8A-4147-A177-3AD203B41FA5}">
                      <a16:colId xmlns:a16="http://schemas.microsoft.com/office/drawing/2014/main" val="11533311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1170135006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694206273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1939204059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3710238209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237221063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633372328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4122321103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3938216600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2087766250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136835508"/>
                    </a:ext>
                  </a:extLst>
                </a:gridCol>
              </a:tblGrid>
              <a:tr h="24093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STT</a:t>
                      </a:r>
                    </a:p>
                  </a:txBody>
                  <a:tcPr marL="8844" marR="8844" marT="8844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đóng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cửa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Thay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đổi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</a:t>
                      </a: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PB</a:t>
                      </a: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với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P/E Trung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vị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năm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với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P/B Trung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vị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năm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982292"/>
                  </a:ext>
                </a:extLst>
              </a:tr>
              <a:tr h="1990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28/08/2026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tuần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tháng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nhất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52w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Thấp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nhất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52w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775102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8844" marR="8844" marT="8844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VNĐ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Lần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Lần</a:t>
                      </a:r>
                      <a:endParaRPr lang="en-US" sz="1200" b="0" i="1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18360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236.000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15,12%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39,15%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277,60%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90,66%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397,70%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0380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VPB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27.800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8,17%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13,01%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-18,93%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17,90%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-33,39%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-6,06%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72190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13.400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19,11%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-26,78%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-45,57%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21,82%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101,82%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-10,26%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37227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PVS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39.600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17,86%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-27,47%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50,25%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-49,25%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52811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17.400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-26,96%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-32,80%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-34,01%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-35,29%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3349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33.400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17,19%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-2,29%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-17,43%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18,82%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7,65%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5,60%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756186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PNJ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5,51%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28,94%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-34,27%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-50,28%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36,91%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-50,33%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-48,33%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18362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DXG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18,05%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-19,33%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-43,00%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103,08%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-14,40%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985760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-22,09%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-55,73%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-40,75%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-15,27%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85560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11.400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14,46%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-31,94%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-53,66%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17,65%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-79,34%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-51,61%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00432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VCI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22.850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-10,69%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-34,59%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23,85%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-23,66%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-31,56%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931769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VRE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22,54%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-19,69%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-37,73%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22,54%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-46,92%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-24,29%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64707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PVD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19.150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-28,98%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69,10%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-32,60%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13,19%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033898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SSI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21.350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2,89%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16,13%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-11,70%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-29,26%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21,41%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-27,51%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-24,58%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4912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GMD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79.500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34,11%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-3,07%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42,52%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-19,60%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798017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MCH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143.000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2,51%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-19,66%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-20,20%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86,94%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95,89%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25762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42.261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-13,95%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-33,13%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-39,03%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-47,01%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08850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HPG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-6,23%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-18,43%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8,60%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-41,84%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-15,92%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02514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HDG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16.650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-31,68%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-47,76%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-28,45%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-35,48%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682995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HDB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27.800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-6,40%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-6,40%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25,62%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9,92%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48956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22,27%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-7,56%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74,46%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-5,48%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46,20%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7353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VCB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60.100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11,09%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5,40%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-20,26%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-19,76%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-30,10%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114889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145.900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35,47%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-12,71%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-0,35%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-21,25%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85919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FPT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73.200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16,19%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-22,54%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-30,06%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17,68%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-36,84%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-36,36%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57839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IJC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7.410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1,65%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-27,26%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-44,93%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-32,68%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-42,16%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686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6005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19F68D-5A43-40F5-8D46-9A0989284A32}"/>
              </a:ext>
            </a:extLst>
          </p:cNvPr>
          <p:cNvCxnSpPr/>
          <p:nvPr/>
        </p:nvCxnSpPr>
        <p:spPr>
          <a:xfrm flipV="1">
            <a:off x="261122" y="726334"/>
            <a:ext cx="11676878" cy="0"/>
          </a:xfrm>
          <a:prstGeom prst="line">
            <a:avLst/>
          </a:prstGeom>
          <a:ln>
            <a:solidFill>
              <a:srgbClr val="141E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5">
            <a:extLst>
              <a:ext uri="{FF2B5EF4-FFF2-40B4-BE49-F238E27FC236}">
                <a16:creationId xmlns:a16="http://schemas.microsoft.com/office/drawing/2014/main" id="{578E1B08-BF77-124A-880E-8FCBA0C71676}"/>
              </a:ext>
            </a:extLst>
          </p:cNvPr>
          <p:cNvSpPr txBox="1">
            <a:spLocks/>
          </p:cNvSpPr>
          <p:nvPr/>
        </p:nvSpPr>
        <p:spPr>
          <a:xfrm>
            <a:off x="291437" y="349186"/>
            <a:ext cx="7991728" cy="3550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DANH MỤC CỔ PHIẾU THEO DÕI</a:t>
            </a:r>
            <a:endParaRPr lang="en-AU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E33D6793-C142-1267-CD98-44105357C7FC}"/>
              </a:ext>
            </a:extLst>
          </p:cNvPr>
          <p:cNvSpPr txBox="1">
            <a:spLocks/>
          </p:cNvSpPr>
          <p:nvPr/>
        </p:nvSpPr>
        <p:spPr>
          <a:xfrm>
            <a:off x="261122" y="858133"/>
            <a:ext cx="11676878" cy="56506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vi-VN" sz="11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F05E8C-AEDB-2F83-7F33-0859E3AE1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BBA8233-D1FC-43BF-8E94-2CA691EC0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221061"/>
              </p:ext>
            </p:extLst>
          </p:nvPr>
        </p:nvGraphicFramePr>
        <p:xfrm>
          <a:off x="254000" y="800222"/>
          <a:ext cx="11649965" cy="5789639"/>
        </p:xfrm>
        <a:graphic>
          <a:graphicData uri="http://schemas.openxmlformats.org/drawingml/2006/table">
            <a:tbl>
              <a:tblPr/>
              <a:tblGrid>
                <a:gridCol w="665994">
                  <a:extLst>
                    <a:ext uri="{9D8B030D-6E8A-4147-A177-3AD203B41FA5}">
                      <a16:colId xmlns:a16="http://schemas.microsoft.com/office/drawing/2014/main" val="3609177296"/>
                    </a:ext>
                  </a:extLst>
                </a:gridCol>
                <a:gridCol w="941463">
                  <a:extLst>
                    <a:ext uri="{9D8B030D-6E8A-4147-A177-3AD203B41FA5}">
                      <a16:colId xmlns:a16="http://schemas.microsoft.com/office/drawing/2014/main" val="11533311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1170135006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694206273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1939204059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3710238209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237221063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633372328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4122321103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3938216600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2087766250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136835508"/>
                    </a:ext>
                  </a:extLst>
                </a:gridCol>
              </a:tblGrid>
              <a:tr h="24093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STT</a:t>
                      </a:r>
                    </a:p>
                  </a:txBody>
                  <a:tcPr marL="8844" marR="8844" marT="8844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đóng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cửa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Thay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đổi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</a:t>
                      </a: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PB</a:t>
                      </a: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với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P/E Trung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vị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năm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với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P/B Trung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vị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năm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982292"/>
                  </a:ext>
                </a:extLst>
              </a:tr>
              <a:tr h="1990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28/08/2026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tuần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tháng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nhất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52w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Thấp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nhất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52w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775102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8844" marR="8844" marT="8844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VNĐ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Lần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Lần</a:t>
                      </a:r>
                      <a:endParaRPr lang="en-US" sz="1200" b="0" i="1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18360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43.350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21,94%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-28,64%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-44,88%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23,86%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-27,33%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-45,11%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0380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14.950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-11,16%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-31,29%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5,65%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-5,77%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-26,39%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72190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NLG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24.300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17,96%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-18,66%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-38,29%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21,50%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-19,00%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-40,13%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37227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KDH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18.200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7,37%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-42,22%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-50,81%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-58,26%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-44,72%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52811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75.500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30,17%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64,13%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412,02%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70,68%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3349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8,91%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-10,60%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-4,08%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756186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84.200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16,30%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-34,58%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18362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PDR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12.400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-34,04%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-52,85%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-27,32%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-44,32%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985760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GVR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32.350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22,77%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23,47%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-29,29%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-29,81%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85560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26.450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26,56%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-12,04%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-41,36%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30,30%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3,89%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00432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VCG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-20,32%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-37,04%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-80,04%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-37,58%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931769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70.200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-8,83%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-20,68%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9,86%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-66,50%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-32,63%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64707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20.700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-3,27%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-8,20%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-33,97%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17,28%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-58,42%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-19,62%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033898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62.800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-13,24%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-32,32%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13,97%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-58,50%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-6,41%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4912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HSG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10.900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4,31%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-10,03%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-32,36%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-26,00%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798017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NKG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10.950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-18,89%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-39,47%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-25,26%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25762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17.200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-33,07%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-46,73%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-70,22%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-26,54%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08850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KBC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27.400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-22,49%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-33,41%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18,87%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-20,77%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02514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14.700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13,08%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-29,67%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-51,57%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16,21%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107,3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156,60%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682995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MWG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16,82%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-13,84%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-18,71%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-48,31%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-10,14%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48956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DGC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-0,12%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17,01%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-37,23%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-55,12%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19,44%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-30,30%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-64,97%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7353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36.850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-27,59%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13,46%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-26,96%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-27,80%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114889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22.650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-4,92%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21,14%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21,07%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-7,04%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85919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EIB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17.300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-18,78%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-42,72%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334,63%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-20,26%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57839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31.950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10,17%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-9,25%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-21,82%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-28,76%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-10,07%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686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331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EB6B6-4C21-BB2C-0DCA-53F6BA9DC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F08F11E-ED6A-DABE-4118-1E1609DB07F7}"/>
              </a:ext>
            </a:extLst>
          </p:cNvPr>
          <p:cNvCxnSpPr/>
          <p:nvPr/>
        </p:nvCxnSpPr>
        <p:spPr>
          <a:xfrm flipV="1">
            <a:off x="261122" y="726334"/>
            <a:ext cx="11676878" cy="0"/>
          </a:xfrm>
          <a:prstGeom prst="line">
            <a:avLst/>
          </a:prstGeom>
          <a:ln>
            <a:solidFill>
              <a:srgbClr val="141E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5">
            <a:extLst>
              <a:ext uri="{FF2B5EF4-FFF2-40B4-BE49-F238E27FC236}">
                <a16:creationId xmlns:a16="http://schemas.microsoft.com/office/drawing/2014/main" id="{50C06C6F-9E47-2E51-CCE2-125829A70D57}"/>
              </a:ext>
            </a:extLst>
          </p:cNvPr>
          <p:cNvSpPr txBox="1">
            <a:spLocks/>
          </p:cNvSpPr>
          <p:nvPr/>
        </p:nvSpPr>
        <p:spPr>
          <a:xfrm>
            <a:off x="291437" y="349186"/>
            <a:ext cx="7991728" cy="3550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5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141ED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DANH MỤC CỔ PHIẾU THEO DÕI</a:t>
            </a:r>
            <a:endParaRPr lang="en-AU" sz="1800" b="1" dirty="0">
              <a:solidFill>
                <a:srgbClr val="141ED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E555233-330D-C30B-8BEA-B65C630650DB}"/>
              </a:ext>
            </a:extLst>
          </p:cNvPr>
          <p:cNvSpPr txBox="1">
            <a:spLocks/>
          </p:cNvSpPr>
          <p:nvPr/>
        </p:nvSpPr>
        <p:spPr>
          <a:xfrm>
            <a:off x="261122" y="858133"/>
            <a:ext cx="11676878" cy="56506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vi-VN" sz="11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23904C-FBE6-E09A-DD1A-2006ECC4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EBE-3F66-4987-8598-90D38544136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A6A812-72CB-162F-0BBD-281F70701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55752"/>
              </p:ext>
            </p:extLst>
          </p:nvPr>
        </p:nvGraphicFramePr>
        <p:xfrm>
          <a:off x="254000" y="800222"/>
          <a:ext cx="11649965" cy="4794619"/>
        </p:xfrm>
        <a:graphic>
          <a:graphicData uri="http://schemas.openxmlformats.org/drawingml/2006/table">
            <a:tbl>
              <a:tblPr/>
              <a:tblGrid>
                <a:gridCol w="665994">
                  <a:extLst>
                    <a:ext uri="{9D8B030D-6E8A-4147-A177-3AD203B41FA5}">
                      <a16:colId xmlns:a16="http://schemas.microsoft.com/office/drawing/2014/main" val="3609177296"/>
                    </a:ext>
                  </a:extLst>
                </a:gridCol>
                <a:gridCol w="941463">
                  <a:extLst>
                    <a:ext uri="{9D8B030D-6E8A-4147-A177-3AD203B41FA5}">
                      <a16:colId xmlns:a16="http://schemas.microsoft.com/office/drawing/2014/main" val="11533311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1170135006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694206273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1939204059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3710238209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237221063"/>
                    </a:ext>
                  </a:extLst>
                </a:gridCol>
                <a:gridCol w="1013639">
                  <a:extLst>
                    <a:ext uri="{9D8B030D-6E8A-4147-A177-3AD203B41FA5}">
                      <a16:colId xmlns:a16="http://schemas.microsoft.com/office/drawing/2014/main" val="633372328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4122321103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3938216600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2087766250"/>
                    </a:ext>
                  </a:extLst>
                </a:gridCol>
                <a:gridCol w="968147">
                  <a:extLst>
                    <a:ext uri="{9D8B030D-6E8A-4147-A177-3AD203B41FA5}">
                      <a16:colId xmlns:a16="http://schemas.microsoft.com/office/drawing/2014/main" val="136835508"/>
                    </a:ext>
                  </a:extLst>
                </a:gridCol>
              </a:tblGrid>
              <a:tr h="24093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STT</a:t>
                      </a:r>
                    </a:p>
                  </a:txBody>
                  <a:tcPr marL="8844" marR="8844" marT="8844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đóng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cửa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Thay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đổi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</a:t>
                      </a: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PB</a:t>
                      </a: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với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P/E Trung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vị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năm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với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P/B Trung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vị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năm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982292"/>
                  </a:ext>
                </a:extLst>
              </a:tr>
              <a:tr h="1990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28/08/2026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tuần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tháng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YTD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Cao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nhất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52w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Thấp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nhất</a:t>
                      </a: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52w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775102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8844" marR="8844" marT="8844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VNĐ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Lần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Lần</a:t>
                      </a:r>
                      <a:endParaRPr lang="en-US" sz="1200" b="0" i="1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844" marR="8844" marT="8844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18360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-14,87%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-29,62%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-25,57%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-8,63%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0380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DPM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22.000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-0,90%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5,60%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-30,89%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-33,41%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1,54%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72190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26.600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-0,93%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10,93%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67,09%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-28,93%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99,27%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-27,62%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44,35%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37227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HCM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26.050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37,16%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58,19%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14,33%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18,81%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52811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HHV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10.050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-19,75%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-35,48%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2,55%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-35,36%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-41,38%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3349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TPB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14.650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-1,01%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-14,33%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-28,45%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5,40%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-26,78%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-25,21%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756186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45.550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-1,19%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-12,74%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-26,95%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-15,32%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-22,02%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18362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PVT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20.200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-1,22%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21,32%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-27,62%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33,85%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-16,67%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-5,88%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985760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BVB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12.050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-9,14%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-27,14%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-54,38%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-8,49%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855603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VND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16.650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-11,92%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-36,08%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19,80%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-20,02%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-18,06%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00432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32.500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-28,10%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15,55%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-35,43%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-37,38%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931769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VGC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40.450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-1,58%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13,15%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-27,79%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15,90%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-23,99%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-15,29%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64707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52.100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-3,16%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-7,13%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-24,71%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-22,03%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-32,95%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033898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DCM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30.850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-35,00%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-41,62%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-21,11%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4912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DGW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42.200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-1,86%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24,30%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-22,81%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27,30%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-39,53%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-24,17%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798017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NVL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13.050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-2,25%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5,09%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-31,56%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33,61%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-41,88%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-16,67%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73534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VNM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62.300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-2,35%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-12,34%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16,98%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-23,11%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-8,71%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114889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45.600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-2,56%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5,68%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-9,24%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15,49%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-33,73%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-3,86%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85919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POW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-3,68%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-20,85%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-68,02%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-3,00%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578391"/>
                  </a:ext>
                </a:extLst>
              </a:tr>
              <a:tr h="199004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-4,48%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14,83%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6,37%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-45,97%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15,01%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14,3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-31,64%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V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-8,21%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686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094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87591</TotalTime>
  <Words>3464</Words>
  <Application>Microsoft Office PowerPoint</Application>
  <PresentationFormat>Widescreen</PresentationFormat>
  <Paragraphs>1310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Dương Thiện Chí</dc:creator>
  <cp:lastModifiedBy>Đặng Việt Long</cp:lastModifiedBy>
  <cp:revision>3869</cp:revision>
  <dcterms:created xsi:type="dcterms:W3CDTF">2020-03-18T03:42:50Z</dcterms:created>
  <dcterms:modified xsi:type="dcterms:W3CDTF">2026-08-28T11:05:24Z</dcterms:modified>
</cp:coreProperties>
</file>