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703" autoAdjust="0"/>
    <p:restoredTop sz="93909"/>
  </p:normalViewPr>
  <p:slideViewPr>
    <p:cSldViewPr snapToGrid="0">
      <p:cViewPr varScale="1">
        <p:scale>
          <a:sx n="156" d="100"/>
          <a:sy n="156" d="100"/>
        </p:scale>
        <p:origin x="840" y="184"/>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8/21/2026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8/21/2026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1384995"/>
          </a:xfrm>
          <a:prstGeom prst="rect">
            <a:avLst/>
          </a:prstGeom>
          <a:noFill/>
          <a:ln w="15875">
            <a:solidFill>
              <a:srgbClr val="141ED2"/>
            </a:solidFill>
          </a:ln>
        </p:spPr>
        <p:txBody>
          <a:bodyPr wrap="square" rtlCol="0">
            <a:spAutoFit/>
          </a:bodyPr>
          <a:lstStyle/>
          <a:p>
            <a:r>
              <a:rPr lang="en-US" sz="2800" dirty="0">
                <a:solidFill>
                  <a:srgbClr val="141ED2"/>
                </a:solidFill>
                <a:ea typeface="Tahoma" panose="020B0604030504040204" pitchFamily="34" charset="0"/>
                <a:cs typeface="Times New Roman" panose="02020603050405020304" pitchFamily="18" charset="0"/>
              </a:rPr>
              <a:t>BÁO CÁO TUẦN</a:t>
            </a:r>
          </a:p>
          <a:p>
            <a:r>
              <a:rPr lang="vi-VN" sz="2800" b="1">
                <a:solidFill>
                  <a:srgbClr val="141ED2"/>
                </a:solidFill>
                <a:ea typeface="Tahoma" panose="020B0604030504040204" pitchFamily="34" charset="0"/>
                <a:cs typeface="Times New Roman" panose="02020603050405020304" pitchFamily="18" charset="0"/>
              </a:rPr>
              <a:t>NHẬN ĐỊNH THỊ TRƯỜNG TUẦN 24/08/2026 – 28/08/2026</a:t>
            </a:r>
            <a:endParaRPr lang="en-AU" sz="2800" b="1" dirty="0">
              <a:solidFill>
                <a:srgbClr val="141ED2"/>
              </a:solidFill>
              <a:ea typeface="Tahom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rPr>
              <a:pPr/>
              <a:t>1</a:t>
            </a:fld>
            <a:endParaRPr lang="en-GB">
              <a:solidFill>
                <a:srgbClr val="313131"/>
              </a:solidFill>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ea typeface="Tahoma" panose="020B0604030504040204" pitchFamily="34" charset="0"/>
                <a:cs typeface="Times New Roman" panose="02020603050405020304" pitchFamily="18" charset="0"/>
              </a:rPr>
              <a:t>MỤC LỤC</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4253537"/>
          </a:xfrm>
          <a:prstGeom prst="rect">
            <a:avLst/>
          </a:prstGeom>
          <a:noFill/>
        </p:spPr>
        <p:txBody>
          <a:bodyPr wrap="square" rtlCol="0">
            <a:spAutoFit/>
          </a:bodyPr>
          <a:lstStyle/>
          <a:p>
            <a:pPr>
              <a:lnSpc>
                <a:spcPct val="150000"/>
              </a:lnSpc>
            </a:pPr>
            <a:r>
              <a:rPr lang="vi-VN" sz="1400" b="1">
                <a:solidFill>
                  <a:srgbClr val="141ED2"/>
                </a:solidFill>
                <a:latin typeface="+mj-lt"/>
                <a:cs typeface="Times New Roman" panose="02020603050405020304" pitchFamily="18" charset="0"/>
              </a:rPr>
              <a:t>DIỄN BIẾN THỊ TRƯỜNG TUẦN 17/08 – 21/08/2026</a:t>
            </a:r>
          </a:p>
          <a:p>
            <a:pPr>
              <a:lnSpc>
                <a:spcPct val="150000"/>
              </a:lnSpc>
            </a:pP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a:solidFill>
                  <a:srgbClr val="141ED2"/>
                </a:solidFill>
                <a:latin typeface="+mj-lt"/>
                <a:cs typeface="Times New Roman" panose="02020603050405020304" pitchFamily="18" charset="0"/>
              </a:rPr>
              <a:t>Xu h</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ớng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và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rộng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thị</a:t>
            </a:r>
            <a:r>
              <a:rPr lang="en-US" sz="1400" b="1" dirty="0">
                <a:solidFill>
                  <a:srgbClr val="141ED2"/>
                </a:solidFill>
                <a:latin typeface="+mj-lt"/>
                <a:cs typeface="Times New Roman" panose="02020603050405020304" pitchFamily="18" charset="0"/>
              </a:rPr>
              <a:t> tr</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ờng</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Biến</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ngành</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Giao</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dịch</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đầu</a:t>
            </a:r>
            <a:r>
              <a:rPr lang="en-US" sz="1400" b="1" dirty="0">
                <a:solidFill>
                  <a:srgbClr val="141ED2"/>
                </a:solidFill>
                <a:latin typeface="+mj-lt"/>
                <a:cs typeface="Times New Roman" panose="02020603050405020304" pitchFamily="18" charset="0"/>
              </a:rPr>
              <a:t> t</a:t>
            </a:r>
            <a:r>
              <a:rPr lang="vi-VN" sz="1400" b="1" dirty="0">
                <a:solidFill>
                  <a:srgbClr val="141ED2"/>
                </a:solidFill>
                <a:latin typeface="+mj-lt"/>
                <a:cs typeface="Times New Roman" panose="02020603050405020304" pitchFamily="18" charset="0"/>
              </a:rPr>
              <a:t>ư</a:t>
            </a:r>
            <a:endParaRPr lang="en-US" sz="1400" b="1" dirty="0">
              <a:solidFill>
                <a:srgbClr val="141ED2"/>
              </a:solidFill>
              <a:latin typeface="+mj-lt"/>
              <a:cs typeface="Times New Roman" panose="02020603050405020304" pitchFamily="18" charset="0"/>
            </a:endParaRPr>
          </a:p>
          <a:p>
            <a:pPr>
              <a:lnSpc>
                <a:spcPct val="150000"/>
              </a:lnSpc>
            </a:pPr>
            <a:r>
              <a:rPr lang="en-US" sz="1400" b="1">
                <a:solidFill>
                  <a:srgbClr val="141ED2"/>
                </a:solidFill>
                <a:latin typeface="+mj-lt"/>
                <a:cs typeface="Times New Roman" panose="02020603050405020304" pitchFamily="18" charset="0"/>
              </a:rPr>
              <a:t>CÁC SỰ KIỆN DIỄN RA TRONG TUẦN 24/08/2026 – 28/08/2026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vi-VN" sz="1400" b="1">
                <a:solidFill>
                  <a:srgbClr val="141ED2"/>
                </a:solidFill>
                <a:latin typeface="+mj-lt"/>
                <a:cs typeface="Times New Roman" panose="02020603050405020304" pitchFamily="18" charset="0"/>
              </a:rPr>
              <a:t>NHẬN ĐỊNH XU HƯỚNG THỊ TRƯỜNG TUẦN 24/08/2026 – 28/08/2026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NHẬN ĐỊNH XU H</a:t>
            </a:r>
            <a:r>
              <a:rPr lang="vi-VN" sz="1400" b="1" dirty="0">
                <a:solidFill>
                  <a:srgbClr val="141ED2"/>
                </a:solidFill>
                <a:latin typeface="+mj-lt"/>
                <a:cs typeface="Times New Roman" panose="02020603050405020304" pitchFamily="18" charset="0"/>
              </a:rPr>
              <a:t>Ư</a:t>
            </a:r>
            <a:r>
              <a:rPr lang="en-US" sz="1400" b="1" dirty="0">
                <a:solidFill>
                  <a:srgbClr val="141ED2"/>
                </a:solidFill>
                <a:latin typeface="+mj-lt"/>
                <a:cs typeface="Times New Roman" panose="02020603050405020304" pitchFamily="18" charset="0"/>
              </a:rPr>
              <a:t>ỚNG THỊ TR</a:t>
            </a:r>
            <a:r>
              <a:rPr lang="vi-VN" sz="1400" b="1" dirty="0">
                <a:solidFill>
                  <a:srgbClr val="141ED2"/>
                </a:solidFill>
                <a:latin typeface="+mj-lt"/>
                <a:cs typeface="Times New Roman" panose="02020603050405020304" pitchFamily="18" charset="0"/>
              </a:rPr>
              <a:t>Ư</a:t>
            </a:r>
            <a:r>
              <a:rPr lang="en-US" sz="1400" b="1" dirty="0">
                <a:solidFill>
                  <a:srgbClr val="141ED2"/>
                </a:solidFill>
                <a:latin typeface="+mj-lt"/>
                <a:cs typeface="Times New Roman" panose="02020603050405020304" pitchFamily="18" charset="0"/>
              </a:rPr>
              <a:t>ỜNG TUẦN 03/08 – 07/08/2026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DANH MỤC CỔ PHIẾU CẦN </a:t>
            </a:r>
            <a:r>
              <a:rPr lang="en-US" sz="1400" b="1">
                <a:solidFill>
                  <a:srgbClr val="141ED2"/>
                </a:solidFill>
                <a:latin typeface="+mj-lt"/>
                <a:cs typeface="Times New Roman" panose="02020603050405020304" pitchFamily="18" charset="0"/>
              </a:rPr>
              <a:t>THEO DÕI</a:t>
            </a:r>
            <a:endParaRPr lang="en-US" sz="1400" b="1" dirty="0">
              <a:solidFill>
                <a:srgbClr val="141ED2"/>
              </a:solidFill>
              <a:latin typeface="+mj-lt"/>
              <a:cs typeface="Times New Roman" panose="02020603050405020304" pitchFamily="18" charset="0"/>
            </a:endParaRP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t>2</a:t>
            </a:fld>
            <a:endParaRPr lang="en-US"/>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17/08 – 21/08/2026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Xu h</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ớng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và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độ</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rộng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thị</a:t>
            </a:r>
            <a:r>
              <a:rPr lang="en-US" sz="1400" b="1" dirty="0">
                <a:solidFill>
                  <a:srgbClr val="141ED2"/>
                </a:solidFill>
                <a:latin typeface="+mj-lt"/>
                <a:ea typeface="Tahoma" panose="020B0604030504040204" pitchFamily="34" charset="0"/>
                <a:cs typeface="Tahoma" panose="020B0604030504040204" pitchFamily="34" charset="0"/>
              </a:rPr>
              <a:t> tr</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ờng</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50000"/>
              </a:lnSpc>
              <a:spcBef>
                <a:spcPct val="0"/>
              </a:spcBef>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dirty="0">
                <a:solidFill>
                  <a:schemeClr val="tx1"/>
                </a:solidFill>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Dự báo VNINDEX sẽ dao động chủ yếu trong vùng 1.680 – 1.740 điểm trong tuần sau. </a:t>
            </a:r>
          </a:p>
          <a:p>
            <a:pPr marL="171450" indent="-171450" algn="just">
              <a:lnSpc>
                <a:spcPct val="150000"/>
              </a:lnSpc>
              <a:buFont typeface="Arial" panose="020B0604020202020204" pitchFamily="34" charset="0"/>
              <a:buChar char="•"/>
            </a:pPr>
            <a:r>
              <a:rPr lang="vi-VN" sz="1100" dirty="0">
                <a:solidFill>
                  <a:schemeClr val="tx1"/>
                </a:solidFill>
              </a:rPr>
              <a:t>Xét về đóng góp của nhóm Vingroup vào chỉ số, từ đầu năm 2025 tới hiện tại, nhóm Vingroup đã đóng góp tăng 437 điểm trong tổng mức tăng 469 điểm của VNINDEX, tương ứng 93% mức tăng của chỉ số và cho thấy phần còn lại của thị trường chỉ tăng 32 điểm so với cuối năm 2024. Trong tháng 7, nhóm Vingroup đóng góp giảm 19 điểm so với mức giảm 124 điểm của VNINDEX. Riêng trong tuần này, nhóm Vingroup đóng góp tăng 21 điểm, tương đương khoảng 41% mức tăng của chỉ số. Nếu không tính nhóm Vingroup, VNINDEX hiện tại ở mức 1.299 điểm, tăng 29 điểm so với tuần trước.</a:t>
            </a:r>
          </a:p>
          <a:p>
            <a:pPr marL="171450" indent="-171450" algn="just">
              <a:lnSpc>
                <a:spcPct val="150000"/>
              </a:lnSpc>
              <a:buFont typeface="Arial" panose="020B0604020202020204" pitchFamily="34" charset="0"/>
              <a:buChar char="•"/>
            </a:pPr>
            <a:endParaRPr lang="en-US" sz="1100" dirty="0">
              <a:solidFill>
                <a:schemeClr val="tx1"/>
              </a:solidFill>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rPr>
              <a:pPr/>
              <a:t>3</a:t>
            </a:fld>
            <a:endParaRPr lang="en-GB">
              <a:solidFill>
                <a:srgbClr val="313131"/>
              </a:solidFill>
            </a:endParaRPr>
          </a:p>
        </p:txBody>
      </p:sp>
      <p:pic>
        <p:nvPicPr>
          <p:cNvPr id="5" name="Chart 6">
            <a:extLst>
              <a:ext uri="{FF2B5EF4-FFF2-40B4-BE49-F238E27FC236}">
                <a16:creationId xmlns:a16="http://schemas.microsoft.com/office/drawing/2014/main" id="{96E455F8-FCDE-4004-BEC8-015FF19B56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757280" y="3677493"/>
            <a:ext cx="4248526" cy="2878911"/>
          </a:xfrm>
          <a:prstGeom prst="rect">
            <a:avLst/>
          </a:prstGeom>
        </p:spPr>
      </p:pic>
      <p:pic>
        <p:nvPicPr>
          <p:cNvPr id="7" name="Picture 1">
            <a:extLst>
              <a:ext uri="{FF2B5EF4-FFF2-40B4-BE49-F238E27FC236}">
                <a16:creationId xmlns:a16="http://schemas.microsoft.com/office/drawing/2014/main" id="{0ED1ECC1-2845-4194-982F-B849A28EE54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757281" y="763728"/>
            <a:ext cx="4248525" cy="2913765"/>
          </a:xfrm>
          <a:prstGeom prst="rect">
            <a:avLst/>
          </a:prstGeom>
        </p:spPr>
      </p:pic>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17/08 – 21/08/2026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Biến động các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ngành</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60000"/>
              </a:lnSpc>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Xét về các nhóm ngành, sắc xanh chiếm ưu thế trong tuần với 14/18 nhóm ngành cấp 2 tăng giá và 4/18 nhóm ngành giảm giá. Công nghệ Thông tin và Tài nguyên Cơ bản dẫn đầu, cùng tăng gần 5,9%. Ở chiều ngược lại, Truyền thông và Bán lẻ là hai nhóm diễn biến kém tích cực nhất, lần lượt giảm 3,2% và 3,0%.</a:t>
            </a:r>
          </a:p>
          <a:p>
            <a:pPr marL="171450" indent="-171450" algn="just">
              <a:lnSpc>
                <a:spcPct val="150000"/>
              </a:lnSpc>
              <a:buFont typeface="Arial" panose="020B0604020202020204" pitchFamily="34" charset="0"/>
              <a:buChar char="•"/>
            </a:pPr>
            <a:r>
              <a:rPr lang="vi-VN" sz="1100" dirty="0">
                <a:solidFill>
                  <a:schemeClr val="tx1"/>
                </a:solidFill>
              </a:rPr>
              <a:t>Đà phục hồi đã lan tỏa tương đối rộng giữa các nhóm ngành, trong đó FPT và HPG là hai cổ phiếu vốn hóa lớn nổi bật, góp phần dẫn dắt Công nghệ Thông tin và Tài nguyên Cơ bản. Tuy nhiên, xung lực thị trường có dấu hiệu suy yếu trong phiên cuối tuần khi chỉ còn 7/18 nhóm ngành tăng giá. Đồng thời, xét trong một tháng, 17/18 nhóm ngành vẫn ghi nhận mức giảm, cho thấy nhịp tăng tuần này chủ yếu mang tính phục hồi ngắn hạn và chưa đủ để xác nhận sự đảo chiều của xu hướng.</a:t>
            </a: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1333641318"/>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rPr>
                        <a:t>Ngành</a:t>
                      </a:r>
                      <a:endParaRPr lang="en-US" sz="1000" b="1" i="0" u="none" strike="noStrike" dirty="0">
                        <a:solidFill>
                          <a:srgbClr val="FFFFFF"/>
                        </a:solidFill>
                        <a:effectLst/>
                        <a:latin typeface="+mj-lt"/>
                      </a:endParaRPr>
                    </a:p>
                  </a:txBody>
                  <a:tcPr marL="18000" marR="9525" marT="18000" marB="0" anchor="ctr"/>
                </a:tc>
                <a:tc gridSpan="3">
                  <a:txBody>
                    <a:bodyPr/>
                    <a:lstStyle/>
                    <a:p>
                      <a:pPr algn="ctr" fontAlgn="ctr"/>
                      <a:r>
                        <a:rPr lang="en-US" sz="1000" b="1" u="none" strike="noStrike" dirty="0">
                          <a:solidFill>
                            <a:srgbClr val="FFFFFF"/>
                          </a:solidFill>
                          <a:effectLst/>
                        </a:rPr>
                        <a:t>% Thay </a:t>
                      </a:r>
                      <a:r>
                        <a:rPr lang="en-US" sz="1000" b="1" u="none" strike="noStrike" dirty="0" err="1">
                          <a:solidFill>
                            <a:srgbClr val="FFFFFF"/>
                          </a:solidFill>
                          <a:effectLst/>
                        </a:rPr>
                        <a:t>đổi</a:t>
                      </a:r>
                      <a:r>
                        <a:rPr lang="en-US" sz="1000" b="1" u="none" strike="noStrike" dirty="0">
                          <a:solidFill>
                            <a:srgbClr val="FFFFFF"/>
                          </a:solidFill>
                          <a:effectLst/>
                        </a:rPr>
                        <a:t> </a:t>
                      </a:r>
                      <a:r>
                        <a:rPr lang="en-US" sz="1000" b="1" u="none" strike="noStrike" dirty="0" err="1">
                          <a:solidFill>
                            <a:srgbClr val="FFFFFF"/>
                          </a:solidFill>
                          <a:effectLst/>
                        </a:rPr>
                        <a:t>giá</a:t>
                      </a:r>
                      <a:endParaRPr lang="en-US" sz="1000" b="1" i="0" u="none" strike="noStrike" dirty="0">
                        <a:solidFill>
                          <a:srgbClr val="FFFFFF"/>
                        </a:solidFill>
                        <a:effectLst/>
                        <a:latin typeface="Trebuchet MS" panose="020B0603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ngày</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tuần</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mj-lt"/>
                        </a:rPr>
                        <a:t>1 </a:t>
                      </a:r>
                      <a:r>
                        <a:rPr lang="en-US" sz="1000" b="1" i="0" u="none" strike="noStrike" dirty="0" err="1">
                          <a:solidFill>
                            <a:schemeClr val="bg1"/>
                          </a:solidFill>
                          <a:effectLst/>
                          <a:latin typeface="+mj-lt"/>
                        </a:rPr>
                        <a:t>tháng</a:t>
                      </a:r>
                      <a:endParaRPr lang="en-US" sz="1000" b="1" i="0" u="none" strike="noStrike" dirty="0">
                        <a:solidFill>
                          <a:schemeClr val="bg1"/>
                        </a:solidFill>
                        <a:effectLst/>
                        <a:latin typeface="+mj-lt"/>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r>
                        <a:rPr lang="en-US" sz="1100" b="0" i="0" u="none" strike="noStrike">
                          <a:solidFill>
                            <a:srgbClr val="000000"/>
                          </a:solidFill>
                          <a:effectLst/>
                          <a:latin typeface="Calibri" panose="020F0502020204030204" pitchFamily="34" charset="0"/>
                        </a:rPr>
                        <a:t>Dầu khí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-0,42%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6,31%</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16,94%</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r>
                        <a:rPr lang="vi-VN" sz="1100" b="0" i="0" u="none" strike="noStrike">
                          <a:solidFill>
                            <a:srgbClr val="000000"/>
                          </a:solidFill>
                          <a:effectLst/>
                          <a:latin typeface="Calibri" panose="020F0502020204030204" pitchFamily="34" charset="0"/>
                        </a:rPr>
                        <a:t>Điện, nước &amp; xăng dầu khí đốt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0,41%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12,85%</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r>
                        <a:rPr lang="en-US" sz="1100" b="0" i="0" u="none" strike="noStrike">
                          <a:solidFill>
                            <a:srgbClr val="000000"/>
                          </a:solidFill>
                          <a:effectLst/>
                          <a:latin typeface="Calibri" panose="020F0502020204030204" pitchFamily="34" charset="0"/>
                        </a:rPr>
                        <a:t>Công nghệ Thông tin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9,86%</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r>
                        <a:rPr lang="pt-BR" sz="1100" b="0" i="0" u="none" strike="noStrike">
                          <a:solidFill>
                            <a:srgbClr val="000000"/>
                          </a:solidFill>
                          <a:effectLst/>
                          <a:latin typeface="Calibri" panose="020F0502020204030204" pitchFamily="34" charset="0"/>
                        </a:rPr>
                        <a:t>Hàng cá nhân &amp; Gia dụng</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3,64%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4,68%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5,11%</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r>
                        <a:rPr lang="en-US" sz="1100" b="0" i="0" u="none" strike="noStrike">
                          <a:solidFill>
                            <a:srgbClr val="000000"/>
                          </a:solidFill>
                          <a:effectLst/>
                          <a:latin typeface="Calibri" panose="020F0502020204030204" pitchFamily="34" charset="0"/>
                        </a:rPr>
                        <a:t>Dịch vụ tài chính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4,13%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3,73%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3,00%</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r>
                        <a:rPr lang="en-US" sz="1100" b="0" i="0" u="none" strike="noStrike">
                          <a:solidFill>
                            <a:srgbClr val="000000"/>
                          </a:solidFill>
                          <a:effectLst/>
                          <a:latin typeface="Calibri" panose="020F0502020204030204" pitchFamily="34" charset="0"/>
                        </a:rPr>
                        <a:t>Bất động sản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-1,60%</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r>
                        <a:rPr lang="en-US" sz="1100" b="0" i="0" u="none" strike="noStrike">
                          <a:solidFill>
                            <a:srgbClr val="000000"/>
                          </a:solidFill>
                          <a:effectLst/>
                          <a:latin typeface="Calibri" panose="020F0502020204030204" pitchFamily="34" charset="0"/>
                        </a:rPr>
                        <a:t>Thực phẩm và đồ uống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5,33%</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r>
                        <a:rPr lang="en-US" sz="1100" b="0" i="0" u="none" strike="noStrike">
                          <a:solidFill>
                            <a:srgbClr val="000000"/>
                          </a:solidFill>
                          <a:effectLst/>
                          <a:latin typeface="Calibri" panose="020F0502020204030204" pitchFamily="34" charset="0"/>
                        </a:rPr>
                        <a:t>Hóa chất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12,21%</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r>
                        <a:rPr lang="en-US" sz="1100" b="0" i="0" u="none" strike="noStrike">
                          <a:solidFill>
                            <a:srgbClr val="000000"/>
                          </a:solidFill>
                          <a:effectLst/>
                          <a:latin typeface="Calibri" panose="020F0502020204030204" pitchFamily="34" charset="0"/>
                        </a:rPr>
                        <a:t>Hàng &amp; Dịch vụ Công nghiệp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6,29%</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r>
                        <a:rPr lang="vi-VN" sz="1100" b="0" i="0" u="none" strike="noStrike">
                          <a:solidFill>
                            <a:srgbClr val="000000"/>
                          </a:solidFill>
                          <a:effectLst/>
                          <a:latin typeface="Calibri" panose="020F0502020204030204" pitchFamily="34" charset="0"/>
                        </a:rPr>
                        <a:t>Tài nguyên Cơ bản</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4,18%</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r>
                        <a:rPr lang="en-US" sz="1100" b="0" i="0" u="none" strike="noStrike">
                          <a:solidFill>
                            <a:srgbClr val="000000"/>
                          </a:solidFill>
                          <a:effectLst/>
                          <a:latin typeface="Calibri" panose="020F0502020204030204" pitchFamily="34" charset="0"/>
                        </a:rPr>
                        <a:t>Xây dựng và Vật liệu</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7,20%</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r>
                        <a:rPr lang="en-US" sz="1100" b="0" i="0" u="none" strike="noStrike">
                          <a:solidFill>
                            <a:srgbClr val="000000"/>
                          </a:solidFill>
                          <a:effectLst/>
                          <a:latin typeface="Calibri" panose="020F0502020204030204" pitchFamily="34" charset="0"/>
                        </a:rPr>
                        <a:t>Bảo hiểm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11,95%</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r>
                        <a:rPr lang="vi-VN" sz="1100" b="0" i="0" u="none" strike="noStrike">
                          <a:solidFill>
                            <a:srgbClr val="000000"/>
                          </a:solidFill>
                          <a:effectLst/>
                          <a:latin typeface="Calibri" panose="020F0502020204030204" pitchFamily="34" charset="0"/>
                        </a:rPr>
                        <a:t>Ngân hàng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3,48%</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r>
                        <a:rPr lang="en-US" sz="1100" b="0" i="0" u="none" strike="noStrike">
                          <a:solidFill>
                            <a:srgbClr val="000000"/>
                          </a:solidFill>
                          <a:effectLst/>
                          <a:latin typeface="Calibri" panose="020F0502020204030204" pitchFamily="34" charset="0"/>
                        </a:rPr>
                        <a:t>Du lịch và Giải trí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-1,05%</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r>
                        <a:rPr lang="en-US" sz="1100" b="0" i="0" u="none" strike="noStrike">
                          <a:solidFill>
                            <a:srgbClr val="000000"/>
                          </a:solidFill>
                          <a:effectLst/>
                          <a:latin typeface="Calibri" panose="020F0502020204030204" pitchFamily="34" charset="0"/>
                        </a:rPr>
                        <a:t>Truyền thông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-1,88%</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r>
                        <a:rPr lang="en-US" sz="1100" b="0" i="0" u="none" strike="noStrike">
                          <a:solidFill>
                            <a:srgbClr val="000000"/>
                          </a:solidFill>
                          <a:effectLst/>
                          <a:latin typeface="Calibri" panose="020F0502020204030204" pitchFamily="34" charset="0"/>
                        </a:rPr>
                        <a:t>Ô tô và phụ tùng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1,26%</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r>
                        <a:rPr lang="en-US" sz="1100" b="0" i="0" u="none" strike="noStrike">
                          <a:solidFill>
                            <a:srgbClr val="000000"/>
                          </a:solidFill>
                          <a:effectLst/>
                          <a:latin typeface="Calibri" panose="020F0502020204030204" pitchFamily="34" charset="0"/>
                        </a:rPr>
                        <a:t>Y tế</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1,63%</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r>
                        <a:rPr lang="en-US" sz="1100" b="0" i="0" u="none" strike="noStrike">
                          <a:solidFill>
                            <a:srgbClr val="000000"/>
                          </a:solidFill>
                          <a:effectLst/>
                          <a:latin typeface="Calibri" panose="020F0502020204030204" pitchFamily="34" charset="0"/>
                        </a:rPr>
                        <a:t>Bán lẻ</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6,49%</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rPr>
              <a:pPr/>
              <a:t>4</a:t>
            </a:fld>
            <a:endParaRPr lang="en-GB">
              <a:solidFill>
                <a:srgbClr val="313131"/>
              </a:solidFill>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17/08 – 21/08/2026</a:t>
            </a:r>
            <a:endParaRPr lang="en-US" sz="1800" b="1" dirty="0">
              <a:solidFill>
                <a:srgbClr val="141ED2"/>
              </a:solidFill>
              <a:ea typeface="Tahoma" panose="020B0604030504040204" pitchFamily="34" charset="0"/>
              <a:cs typeface="Tahoma" panose="020B060403050404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90000"/>
              </a:lnSpc>
              <a:spcBef>
                <a:spcPct val="0"/>
              </a:spcBef>
            </a:pPr>
            <a:r>
              <a:rPr lang="en-US" sz="1400" b="1" dirty="0" err="1">
                <a:solidFill>
                  <a:srgbClr val="141ED2"/>
                </a:solidFill>
                <a:latin typeface="+mj-lt"/>
                <a:ea typeface="Tahoma" panose="020B0604030504040204" pitchFamily="34" charset="0"/>
                <a:cs typeface="Tahoma" panose="020B0604030504040204" pitchFamily="34" charset="0"/>
              </a:rPr>
              <a:t>Giao</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dịch</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các</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đầu</a:t>
            </a:r>
            <a:r>
              <a:rPr lang="en-US" sz="1400" b="1" dirty="0">
                <a:solidFill>
                  <a:srgbClr val="141ED2"/>
                </a:solidFill>
                <a:latin typeface="+mj-lt"/>
                <a:ea typeface="Tahoma" panose="020B0604030504040204" pitchFamily="34" charset="0"/>
                <a:cs typeface="Tahoma" panose="020B0604030504040204" pitchFamily="34" charset="0"/>
              </a:rPr>
              <a:t> t</a:t>
            </a:r>
            <a:r>
              <a:rPr lang="vi-VN" sz="1400" b="1" dirty="0">
                <a:solidFill>
                  <a:srgbClr val="141ED2"/>
                </a:solidFill>
                <a:latin typeface="+mj-lt"/>
                <a:ea typeface="Tahoma" panose="020B0604030504040204" pitchFamily="34" charset="0"/>
                <a:cs typeface="Tahoma" panose="020B0604030504040204" pitchFamily="34" charset="0"/>
              </a:rPr>
              <a:t>ư</a:t>
            </a:r>
            <a:endParaRPr lang="en-US" sz="1100" dirty="0">
              <a:solidFill>
                <a:schemeClr val="tx1"/>
              </a:solidFill>
            </a:endParaRPr>
          </a:p>
          <a:p>
            <a:pPr marL="171450" indent="-171450">
              <a:lnSpc>
                <a:spcPct val="160000"/>
              </a:lnSpc>
              <a:buFont typeface="Arial" panose="020B0604020202020204" pitchFamily="34" charset="0"/>
              <a:buChar char="•"/>
            </a:pPr>
            <a:endParaRPr lang="en-US" sz="1100">
              <a:solidFill>
                <a:schemeClr val="tx1"/>
              </a:solidFill>
            </a:endParaRPr>
          </a:p>
          <a:p>
            <a:pPr>
              <a:lnSpc>
                <a:spcPct val="160000"/>
              </a:lnSpc>
            </a:pPr>
            <a:endParaRPr lang="en-US" sz="1100" dirty="0">
              <a:solidFill>
                <a:schemeClr val="tx1"/>
              </a:solidFill>
            </a:endParaRPr>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a:lnSpc>
                <a:spcPct val="160000"/>
              </a:lnSpc>
            </a:pPr>
            <a:endParaRPr lang="en-US" sz="1800" dirty="0"/>
          </a:p>
          <a:p>
            <a:pPr>
              <a:lnSpc>
                <a:spcPct val="160000"/>
              </a:lnSpc>
            </a:pPr>
            <a:endParaRPr lang="en-US" sz="1100" dirty="0"/>
          </a:p>
          <a:p>
            <a:pPr>
              <a:lnSpc>
                <a:spcPct val="160000"/>
              </a:lnSpc>
            </a:pPr>
            <a:endParaRPr lang="en-US" sz="1100" dirty="0"/>
          </a:p>
          <a:p>
            <a:pPr marL="171450" indent="-171450">
              <a:lnSpc>
                <a:spcPct val="160000"/>
              </a:lnSpc>
              <a:buFont typeface="Arial" panose="020B0604020202020204" pitchFamily="34" charset="0"/>
              <a:buChar char="•"/>
            </a:pPr>
            <a:endParaRPr lang="en-US" sz="1100" dirty="0"/>
          </a:p>
          <a:p>
            <a:pPr marL="171450" indent="-171450">
              <a:lnSpc>
                <a:spcPct val="160000"/>
              </a:lnSpc>
              <a:buFont typeface="Arial" panose="020B0604020202020204" pitchFamily="34" charset="0"/>
              <a:buChar char="•"/>
            </a:pPr>
            <a:endParaRPr lang="en-US" sz="1100" dirty="0"/>
          </a:p>
          <a:p>
            <a:pPr>
              <a:lnSpc>
                <a:spcPct val="160000"/>
              </a:lnSpc>
            </a:pPr>
            <a:endParaRPr lang="en-US" sz="1400" dirty="0"/>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endParaRPr lang="en-US" sz="1100" dirty="0">
              <a:solidFill>
                <a:schemeClr val="tx1"/>
              </a:solidFill>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580451975"/>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Bán ròng (GT)</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Tỷ trọng bán của Khối Tự doanh</a:t>
                      </a:r>
                      <a:endParaRPr lang="en-US" sz="1000" b="1" i="0" u="none" strike="noStrike" dirty="0">
                        <a:solidFill>
                          <a:srgbClr val="FFFFFF"/>
                        </a:solidFill>
                        <a:effectLst/>
                        <a:latin typeface="Calibri" panose="020F050202020403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-67.726.069.000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14,84%</a:t>
                      </a:r>
                    </a:p>
                  </a:txBody>
                  <a:tcPr marL="9525" marR="9525" marT="9525" marB="0" anchor="ctr"/>
                </a:tc>
                <a:extLst>
                  <a:ext uri="{0D108BD9-81ED-4DB2-BD59-A6C34878D82A}">
                    <a16:rowId xmlns:a16="http://schemas.microsoft.com/office/drawing/2014/main" val="1830539495"/>
                  </a:ext>
                </a:extLst>
              </a:tr>
              <a:tr h="190500">
                <a:tc>
                  <a:txBody>
                    <a:bodyPr/>
                    <a:lstStyle/>
                    <a:p>
                      <a:pPr algn="l" fontAlgn="ctr"/>
                      <a:r>
                        <a:rPr lang="en-US" sz="1100" b="0" i="0" u="none" strike="noStrike">
                          <a:solidFill>
                            <a:srgbClr val="000000"/>
                          </a:solidFill>
                          <a:effectLst/>
                          <a:latin typeface="Calibri" panose="020F0502020204030204" pitchFamily="34" charset="0"/>
                        </a:rPr>
                        <a:t>FUESSVFL</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-62.141.420.000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51,19%</a:t>
                      </a:r>
                    </a:p>
                  </a:txBody>
                  <a:tcPr marL="9525" marR="9525" marT="9525" marB="0" anchor="ctr"/>
                </a:tc>
                <a:extLst>
                  <a:ext uri="{0D108BD9-81ED-4DB2-BD59-A6C34878D82A}">
                    <a16:rowId xmlns:a16="http://schemas.microsoft.com/office/drawing/2014/main" val="3252662491"/>
                  </a:ext>
                </a:extLst>
              </a:tr>
              <a:tr h="190500">
                <a:tc>
                  <a:txBody>
                    <a:bodyPr/>
                    <a:lstStyle/>
                    <a:p>
                      <a:pPr algn="l" fontAlgn="ctr"/>
                      <a:r>
                        <a:rPr lang="en-US" sz="1100" b="0" i="0" u="none" strike="noStrike">
                          <a:solidFill>
                            <a:srgbClr val="000000"/>
                          </a:solidFill>
                          <a:effectLst/>
                          <a:latin typeface="Calibri" panose="020F0502020204030204" pitchFamily="34" charset="0"/>
                        </a:rPr>
                        <a:t>GEL</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-26.613.130.000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11,83%</a:t>
                      </a:r>
                    </a:p>
                  </a:txBody>
                  <a:tcPr marL="9525" marR="9525" marT="9525" marB="0" anchor="ctr"/>
                </a:tc>
                <a:extLst>
                  <a:ext uri="{0D108BD9-81ED-4DB2-BD59-A6C34878D82A}">
                    <a16:rowId xmlns:a16="http://schemas.microsoft.com/office/drawing/2014/main" val="3933181617"/>
                  </a:ext>
                </a:extLst>
              </a:tr>
              <a:tr h="190500">
                <a:tc>
                  <a:txBody>
                    <a:bodyPr/>
                    <a:lstStyle/>
                    <a:p>
                      <a:pPr algn="l" fontAlgn="ctr"/>
                      <a:r>
                        <a:rPr lang="en-US" sz="1100" b="0" i="0" u="none" strike="noStrike">
                          <a:solidFill>
                            <a:srgbClr val="000000"/>
                          </a:solidFill>
                          <a:effectLst/>
                          <a:latin typeface="Calibri" panose="020F0502020204030204" pitchFamily="34" charset="0"/>
                        </a:rPr>
                        <a:t>FRT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143.500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-24.277.412.000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1,66%</a:t>
                      </a:r>
                    </a:p>
                  </a:txBody>
                  <a:tcPr marL="9525" marR="9525" marT="9525" marB="0" anchor="ctr"/>
                </a:tc>
                <a:extLst>
                  <a:ext uri="{0D108BD9-81ED-4DB2-BD59-A6C34878D82A}">
                    <a16:rowId xmlns:a16="http://schemas.microsoft.com/office/drawing/2014/main" val="244560680"/>
                  </a:ext>
                </a:extLst>
              </a:tr>
              <a:tr h="190500">
                <a:tc>
                  <a:txBody>
                    <a:bodyPr/>
                    <a:lstStyle/>
                    <a:p>
                      <a:pPr algn="l" fontAlgn="ctr"/>
                      <a:r>
                        <a:rPr lang="en-US" sz="1100" b="0" i="0" u="none" strike="noStrike">
                          <a:solidFill>
                            <a:srgbClr val="000000"/>
                          </a:solidFill>
                          <a:effectLst/>
                          <a:latin typeface="Calibri" panose="020F050202020403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-21.396.420.000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11,11%</a:t>
                      </a:r>
                    </a:p>
                  </a:txBody>
                  <a:tcPr marL="9525" marR="9525" marT="9525" marB="0" anchor="ctr"/>
                </a:tc>
                <a:extLst>
                  <a:ext uri="{0D108BD9-81ED-4DB2-BD59-A6C34878D82A}">
                    <a16:rowId xmlns:a16="http://schemas.microsoft.com/office/drawing/2014/main" val="2635700921"/>
                  </a:ext>
                </a:extLst>
              </a:tr>
              <a:tr h="190500">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20.750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-13.472.323.000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3,93%</a:t>
                      </a:r>
                    </a:p>
                  </a:txBody>
                  <a:tcPr marL="9525" marR="9525" marT="9525" marB="0" anchor="ctr"/>
                </a:tc>
                <a:extLst>
                  <a:ext uri="{0D108BD9-81ED-4DB2-BD59-A6C34878D82A}">
                    <a16:rowId xmlns:a16="http://schemas.microsoft.com/office/drawing/2014/main" val="3348839886"/>
                  </a:ext>
                </a:extLst>
              </a:tr>
              <a:tr h="190500">
                <a:tc>
                  <a:txBody>
                    <a:bodyPr/>
                    <a:lstStyle/>
                    <a:p>
                      <a:pPr algn="l" fontAlgn="ctr"/>
                      <a:r>
                        <a:rPr lang="en-US" sz="1100" b="0" i="0" u="none" strike="noStrike">
                          <a:solidFill>
                            <a:srgbClr val="000000"/>
                          </a:solidFill>
                          <a:effectLst/>
                          <a:latin typeface="Calibri" panose="020F0502020204030204" pitchFamily="34" charset="0"/>
                        </a:rPr>
                        <a:t>VTP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54.600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-9.771.220.000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2,24%</a:t>
                      </a:r>
                    </a:p>
                  </a:txBody>
                  <a:tcPr marL="9525" marR="9525" marT="9525" marB="0" anchor="ctr"/>
                </a:tc>
                <a:extLst>
                  <a:ext uri="{0D108BD9-81ED-4DB2-BD59-A6C34878D82A}">
                    <a16:rowId xmlns:a16="http://schemas.microsoft.com/office/drawing/2014/main" val="2648804254"/>
                  </a:ext>
                </a:extLst>
              </a:tr>
              <a:tr h="190500">
                <a:tc>
                  <a:txBody>
                    <a:bodyPr/>
                    <a:lstStyle/>
                    <a:p>
                      <a:pPr algn="l" fontAlgn="ctr"/>
                      <a:r>
                        <a:rPr lang="en-US" sz="1100" b="0" i="0" u="none" strike="noStrike">
                          <a:solidFill>
                            <a:srgbClr val="000000"/>
                          </a:solidFill>
                          <a:effectLst/>
                          <a:latin typeface="Calibri" panose="020F0502020204030204" pitchFamily="34" charset="0"/>
                        </a:rPr>
                        <a:t>FUEVFVND</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-8.801.602.000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53,87%</a:t>
                      </a:r>
                    </a:p>
                  </a:txBody>
                  <a:tcPr marL="9525" marR="9525" marT="9525" marB="0" anchor="ctr"/>
                </a:tc>
                <a:extLst>
                  <a:ext uri="{0D108BD9-81ED-4DB2-BD59-A6C34878D82A}">
                    <a16:rowId xmlns:a16="http://schemas.microsoft.com/office/drawing/2014/main" val="1898481737"/>
                  </a:ext>
                </a:extLst>
              </a:tr>
              <a:tr h="190500">
                <a:tc>
                  <a:txBody>
                    <a:bodyPr/>
                    <a:lstStyle/>
                    <a:p>
                      <a:pPr algn="l" fontAlgn="ctr"/>
                      <a:r>
                        <a:rPr lang="en-US" sz="1100" b="0" i="0" u="none" strike="noStrike">
                          <a:solidFill>
                            <a:srgbClr val="000000"/>
                          </a:solidFill>
                          <a:effectLst/>
                          <a:latin typeface="Calibri" panose="020F0502020204030204" pitchFamily="34" charset="0"/>
                        </a:rPr>
                        <a:t>E1VFVN30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34.750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-7.708.083.000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48,19%</a:t>
                      </a:r>
                    </a:p>
                  </a:txBody>
                  <a:tcPr marL="9525" marR="9525" marT="9525" marB="0" anchor="ctr"/>
                </a:tc>
                <a:extLst>
                  <a:ext uri="{0D108BD9-81ED-4DB2-BD59-A6C34878D82A}">
                    <a16:rowId xmlns:a16="http://schemas.microsoft.com/office/drawing/2014/main" val="2496103962"/>
                  </a:ext>
                </a:extLst>
              </a:tr>
              <a:tr h="190500">
                <a:tc>
                  <a:txBody>
                    <a:bodyPr/>
                    <a:lstStyle/>
                    <a:p>
                      <a:pPr algn="l" fontAlgn="ctr"/>
                      <a:r>
                        <a:rPr lang="en-US" sz="1100" b="0" i="0" u="none" strike="noStrike">
                          <a:solidFill>
                            <a:srgbClr val="000000"/>
                          </a:solidFill>
                          <a:effectLst/>
                          <a:latin typeface="Calibri" panose="020F0502020204030204" pitchFamily="34" charset="0"/>
                        </a:rPr>
                        <a:t>CII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14.700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-6.267.269.000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1,15%</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3274426974"/>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Mua ròng (GT)</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Tỷ trọng mua của Khối Tự doanh</a:t>
                      </a:r>
                      <a:endParaRPr lang="en-US" sz="1000" b="1" i="0" u="none" strike="noStrike" dirty="0">
                        <a:solidFill>
                          <a:srgbClr val="FFFFFF"/>
                        </a:solidFill>
                        <a:effectLst/>
                        <a:latin typeface="Calibri" panose="020F050202020403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115.491.208.000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8,46%</a:t>
                      </a:r>
                    </a:p>
                  </a:txBody>
                  <a:tcPr marL="9525" marR="9525" marT="9525" marB="0" anchor="ctr"/>
                </a:tc>
                <a:extLst>
                  <a:ext uri="{0D108BD9-81ED-4DB2-BD59-A6C34878D82A}">
                    <a16:rowId xmlns:a16="http://schemas.microsoft.com/office/drawing/2014/main" val="2098757191"/>
                  </a:ext>
                </a:extLst>
              </a:tr>
              <a:tr h="192467">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76.974.715.000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5,71%</a:t>
                      </a:r>
                    </a:p>
                  </a:txBody>
                  <a:tcPr marL="9525" marR="9525" marT="9525" marB="0" anchor="ctr"/>
                </a:tc>
                <a:extLst>
                  <a:ext uri="{0D108BD9-81ED-4DB2-BD59-A6C34878D82A}">
                    <a16:rowId xmlns:a16="http://schemas.microsoft.com/office/drawing/2014/main" val="2688216377"/>
                  </a:ext>
                </a:extLst>
              </a:tr>
              <a:tr h="192467">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68.437.290.000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3,48%</a:t>
                      </a:r>
                    </a:p>
                  </a:txBody>
                  <a:tcPr marL="9525" marR="9525" marT="9525" marB="0" anchor="ctr"/>
                </a:tc>
                <a:extLst>
                  <a:ext uri="{0D108BD9-81ED-4DB2-BD59-A6C34878D82A}">
                    <a16:rowId xmlns:a16="http://schemas.microsoft.com/office/drawing/2014/main" val="370757996"/>
                  </a:ext>
                </a:extLst>
              </a:tr>
              <a:tr h="192467">
                <a:tc>
                  <a:txBody>
                    <a:bodyPr/>
                    <a:lstStyle/>
                    <a:p>
                      <a:pPr algn="l" fontAlgn="ctr"/>
                      <a:r>
                        <a:rPr lang="en-US" sz="1100" b="0" i="0" u="none" strike="noStrike">
                          <a:solidFill>
                            <a:srgbClr val="000000"/>
                          </a:solidFill>
                          <a:effectLst/>
                          <a:latin typeface="Calibri" panose="020F0502020204030204" pitchFamily="34" charset="0"/>
                        </a:rPr>
                        <a:t>ACB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22.750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65.730.020.000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17,12%</a:t>
                      </a:r>
                    </a:p>
                  </a:txBody>
                  <a:tcPr marL="9525" marR="9525" marT="9525" marB="0" anchor="ctr"/>
                </a:tc>
                <a:extLst>
                  <a:ext uri="{0D108BD9-81ED-4DB2-BD59-A6C34878D82A}">
                    <a16:rowId xmlns:a16="http://schemas.microsoft.com/office/drawing/2014/main" val="1912016339"/>
                  </a:ext>
                </a:extLst>
              </a:tr>
              <a:tr h="192467">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61.165.045.000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10,99%</a:t>
                      </a:r>
                    </a:p>
                  </a:txBody>
                  <a:tcPr marL="9525" marR="9525" marT="9525" marB="0" anchor="ctr"/>
                </a:tc>
                <a:extLst>
                  <a:ext uri="{0D108BD9-81ED-4DB2-BD59-A6C34878D82A}">
                    <a16:rowId xmlns:a16="http://schemas.microsoft.com/office/drawing/2014/main" val="1871833493"/>
                  </a:ext>
                </a:extLst>
              </a:tr>
              <a:tr h="192467">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60.384.723.000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2,86%</a:t>
                      </a:r>
                    </a:p>
                  </a:txBody>
                  <a:tcPr marL="9525" marR="9525" marT="9525" marB="0" anchor="ctr"/>
                </a:tc>
                <a:extLst>
                  <a:ext uri="{0D108BD9-81ED-4DB2-BD59-A6C34878D82A}">
                    <a16:rowId xmlns:a16="http://schemas.microsoft.com/office/drawing/2014/main" val="83566206"/>
                  </a:ext>
                </a:extLst>
              </a:tr>
              <a:tr h="192467">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63.800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59.567.169.000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8,95%</a:t>
                      </a:r>
                    </a:p>
                  </a:txBody>
                  <a:tcPr marL="9525" marR="9525" marT="9525" marB="0" anchor="ctr"/>
                </a:tc>
                <a:extLst>
                  <a:ext uri="{0D108BD9-81ED-4DB2-BD59-A6C34878D82A}">
                    <a16:rowId xmlns:a16="http://schemas.microsoft.com/office/drawing/2014/main" val="3372218016"/>
                  </a:ext>
                </a:extLst>
              </a:tr>
              <a:tr h="192467">
                <a:tc>
                  <a:txBody>
                    <a:bodyPr/>
                    <a:lstStyle/>
                    <a:p>
                      <a:pPr algn="l" fontAlgn="ctr"/>
                      <a:r>
                        <a:rPr lang="en-US" sz="1100" b="0" i="0" u="none" strike="noStrike">
                          <a:solidFill>
                            <a:srgbClr val="000000"/>
                          </a:solidFill>
                          <a:effectLst/>
                          <a:latin typeface="Calibri" panose="020F0502020204030204" pitchFamily="34" charset="0"/>
                        </a:rPr>
                        <a:t>FUEMAV30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23.740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56.467.739.000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49,97%</a:t>
                      </a:r>
                    </a:p>
                  </a:txBody>
                  <a:tcPr marL="9525" marR="9525" marT="9525" marB="0" anchor="ctr"/>
                </a:tc>
                <a:extLst>
                  <a:ext uri="{0D108BD9-81ED-4DB2-BD59-A6C34878D82A}">
                    <a16:rowId xmlns:a16="http://schemas.microsoft.com/office/drawing/2014/main" val="2628515178"/>
                  </a:ext>
                </a:extLst>
              </a:tr>
              <a:tr h="192467">
                <a:tc>
                  <a:txBody>
                    <a:bodyPr/>
                    <a:lstStyle/>
                    <a:p>
                      <a:pPr algn="l" fontAlgn="ctr"/>
                      <a:r>
                        <a:rPr lang="en-US" sz="1100" b="0" i="0" u="none" strike="noStrike">
                          <a:solidFill>
                            <a:srgbClr val="000000"/>
                          </a:solidFill>
                          <a:effectLst/>
                          <a:latin typeface="Calibri" panose="020F050202020403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20.850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49.801.097.000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11,04%</a:t>
                      </a:r>
                    </a:p>
                  </a:txBody>
                  <a:tcPr marL="9525" marR="9525" marT="9525" marB="0" anchor="ctr"/>
                </a:tc>
                <a:extLst>
                  <a:ext uri="{0D108BD9-81ED-4DB2-BD59-A6C34878D82A}">
                    <a16:rowId xmlns:a16="http://schemas.microsoft.com/office/drawing/2014/main" val="686965531"/>
                  </a:ext>
                </a:extLst>
              </a:tr>
              <a:tr h="192467">
                <a:tc>
                  <a:txBody>
                    <a:bodyPr/>
                    <a:lstStyle/>
                    <a:p>
                      <a:pPr algn="l" fontAlgn="ctr"/>
                      <a:r>
                        <a:rPr lang="en-US" sz="1100" b="0" i="0" u="none" strike="noStrike">
                          <a:solidFill>
                            <a:srgbClr val="000000"/>
                          </a:solidFill>
                          <a:effectLst/>
                          <a:latin typeface="Calibri" panose="020F0502020204030204" pitchFamily="34" charset="0"/>
                        </a:rPr>
                        <a:t>NLG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24.000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36.691.825.000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7,10%</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2546563865"/>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Calibri" panose="020F0502020204030204" pitchFamily="34" charset="0"/>
                        </a:rPr>
                        <a:t>Mua </a:t>
                      </a:r>
                      <a:r>
                        <a:rPr lang="en-US" sz="1000" b="1" i="0" u="none" strike="noStrike" dirty="0" err="1">
                          <a:solidFill>
                            <a:srgbClr val="FFFFFF"/>
                          </a:solidFill>
                          <a:effectLst/>
                          <a:latin typeface="Calibri" panose="020F0502020204030204" pitchFamily="34" charset="0"/>
                        </a:rPr>
                        <a:t>ròng</a:t>
                      </a:r>
                      <a:r>
                        <a:rPr lang="en-US" sz="1000" b="1" i="0" u="none" strike="noStrike" dirty="0">
                          <a:solidFill>
                            <a:srgbClr val="FFFFFF"/>
                          </a:solidFill>
                          <a:effectLst/>
                          <a:latin typeface="Calibri" panose="020F0502020204030204" pitchFamily="34" charset="0"/>
                        </a:rPr>
                        <a:t> (GT)</a:t>
                      </a: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63.800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181.467.697.000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49,48%</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91.766.050.150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21,13%</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Calibri" panose="020F0502020204030204" pitchFamily="34" charset="0"/>
                        </a:rPr>
                        <a:t>SHB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91.232.871.450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4,00%</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83.279.890.400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27,06%</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69.751.307.600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21,56%</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Calibri" panose="020F0502020204030204" pitchFamily="34" charset="0"/>
                        </a:rPr>
                        <a:t>PNJ</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60.618.996.850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42,64%</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Calibri" panose="020F0502020204030204" pitchFamily="34" charset="0"/>
                        </a:rPr>
                        <a:t>FUESSVFL</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60.321.510.000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50,55%</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Calibri" panose="020F0502020204030204" pitchFamily="34" charset="0"/>
                        </a:rPr>
                        <a:t>CTR</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43.263.840.100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4,60%</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Calibri" panose="020F0502020204030204" pitchFamily="34" charset="0"/>
                        </a:rPr>
                        <a:t>DGW</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38.681.098.150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23,70%</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Calibri" panose="020F0502020204030204" pitchFamily="34" charset="0"/>
                        </a:rPr>
                        <a:t>PDR</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12.300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26.753.273.950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6,87%</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1665300348"/>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-640.616.249.500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-376.598.850.100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23,35%</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Calibri" panose="020F050202020403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-282.014.671.700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20,06%</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Calibri" panose="020F0502020204030204" pitchFamily="34" charset="0"/>
                        </a:rPr>
                        <a:t>GMD</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77.400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-260.432.735.200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40,62%</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Calibri" panose="020F0502020204030204" pitchFamily="34" charset="0"/>
                        </a:rPr>
                        <a:t>STB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74.700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-240.690.523.500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11,18%</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-203.682.909.800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6,93%</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Calibri" panose="020F0502020204030204" pitchFamily="34" charset="0"/>
                        </a:rPr>
                        <a:t>ACB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22.750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-188.343.663.300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24,34%</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20.750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-162.114.274.950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29,90%</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-135.149.015.500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21,55%</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Calibri" panose="020F0502020204030204" pitchFamily="34" charset="0"/>
                        </a:rPr>
                        <a:t>GEX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26.250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-94.397.982.500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6,50%</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t>5</a:t>
            </a:fld>
            <a:endParaRPr lang="en-US"/>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17/08 – 21/08/2026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3616480090"/>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21/08/2026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VIB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vi-VN" sz="1200" b="0" u="none" strike="noStrike" kern="1200">
                          <a:solidFill>
                            <a:srgbClr val="000000"/>
                          </a:solidFill>
                          <a:effectLst/>
                          <a:latin typeface="Arial" panose="020B0604020202020204" pitchFamily="34" charset="0"/>
                          <a:ea typeface="+mn-ea"/>
                          <a:cs typeface="Arial" panose="020B0604020202020204" pitchFamily="34" charset="0"/>
                        </a:rPr>
                        <a:t>VIB: Thông báo phát hành cổ phiếu theo chương trình lựa chọn cho người lao động trong công ty</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21/08/2026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VIB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vi-VN" sz="1200" b="0" u="none" strike="noStrike" kern="1200">
                          <a:solidFill>
                            <a:srgbClr val="000000"/>
                          </a:solidFill>
                          <a:effectLst/>
                          <a:latin typeface="Arial" panose="020B0604020202020204" pitchFamily="34" charset="0"/>
                          <a:ea typeface="+mn-ea"/>
                          <a:cs typeface="Arial" panose="020B0604020202020204" pitchFamily="34" charset="0"/>
                        </a:rPr>
                        <a:t>VIB: Nghị quyết HĐQT về việc phê duyệt ngày chốt DS CBNV chính thức được phát hành cổ phiếu ESOP 2026</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19/08/2026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VIB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VIB: Thông báo ngày ĐKCC phát hành cổ phiếu để tăng vốn cổ phần từ NVCSH</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1033790841"/>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-13.874.435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-15.838.065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-57.219.998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-46.266.718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-20.044.268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-25.052.808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-39.496.132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-43.747.657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8</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-22.827.310</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-5.471.395</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-43.739.906</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-33.569.318</a:t>
                      </a:r>
                    </a:p>
                  </a:txBody>
                  <a:tcPr marL="9525" marR="9525" marT="9525" marB="0" anchor="b"/>
                </a:tc>
                <a:extLst>
                  <a:ext uri="{0D108BD9-81ED-4DB2-BD59-A6C34878D82A}">
                    <a16:rowId xmlns:a16="http://schemas.microsoft.com/office/drawing/2014/main" val="3933181617"/>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-250.922.676</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-58.622.904</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-149.388.058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-142.312.211</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6,9%</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ea typeface="Tahoma" panose="020B0604030504040204" pitchFamily="34" charset="0"/>
                <a:cs typeface="Times New Roman" panose="02020603050405020304" pitchFamily="18" charset="0"/>
              </a:rPr>
              <a:t>CÁC SỰ KIỆN DIỄN RA TRONG TUẦN 24/08/2026 – 28/08/2026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mj-lt"/>
                <a:cs typeface="Times New Roman" panose="02020603050405020304" pitchFamily="18" charset="0"/>
              </a:rPr>
              <a:t>Trong</a:t>
            </a:r>
            <a:r>
              <a:rPr lang="en-US" sz="1400" b="1" dirty="0">
                <a:solidFill>
                  <a:srgbClr val="141ED2"/>
                </a:solidFill>
                <a:latin typeface="+mj-lt"/>
                <a:cs typeface="Times New Roman" panose="02020603050405020304" pitchFamily="18" charset="0"/>
              </a:rPr>
              <a:t> n</a:t>
            </a:r>
            <a:r>
              <a:rPr lang="vi-VN" sz="1400" b="1">
                <a:solidFill>
                  <a:srgbClr val="141ED2"/>
                </a:solidFill>
                <a:latin typeface="+mj-lt"/>
                <a:cs typeface="Times New Roman" panose="02020603050405020304" pitchFamily="18" charset="0"/>
              </a:rPr>
              <a:t>ư</a:t>
            </a:r>
            <a:r>
              <a:rPr lang="en-US" sz="1400" b="1">
                <a:solidFill>
                  <a:srgbClr val="141ED2"/>
                </a:solidFill>
                <a:latin typeface="+mj-lt"/>
                <a:cs typeface="Times New Roman" panose="02020603050405020304" pitchFamily="18"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mj-lt"/>
                <a:cs typeface="Times New Roman" panose="02020603050405020304" pitchFamily="18" charset="0"/>
              </a:rPr>
              <a:t>Quốc </a:t>
            </a:r>
            <a:r>
              <a:rPr lang="en-US" sz="1400" b="1" dirty="0" err="1">
                <a:solidFill>
                  <a:srgbClr val="141ED2"/>
                </a:solidFill>
                <a:latin typeface="+mj-lt"/>
                <a:cs typeface="Times New Roman" panose="02020603050405020304" pitchFamily="18" charset="0"/>
              </a:rPr>
              <a:t>tế</a:t>
            </a:r>
            <a:endParaRPr lang="en-US" sz="1400" b="1" dirty="0">
              <a:solidFill>
                <a:srgbClr val="141ED2"/>
              </a:solidFill>
              <a:latin typeface="+mj-lt"/>
              <a:cs typeface="Times New Roman" panose="02020603050405020304" pitchFamily="18" charset="0"/>
            </a:endParaRPr>
          </a:p>
          <a:p>
            <a:pPr>
              <a:lnSpc>
                <a:spcPct val="150000"/>
              </a:lnSpc>
            </a:pPr>
            <a:endParaRPr lang="en-US" sz="1400" dirty="0">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t>7</a:t>
            </a:fld>
            <a:endParaRPr lang="en-US"/>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1999593845"/>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400" b="0" i="0" u="none" strike="noStrike">
                          <a:solidFill>
                            <a:srgbClr val="000000"/>
                          </a:solidFill>
                          <a:effectLst/>
                          <a:latin typeface="Calibri" panose="020F0502020204030204" pitchFamily="34" charset="0"/>
                        </a:rPr>
                        <a:t>26/08/2026</a:t>
                      </a:r>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vi-VN" sz="1400" b="0" u="none" strike="noStrike" kern="1200">
                          <a:solidFill>
                            <a:srgbClr val="000000"/>
                          </a:solidFill>
                          <a:effectLst/>
                          <a:latin typeface="+mn-lt"/>
                          <a:ea typeface="+mn-ea"/>
                          <a:cs typeface="+mn-cs"/>
                        </a:rPr>
                        <a:t>• [Mỹ] Tăng trưởng GDP, theo quý (QoQ)</a:t>
                      </a: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400" b="0" i="0" u="none" strike="noStrike">
                          <a:solidFill>
                            <a:srgbClr val="000000"/>
                          </a:solidFill>
                          <a:effectLst/>
                          <a:latin typeface="Calibri" panose="020F0502020204030204" pitchFamily="34" charset="0"/>
                        </a:rPr>
                        <a:t>28/08/2026</a:t>
                      </a:r>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vi-VN" sz="1400" b="0" u="none" strike="noStrike" kern="1200">
                          <a:solidFill>
                            <a:srgbClr val="000000"/>
                          </a:solidFill>
                          <a:effectLst/>
                          <a:latin typeface="+mn-lt"/>
                          <a:ea typeface="+mn-ea"/>
                          <a:cs typeface="+mn-cs"/>
                        </a:rPr>
                        <a:t>• [Pháp] Lạm phát, theo năm (YoY), sơ bộ • [Canada] Tăng trưởng GDP • [Canada] Tăng trưởng GDP, theo quý (QoQ) • [Mỹ] Bảng lương phi nông nghiệp, sơ bộ</a:t>
                      </a: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568331513"/>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2703509514"/>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169393774"/>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dirty="0"/>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b="0" dirty="0"/>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a:t>
            </a:r>
          </a:p>
          <a:p>
            <a:pPr marL="171450" indent="-171450" algn="just">
              <a:lnSpc>
                <a:spcPct val="150000"/>
              </a:lnSpc>
              <a:buFont typeface="Arial" panose="020B0604020202020204" pitchFamily="34" charset="0"/>
              <a:buChar char="•"/>
            </a:pPr>
            <a:r>
              <a:rPr lang="vi-VN" sz="1100" b="0" dirty="0"/>
              <a:t>Dự báo VNINDEX sẽ dao động chủ yếu trong vùng 1.680 – 1.740 điểm trong tuần sau. </a:t>
            </a:r>
          </a:p>
          <a:p>
            <a:pPr marL="171450" indent="-171450" algn="just">
              <a:lnSpc>
                <a:spcPct val="150000"/>
              </a:lnSpc>
              <a:buFont typeface="Arial" panose="020B0604020202020204" pitchFamily="34" charset="0"/>
              <a:buChar char="•"/>
            </a:pPr>
            <a:endParaRPr lang="vi-VN" sz="1100" b="0" dirty="0"/>
          </a:p>
          <a:p>
            <a:pPr marL="171450" indent="-171450" algn="just">
              <a:lnSpc>
                <a:spcPct val="150000"/>
              </a:lnSpc>
              <a:buFont typeface="Arial" panose="020B0604020202020204" pitchFamily="34" charset="0"/>
              <a:buChar char="•"/>
            </a:pPr>
            <a:endParaRPr lang="vi-VN" sz="1100" b="0" dirty="0"/>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ea typeface="Tahoma" panose="020B0604030504040204" pitchFamily="34" charset="0"/>
                <a:cs typeface="Times New Roman" panose="02020603050405020304" pitchFamily="18" charset="0"/>
              </a:rPr>
              <a:t>NHẬN ĐỊNH THỊ TRƯỜNG TUẦN 24/08/2026 – 28/08/2026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t>8</a:t>
            </a:fld>
            <a:endParaRPr lang="en-US"/>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t>9</a:t>
            </a:fld>
            <a:endParaRPr lang="en-US" dirty="0"/>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903863169"/>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21/08/2026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GAS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83.500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PNJ</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39.900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-52,88%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-52,96%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-51,16%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PLX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37.950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-4,10%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37.000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40,39%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-52,76%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GEX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26.250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-12,71%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9,15%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SSI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20.750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-31,24%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-27,14%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BSR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26.850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68,66%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45,97%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VRE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-39,64%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-48,77%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-26,42%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HAH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48.400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-25,45%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FPT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-23,81%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-38,06%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-37,50%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-25,40%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-57,61%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-43,28%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CII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-51,57%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156,60%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MSN</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69.800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-66,98%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-33,07%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NLG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-39,60%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-40,76%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71.700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71,36%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-7,34%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26.300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20,30%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-10,60%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-35,12%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-18,82%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-17,24%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-49,63%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87,28%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-17,09%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18.600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-31,02%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11,11%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MWG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75.000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-18,71%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-48,31%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-10,40%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63.800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43.000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-38,39%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-22,89%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STB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74.700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406,59%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68,42%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SAB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46.800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HDB</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27.300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3,21%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1,30%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-8,08%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-8,08%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23,36%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7,1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7,95%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3,92%</a:t>
                      </a:r>
                      <a:endParaRPr lang="en-VN" sz="1000" b="0" i="0" u="none" strike="noStrike" dirty="0">
                        <a:solidFill>
                          <a:srgbClr val="00B050"/>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t>10</a:t>
            </a:fld>
            <a:endParaRPr lang="en-US" dirty="0"/>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2925746547"/>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21/08/2026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BID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36.900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-27,32%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DPM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-41,01%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-19,44%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PDR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-53,23%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-44,63%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GVR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32.100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HSG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-10,44%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-26,73%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-25,96%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-24,37%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-6,34%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POW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-17,82%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-66,79%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20.450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-15,75%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-4,20%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-12,35%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-7,39%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-25,26%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-38,60%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-14,29%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205.000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65,61%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332,26%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32.150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-9,35%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HPG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-7,93%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-42,93%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-17,72%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41.100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-14,12%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139.500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47,41%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82,33%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91,19%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DIG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-55,28%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-80,05%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-53,48%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KDH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18.000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-42,86%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-51,35%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-58,72%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-45,50%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41.247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-16,01%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-40,57%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-48,45%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27.350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-20,77%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EIB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-18,31%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-42,38%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337,15%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-20,26%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-36,81%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-34,07%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-36,47%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-38,97%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VCB</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59.100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1,03%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5,11%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3,64%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-21,59%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9,44%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11,9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-21,17%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-31,38%</a:t>
                      </a:r>
                      <a:endParaRPr lang="en-VN" sz="1000" b="0" i="0" u="none" strike="noStrike" dirty="0">
                        <a:solidFill>
                          <a:srgbClr val="C00000"/>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t>11</a:t>
            </a:fld>
            <a:endParaRPr lang="en-US"/>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629615278"/>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21/08/2026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HHV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-18,96%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-42,05%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-48,70%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-36,77%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NKG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-39,75%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258,69%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-26,32%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BVB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-53,83%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-7,48%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62.500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-13,65%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-58,69%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-7,69%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NVL</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-44,53%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-15,38%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15.900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-80,19%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PC1</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20.600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-8,65%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-58,60%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-20,25%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REE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46.100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-21,43%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DXG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-45,59%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96,06%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-19,05%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FRT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143.500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-14,15%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-22,41%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ANV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-46,88%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-70,38%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-27,16%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43.050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-37,15%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-55,07%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-65,08%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OCB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-5,10%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42.650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-29,79%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-45,77%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-45,92%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31.650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-7,40%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rPr>
                        <a:t>0,00%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GMD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77.400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-5,63%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-21,86%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IDC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33.000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-26,99%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-34,74%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-36,45%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IJC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7.290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-1,88%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-28,44%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-45,82%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-33,77%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rPr>
                        <a:t>-43,14%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VHC</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53.000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-2,57%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-2,75%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-5,53%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-23,41%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3,11%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8,2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-20,83%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rPr>
                        <a:t>-31,79%</a:t>
                      </a:r>
                      <a:endParaRPr lang="en-VN" sz="1000" b="0" i="0" u="none" strike="noStrike" dirty="0">
                        <a:solidFill>
                          <a:srgbClr val="C00000"/>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87551</TotalTime>
  <Words>3662</Words>
  <Application>Microsoft Office PowerPoint</Application>
  <PresentationFormat>Widescreen</PresentationFormat>
  <Paragraphs>1309</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Tahoma</vt:lpstr>
      <vt:lpstr>Times New Roman</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Đặng Việt Long</cp:lastModifiedBy>
  <cp:revision>3858</cp:revision>
  <dcterms:created xsi:type="dcterms:W3CDTF">2020-03-18T03:42:50Z</dcterms:created>
  <dcterms:modified xsi:type="dcterms:W3CDTF">2026-08-21T10:29:35Z</dcterms:modified>
</cp:coreProperties>
</file>