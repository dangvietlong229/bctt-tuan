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8/21/2026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10/08 – 14/08/2026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a:solidFill>
                  <a:schemeClr val="tx1"/>
                </a:solidFill>
              </a:rPr>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a:solidFill>
                  <a:schemeClr val="tx1"/>
                </a:solidFill>
              </a:rPr>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p>
          <a:p>
            <a:pPr marL="171450" indent="-171450" algn="just">
              <a:lnSpc>
                <a:spcPct val="150000"/>
              </a:lnSpc>
              <a:buFont typeface="Arial" panose="020B0604020202020204" pitchFamily="34" charset="0"/>
              <a:buChar char="•"/>
            </a:pPr>
            <a:r>
              <a:rPr lang="vi-VN" sz="1100">
                <a:solidFill>
                  <a:schemeClr val="tx1"/>
                </a:solidFill>
              </a:rPr>
              <a:t>Xét về đóng góp của nhóm Vingroup, từ đầu năm nhóm VIC, VHM, VRE và VPL đóng góp tăng 51,3 điểm trong khi VNINDEX giảm 55,4 điểm. Từ đầu tháng, nhóm đóng góp giảm 34,2 điểm, so với mức giảm 6,7 điểm của VNINDEX. Riêng trong tuần, nhóm đóng góp giảm 33,9 điểm, trong khi VNINDEX giảm 39,0 điểm. Chênh lệch giữa đóng góp của nhóm và biến động toàn chỉ số cho thấy mức độ tập trung của diễn biến thị trường trong từng giai đoạn.</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endParaRPr lang="vi-VN" sz="1100">
              <a:solidFill>
                <a:schemeClr val="tx1"/>
              </a:solidFill>
            </a:endParaRPr>
          </a:p>
          <a:p>
            <a:pPr marL="171450" indent="-171450" algn="just">
              <a:lnSpc>
                <a:spcPct val="150000"/>
              </a:lnSpc>
              <a:buFont typeface="Arial" panose="020B0604020202020204" pitchFamily="34" charset="0"/>
              <a:buChar char="•"/>
            </a:pPr>
            <a:endParaRPr lang="vi-VN" sz="1100">
              <a:solidFill>
                <a:schemeClr val="tx1"/>
              </a:solidFill>
            </a:endParaRP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5" name="Chart 6">
            <a:extLst>
              <a:ext uri="{FF2B5EF4-FFF2-40B4-BE49-F238E27FC236}">
                <a16:creationId xmlns:a16="http://schemas.microsoft.com/office/drawing/2014/main" id="{BEE6FFB9-6879-4887-965D-3973CED20C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8CC8C7CD-E520-485E-8E00-F1D7767114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a:solidFill>
                  <a:schemeClr val="tx1"/>
                </a:solidFill>
              </a:rPr>
              <a:t>Xét về các nhóm ngành, 6/18 nhóm ngành tăng giá và 12/18 nhóm ngành giảm giá trong tuần. Bán lẻ dẫn đầu với mức tăng 4,77%, tiếp theo là Hóa chất tăng 2,48%. Ở chiều ngược lại, Bất động sản và Du lịch và Giải trí là hai nhóm diễn biến kém tích cực nhất, lần lượt giảm 5,65% và 3,59%.</a:t>
            </a:r>
          </a:p>
          <a:p>
            <a:pPr marL="171450" indent="-171450" algn="just">
              <a:lnSpc>
                <a:spcPct val="150000"/>
              </a:lnSpc>
              <a:buFont typeface="Arial" panose="020B0604020202020204" pitchFamily="34" charset="0"/>
              <a:buChar char="•"/>
            </a:pPr>
            <a:r>
              <a:rPr lang="vi-VN" sz="1100">
                <a:solidFill>
                  <a:schemeClr val="tx1"/>
                </a:solidFill>
              </a:rPr>
              <a:t>Diễn biến cho thấy dòng tiền chỉ tập trung ở một số nhóm thay vì lan tỏa rộng. Trong phiên cuối tuần, 17/18 nhóm ngành giảm giá, phản ánh xung lực thị trường suy yếu rõ rệt. Xét trong một tháng, chỉ 4/18 nhóm duy trì mức tăng, trong khi nhiều nhóm tăng trong tuần vẫn còn giảm theo tháng, điển hình là Hóa chất và Hàng cá nhân &amp; Gia dụng. Vì vậy, diễn biến hiện tại phù hợp hơn với trạng thái phục hồi cục bộ và phân hóa, chưa đủ để xác nhận sự đảo chiều đồng thuận của xu hướng.</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endParaRPr lang="vi-VN" sz="1100" dirty="0">
              <a:solidFill>
                <a:schemeClr val="tx1"/>
              </a:solidFill>
            </a:endParaRP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2688619183"/>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4,77%</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5,72%</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pt-BR" sz="1100" b="0" i="0" u="none" strike="noStrike">
                          <a:solidFill>
                            <a:srgbClr val="000000"/>
                          </a:solidFill>
                          <a:effectLst/>
                          <a:latin typeface="Calibri" panose="020F0502020204030204" pitchFamily="34" charset="0"/>
                        </a:rPr>
                        <a:t>Hàng cá nhân &amp; Gia dụng</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-4,91%</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1,73%</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2,87%</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-2,55%</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-1,14%</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-8,62%</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9,06%</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-5,10%</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-3,31%</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-7,36%</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endParaRPr lang="en-US" sz="1100">
              <a:solidFill>
                <a:schemeClr val="tx1"/>
              </a:solidFill>
            </a:endParaRP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265745629"/>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-147.542.669.000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14,94%</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FUESSV50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-60.009.776.000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49,80%</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-50.776.378.000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10,55%</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-48.685.340.000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10,41%</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-48.106.640.000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35,22%</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VTP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-30.452.910.000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OCB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-27.280.777.000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6,12%</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-27.069.310.000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MSB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-18.473.270.000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-11.334.190.000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4287375288"/>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260.067.175.000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196.438.099.000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19,42%</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167.092.145.000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9,43%</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116.489.849.000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113.288.130.000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14,34%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106.750.984.000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104.483.635.000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8,06%</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69.902.807.000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3,55%</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45.664.583.000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5,17%</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39.230.210.000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8,95%</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492264053"/>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289.316.120.000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272.740.387.350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266.862.823.250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237.955.110.200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209.592.788.300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142.900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135.562.950.000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131.761.490.000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111.564.261.800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93.349.683.900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90.357.284.500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194544717"/>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-844.136.228.000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-712.667.132.750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-536.576.644.400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-300.802.237.800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-248.120.997.900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-198.089.177.800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VRE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-169.996.087.100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-151.455.000.600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-148.792.511.400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-137.637.811.500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10/08 – 14/08/2026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3634374156"/>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 Thông báo phát hành cổ phiếu để tăng vốn cổ phần từ NVCSH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339889304"/>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-14.221.945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-5.501.104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-28.590.078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-36.488.604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-242.317.311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-58.652.613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-134.238.230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-145.231.497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3728118227"/>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b="0"/>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980223120"/>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78.700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-55,03%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25.100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-10,83%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-33,90%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-40,14%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-15,79%</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21659212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58.500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16.200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-15,40%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-33,53%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-49,17%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4,52%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-37,42%</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0653784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a:t>
                      </a:r>
                    </a:p>
                  </a:txBody>
                  <a:tcPr marL="9525" marR="9525" marT="9525" marB="0" anchor="ctr">
                    <a:lnL>
                      <a:noFill/>
                    </a:lnL>
                    <a:lnR>
                      <a:noFill/>
                    </a:lnR>
                    <a:lnT>
                      <a:noFill/>
                    </a:lnT>
                    <a:lnB>
                      <a:noFill/>
                    </a:lnB>
                    <a:noFill/>
                  </a:tcPr>
                </a:tc>
                <a:tc>
                  <a:txBody>
                    <a:bodyPr/>
                    <a:lstStyle/>
                    <a:p>
                      <a:pPr algn="ctr" fontAlgn="ctr"/>
                      <a:endParaRPr lang="en-VN" sz="1000" b="0" i="0" u="none" strike="noStrike">
                        <a:solidFill>
                          <a:srgbClr val="9C0006"/>
                        </a:solidFill>
                        <a:effectLst/>
                        <a:latin typeface="Arial" panose="020B0604020202020204" pitchFamily="34" charset="0"/>
                      </a:endParaRP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35.050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200.400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18,16%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-13,06%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239,09%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61,88%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322,58%</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3561</Words>
  <Application>Microsoft Office PowerPoint</Application>
  <PresentationFormat>Widescreen</PresentationFormat>
  <Paragraphs>1299</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3859</cp:revision>
  <dcterms:created xsi:type="dcterms:W3CDTF">2020-03-18T03:42:50Z</dcterms:created>
  <dcterms:modified xsi:type="dcterms:W3CDTF">2026-08-21T08:20:54Z</dcterms:modified>
</cp:coreProperties>
</file>