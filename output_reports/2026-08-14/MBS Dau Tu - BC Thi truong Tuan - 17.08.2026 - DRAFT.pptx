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8/21/2026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10/08 – 14/08/2026</a:t>
            </a: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a:t>
            </a:r>
            <a:r>
              <a:rPr lang="en-US" sz="1400" b="1">
                <a:solidFill>
                  <a:srgbClr val="141ED2"/>
                </a:solidFill>
                <a:latin typeface="+mj-lt"/>
                <a:cs typeface="Times New Roman" panose="02020603050405020304" pitchFamily="18" charset="0"/>
              </a:rPr>
              <a:t>THEO DÕI</a:t>
            </a:r>
            <a:endParaRPr lang="en-US" sz="1400" b="1" dirty="0">
              <a:solidFill>
                <a:srgbClr val="141ED2"/>
              </a:solidFill>
              <a:latin typeface="+mj-lt"/>
              <a:cs typeface="Times New Roman" panose="02020603050405020304" pitchFamily="18" charset="0"/>
            </a:endParaRP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5" name="Chart 6">
            <a:extLst>
              <a:ext uri="{FF2B5EF4-FFF2-40B4-BE49-F238E27FC236}">
                <a16:creationId xmlns:a16="http://schemas.microsoft.com/office/drawing/2014/main" id="{30660801-3A38-433B-A5BE-31119488EB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0AD0F200-AB62-46E2-B27F-E3E243FBF0B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1986057214"/>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4,77%</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5,72%</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pt-BR" sz="1100" b="0" i="0" u="none" strike="noStrike">
                          <a:solidFill>
                            <a:srgbClr val="000000"/>
                          </a:solidFill>
                          <a:effectLst/>
                          <a:latin typeface="Calibri" panose="020F0502020204030204" pitchFamily="34" charset="0"/>
                        </a:rPr>
                        <a:t>Hàng cá nhân &amp; Gia dụng</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-4,91%</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1,73%</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2,87%</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-2,55%</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-1,14%</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-8,62%</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9,06%</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-5,10%</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-3,31%</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-7,36%</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-6,43%</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endParaRPr lang="en-US" sz="1100">
              <a:solidFill>
                <a:schemeClr val="tx1"/>
              </a:solidFill>
            </a:endParaRP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453399354"/>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-147.542.669.000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14,94%</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FUESSV50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-60.009.776.000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49,80%</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-50.776.378.000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10,55%</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-48.685.340.000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10,41%</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-48.106.640.000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35,22%</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VTP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-30.452.910.000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OCB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-27.280.777.000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6,12%</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-27.069.310.000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MSB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-18.473.270.000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-11.334.190.000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427711132"/>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260.067.175.000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196.438.099.000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19,42%</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167.092.145.000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9,43%</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116.489.849.000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9,01%</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113.288.130.000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14,34%</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106.750.984.000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9,08%</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104.483.635.000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8,06%</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69.902.807.000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3,55%</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45.664.583.000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5,17%</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39.230.210.000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8,95%</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3742540267"/>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289.316.120.000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272.740.387.350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266.862.823.250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237.955.110.200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209.592.788.300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142.900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135.562.950.000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131.761.490.000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8,48%</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111.564.261.800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93.349.683.900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24,51%</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PVT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90.357.284.500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12,91%</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436041327"/>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-844.136.228.000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-712.667.132.750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-536.576.644.400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-300.802.237.800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-248.120.997.900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-198.089.177.800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VRE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-169.996.087.100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11,26%</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-151.455.000.600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-148.792.511.400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-137.637.811.500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10/08 – 14/08/2026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1742077848"/>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11/08/2026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 Thông báo phát hành cổ phiếu để tăng vốn cổ phần từ NVCSH</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200907285"/>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-14.221.945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-5.501.104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-28.590.078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-36.488.604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-242.317.311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-58.652.613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-134.238.230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-145.231.497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1073560434"/>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2225414088"/>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19.950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78.700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-55,03%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25.100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0,40%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-5,28%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-10,83%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-33,90%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-40,14%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-15,79%</a:t>
                      </a:r>
                      <a:endParaRPr lang="en-VN" sz="1000" b="0" i="0" u="none" strike="noStrike" dirty="0">
                        <a:solidFill>
                          <a:srgbClr val="C0000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56412902"/>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7.430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-47,26%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-49,35%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-68,95%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-29,17%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58.500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16.200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-15,40%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-33,53%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-49,17%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4,52%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-37,42%</a:t>
                      </a:r>
                      <a:endParaRPr lang="en-VN" sz="1000" b="0" i="0" u="none" strike="noStrike" dirty="0">
                        <a:solidFill>
                          <a:srgbClr val="C0000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51358110"/>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89,90%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-64,86%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-2,42%</a:t>
                      </a:r>
                    </a:p>
                  </a:txBody>
                  <a:tcPr marL="9525" marR="9525" marT="9525" marB="0" anchor="ctr">
                    <a:lnL>
                      <a:noFill/>
                    </a:lnL>
                    <a:lnR>
                      <a:noFill/>
                    </a:lnR>
                    <a:lnT>
                      <a:noFill/>
                    </a:lnT>
                    <a:lnB>
                      <a:noFill/>
                    </a:lnB>
                    <a:noFill/>
                  </a:tcPr>
                </a:tc>
                <a:tc>
                  <a:txBody>
                    <a:bodyPr/>
                    <a:lstStyle/>
                    <a:p>
                      <a:pPr algn="ctr" fontAlgn="ctr"/>
                      <a:endParaRPr lang="en-VN" sz="1000" b="0" i="0" u="none" strike="noStrike">
                        <a:solidFill>
                          <a:srgbClr val="9C0006"/>
                        </a:solidFill>
                        <a:effectLst/>
                        <a:latin typeface="Arial" panose="020B0604020202020204" pitchFamily="34" charset="0"/>
                      </a:endParaRP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-8,41%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35.050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-47,76%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63,16%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-19,62%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200.400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-6,79%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-8,49%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18,16%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-13,06%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239,09%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68,6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61,88%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322,58%</a:t>
                      </a:r>
                      <a:endParaRPr lang="en-VN" sz="1000" b="0" i="0" u="none" strike="noStrike" dirty="0">
                        <a:solidFill>
                          <a:srgbClr val="00B05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3672</Words>
  <Application>Microsoft Office PowerPoint</Application>
  <PresentationFormat>Widescreen</PresentationFormat>
  <Paragraphs>1298</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Tahoma</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3858</cp:revision>
  <dcterms:created xsi:type="dcterms:W3CDTF">2020-03-18T03:42:50Z</dcterms:created>
  <dcterms:modified xsi:type="dcterms:W3CDTF">2026-08-21T08:23:28Z</dcterms:modified>
</cp:coreProperties>
</file>