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03" autoAdjust="0"/>
    <p:restoredTop sz="93909"/>
  </p:normalViewPr>
  <p:slideViewPr>
    <p:cSldViewPr snapToGrid="0">
      <p:cViewPr varScale="1">
        <p:scale>
          <a:sx n="105" d="100"/>
          <a:sy n="105" d="100"/>
        </p:scale>
        <p:origin x="1422" y="102"/>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min\Documents\Projects\BCTT%20Tuan\dong%20gop%20cua%20vingroup\Dong%20gop%20cua%20vingroup_update%20110926.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v>VNINDEX</c:v>
          </c:tx>
          <c:spPr>
            <a:ln>
              <a:prstDash val="solid"/>
            </a:ln>
          </c:spPr>
          <c:marker>
            <c:symbol val="none"/>
          </c:marker>
          <c:cat>
            <c:numRef>
              <c:f>Sheet1!$A$2:$A$393</c:f>
              <c:numCache>
                <c:formatCode>mm/dd/yyyy</c:formatCode>
                <c:ptCount val="392"/>
                <c:pt idx="1">
                  <c:v>46276</c:v>
                </c:pt>
                <c:pt idx="2">
                  <c:v>46275</c:v>
                </c:pt>
                <c:pt idx="3">
                  <c:v>46274</c:v>
                </c:pt>
                <c:pt idx="4">
                  <c:v>46273</c:v>
                </c:pt>
                <c:pt idx="5">
                  <c:v>46272</c:v>
                </c:pt>
                <c:pt idx="6">
                  <c:v>46269</c:v>
                </c:pt>
                <c:pt idx="7">
                  <c:v>46268</c:v>
                </c:pt>
                <c:pt idx="8">
                  <c:v>46262</c:v>
                </c:pt>
                <c:pt idx="9">
                  <c:v>46261</c:v>
                </c:pt>
                <c:pt idx="10">
                  <c:v>46260</c:v>
                </c:pt>
                <c:pt idx="11">
                  <c:v>46259</c:v>
                </c:pt>
                <c:pt idx="12">
                  <c:v>46258</c:v>
                </c:pt>
                <c:pt idx="13">
                  <c:v>46255</c:v>
                </c:pt>
                <c:pt idx="14">
                  <c:v>46254</c:v>
                </c:pt>
                <c:pt idx="15">
                  <c:v>46253</c:v>
                </c:pt>
                <c:pt idx="16">
                  <c:v>46252</c:v>
                </c:pt>
                <c:pt idx="17">
                  <c:v>46251</c:v>
                </c:pt>
                <c:pt idx="18">
                  <c:v>46248</c:v>
                </c:pt>
                <c:pt idx="19">
                  <c:v>46247</c:v>
                </c:pt>
                <c:pt idx="20">
                  <c:v>46246</c:v>
                </c:pt>
                <c:pt idx="21">
                  <c:v>46245</c:v>
                </c:pt>
                <c:pt idx="22">
                  <c:v>46244</c:v>
                </c:pt>
                <c:pt idx="23">
                  <c:v>46241</c:v>
                </c:pt>
                <c:pt idx="24">
                  <c:v>46240</c:v>
                </c:pt>
                <c:pt idx="25">
                  <c:v>46239</c:v>
                </c:pt>
                <c:pt idx="26">
                  <c:v>46238</c:v>
                </c:pt>
                <c:pt idx="27">
                  <c:v>46237</c:v>
                </c:pt>
                <c:pt idx="28">
                  <c:v>46234</c:v>
                </c:pt>
                <c:pt idx="29">
                  <c:v>46233</c:v>
                </c:pt>
                <c:pt idx="30">
                  <c:v>46232</c:v>
                </c:pt>
                <c:pt idx="31">
                  <c:v>46231</c:v>
                </c:pt>
                <c:pt idx="32">
                  <c:v>46230</c:v>
                </c:pt>
                <c:pt idx="33">
                  <c:v>46227</c:v>
                </c:pt>
                <c:pt idx="34">
                  <c:v>46226</c:v>
                </c:pt>
                <c:pt idx="35">
                  <c:v>46225</c:v>
                </c:pt>
                <c:pt idx="36">
                  <c:v>46224</c:v>
                </c:pt>
                <c:pt idx="37">
                  <c:v>46223</c:v>
                </c:pt>
                <c:pt idx="38">
                  <c:v>46220</c:v>
                </c:pt>
                <c:pt idx="39">
                  <c:v>46219</c:v>
                </c:pt>
                <c:pt idx="40">
                  <c:v>46218</c:v>
                </c:pt>
                <c:pt idx="41">
                  <c:v>46217</c:v>
                </c:pt>
                <c:pt idx="42">
                  <c:v>46216</c:v>
                </c:pt>
                <c:pt idx="43">
                  <c:v>46213</c:v>
                </c:pt>
                <c:pt idx="44">
                  <c:v>46212</c:v>
                </c:pt>
                <c:pt idx="45">
                  <c:v>46211</c:v>
                </c:pt>
                <c:pt idx="46">
                  <c:v>46210</c:v>
                </c:pt>
                <c:pt idx="47">
                  <c:v>46209</c:v>
                </c:pt>
                <c:pt idx="48">
                  <c:v>46206</c:v>
                </c:pt>
                <c:pt idx="49">
                  <c:v>46205</c:v>
                </c:pt>
                <c:pt idx="50">
                  <c:v>46204</c:v>
                </c:pt>
                <c:pt idx="51">
                  <c:v>46203</c:v>
                </c:pt>
                <c:pt idx="52">
                  <c:v>46202</c:v>
                </c:pt>
                <c:pt idx="53">
                  <c:v>46199</c:v>
                </c:pt>
                <c:pt idx="54">
                  <c:v>46198</c:v>
                </c:pt>
                <c:pt idx="55">
                  <c:v>46197</c:v>
                </c:pt>
                <c:pt idx="56">
                  <c:v>46196</c:v>
                </c:pt>
                <c:pt idx="57">
                  <c:v>46195</c:v>
                </c:pt>
                <c:pt idx="58">
                  <c:v>46192</c:v>
                </c:pt>
                <c:pt idx="59">
                  <c:v>46191</c:v>
                </c:pt>
                <c:pt idx="60">
                  <c:v>46190</c:v>
                </c:pt>
                <c:pt idx="61">
                  <c:v>46189</c:v>
                </c:pt>
                <c:pt idx="62">
                  <c:v>46188</c:v>
                </c:pt>
                <c:pt idx="63">
                  <c:v>46185</c:v>
                </c:pt>
                <c:pt idx="64">
                  <c:v>46184</c:v>
                </c:pt>
                <c:pt idx="65">
                  <c:v>46183</c:v>
                </c:pt>
                <c:pt idx="66">
                  <c:v>46182</c:v>
                </c:pt>
                <c:pt idx="67">
                  <c:v>46181</c:v>
                </c:pt>
                <c:pt idx="68">
                  <c:v>46178</c:v>
                </c:pt>
                <c:pt idx="69">
                  <c:v>46177</c:v>
                </c:pt>
                <c:pt idx="70">
                  <c:v>46176</c:v>
                </c:pt>
                <c:pt idx="71">
                  <c:v>46175</c:v>
                </c:pt>
                <c:pt idx="72">
                  <c:v>46174</c:v>
                </c:pt>
                <c:pt idx="73">
                  <c:v>46171</c:v>
                </c:pt>
                <c:pt idx="74">
                  <c:v>46170</c:v>
                </c:pt>
                <c:pt idx="75">
                  <c:v>46169</c:v>
                </c:pt>
                <c:pt idx="76">
                  <c:v>46168</c:v>
                </c:pt>
                <c:pt idx="77">
                  <c:v>46167</c:v>
                </c:pt>
                <c:pt idx="78">
                  <c:v>46164</c:v>
                </c:pt>
                <c:pt idx="79">
                  <c:v>46163</c:v>
                </c:pt>
                <c:pt idx="80">
                  <c:v>46162</c:v>
                </c:pt>
                <c:pt idx="81">
                  <c:v>46161</c:v>
                </c:pt>
                <c:pt idx="82">
                  <c:v>46160</c:v>
                </c:pt>
                <c:pt idx="83">
                  <c:v>46157</c:v>
                </c:pt>
                <c:pt idx="84">
                  <c:v>46156</c:v>
                </c:pt>
                <c:pt idx="85">
                  <c:v>46155</c:v>
                </c:pt>
                <c:pt idx="86">
                  <c:v>46154</c:v>
                </c:pt>
                <c:pt idx="87">
                  <c:v>46153</c:v>
                </c:pt>
                <c:pt idx="88">
                  <c:v>46150</c:v>
                </c:pt>
                <c:pt idx="89">
                  <c:v>46149</c:v>
                </c:pt>
                <c:pt idx="90">
                  <c:v>46148</c:v>
                </c:pt>
                <c:pt idx="91">
                  <c:v>46147</c:v>
                </c:pt>
                <c:pt idx="92">
                  <c:v>46146</c:v>
                </c:pt>
                <c:pt idx="93">
                  <c:v>46141</c:v>
                </c:pt>
                <c:pt idx="94">
                  <c:v>46140</c:v>
                </c:pt>
                <c:pt idx="95">
                  <c:v>46136</c:v>
                </c:pt>
                <c:pt idx="96">
                  <c:v>46135</c:v>
                </c:pt>
                <c:pt idx="97">
                  <c:v>46134</c:v>
                </c:pt>
                <c:pt idx="98">
                  <c:v>46133</c:v>
                </c:pt>
                <c:pt idx="99">
                  <c:v>46132</c:v>
                </c:pt>
                <c:pt idx="100">
                  <c:v>46129</c:v>
                </c:pt>
                <c:pt idx="101">
                  <c:v>46128</c:v>
                </c:pt>
                <c:pt idx="102">
                  <c:v>46127</c:v>
                </c:pt>
                <c:pt idx="103">
                  <c:v>46126</c:v>
                </c:pt>
                <c:pt idx="104">
                  <c:v>46125</c:v>
                </c:pt>
                <c:pt idx="105">
                  <c:v>46122</c:v>
                </c:pt>
                <c:pt idx="106">
                  <c:v>46121</c:v>
                </c:pt>
                <c:pt idx="107">
                  <c:v>46120</c:v>
                </c:pt>
                <c:pt idx="108">
                  <c:v>46119</c:v>
                </c:pt>
                <c:pt idx="109">
                  <c:v>46118</c:v>
                </c:pt>
                <c:pt idx="110">
                  <c:v>46115</c:v>
                </c:pt>
                <c:pt idx="111">
                  <c:v>46114</c:v>
                </c:pt>
                <c:pt idx="112">
                  <c:v>46113</c:v>
                </c:pt>
                <c:pt idx="113">
                  <c:v>46112</c:v>
                </c:pt>
                <c:pt idx="114">
                  <c:v>46111</c:v>
                </c:pt>
                <c:pt idx="115">
                  <c:v>46108</c:v>
                </c:pt>
                <c:pt idx="116">
                  <c:v>46107</c:v>
                </c:pt>
                <c:pt idx="117">
                  <c:v>46106</c:v>
                </c:pt>
                <c:pt idx="118">
                  <c:v>46105</c:v>
                </c:pt>
                <c:pt idx="119">
                  <c:v>46104</c:v>
                </c:pt>
                <c:pt idx="120">
                  <c:v>46101</c:v>
                </c:pt>
                <c:pt idx="121">
                  <c:v>46100</c:v>
                </c:pt>
                <c:pt idx="122">
                  <c:v>46099</c:v>
                </c:pt>
                <c:pt idx="123">
                  <c:v>46098</c:v>
                </c:pt>
                <c:pt idx="124">
                  <c:v>46097</c:v>
                </c:pt>
                <c:pt idx="125">
                  <c:v>46094</c:v>
                </c:pt>
                <c:pt idx="126">
                  <c:v>46093</c:v>
                </c:pt>
                <c:pt idx="127">
                  <c:v>46092</c:v>
                </c:pt>
                <c:pt idx="128">
                  <c:v>46091</c:v>
                </c:pt>
                <c:pt idx="129">
                  <c:v>46090</c:v>
                </c:pt>
                <c:pt idx="130">
                  <c:v>46087</c:v>
                </c:pt>
                <c:pt idx="131">
                  <c:v>46086</c:v>
                </c:pt>
                <c:pt idx="132">
                  <c:v>46085</c:v>
                </c:pt>
                <c:pt idx="133">
                  <c:v>46084</c:v>
                </c:pt>
                <c:pt idx="134">
                  <c:v>46083</c:v>
                </c:pt>
                <c:pt idx="135">
                  <c:v>46080</c:v>
                </c:pt>
                <c:pt idx="136">
                  <c:v>46079</c:v>
                </c:pt>
                <c:pt idx="137">
                  <c:v>46078</c:v>
                </c:pt>
                <c:pt idx="138">
                  <c:v>46077</c:v>
                </c:pt>
                <c:pt idx="139">
                  <c:v>46076</c:v>
                </c:pt>
                <c:pt idx="140">
                  <c:v>46066</c:v>
                </c:pt>
                <c:pt idx="141">
                  <c:v>46065</c:v>
                </c:pt>
                <c:pt idx="142">
                  <c:v>46064</c:v>
                </c:pt>
                <c:pt idx="143">
                  <c:v>46063</c:v>
                </c:pt>
                <c:pt idx="144">
                  <c:v>46062</c:v>
                </c:pt>
                <c:pt idx="145">
                  <c:v>46059</c:v>
                </c:pt>
                <c:pt idx="146">
                  <c:v>46058</c:v>
                </c:pt>
                <c:pt idx="147">
                  <c:v>46057</c:v>
                </c:pt>
                <c:pt idx="148">
                  <c:v>46056</c:v>
                </c:pt>
                <c:pt idx="149">
                  <c:v>46055</c:v>
                </c:pt>
                <c:pt idx="150">
                  <c:v>46052</c:v>
                </c:pt>
                <c:pt idx="151">
                  <c:v>46051</c:v>
                </c:pt>
                <c:pt idx="152">
                  <c:v>46050</c:v>
                </c:pt>
                <c:pt idx="153">
                  <c:v>46049</c:v>
                </c:pt>
                <c:pt idx="154">
                  <c:v>46048</c:v>
                </c:pt>
                <c:pt idx="155">
                  <c:v>46045</c:v>
                </c:pt>
                <c:pt idx="156">
                  <c:v>46044</c:v>
                </c:pt>
                <c:pt idx="157">
                  <c:v>46043</c:v>
                </c:pt>
                <c:pt idx="158">
                  <c:v>46042</c:v>
                </c:pt>
                <c:pt idx="159">
                  <c:v>46041</c:v>
                </c:pt>
                <c:pt idx="160">
                  <c:v>46038</c:v>
                </c:pt>
                <c:pt idx="161">
                  <c:v>46037</c:v>
                </c:pt>
                <c:pt idx="162">
                  <c:v>46036</c:v>
                </c:pt>
                <c:pt idx="163">
                  <c:v>46035</c:v>
                </c:pt>
                <c:pt idx="164">
                  <c:v>46034</c:v>
                </c:pt>
                <c:pt idx="165">
                  <c:v>46031</c:v>
                </c:pt>
                <c:pt idx="166">
                  <c:v>46030</c:v>
                </c:pt>
                <c:pt idx="167">
                  <c:v>46029</c:v>
                </c:pt>
                <c:pt idx="168">
                  <c:v>46028</c:v>
                </c:pt>
                <c:pt idx="169">
                  <c:v>46027</c:v>
                </c:pt>
                <c:pt idx="170" formatCode="m/d/yyyy">
                  <c:v>46022</c:v>
                </c:pt>
                <c:pt idx="171" formatCode="m/d/yyyy">
                  <c:v>46021</c:v>
                </c:pt>
                <c:pt idx="172" formatCode="m/d/yyyy">
                  <c:v>46020</c:v>
                </c:pt>
                <c:pt idx="173" formatCode="m/d/yyyy">
                  <c:v>46017</c:v>
                </c:pt>
                <c:pt idx="174" formatCode="m/d/yyyy">
                  <c:v>46016</c:v>
                </c:pt>
                <c:pt idx="175" formatCode="m/d/yyyy">
                  <c:v>46015</c:v>
                </c:pt>
                <c:pt idx="176" formatCode="m/d/yyyy">
                  <c:v>46014</c:v>
                </c:pt>
                <c:pt idx="177" formatCode="m/d/yyyy">
                  <c:v>46013</c:v>
                </c:pt>
                <c:pt idx="178" formatCode="m/d/yyyy">
                  <c:v>46010</c:v>
                </c:pt>
                <c:pt idx="179" formatCode="m/d/yyyy">
                  <c:v>46009</c:v>
                </c:pt>
                <c:pt idx="180" formatCode="m/d/yyyy">
                  <c:v>46008</c:v>
                </c:pt>
                <c:pt idx="181" formatCode="m/d/yyyy">
                  <c:v>46007</c:v>
                </c:pt>
                <c:pt idx="182" formatCode="m/d/yyyy">
                  <c:v>46006</c:v>
                </c:pt>
                <c:pt idx="183" formatCode="m/d/yyyy">
                  <c:v>46003</c:v>
                </c:pt>
                <c:pt idx="184" formatCode="m/d/yyyy">
                  <c:v>46002</c:v>
                </c:pt>
                <c:pt idx="185" formatCode="m/d/yyyy">
                  <c:v>46001</c:v>
                </c:pt>
                <c:pt idx="186" formatCode="m/d/yyyy">
                  <c:v>46000</c:v>
                </c:pt>
                <c:pt idx="187" formatCode="m/d/yyyy">
                  <c:v>45999</c:v>
                </c:pt>
                <c:pt idx="188" formatCode="m/d/yyyy">
                  <c:v>45996</c:v>
                </c:pt>
                <c:pt idx="189" formatCode="m/d/yyyy">
                  <c:v>45995</c:v>
                </c:pt>
                <c:pt idx="190" formatCode="m/d/yyyy">
                  <c:v>45994</c:v>
                </c:pt>
                <c:pt idx="191" formatCode="m/d/yyyy">
                  <c:v>45993</c:v>
                </c:pt>
                <c:pt idx="192" formatCode="m/d/yyyy">
                  <c:v>45992</c:v>
                </c:pt>
                <c:pt idx="193" formatCode="m/d/yyyy">
                  <c:v>45989</c:v>
                </c:pt>
                <c:pt idx="194" formatCode="m/d/yyyy">
                  <c:v>45988</c:v>
                </c:pt>
                <c:pt idx="195" formatCode="m/d/yyyy">
                  <c:v>45987</c:v>
                </c:pt>
                <c:pt idx="196" formatCode="m/d/yyyy">
                  <c:v>45986</c:v>
                </c:pt>
                <c:pt idx="197" formatCode="m/d/yyyy">
                  <c:v>45985</c:v>
                </c:pt>
                <c:pt idx="198" formatCode="m/d/yyyy">
                  <c:v>45982</c:v>
                </c:pt>
                <c:pt idx="199" formatCode="m/d/yyyy">
                  <c:v>45981</c:v>
                </c:pt>
                <c:pt idx="200" formatCode="m/d/yyyy">
                  <c:v>45980</c:v>
                </c:pt>
                <c:pt idx="201" formatCode="m/d/yyyy">
                  <c:v>45979</c:v>
                </c:pt>
                <c:pt idx="202" formatCode="m/d/yyyy">
                  <c:v>45978</c:v>
                </c:pt>
                <c:pt idx="203" formatCode="m/d/yyyy">
                  <c:v>45975</c:v>
                </c:pt>
                <c:pt idx="204" formatCode="m/d/yyyy">
                  <c:v>45974</c:v>
                </c:pt>
                <c:pt idx="205" formatCode="m/d/yyyy">
                  <c:v>45973</c:v>
                </c:pt>
                <c:pt idx="206" formatCode="m/d/yyyy">
                  <c:v>45972</c:v>
                </c:pt>
                <c:pt idx="207" formatCode="m/d/yyyy">
                  <c:v>45971</c:v>
                </c:pt>
                <c:pt idx="208" formatCode="m/d/yyyy">
                  <c:v>45968</c:v>
                </c:pt>
                <c:pt idx="209" formatCode="m/d/yyyy">
                  <c:v>45967</c:v>
                </c:pt>
                <c:pt idx="210" formatCode="m/d/yyyy">
                  <c:v>45966</c:v>
                </c:pt>
                <c:pt idx="211" formatCode="m/d/yyyy">
                  <c:v>45965</c:v>
                </c:pt>
                <c:pt idx="212" formatCode="m/d/yyyy">
                  <c:v>45964</c:v>
                </c:pt>
                <c:pt idx="213" formatCode="m/d/yyyy">
                  <c:v>45961</c:v>
                </c:pt>
                <c:pt idx="214" formatCode="m/d/yyyy">
                  <c:v>45960</c:v>
                </c:pt>
                <c:pt idx="215" formatCode="m/d/yyyy">
                  <c:v>45959</c:v>
                </c:pt>
                <c:pt idx="216" formatCode="m/d/yyyy">
                  <c:v>45958</c:v>
                </c:pt>
                <c:pt idx="217" formatCode="m/d/yyyy">
                  <c:v>45957</c:v>
                </c:pt>
                <c:pt idx="218" formatCode="m/d/yyyy">
                  <c:v>45954</c:v>
                </c:pt>
                <c:pt idx="219" formatCode="m/d/yyyy">
                  <c:v>45953</c:v>
                </c:pt>
                <c:pt idx="220" formatCode="m/d/yyyy">
                  <c:v>45952</c:v>
                </c:pt>
                <c:pt idx="221" formatCode="m/d/yyyy">
                  <c:v>45951</c:v>
                </c:pt>
                <c:pt idx="222" formatCode="m/d/yyyy">
                  <c:v>45950</c:v>
                </c:pt>
                <c:pt idx="223" formatCode="m/d/yyyy">
                  <c:v>45947</c:v>
                </c:pt>
                <c:pt idx="224" formatCode="m/d/yyyy">
                  <c:v>45946</c:v>
                </c:pt>
                <c:pt idx="225" formatCode="m/d/yyyy">
                  <c:v>45945</c:v>
                </c:pt>
                <c:pt idx="226" formatCode="m/d/yyyy">
                  <c:v>45944</c:v>
                </c:pt>
                <c:pt idx="227" formatCode="m/d/yyyy">
                  <c:v>45943</c:v>
                </c:pt>
                <c:pt idx="228" formatCode="m/d/yyyy">
                  <c:v>45940</c:v>
                </c:pt>
                <c:pt idx="229" formatCode="m/d/yyyy">
                  <c:v>45939</c:v>
                </c:pt>
                <c:pt idx="230" formatCode="m/d/yyyy">
                  <c:v>45938</c:v>
                </c:pt>
                <c:pt idx="231" formatCode="m/d/yyyy">
                  <c:v>45937</c:v>
                </c:pt>
                <c:pt idx="232" formatCode="m/d/yyyy">
                  <c:v>45936</c:v>
                </c:pt>
                <c:pt idx="233" formatCode="m/d/yyyy">
                  <c:v>45933</c:v>
                </c:pt>
                <c:pt idx="234" formatCode="m/d/yyyy">
                  <c:v>45932</c:v>
                </c:pt>
                <c:pt idx="235" formatCode="m/d/yyyy">
                  <c:v>45931</c:v>
                </c:pt>
                <c:pt idx="236" formatCode="m/d/yyyy">
                  <c:v>45930</c:v>
                </c:pt>
                <c:pt idx="237" formatCode="m/d/yyyy">
                  <c:v>45929</c:v>
                </c:pt>
                <c:pt idx="238" formatCode="m/d/yyyy">
                  <c:v>45926</c:v>
                </c:pt>
                <c:pt idx="239" formatCode="m/d/yyyy">
                  <c:v>45925</c:v>
                </c:pt>
                <c:pt idx="240" formatCode="m/d/yyyy">
                  <c:v>45924</c:v>
                </c:pt>
                <c:pt idx="241" formatCode="m/d/yyyy">
                  <c:v>45923</c:v>
                </c:pt>
                <c:pt idx="242" formatCode="m/d/yyyy">
                  <c:v>45922</c:v>
                </c:pt>
                <c:pt idx="243" formatCode="m/d/yyyy">
                  <c:v>45919</c:v>
                </c:pt>
                <c:pt idx="244" formatCode="m/d/yyyy">
                  <c:v>45918</c:v>
                </c:pt>
                <c:pt idx="245" formatCode="m/d/yyyy">
                  <c:v>45917</c:v>
                </c:pt>
                <c:pt idx="246" formatCode="m/d/yyyy">
                  <c:v>45916</c:v>
                </c:pt>
                <c:pt idx="247" formatCode="m/d/yyyy">
                  <c:v>45915</c:v>
                </c:pt>
                <c:pt idx="248" formatCode="m/d/yyyy">
                  <c:v>45912</c:v>
                </c:pt>
                <c:pt idx="249" formatCode="m/d/yyyy">
                  <c:v>45911</c:v>
                </c:pt>
                <c:pt idx="250" formatCode="m/d/yyyy">
                  <c:v>45910</c:v>
                </c:pt>
                <c:pt idx="251" formatCode="m/d/yyyy">
                  <c:v>45909</c:v>
                </c:pt>
                <c:pt idx="252" formatCode="m/d/yyyy">
                  <c:v>45908</c:v>
                </c:pt>
                <c:pt idx="253" formatCode="m/d/yyyy">
                  <c:v>45905</c:v>
                </c:pt>
                <c:pt idx="254" formatCode="m/d/yyyy">
                  <c:v>45904</c:v>
                </c:pt>
                <c:pt idx="255" formatCode="m/d/yyyy">
                  <c:v>45903</c:v>
                </c:pt>
                <c:pt idx="256" formatCode="m/d/yyyy">
                  <c:v>45898</c:v>
                </c:pt>
                <c:pt idx="257" formatCode="m/d/yyyy">
                  <c:v>45897</c:v>
                </c:pt>
                <c:pt idx="258" formatCode="m/d/yyyy">
                  <c:v>45896</c:v>
                </c:pt>
                <c:pt idx="259" formatCode="m/d/yyyy">
                  <c:v>45895</c:v>
                </c:pt>
                <c:pt idx="260" formatCode="m/d/yyyy">
                  <c:v>45894</c:v>
                </c:pt>
                <c:pt idx="261" formatCode="m/d/yyyy">
                  <c:v>45891</c:v>
                </c:pt>
                <c:pt idx="262" formatCode="m/d/yyyy">
                  <c:v>45890</c:v>
                </c:pt>
                <c:pt idx="263" formatCode="m/d/yyyy">
                  <c:v>45889</c:v>
                </c:pt>
                <c:pt idx="264" formatCode="m/d/yyyy">
                  <c:v>45888</c:v>
                </c:pt>
                <c:pt idx="265" formatCode="m/d/yyyy">
                  <c:v>45887</c:v>
                </c:pt>
                <c:pt idx="266" formatCode="m/d/yyyy">
                  <c:v>45884</c:v>
                </c:pt>
                <c:pt idx="267" formatCode="m/d/yyyy">
                  <c:v>45883</c:v>
                </c:pt>
                <c:pt idx="268" formatCode="m/d/yyyy">
                  <c:v>45882</c:v>
                </c:pt>
                <c:pt idx="269" formatCode="m/d/yyyy">
                  <c:v>45881</c:v>
                </c:pt>
                <c:pt idx="270" formatCode="m/d/yyyy">
                  <c:v>45880</c:v>
                </c:pt>
                <c:pt idx="271" formatCode="m/d/yyyy">
                  <c:v>45877</c:v>
                </c:pt>
                <c:pt idx="272" formatCode="m/d/yyyy">
                  <c:v>45876</c:v>
                </c:pt>
                <c:pt idx="273" formatCode="m/d/yyyy">
                  <c:v>45875</c:v>
                </c:pt>
                <c:pt idx="274" formatCode="m/d/yyyy">
                  <c:v>45874</c:v>
                </c:pt>
                <c:pt idx="275" formatCode="m/d/yyyy">
                  <c:v>45873</c:v>
                </c:pt>
                <c:pt idx="276" formatCode="m/d/yyyy">
                  <c:v>45870</c:v>
                </c:pt>
                <c:pt idx="277" formatCode="m/d/yyyy">
                  <c:v>45869</c:v>
                </c:pt>
                <c:pt idx="278" formatCode="m/d/yyyy">
                  <c:v>45868</c:v>
                </c:pt>
                <c:pt idx="279" formatCode="m/d/yyyy">
                  <c:v>45867</c:v>
                </c:pt>
                <c:pt idx="280" formatCode="m/d/yyyy">
                  <c:v>45866</c:v>
                </c:pt>
                <c:pt idx="281" formatCode="m/d/yyyy">
                  <c:v>45863</c:v>
                </c:pt>
                <c:pt idx="282" formatCode="m/d/yyyy">
                  <c:v>45862</c:v>
                </c:pt>
                <c:pt idx="283" formatCode="m/d/yyyy">
                  <c:v>45861</c:v>
                </c:pt>
                <c:pt idx="284" formatCode="m/d/yyyy">
                  <c:v>45860</c:v>
                </c:pt>
                <c:pt idx="285" formatCode="m/d/yyyy">
                  <c:v>45859</c:v>
                </c:pt>
                <c:pt idx="286" formatCode="m/d/yyyy">
                  <c:v>45856</c:v>
                </c:pt>
                <c:pt idx="287" formatCode="m/d/yyyy">
                  <c:v>45855</c:v>
                </c:pt>
                <c:pt idx="288" formatCode="m/d/yyyy">
                  <c:v>45854</c:v>
                </c:pt>
                <c:pt idx="289" formatCode="m/d/yyyy">
                  <c:v>45853</c:v>
                </c:pt>
                <c:pt idx="290" formatCode="m/d/yyyy">
                  <c:v>45852</c:v>
                </c:pt>
                <c:pt idx="291" formatCode="m/d/yyyy">
                  <c:v>45849</c:v>
                </c:pt>
                <c:pt idx="292" formatCode="m/d/yyyy">
                  <c:v>45848</c:v>
                </c:pt>
                <c:pt idx="293" formatCode="m/d/yyyy">
                  <c:v>45847</c:v>
                </c:pt>
                <c:pt idx="294" formatCode="m/d/yyyy">
                  <c:v>45846</c:v>
                </c:pt>
                <c:pt idx="295" formatCode="m/d/yyyy">
                  <c:v>45845</c:v>
                </c:pt>
                <c:pt idx="296" formatCode="m/d/yyyy">
                  <c:v>45842</c:v>
                </c:pt>
                <c:pt idx="297" formatCode="m/d/yyyy">
                  <c:v>45841</c:v>
                </c:pt>
                <c:pt idx="298" formatCode="m/d/yyyy">
                  <c:v>45840</c:v>
                </c:pt>
                <c:pt idx="299" formatCode="m/d/yyyy">
                  <c:v>45839</c:v>
                </c:pt>
                <c:pt idx="300" formatCode="m/d/yyyy">
                  <c:v>45838</c:v>
                </c:pt>
                <c:pt idx="301" formatCode="m/d/yyyy">
                  <c:v>45835</c:v>
                </c:pt>
                <c:pt idx="302" formatCode="m/d/yyyy">
                  <c:v>45834</c:v>
                </c:pt>
                <c:pt idx="303" formatCode="m/d/yyyy">
                  <c:v>45833</c:v>
                </c:pt>
                <c:pt idx="304" formatCode="m/d/yyyy">
                  <c:v>45832</c:v>
                </c:pt>
                <c:pt idx="305" formatCode="m/d/yyyy">
                  <c:v>45831</c:v>
                </c:pt>
                <c:pt idx="306" formatCode="m/d/yyyy">
                  <c:v>45828</c:v>
                </c:pt>
                <c:pt idx="307" formatCode="m/d/yyyy">
                  <c:v>45827</c:v>
                </c:pt>
                <c:pt idx="308" formatCode="m/d/yyyy">
                  <c:v>45826</c:v>
                </c:pt>
                <c:pt idx="309" formatCode="m/d/yyyy">
                  <c:v>45825</c:v>
                </c:pt>
                <c:pt idx="310" formatCode="m/d/yyyy">
                  <c:v>45824</c:v>
                </c:pt>
                <c:pt idx="311" formatCode="m/d/yyyy">
                  <c:v>45821</c:v>
                </c:pt>
                <c:pt idx="312" formatCode="m/d/yyyy">
                  <c:v>45820</c:v>
                </c:pt>
                <c:pt idx="313" formatCode="m/d/yyyy">
                  <c:v>45819</c:v>
                </c:pt>
                <c:pt idx="314" formatCode="m/d/yyyy">
                  <c:v>45818</c:v>
                </c:pt>
                <c:pt idx="315" formatCode="m/d/yyyy">
                  <c:v>45817</c:v>
                </c:pt>
                <c:pt idx="316" formatCode="m/d/yyyy">
                  <c:v>45814</c:v>
                </c:pt>
                <c:pt idx="317" formatCode="m/d/yyyy">
                  <c:v>45813</c:v>
                </c:pt>
                <c:pt idx="318" formatCode="m/d/yyyy">
                  <c:v>45812</c:v>
                </c:pt>
                <c:pt idx="319" formatCode="m/d/yyyy">
                  <c:v>45811</c:v>
                </c:pt>
                <c:pt idx="320" formatCode="m/d/yyyy">
                  <c:v>45810</c:v>
                </c:pt>
                <c:pt idx="321" formatCode="m/d/yyyy">
                  <c:v>45807</c:v>
                </c:pt>
                <c:pt idx="322" formatCode="m/d/yyyy">
                  <c:v>45806</c:v>
                </c:pt>
                <c:pt idx="323" formatCode="m/d/yyyy">
                  <c:v>45805</c:v>
                </c:pt>
                <c:pt idx="324" formatCode="m/d/yyyy">
                  <c:v>45804</c:v>
                </c:pt>
                <c:pt idx="325" formatCode="m/d/yyyy">
                  <c:v>45803</c:v>
                </c:pt>
                <c:pt idx="326" formatCode="m/d/yyyy">
                  <c:v>45800</c:v>
                </c:pt>
                <c:pt idx="327" formatCode="m/d/yyyy">
                  <c:v>45799</c:v>
                </c:pt>
                <c:pt idx="328" formatCode="m/d/yyyy">
                  <c:v>45798</c:v>
                </c:pt>
                <c:pt idx="329" formatCode="m/d/yyyy">
                  <c:v>45797</c:v>
                </c:pt>
                <c:pt idx="330" formatCode="m/d/yyyy">
                  <c:v>45796</c:v>
                </c:pt>
                <c:pt idx="331" formatCode="m/d/yyyy">
                  <c:v>45793</c:v>
                </c:pt>
                <c:pt idx="332" formatCode="m/d/yyyy">
                  <c:v>45792</c:v>
                </c:pt>
                <c:pt idx="333" formatCode="m/d/yyyy">
                  <c:v>45791</c:v>
                </c:pt>
                <c:pt idx="334" formatCode="m/d/yyyy">
                  <c:v>45790</c:v>
                </c:pt>
                <c:pt idx="335" formatCode="m/d/yyyy">
                  <c:v>45789</c:v>
                </c:pt>
                <c:pt idx="336" formatCode="m/d/yyyy">
                  <c:v>45786</c:v>
                </c:pt>
                <c:pt idx="337" formatCode="m/d/yyyy">
                  <c:v>45785</c:v>
                </c:pt>
                <c:pt idx="338" formatCode="m/d/yyyy">
                  <c:v>45784</c:v>
                </c:pt>
                <c:pt idx="339" formatCode="m/d/yyyy">
                  <c:v>45783</c:v>
                </c:pt>
                <c:pt idx="340" formatCode="m/d/yyyy">
                  <c:v>45782</c:v>
                </c:pt>
                <c:pt idx="341" formatCode="m/d/yyyy">
                  <c:v>45776</c:v>
                </c:pt>
                <c:pt idx="342" formatCode="m/d/yyyy">
                  <c:v>45775</c:v>
                </c:pt>
                <c:pt idx="343" formatCode="m/d/yyyy">
                  <c:v>45772</c:v>
                </c:pt>
                <c:pt idx="344" formatCode="m/d/yyyy">
                  <c:v>45771</c:v>
                </c:pt>
                <c:pt idx="345" formatCode="m/d/yyyy">
                  <c:v>45770</c:v>
                </c:pt>
                <c:pt idx="346" formatCode="m/d/yyyy">
                  <c:v>45769</c:v>
                </c:pt>
                <c:pt idx="347" formatCode="m/d/yyyy">
                  <c:v>45768</c:v>
                </c:pt>
                <c:pt idx="348" formatCode="m/d/yyyy">
                  <c:v>45765</c:v>
                </c:pt>
                <c:pt idx="349" formatCode="m/d/yyyy">
                  <c:v>45764</c:v>
                </c:pt>
                <c:pt idx="350" formatCode="m/d/yyyy">
                  <c:v>45763</c:v>
                </c:pt>
                <c:pt idx="351" formatCode="m/d/yyyy">
                  <c:v>45762</c:v>
                </c:pt>
                <c:pt idx="352" formatCode="m/d/yyyy">
                  <c:v>45761</c:v>
                </c:pt>
                <c:pt idx="353" formatCode="m/d/yyyy">
                  <c:v>45758</c:v>
                </c:pt>
                <c:pt idx="354" formatCode="m/d/yyyy">
                  <c:v>45757</c:v>
                </c:pt>
                <c:pt idx="355" formatCode="m/d/yyyy">
                  <c:v>45756</c:v>
                </c:pt>
                <c:pt idx="356" formatCode="m/d/yyyy">
                  <c:v>45755</c:v>
                </c:pt>
                <c:pt idx="357" formatCode="m/d/yyyy">
                  <c:v>45751</c:v>
                </c:pt>
                <c:pt idx="358" formatCode="m/d/yyyy">
                  <c:v>45750</c:v>
                </c:pt>
                <c:pt idx="359" formatCode="m/d/yyyy">
                  <c:v>45749</c:v>
                </c:pt>
                <c:pt idx="360" formatCode="m/d/yyyy">
                  <c:v>45748</c:v>
                </c:pt>
                <c:pt idx="361" formatCode="m/d/yyyy">
                  <c:v>45747</c:v>
                </c:pt>
                <c:pt idx="362" formatCode="m/d/yyyy">
                  <c:v>45744</c:v>
                </c:pt>
                <c:pt idx="363" formatCode="m/d/yyyy">
                  <c:v>45743</c:v>
                </c:pt>
                <c:pt idx="364" formatCode="m/d/yyyy">
                  <c:v>45742</c:v>
                </c:pt>
                <c:pt idx="365" formatCode="m/d/yyyy">
                  <c:v>45741</c:v>
                </c:pt>
                <c:pt idx="366" formatCode="m/d/yyyy">
                  <c:v>45740</c:v>
                </c:pt>
                <c:pt idx="367" formatCode="m/d/yyyy">
                  <c:v>45737</c:v>
                </c:pt>
                <c:pt idx="368" formatCode="m/d/yyyy">
                  <c:v>45736</c:v>
                </c:pt>
                <c:pt idx="369" formatCode="m/d/yyyy">
                  <c:v>45735</c:v>
                </c:pt>
                <c:pt idx="370" formatCode="m/d/yyyy">
                  <c:v>45734</c:v>
                </c:pt>
                <c:pt idx="371" formatCode="m/d/yyyy">
                  <c:v>45733</c:v>
                </c:pt>
                <c:pt idx="372" formatCode="m/d/yyyy">
                  <c:v>45730</c:v>
                </c:pt>
                <c:pt idx="373" formatCode="m/d/yyyy">
                  <c:v>45729</c:v>
                </c:pt>
                <c:pt idx="374" formatCode="m/d/yyyy">
                  <c:v>45728</c:v>
                </c:pt>
                <c:pt idx="375" formatCode="m/d/yyyy">
                  <c:v>45727</c:v>
                </c:pt>
                <c:pt idx="376" formatCode="m/d/yyyy">
                  <c:v>45726</c:v>
                </c:pt>
                <c:pt idx="377" formatCode="m/d/yyyy">
                  <c:v>45723</c:v>
                </c:pt>
                <c:pt idx="378" formatCode="m/d/yyyy">
                  <c:v>45722</c:v>
                </c:pt>
                <c:pt idx="379" formatCode="m/d/yyyy">
                  <c:v>45721</c:v>
                </c:pt>
                <c:pt idx="380" formatCode="m/d/yyyy">
                  <c:v>45720</c:v>
                </c:pt>
                <c:pt idx="381" formatCode="m/d/yyyy">
                  <c:v>45719</c:v>
                </c:pt>
                <c:pt idx="382" formatCode="m/d/yyyy">
                  <c:v>45716</c:v>
                </c:pt>
                <c:pt idx="383" formatCode="m/d/yyyy">
                  <c:v>45715</c:v>
                </c:pt>
                <c:pt idx="384" formatCode="m/d/yyyy">
                  <c:v>45714</c:v>
                </c:pt>
                <c:pt idx="385" formatCode="m/d/yyyy">
                  <c:v>45713</c:v>
                </c:pt>
                <c:pt idx="386" formatCode="m/d/yyyy">
                  <c:v>45712</c:v>
                </c:pt>
                <c:pt idx="387" formatCode="m/d/yyyy">
                  <c:v>45709</c:v>
                </c:pt>
                <c:pt idx="388" formatCode="m/d/yyyy">
                  <c:v>45708</c:v>
                </c:pt>
                <c:pt idx="389" formatCode="m/d/yyyy">
                  <c:v>45707</c:v>
                </c:pt>
                <c:pt idx="390" formatCode="m/d/yyyy">
                  <c:v>45706</c:v>
                </c:pt>
                <c:pt idx="391" formatCode="m/d/yyyy">
                  <c:v>45705</c:v>
                </c:pt>
              </c:numCache>
            </c:numRef>
          </c:cat>
          <c:val>
            <c:numRef>
              <c:f>Sheet1!$B$2:$B$393</c:f>
              <c:numCache>
                <c:formatCode>#,##0.00</c:formatCode>
                <c:ptCount val="392"/>
                <c:pt idx="0">
                  <c:v>0</c:v>
                </c:pt>
                <c:pt idx="1">
                  <c:v>1795.21</c:v>
                </c:pt>
                <c:pt idx="2">
                  <c:v>1829.23</c:v>
                </c:pt>
                <c:pt idx="3">
                  <c:v>1827.12</c:v>
                </c:pt>
                <c:pt idx="4">
                  <c:v>1830.44</c:v>
                </c:pt>
                <c:pt idx="5">
                  <c:v>1821.64</c:v>
                </c:pt>
                <c:pt idx="6">
                  <c:v>1853.08</c:v>
                </c:pt>
                <c:pt idx="7">
                  <c:v>1827.72</c:v>
                </c:pt>
                <c:pt idx="8">
                  <c:v>1832.12</c:v>
                </c:pt>
                <c:pt idx="9">
                  <c:v>1831.56</c:v>
                </c:pt>
                <c:pt idx="10">
                  <c:v>1821.32</c:v>
                </c:pt>
                <c:pt idx="11">
                  <c:v>1791.41</c:v>
                </c:pt>
                <c:pt idx="12">
                  <c:v>1788.78</c:v>
                </c:pt>
                <c:pt idx="13">
                  <c:v>1768.12</c:v>
                </c:pt>
                <c:pt idx="14">
                  <c:v>1734.24</c:v>
                </c:pt>
                <c:pt idx="15">
                  <c:v>1726.69</c:v>
                </c:pt>
                <c:pt idx="16">
                  <c:v>1732.02</c:v>
                </c:pt>
                <c:pt idx="17">
                  <c:v>1727.46</c:v>
                </c:pt>
                <c:pt idx="18">
                  <c:v>1729.08</c:v>
                </c:pt>
                <c:pt idx="19">
                  <c:v>1765.63</c:v>
                </c:pt>
                <c:pt idx="20">
                  <c:v>1793.18</c:v>
                </c:pt>
                <c:pt idx="21">
                  <c:v>1773.41</c:v>
                </c:pt>
                <c:pt idx="22">
                  <c:v>1776.77</c:v>
                </c:pt>
                <c:pt idx="23">
                  <c:v>1768.06</c:v>
                </c:pt>
                <c:pt idx="24">
                  <c:v>1764.78</c:v>
                </c:pt>
                <c:pt idx="25">
                  <c:v>1776.46</c:v>
                </c:pt>
                <c:pt idx="26">
                  <c:v>1777.23</c:v>
                </c:pt>
                <c:pt idx="27">
                  <c:v>1762.84</c:v>
                </c:pt>
                <c:pt idx="28">
                  <c:v>1735.78</c:v>
                </c:pt>
                <c:pt idx="29">
                  <c:v>1744.66</c:v>
                </c:pt>
                <c:pt idx="30">
                  <c:v>1704.68</c:v>
                </c:pt>
                <c:pt idx="31">
                  <c:v>1680.62</c:v>
                </c:pt>
                <c:pt idx="32">
                  <c:v>1669.01</c:v>
                </c:pt>
                <c:pt idx="33">
                  <c:v>1686.11</c:v>
                </c:pt>
                <c:pt idx="34">
                  <c:v>1699.38</c:v>
                </c:pt>
                <c:pt idx="35">
                  <c:v>1668.53</c:v>
                </c:pt>
                <c:pt idx="36">
                  <c:v>1730.56</c:v>
                </c:pt>
                <c:pt idx="37">
                  <c:v>1743.51</c:v>
                </c:pt>
                <c:pt idx="38">
                  <c:v>1787.45</c:v>
                </c:pt>
                <c:pt idx="39">
                  <c:v>1804.24</c:v>
                </c:pt>
                <c:pt idx="40">
                  <c:v>1782.12</c:v>
                </c:pt>
                <c:pt idx="41">
                  <c:v>1806.63</c:v>
                </c:pt>
                <c:pt idx="42">
                  <c:v>1800.54</c:v>
                </c:pt>
                <c:pt idx="43">
                  <c:v>1828.34</c:v>
                </c:pt>
                <c:pt idx="44">
                  <c:v>1840.7</c:v>
                </c:pt>
                <c:pt idx="45">
                  <c:v>1853.7</c:v>
                </c:pt>
                <c:pt idx="46">
                  <c:v>1848.25</c:v>
                </c:pt>
                <c:pt idx="47">
                  <c:v>1843.5</c:v>
                </c:pt>
                <c:pt idx="48">
                  <c:v>1862.08</c:v>
                </c:pt>
                <c:pt idx="49">
                  <c:v>1866.35</c:v>
                </c:pt>
                <c:pt idx="50">
                  <c:v>1867.21</c:v>
                </c:pt>
                <c:pt idx="51">
                  <c:v>1860.01</c:v>
                </c:pt>
                <c:pt idx="52">
                  <c:v>1854.97</c:v>
                </c:pt>
                <c:pt idx="53">
                  <c:v>1871.91</c:v>
                </c:pt>
                <c:pt idx="54">
                  <c:v>1863.07</c:v>
                </c:pt>
                <c:pt idx="55">
                  <c:v>1878.02</c:v>
                </c:pt>
                <c:pt idx="56">
                  <c:v>1869.04</c:v>
                </c:pt>
                <c:pt idx="57">
                  <c:v>1857.91</c:v>
                </c:pt>
                <c:pt idx="58">
                  <c:v>1824.53</c:v>
                </c:pt>
                <c:pt idx="59">
                  <c:v>1830.47</c:v>
                </c:pt>
                <c:pt idx="60">
                  <c:v>1806.2</c:v>
                </c:pt>
                <c:pt idx="61">
                  <c:v>1807.94</c:v>
                </c:pt>
                <c:pt idx="62">
                  <c:v>1799.31</c:v>
                </c:pt>
                <c:pt idx="63">
                  <c:v>1791.65</c:v>
                </c:pt>
                <c:pt idx="64">
                  <c:v>1798.61</c:v>
                </c:pt>
                <c:pt idx="65">
                  <c:v>1803.71</c:v>
                </c:pt>
                <c:pt idx="66">
                  <c:v>1793.05</c:v>
                </c:pt>
                <c:pt idx="67">
                  <c:v>1790.53</c:v>
                </c:pt>
                <c:pt idx="68">
                  <c:v>1838.9</c:v>
                </c:pt>
                <c:pt idx="69">
                  <c:v>1831.55</c:v>
                </c:pt>
                <c:pt idx="70">
                  <c:v>1819.01</c:v>
                </c:pt>
                <c:pt idx="71">
                  <c:v>1826.47</c:v>
                </c:pt>
                <c:pt idx="72">
                  <c:v>1844.54</c:v>
                </c:pt>
                <c:pt idx="73">
                  <c:v>1863.49</c:v>
                </c:pt>
                <c:pt idx="74">
                  <c:v>1863.67</c:v>
                </c:pt>
                <c:pt idx="75">
                  <c:v>1874.43</c:v>
                </c:pt>
                <c:pt idx="76">
                  <c:v>1884.18</c:v>
                </c:pt>
                <c:pt idx="77">
                  <c:v>1886.03</c:v>
                </c:pt>
                <c:pt idx="78">
                  <c:v>1877.13</c:v>
                </c:pt>
                <c:pt idx="79">
                  <c:v>1896.89</c:v>
                </c:pt>
                <c:pt idx="80">
                  <c:v>1913.23</c:v>
                </c:pt>
                <c:pt idx="81">
                  <c:v>1912.93</c:v>
                </c:pt>
                <c:pt idx="82">
                  <c:v>1927.94</c:v>
                </c:pt>
                <c:pt idx="83">
                  <c:v>1921.6</c:v>
                </c:pt>
                <c:pt idx="84">
                  <c:v>1925.46</c:v>
                </c:pt>
                <c:pt idx="85">
                  <c:v>1898.37</c:v>
                </c:pt>
                <c:pt idx="86">
                  <c:v>1901.1</c:v>
                </c:pt>
                <c:pt idx="87">
                  <c:v>1895.5</c:v>
                </c:pt>
                <c:pt idx="88">
                  <c:v>1915.37</c:v>
                </c:pt>
                <c:pt idx="89">
                  <c:v>1909.01</c:v>
                </c:pt>
                <c:pt idx="90">
                  <c:v>1891.2</c:v>
                </c:pt>
                <c:pt idx="91">
                  <c:v>1874.85</c:v>
                </c:pt>
                <c:pt idx="92">
                  <c:v>1854.06</c:v>
                </c:pt>
                <c:pt idx="93">
                  <c:v>1854.1</c:v>
                </c:pt>
                <c:pt idx="94">
                  <c:v>1875.84</c:v>
                </c:pt>
                <c:pt idx="95">
                  <c:v>1853.29</c:v>
                </c:pt>
                <c:pt idx="96">
                  <c:v>1870.36</c:v>
                </c:pt>
                <c:pt idx="97">
                  <c:v>1857.3</c:v>
                </c:pt>
                <c:pt idx="98">
                  <c:v>1833.48</c:v>
                </c:pt>
                <c:pt idx="99">
                  <c:v>1837.11</c:v>
                </c:pt>
                <c:pt idx="100">
                  <c:v>1817.17</c:v>
                </c:pt>
                <c:pt idx="101">
                  <c:v>1819.83</c:v>
                </c:pt>
                <c:pt idx="102">
                  <c:v>1800.65</c:v>
                </c:pt>
                <c:pt idx="103">
                  <c:v>1775.65</c:v>
                </c:pt>
                <c:pt idx="104">
                  <c:v>1758.96</c:v>
                </c:pt>
                <c:pt idx="105">
                  <c:v>1750</c:v>
                </c:pt>
                <c:pt idx="106">
                  <c:v>1736.68</c:v>
                </c:pt>
                <c:pt idx="107">
                  <c:v>1756.55</c:v>
                </c:pt>
                <c:pt idx="108">
                  <c:v>1677.54</c:v>
                </c:pt>
                <c:pt idx="109">
                  <c:v>1674.99</c:v>
                </c:pt>
                <c:pt idx="110">
                  <c:v>1684.04</c:v>
                </c:pt>
                <c:pt idx="111">
                  <c:v>1694.82</c:v>
                </c:pt>
                <c:pt idx="112">
                  <c:v>1702.93</c:v>
                </c:pt>
                <c:pt idx="113">
                  <c:v>1674.49</c:v>
                </c:pt>
                <c:pt idx="114">
                  <c:v>1662.54</c:v>
                </c:pt>
                <c:pt idx="115">
                  <c:v>1672.8</c:v>
                </c:pt>
                <c:pt idx="116">
                  <c:v>1644.63</c:v>
                </c:pt>
                <c:pt idx="117">
                  <c:v>1658.19</c:v>
                </c:pt>
                <c:pt idx="118">
                  <c:v>1614.77</c:v>
                </c:pt>
                <c:pt idx="119">
                  <c:v>1591.17</c:v>
                </c:pt>
                <c:pt idx="120">
                  <c:v>1647.81</c:v>
                </c:pt>
                <c:pt idx="121">
                  <c:v>1699.13</c:v>
                </c:pt>
                <c:pt idx="122">
                  <c:v>1713.83</c:v>
                </c:pt>
                <c:pt idx="123">
                  <c:v>1710.29</c:v>
                </c:pt>
                <c:pt idx="124">
                  <c:v>1693.21</c:v>
                </c:pt>
                <c:pt idx="125">
                  <c:v>1696.24</c:v>
                </c:pt>
                <c:pt idx="126">
                  <c:v>1709.61</c:v>
                </c:pt>
                <c:pt idx="127">
                  <c:v>1728.34</c:v>
                </c:pt>
                <c:pt idx="128">
                  <c:v>1676.73</c:v>
                </c:pt>
                <c:pt idx="129">
                  <c:v>1652.79</c:v>
                </c:pt>
                <c:pt idx="130">
                  <c:v>1767.84</c:v>
                </c:pt>
                <c:pt idx="131">
                  <c:v>1808.51</c:v>
                </c:pt>
                <c:pt idx="132">
                  <c:v>1818.27</c:v>
                </c:pt>
                <c:pt idx="133">
                  <c:v>1813.14</c:v>
                </c:pt>
                <c:pt idx="134">
                  <c:v>1846.1</c:v>
                </c:pt>
                <c:pt idx="135">
                  <c:v>1880.33</c:v>
                </c:pt>
                <c:pt idx="136">
                  <c:v>1879.64</c:v>
                </c:pt>
                <c:pt idx="137">
                  <c:v>1860.91</c:v>
                </c:pt>
                <c:pt idx="138">
                  <c:v>1867.62</c:v>
                </c:pt>
                <c:pt idx="139">
                  <c:v>1860.14</c:v>
                </c:pt>
                <c:pt idx="140">
                  <c:v>1824.09</c:v>
                </c:pt>
                <c:pt idx="141">
                  <c:v>1814.09</c:v>
                </c:pt>
                <c:pt idx="142">
                  <c:v>1796.85</c:v>
                </c:pt>
                <c:pt idx="143">
                  <c:v>1754.03</c:v>
                </c:pt>
                <c:pt idx="144">
                  <c:v>1754.82</c:v>
                </c:pt>
                <c:pt idx="145">
                  <c:v>1755.49</c:v>
                </c:pt>
                <c:pt idx="146">
                  <c:v>1782.56</c:v>
                </c:pt>
                <c:pt idx="147">
                  <c:v>1791.43</c:v>
                </c:pt>
                <c:pt idx="148">
                  <c:v>1813.4</c:v>
                </c:pt>
                <c:pt idx="149">
                  <c:v>1806.5</c:v>
                </c:pt>
                <c:pt idx="150">
                  <c:v>1829.04</c:v>
                </c:pt>
                <c:pt idx="151">
                  <c:v>1814.98</c:v>
                </c:pt>
                <c:pt idx="152">
                  <c:v>1802.91</c:v>
                </c:pt>
                <c:pt idx="153">
                  <c:v>1830.5</c:v>
                </c:pt>
                <c:pt idx="154">
                  <c:v>1843.72</c:v>
                </c:pt>
                <c:pt idx="155">
                  <c:v>1870.79</c:v>
                </c:pt>
                <c:pt idx="156">
                  <c:v>1882.73</c:v>
                </c:pt>
                <c:pt idx="157">
                  <c:v>1885.44</c:v>
                </c:pt>
                <c:pt idx="158">
                  <c:v>1893.78</c:v>
                </c:pt>
                <c:pt idx="159">
                  <c:v>1896.59</c:v>
                </c:pt>
                <c:pt idx="160">
                  <c:v>1879.13</c:v>
                </c:pt>
                <c:pt idx="161">
                  <c:v>1864.8</c:v>
                </c:pt>
                <c:pt idx="162">
                  <c:v>1894.44</c:v>
                </c:pt>
                <c:pt idx="163">
                  <c:v>1902.93</c:v>
                </c:pt>
                <c:pt idx="164">
                  <c:v>1877.33</c:v>
                </c:pt>
                <c:pt idx="165">
                  <c:v>1867.9</c:v>
                </c:pt>
                <c:pt idx="166">
                  <c:v>1855.56</c:v>
                </c:pt>
                <c:pt idx="167">
                  <c:v>1861.58</c:v>
                </c:pt>
                <c:pt idx="168">
                  <c:v>1816.27</c:v>
                </c:pt>
                <c:pt idx="169">
                  <c:v>1788.4</c:v>
                </c:pt>
                <c:pt idx="170">
                  <c:v>1784.49</c:v>
                </c:pt>
                <c:pt idx="171">
                  <c:v>1766.9</c:v>
                </c:pt>
                <c:pt idx="172">
                  <c:v>1754.84</c:v>
                </c:pt>
                <c:pt idx="173">
                  <c:v>1729.8</c:v>
                </c:pt>
                <c:pt idx="174">
                  <c:v>1742.85</c:v>
                </c:pt>
                <c:pt idx="175">
                  <c:v>1782.82</c:v>
                </c:pt>
                <c:pt idx="176">
                  <c:v>1772.15</c:v>
                </c:pt>
                <c:pt idx="177">
                  <c:v>1751.03</c:v>
                </c:pt>
                <c:pt idx="178">
                  <c:v>1704.31</c:v>
                </c:pt>
                <c:pt idx="179">
                  <c:v>1676.98</c:v>
                </c:pt>
                <c:pt idx="180">
                  <c:v>1673.66</c:v>
                </c:pt>
                <c:pt idx="181">
                  <c:v>1679.18</c:v>
                </c:pt>
                <c:pt idx="182">
                  <c:v>1646.01</c:v>
                </c:pt>
                <c:pt idx="183">
                  <c:v>1646.89</c:v>
                </c:pt>
                <c:pt idx="184">
                  <c:v>1698.9</c:v>
                </c:pt>
                <c:pt idx="185">
                  <c:v>1718.98</c:v>
                </c:pt>
                <c:pt idx="186">
                  <c:v>1747.17</c:v>
                </c:pt>
                <c:pt idx="187">
                  <c:v>1753.74</c:v>
                </c:pt>
                <c:pt idx="188">
                  <c:v>1741.32</c:v>
                </c:pt>
                <c:pt idx="189">
                  <c:v>1737.24</c:v>
                </c:pt>
                <c:pt idx="190">
                  <c:v>1731.77</c:v>
                </c:pt>
                <c:pt idx="191">
                  <c:v>1717.06</c:v>
                </c:pt>
                <c:pt idx="192">
                  <c:v>1701.67</c:v>
                </c:pt>
                <c:pt idx="193">
                  <c:v>1690.99</c:v>
                </c:pt>
                <c:pt idx="194">
                  <c:v>1684.32</c:v>
                </c:pt>
                <c:pt idx="195">
                  <c:v>1680.36</c:v>
                </c:pt>
                <c:pt idx="196">
                  <c:v>1660.36</c:v>
                </c:pt>
                <c:pt idx="197">
                  <c:v>1667.98</c:v>
                </c:pt>
                <c:pt idx="198">
                  <c:v>1654.93</c:v>
                </c:pt>
                <c:pt idx="199">
                  <c:v>1655.99</c:v>
                </c:pt>
                <c:pt idx="200">
                  <c:v>1649</c:v>
                </c:pt>
                <c:pt idx="201">
                  <c:v>1659.92</c:v>
                </c:pt>
                <c:pt idx="202">
                  <c:v>1654.42</c:v>
                </c:pt>
                <c:pt idx="203">
                  <c:v>1635.46</c:v>
                </c:pt>
                <c:pt idx="204">
                  <c:v>1631.44</c:v>
                </c:pt>
                <c:pt idx="205">
                  <c:v>1631.86</c:v>
                </c:pt>
                <c:pt idx="206">
                  <c:v>1593.61</c:v>
                </c:pt>
                <c:pt idx="207">
                  <c:v>1580.54</c:v>
                </c:pt>
                <c:pt idx="208">
                  <c:v>1599.1</c:v>
                </c:pt>
                <c:pt idx="209">
                  <c:v>1642.64</c:v>
                </c:pt>
                <c:pt idx="210">
                  <c:v>1654.89</c:v>
                </c:pt>
                <c:pt idx="211">
                  <c:v>1651.98</c:v>
                </c:pt>
                <c:pt idx="212">
                  <c:v>1617</c:v>
                </c:pt>
                <c:pt idx="213">
                  <c:v>1639.65</c:v>
                </c:pt>
                <c:pt idx="214">
                  <c:v>1669.57</c:v>
                </c:pt>
                <c:pt idx="215">
                  <c:v>1685.83</c:v>
                </c:pt>
                <c:pt idx="216">
                  <c:v>1680.5</c:v>
                </c:pt>
                <c:pt idx="217">
                  <c:v>1652.54</c:v>
                </c:pt>
                <c:pt idx="218">
                  <c:v>1683.18</c:v>
                </c:pt>
                <c:pt idx="219">
                  <c:v>1687.06</c:v>
                </c:pt>
                <c:pt idx="220">
                  <c:v>1678.5</c:v>
                </c:pt>
                <c:pt idx="221">
                  <c:v>1663.43</c:v>
                </c:pt>
                <c:pt idx="222">
                  <c:v>1636.43</c:v>
                </c:pt>
                <c:pt idx="223">
                  <c:v>1731.19</c:v>
                </c:pt>
                <c:pt idx="224">
                  <c:v>1766.85</c:v>
                </c:pt>
                <c:pt idx="225">
                  <c:v>1757.95</c:v>
                </c:pt>
                <c:pt idx="226">
                  <c:v>1761.06</c:v>
                </c:pt>
                <c:pt idx="227">
                  <c:v>1765.12</c:v>
                </c:pt>
                <c:pt idx="228">
                  <c:v>1747.55</c:v>
                </c:pt>
                <c:pt idx="229">
                  <c:v>1716.47</c:v>
                </c:pt>
                <c:pt idx="230">
                  <c:v>1697.83</c:v>
                </c:pt>
                <c:pt idx="231">
                  <c:v>1685.3</c:v>
                </c:pt>
                <c:pt idx="232">
                  <c:v>1695.5</c:v>
                </c:pt>
                <c:pt idx="233">
                  <c:v>1645.82</c:v>
                </c:pt>
                <c:pt idx="234">
                  <c:v>1652.71</c:v>
                </c:pt>
                <c:pt idx="235">
                  <c:v>1665.05</c:v>
                </c:pt>
                <c:pt idx="236">
                  <c:v>1661.7</c:v>
                </c:pt>
                <c:pt idx="237">
                  <c:v>1666.48</c:v>
                </c:pt>
                <c:pt idx="238">
                  <c:v>1660.7</c:v>
                </c:pt>
                <c:pt idx="239">
                  <c:v>1666.09</c:v>
                </c:pt>
                <c:pt idx="240">
                  <c:v>1657.46</c:v>
                </c:pt>
                <c:pt idx="241">
                  <c:v>1635.26</c:v>
                </c:pt>
                <c:pt idx="242">
                  <c:v>1634.45</c:v>
                </c:pt>
                <c:pt idx="243">
                  <c:v>1658.62</c:v>
                </c:pt>
                <c:pt idx="244">
                  <c:v>1665.18</c:v>
                </c:pt>
                <c:pt idx="245">
                  <c:v>1670.97</c:v>
                </c:pt>
                <c:pt idx="246">
                  <c:v>1680.9</c:v>
                </c:pt>
                <c:pt idx="247">
                  <c:v>1684.9</c:v>
                </c:pt>
                <c:pt idx="248">
                  <c:v>1667.26</c:v>
                </c:pt>
                <c:pt idx="249">
                  <c:v>1657.75</c:v>
                </c:pt>
                <c:pt idx="250">
                  <c:v>1643.26</c:v>
                </c:pt>
                <c:pt idx="251">
                  <c:v>1637.32</c:v>
                </c:pt>
                <c:pt idx="252">
                  <c:v>1624.53</c:v>
                </c:pt>
                <c:pt idx="253">
                  <c:v>1666.97</c:v>
                </c:pt>
                <c:pt idx="254">
                  <c:v>1696.29</c:v>
                </c:pt>
                <c:pt idx="255">
                  <c:v>1681.3</c:v>
                </c:pt>
                <c:pt idx="256">
                  <c:v>1682.21</c:v>
                </c:pt>
                <c:pt idx="257">
                  <c:v>1680.86</c:v>
                </c:pt>
                <c:pt idx="258">
                  <c:v>1672.78</c:v>
                </c:pt>
                <c:pt idx="259">
                  <c:v>1667.63</c:v>
                </c:pt>
                <c:pt idx="260">
                  <c:v>1614.03</c:v>
                </c:pt>
                <c:pt idx="261">
                  <c:v>1645.47</c:v>
                </c:pt>
                <c:pt idx="262">
                  <c:v>1688</c:v>
                </c:pt>
                <c:pt idx="263">
                  <c:v>1664.36</c:v>
                </c:pt>
                <c:pt idx="264">
                  <c:v>1654.2</c:v>
                </c:pt>
                <c:pt idx="265">
                  <c:v>1636.37</c:v>
                </c:pt>
                <c:pt idx="266">
                  <c:v>1630</c:v>
                </c:pt>
                <c:pt idx="267">
                  <c:v>1640.69</c:v>
                </c:pt>
                <c:pt idx="268">
                  <c:v>1611.6</c:v>
                </c:pt>
                <c:pt idx="269">
                  <c:v>1608.22</c:v>
                </c:pt>
                <c:pt idx="270">
                  <c:v>1596.86</c:v>
                </c:pt>
                <c:pt idx="271">
                  <c:v>1584.95</c:v>
                </c:pt>
                <c:pt idx="272">
                  <c:v>1581.81</c:v>
                </c:pt>
                <c:pt idx="273">
                  <c:v>1573.71</c:v>
                </c:pt>
                <c:pt idx="274">
                  <c:v>1547.15</c:v>
                </c:pt>
                <c:pt idx="275">
                  <c:v>1528.19</c:v>
                </c:pt>
                <c:pt idx="276">
                  <c:v>1495.21</c:v>
                </c:pt>
                <c:pt idx="277">
                  <c:v>1502.52</c:v>
                </c:pt>
                <c:pt idx="278">
                  <c:v>1507.63</c:v>
                </c:pt>
                <c:pt idx="279">
                  <c:v>1493.41</c:v>
                </c:pt>
                <c:pt idx="280">
                  <c:v>1557.42</c:v>
                </c:pt>
                <c:pt idx="281">
                  <c:v>1531.13</c:v>
                </c:pt>
                <c:pt idx="282">
                  <c:v>1521.02</c:v>
                </c:pt>
                <c:pt idx="283">
                  <c:v>1512.31</c:v>
                </c:pt>
                <c:pt idx="284">
                  <c:v>1509.54</c:v>
                </c:pt>
                <c:pt idx="285">
                  <c:v>1485.05</c:v>
                </c:pt>
                <c:pt idx="286">
                  <c:v>1497.28</c:v>
                </c:pt>
                <c:pt idx="287">
                  <c:v>1490.01</c:v>
                </c:pt>
                <c:pt idx="288">
                  <c:v>1475.47</c:v>
                </c:pt>
                <c:pt idx="289">
                  <c:v>1460.65</c:v>
                </c:pt>
                <c:pt idx="290">
                  <c:v>1470.42</c:v>
                </c:pt>
                <c:pt idx="291">
                  <c:v>1457.76</c:v>
                </c:pt>
                <c:pt idx="292">
                  <c:v>1445.64</c:v>
                </c:pt>
                <c:pt idx="293">
                  <c:v>1431.32</c:v>
                </c:pt>
                <c:pt idx="294">
                  <c:v>1415.46</c:v>
                </c:pt>
                <c:pt idx="295">
                  <c:v>1402.06</c:v>
                </c:pt>
                <c:pt idx="296">
                  <c:v>1386.97</c:v>
                </c:pt>
                <c:pt idx="297">
                  <c:v>1381.96</c:v>
                </c:pt>
                <c:pt idx="298">
                  <c:v>1384.59</c:v>
                </c:pt>
                <c:pt idx="299">
                  <c:v>1377.84</c:v>
                </c:pt>
                <c:pt idx="300">
                  <c:v>1376.07</c:v>
                </c:pt>
                <c:pt idx="301">
                  <c:v>1371.44</c:v>
                </c:pt>
                <c:pt idx="302">
                  <c:v>1365.67</c:v>
                </c:pt>
                <c:pt idx="303">
                  <c:v>1366.75</c:v>
                </c:pt>
                <c:pt idx="304">
                  <c:v>1366.77</c:v>
                </c:pt>
                <c:pt idx="305">
                  <c:v>1358.18</c:v>
                </c:pt>
                <c:pt idx="306">
                  <c:v>1349.35</c:v>
                </c:pt>
                <c:pt idx="307">
                  <c:v>1352.04</c:v>
                </c:pt>
                <c:pt idx="308">
                  <c:v>1346.83</c:v>
                </c:pt>
                <c:pt idx="309">
                  <c:v>1347.69</c:v>
                </c:pt>
                <c:pt idx="310">
                  <c:v>1338.11</c:v>
                </c:pt>
                <c:pt idx="311">
                  <c:v>1315.49</c:v>
                </c:pt>
                <c:pt idx="312">
                  <c:v>1322.99</c:v>
                </c:pt>
                <c:pt idx="313">
                  <c:v>1315.2</c:v>
                </c:pt>
                <c:pt idx="314">
                  <c:v>1316.23</c:v>
                </c:pt>
                <c:pt idx="315">
                  <c:v>1310.57</c:v>
                </c:pt>
                <c:pt idx="316">
                  <c:v>1329.89</c:v>
                </c:pt>
                <c:pt idx="317">
                  <c:v>1342.09</c:v>
                </c:pt>
                <c:pt idx="318">
                  <c:v>1345.74</c:v>
                </c:pt>
                <c:pt idx="319">
                  <c:v>1347.25</c:v>
                </c:pt>
                <c:pt idx="320">
                  <c:v>1336.3</c:v>
                </c:pt>
                <c:pt idx="321">
                  <c:v>1332.6</c:v>
                </c:pt>
                <c:pt idx="322">
                  <c:v>1341.86</c:v>
                </c:pt>
                <c:pt idx="323">
                  <c:v>1341.87</c:v>
                </c:pt>
                <c:pt idx="324">
                  <c:v>1339.81</c:v>
                </c:pt>
                <c:pt idx="325">
                  <c:v>1332.51</c:v>
                </c:pt>
                <c:pt idx="326">
                  <c:v>1314.46</c:v>
                </c:pt>
                <c:pt idx="327">
                  <c:v>1313.84</c:v>
                </c:pt>
                <c:pt idx="328">
                  <c:v>1323.05</c:v>
                </c:pt>
                <c:pt idx="329">
                  <c:v>1315.15</c:v>
                </c:pt>
                <c:pt idx="330">
                  <c:v>1296.29</c:v>
                </c:pt>
                <c:pt idx="331">
                  <c:v>1301.3900000000001</c:v>
                </c:pt>
                <c:pt idx="332">
                  <c:v>1313.2</c:v>
                </c:pt>
                <c:pt idx="333">
                  <c:v>1309.73</c:v>
                </c:pt>
                <c:pt idx="334">
                  <c:v>1293.43</c:v>
                </c:pt>
                <c:pt idx="335">
                  <c:v>1283.26</c:v>
                </c:pt>
                <c:pt idx="336">
                  <c:v>1267.3</c:v>
                </c:pt>
                <c:pt idx="337">
                  <c:v>1269.8</c:v>
                </c:pt>
                <c:pt idx="338">
                  <c:v>1250.3699999999999</c:v>
                </c:pt>
                <c:pt idx="339">
                  <c:v>1241.95</c:v>
                </c:pt>
                <c:pt idx="340">
                  <c:v>1240.05</c:v>
                </c:pt>
                <c:pt idx="341">
                  <c:v>1226.3</c:v>
                </c:pt>
                <c:pt idx="342">
                  <c:v>1226.8</c:v>
                </c:pt>
                <c:pt idx="343">
                  <c:v>1229.23</c:v>
                </c:pt>
                <c:pt idx="344">
                  <c:v>1223.3499999999999</c:v>
                </c:pt>
                <c:pt idx="345">
                  <c:v>1211</c:v>
                </c:pt>
                <c:pt idx="346">
                  <c:v>1197.1300000000001</c:v>
                </c:pt>
                <c:pt idx="347">
                  <c:v>1207.07</c:v>
                </c:pt>
                <c:pt idx="348">
                  <c:v>1219.1199999999999</c:v>
                </c:pt>
                <c:pt idx="349">
                  <c:v>1217.25</c:v>
                </c:pt>
                <c:pt idx="350">
                  <c:v>1210.3</c:v>
                </c:pt>
                <c:pt idx="351">
                  <c:v>1227.79</c:v>
                </c:pt>
                <c:pt idx="352">
                  <c:v>1241.44</c:v>
                </c:pt>
                <c:pt idx="353">
                  <c:v>1222.46</c:v>
                </c:pt>
                <c:pt idx="354">
                  <c:v>1168.3399999999999</c:v>
                </c:pt>
                <c:pt idx="355">
                  <c:v>1094.3</c:v>
                </c:pt>
                <c:pt idx="356">
                  <c:v>1132.79</c:v>
                </c:pt>
                <c:pt idx="357">
                  <c:v>1210.67</c:v>
                </c:pt>
                <c:pt idx="358">
                  <c:v>1229.8399999999999</c:v>
                </c:pt>
                <c:pt idx="359">
                  <c:v>1317.83</c:v>
                </c:pt>
                <c:pt idx="360">
                  <c:v>1317.33</c:v>
                </c:pt>
                <c:pt idx="361">
                  <c:v>1306.8599999999999</c:v>
                </c:pt>
                <c:pt idx="362">
                  <c:v>1317.46</c:v>
                </c:pt>
                <c:pt idx="363">
                  <c:v>1323.81</c:v>
                </c:pt>
                <c:pt idx="364">
                  <c:v>1326.09</c:v>
                </c:pt>
                <c:pt idx="365">
                  <c:v>1331.92</c:v>
                </c:pt>
                <c:pt idx="366">
                  <c:v>1330.32</c:v>
                </c:pt>
                <c:pt idx="367">
                  <c:v>1324.88</c:v>
                </c:pt>
                <c:pt idx="368">
                  <c:v>1323.93</c:v>
                </c:pt>
                <c:pt idx="369">
                  <c:v>1324.63</c:v>
                </c:pt>
                <c:pt idx="370">
                  <c:v>1330.97</c:v>
                </c:pt>
                <c:pt idx="371">
                  <c:v>1336.26</c:v>
                </c:pt>
                <c:pt idx="372">
                  <c:v>1326.15</c:v>
                </c:pt>
                <c:pt idx="373">
                  <c:v>1326.27</c:v>
                </c:pt>
                <c:pt idx="374">
                  <c:v>1334.41</c:v>
                </c:pt>
                <c:pt idx="375">
                  <c:v>1332.54</c:v>
                </c:pt>
                <c:pt idx="376">
                  <c:v>1330.28</c:v>
                </c:pt>
                <c:pt idx="377">
                  <c:v>1326.05</c:v>
                </c:pt>
                <c:pt idx="378">
                  <c:v>1318.22</c:v>
                </c:pt>
                <c:pt idx="379">
                  <c:v>1304.71</c:v>
                </c:pt>
                <c:pt idx="380">
                  <c:v>1311.91</c:v>
                </c:pt>
                <c:pt idx="381">
                  <c:v>1309.3699999999999</c:v>
                </c:pt>
                <c:pt idx="382">
                  <c:v>1305.3599999999999</c:v>
                </c:pt>
                <c:pt idx="383">
                  <c:v>1307.8</c:v>
                </c:pt>
                <c:pt idx="384">
                  <c:v>1302.96</c:v>
                </c:pt>
                <c:pt idx="385">
                  <c:v>1303.1600000000001</c:v>
                </c:pt>
                <c:pt idx="386">
                  <c:v>1304.56</c:v>
                </c:pt>
                <c:pt idx="387">
                  <c:v>1296.75</c:v>
                </c:pt>
                <c:pt idx="388">
                  <c:v>1292.98</c:v>
                </c:pt>
                <c:pt idx="389">
                  <c:v>1288.56</c:v>
                </c:pt>
                <c:pt idx="390">
                  <c:v>1278.1400000000001</c:v>
                </c:pt>
                <c:pt idx="391">
                  <c:v>1272.72</c:v>
                </c:pt>
              </c:numCache>
            </c:numRef>
          </c:val>
          <c:smooth val="0"/>
          <c:extLst>
            <c:ext xmlns:c16="http://schemas.microsoft.com/office/drawing/2014/chart" uri="{C3380CC4-5D6E-409C-BE32-E72D297353CC}">
              <c16:uniqueId val="{00000000-7A0E-4A25-8ACD-CC0F8B3A413B}"/>
            </c:ext>
          </c:extLst>
        </c:ser>
        <c:ser>
          <c:idx val="3"/>
          <c:order val="1"/>
          <c:tx>
            <c:strRef>
              <c:f>Sheet1!$AL$1</c:f>
              <c:strCache>
                <c:ptCount val="1"/>
                <c:pt idx="0">
                  <c:v>VNINDEX loại trừ Vingroup</c:v>
                </c:pt>
              </c:strCache>
            </c:strRef>
          </c:tx>
          <c:spPr>
            <a:ln w="28575" cap="rnd">
              <a:solidFill>
                <a:schemeClr val="accent1"/>
              </a:solidFill>
              <a:prstDash val="solid"/>
              <a:round/>
            </a:ln>
          </c:spPr>
          <c:marker>
            <c:symbol val="none"/>
          </c:marker>
          <c:cat>
            <c:numRef>
              <c:f>Sheet1!$A$2:$A$393</c:f>
              <c:numCache>
                <c:formatCode>mm/dd/yyyy</c:formatCode>
                <c:ptCount val="392"/>
                <c:pt idx="1">
                  <c:v>46276</c:v>
                </c:pt>
                <c:pt idx="2">
                  <c:v>46275</c:v>
                </c:pt>
                <c:pt idx="3">
                  <c:v>46274</c:v>
                </c:pt>
                <c:pt idx="4">
                  <c:v>46273</c:v>
                </c:pt>
                <c:pt idx="5">
                  <c:v>46272</c:v>
                </c:pt>
                <c:pt idx="6">
                  <c:v>46269</c:v>
                </c:pt>
                <c:pt idx="7">
                  <c:v>46268</c:v>
                </c:pt>
                <c:pt idx="8">
                  <c:v>46262</c:v>
                </c:pt>
                <c:pt idx="9">
                  <c:v>46261</c:v>
                </c:pt>
                <c:pt idx="10">
                  <c:v>46260</c:v>
                </c:pt>
                <c:pt idx="11">
                  <c:v>46259</c:v>
                </c:pt>
                <c:pt idx="12">
                  <c:v>46258</c:v>
                </c:pt>
                <c:pt idx="13">
                  <c:v>46255</c:v>
                </c:pt>
                <c:pt idx="14">
                  <c:v>46254</c:v>
                </c:pt>
                <c:pt idx="15">
                  <c:v>46253</c:v>
                </c:pt>
                <c:pt idx="16">
                  <c:v>46252</c:v>
                </c:pt>
                <c:pt idx="17">
                  <c:v>46251</c:v>
                </c:pt>
                <c:pt idx="18">
                  <c:v>46248</c:v>
                </c:pt>
                <c:pt idx="19">
                  <c:v>46247</c:v>
                </c:pt>
                <c:pt idx="20">
                  <c:v>46246</c:v>
                </c:pt>
                <c:pt idx="21">
                  <c:v>46245</c:v>
                </c:pt>
                <c:pt idx="22">
                  <c:v>46244</c:v>
                </c:pt>
                <c:pt idx="23">
                  <c:v>46241</c:v>
                </c:pt>
                <c:pt idx="24">
                  <c:v>46240</c:v>
                </c:pt>
                <c:pt idx="25">
                  <c:v>46239</c:v>
                </c:pt>
                <c:pt idx="26">
                  <c:v>46238</c:v>
                </c:pt>
                <c:pt idx="27">
                  <c:v>46237</c:v>
                </c:pt>
                <c:pt idx="28">
                  <c:v>46234</c:v>
                </c:pt>
                <c:pt idx="29">
                  <c:v>46233</c:v>
                </c:pt>
                <c:pt idx="30">
                  <c:v>46232</c:v>
                </c:pt>
                <c:pt idx="31">
                  <c:v>46231</c:v>
                </c:pt>
                <c:pt idx="32">
                  <c:v>46230</c:v>
                </c:pt>
                <c:pt idx="33">
                  <c:v>46227</c:v>
                </c:pt>
                <c:pt idx="34">
                  <c:v>46226</c:v>
                </c:pt>
                <c:pt idx="35">
                  <c:v>46225</c:v>
                </c:pt>
                <c:pt idx="36">
                  <c:v>46224</c:v>
                </c:pt>
                <c:pt idx="37">
                  <c:v>46223</c:v>
                </c:pt>
                <c:pt idx="38">
                  <c:v>46220</c:v>
                </c:pt>
                <c:pt idx="39">
                  <c:v>46219</c:v>
                </c:pt>
                <c:pt idx="40">
                  <c:v>46218</c:v>
                </c:pt>
                <c:pt idx="41">
                  <c:v>46217</c:v>
                </c:pt>
                <c:pt idx="42">
                  <c:v>46216</c:v>
                </c:pt>
                <c:pt idx="43">
                  <c:v>46213</c:v>
                </c:pt>
                <c:pt idx="44">
                  <c:v>46212</c:v>
                </c:pt>
                <c:pt idx="45">
                  <c:v>46211</c:v>
                </c:pt>
                <c:pt idx="46">
                  <c:v>46210</c:v>
                </c:pt>
                <c:pt idx="47">
                  <c:v>46209</c:v>
                </c:pt>
                <c:pt idx="48">
                  <c:v>46206</c:v>
                </c:pt>
                <c:pt idx="49">
                  <c:v>46205</c:v>
                </c:pt>
                <c:pt idx="50">
                  <c:v>46204</c:v>
                </c:pt>
                <c:pt idx="51">
                  <c:v>46203</c:v>
                </c:pt>
                <c:pt idx="52">
                  <c:v>46202</c:v>
                </c:pt>
                <c:pt idx="53">
                  <c:v>46199</c:v>
                </c:pt>
                <c:pt idx="54">
                  <c:v>46198</c:v>
                </c:pt>
                <c:pt idx="55">
                  <c:v>46197</c:v>
                </c:pt>
                <c:pt idx="56">
                  <c:v>46196</c:v>
                </c:pt>
                <c:pt idx="57">
                  <c:v>46195</c:v>
                </c:pt>
                <c:pt idx="58">
                  <c:v>46192</c:v>
                </c:pt>
                <c:pt idx="59">
                  <c:v>46191</c:v>
                </c:pt>
                <c:pt idx="60">
                  <c:v>46190</c:v>
                </c:pt>
                <c:pt idx="61">
                  <c:v>46189</c:v>
                </c:pt>
                <c:pt idx="62">
                  <c:v>46188</c:v>
                </c:pt>
                <c:pt idx="63">
                  <c:v>46185</c:v>
                </c:pt>
                <c:pt idx="64">
                  <c:v>46184</c:v>
                </c:pt>
                <c:pt idx="65">
                  <c:v>46183</c:v>
                </c:pt>
                <c:pt idx="66">
                  <c:v>46182</c:v>
                </c:pt>
                <c:pt idx="67">
                  <c:v>46181</c:v>
                </c:pt>
                <c:pt idx="68">
                  <c:v>46178</c:v>
                </c:pt>
                <c:pt idx="69">
                  <c:v>46177</c:v>
                </c:pt>
                <c:pt idx="70">
                  <c:v>46176</c:v>
                </c:pt>
                <c:pt idx="71">
                  <c:v>46175</c:v>
                </c:pt>
                <c:pt idx="72">
                  <c:v>46174</c:v>
                </c:pt>
                <c:pt idx="73">
                  <c:v>46171</c:v>
                </c:pt>
                <c:pt idx="74">
                  <c:v>46170</c:v>
                </c:pt>
                <c:pt idx="75">
                  <c:v>46169</c:v>
                </c:pt>
                <c:pt idx="76">
                  <c:v>46168</c:v>
                </c:pt>
                <c:pt idx="77">
                  <c:v>46167</c:v>
                </c:pt>
                <c:pt idx="78">
                  <c:v>46164</c:v>
                </c:pt>
                <c:pt idx="79">
                  <c:v>46163</c:v>
                </c:pt>
                <c:pt idx="80">
                  <c:v>46162</c:v>
                </c:pt>
                <c:pt idx="81">
                  <c:v>46161</c:v>
                </c:pt>
                <c:pt idx="82">
                  <c:v>46160</c:v>
                </c:pt>
                <c:pt idx="83">
                  <c:v>46157</c:v>
                </c:pt>
                <c:pt idx="84">
                  <c:v>46156</c:v>
                </c:pt>
                <c:pt idx="85">
                  <c:v>46155</c:v>
                </c:pt>
                <c:pt idx="86">
                  <c:v>46154</c:v>
                </c:pt>
                <c:pt idx="87">
                  <c:v>46153</c:v>
                </c:pt>
                <c:pt idx="88">
                  <c:v>46150</c:v>
                </c:pt>
                <c:pt idx="89">
                  <c:v>46149</c:v>
                </c:pt>
                <c:pt idx="90">
                  <c:v>46148</c:v>
                </c:pt>
                <c:pt idx="91">
                  <c:v>46147</c:v>
                </c:pt>
                <c:pt idx="92">
                  <c:v>46146</c:v>
                </c:pt>
                <c:pt idx="93">
                  <c:v>46141</c:v>
                </c:pt>
                <c:pt idx="94">
                  <c:v>46140</c:v>
                </c:pt>
                <c:pt idx="95">
                  <c:v>46136</c:v>
                </c:pt>
                <c:pt idx="96">
                  <c:v>46135</c:v>
                </c:pt>
                <c:pt idx="97">
                  <c:v>46134</c:v>
                </c:pt>
                <c:pt idx="98">
                  <c:v>46133</c:v>
                </c:pt>
                <c:pt idx="99">
                  <c:v>46132</c:v>
                </c:pt>
                <c:pt idx="100">
                  <c:v>46129</c:v>
                </c:pt>
                <c:pt idx="101">
                  <c:v>46128</c:v>
                </c:pt>
                <c:pt idx="102">
                  <c:v>46127</c:v>
                </c:pt>
                <c:pt idx="103">
                  <c:v>46126</c:v>
                </c:pt>
                <c:pt idx="104">
                  <c:v>46125</c:v>
                </c:pt>
                <c:pt idx="105">
                  <c:v>46122</c:v>
                </c:pt>
                <c:pt idx="106">
                  <c:v>46121</c:v>
                </c:pt>
                <c:pt idx="107">
                  <c:v>46120</c:v>
                </c:pt>
                <c:pt idx="108">
                  <c:v>46119</c:v>
                </c:pt>
                <c:pt idx="109">
                  <c:v>46118</c:v>
                </c:pt>
                <c:pt idx="110">
                  <c:v>46115</c:v>
                </c:pt>
                <c:pt idx="111">
                  <c:v>46114</c:v>
                </c:pt>
                <c:pt idx="112">
                  <c:v>46113</c:v>
                </c:pt>
                <c:pt idx="113">
                  <c:v>46112</c:v>
                </c:pt>
                <c:pt idx="114">
                  <c:v>46111</c:v>
                </c:pt>
                <c:pt idx="115">
                  <c:v>46108</c:v>
                </c:pt>
                <c:pt idx="116">
                  <c:v>46107</c:v>
                </c:pt>
                <c:pt idx="117">
                  <c:v>46106</c:v>
                </c:pt>
                <c:pt idx="118">
                  <c:v>46105</c:v>
                </c:pt>
                <c:pt idx="119">
                  <c:v>46104</c:v>
                </c:pt>
                <c:pt idx="120">
                  <c:v>46101</c:v>
                </c:pt>
                <c:pt idx="121">
                  <c:v>46100</c:v>
                </c:pt>
                <c:pt idx="122">
                  <c:v>46099</c:v>
                </c:pt>
                <c:pt idx="123">
                  <c:v>46098</c:v>
                </c:pt>
                <c:pt idx="124">
                  <c:v>46097</c:v>
                </c:pt>
                <c:pt idx="125">
                  <c:v>46094</c:v>
                </c:pt>
                <c:pt idx="126">
                  <c:v>46093</c:v>
                </c:pt>
                <c:pt idx="127">
                  <c:v>46092</c:v>
                </c:pt>
                <c:pt idx="128">
                  <c:v>46091</c:v>
                </c:pt>
                <c:pt idx="129">
                  <c:v>46090</c:v>
                </c:pt>
                <c:pt idx="130">
                  <c:v>46087</c:v>
                </c:pt>
                <c:pt idx="131">
                  <c:v>46086</c:v>
                </c:pt>
                <c:pt idx="132">
                  <c:v>46085</c:v>
                </c:pt>
                <c:pt idx="133">
                  <c:v>46084</c:v>
                </c:pt>
                <c:pt idx="134">
                  <c:v>46083</c:v>
                </c:pt>
                <c:pt idx="135">
                  <c:v>46080</c:v>
                </c:pt>
                <c:pt idx="136">
                  <c:v>46079</c:v>
                </c:pt>
                <c:pt idx="137">
                  <c:v>46078</c:v>
                </c:pt>
                <c:pt idx="138">
                  <c:v>46077</c:v>
                </c:pt>
                <c:pt idx="139">
                  <c:v>46076</c:v>
                </c:pt>
                <c:pt idx="140">
                  <c:v>46066</c:v>
                </c:pt>
                <c:pt idx="141">
                  <c:v>46065</c:v>
                </c:pt>
                <c:pt idx="142">
                  <c:v>46064</c:v>
                </c:pt>
                <c:pt idx="143">
                  <c:v>46063</c:v>
                </c:pt>
                <c:pt idx="144">
                  <c:v>46062</c:v>
                </c:pt>
                <c:pt idx="145">
                  <c:v>46059</c:v>
                </c:pt>
                <c:pt idx="146">
                  <c:v>46058</c:v>
                </c:pt>
                <c:pt idx="147">
                  <c:v>46057</c:v>
                </c:pt>
                <c:pt idx="148">
                  <c:v>46056</c:v>
                </c:pt>
                <c:pt idx="149">
                  <c:v>46055</c:v>
                </c:pt>
                <c:pt idx="150">
                  <c:v>46052</c:v>
                </c:pt>
                <c:pt idx="151">
                  <c:v>46051</c:v>
                </c:pt>
                <c:pt idx="152">
                  <c:v>46050</c:v>
                </c:pt>
                <c:pt idx="153">
                  <c:v>46049</c:v>
                </c:pt>
                <c:pt idx="154">
                  <c:v>46048</c:v>
                </c:pt>
                <c:pt idx="155">
                  <c:v>46045</c:v>
                </c:pt>
                <c:pt idx="156">
                  <c:v>46044</c:v>
                </c:pt>
                <c:pt idx="157">
                  <c:v>46043</c:v>
                </c:pt>
                <c:pt idx="158">
                  <c:v>46042</c:v>
                </c:pt>
                <c:pt idx="159">
                  <c:v>46041</c:v>
                </c:pt>
                <c:pt idx="160">
                  <c:v>46038</c:v>
                </c:pt>
                <c:pt idx="161">
                  <c:v>46037</c:v>
                </c:pt>
                <c:pt idx="162">
                  <c:v>46036</c:v>
                </c:pt>
                <c:pt idx="163">
                  <c:v>46035</c:v>
                </c:pt>
                <c:pt idx="164">
                  <c:v>46034</c:v>
                </c:pt>
                <c:pt idx="165">
                  <c:v>46031</c:v>
                </c:pt>
                <c:pt idx="166">
                  <c:v>46030</c:v>
                </c:pt>
                <c:pt idx="167">
                  <c:v>46029</c:v>
                </c:pt>
                <c:pt idx="168">
                  <c:v>46028</c:v>
                </c:pt>
                <c:pt idx="169">
                  <c:v>46027</c:v>
                </c:pt>
                <c:pt idx="170" formatCode="m/d/yyyy">
                  <c:v>46022</c:v>
                </c:pt>
                <c:pt idx="171" formatCode="m/d/yyyy">
                  <c:v>46021</c:v>
                </c:pt>
                <c:pt idx="172" formatCode="m/d/yyyy">
                  <c:v>46020</c:v>
                </c:pt>
                <c:pt idx="173" formatCode="m/d/yyyy">
                  <c:v>46017</c:v>
                </c:pt>
                <c:pt idx="174" formatCode="m/d/yyyy">
                  <c:v>46016</c:v>
                </c:pt>
                <c:pt idx="175" formatCode="m/d/yyyy">
                  <c:v>46015</c:v>
                </c:pt>
                <c:pt idx="176" formatCode="m/d/yyyy">
                  <c:v>46014</c:v>
                </c:pt>
                <c:pt idx="177" formatCode="m/d/yyyy">
                  <c:v>46013</c:v>
                </c:pt>
                <c:pt idx="178" formatCode="m/d/yyyy">
                  <c:v>46010</c:v>
                </c:pt>
                <c:pt idx="179" formatCode="m/d/yyyy">
                  <c:v>46009</c:v>
                </c:pt>
                <c:pt idx="180" formatCode="m/d/yyyy">
                  <c:v>46008</c:v>
                </c:pt>
                <c:pt idx="181" formatCode="m/d/yyyy">
                  <c:v>46007</c:v>
                </c:pt>
                <c:pt idx="182" formatCode="m/d/yyyy">
                  <c:v>46006</c:v>
                </c:pt>
                <c:pt idx="183" formatCode="m/d/yyyy">
                  <c:v>46003</c:v>
                </c:pt>
                <c:pt idx="184" formatCode="m/d/yyyy">
                  <c:v>46002</c:v>
                </c:pt>
                <c:pt idx="185" formatCode="m/d/yyyy">
                  <c:v>46001</c:v>
                </c:pt>
                <c:pt idx="186" formatCode="m/d/yyyy">
                  <c:v>46000</c:v>
                </c:pt>
                <c:pt idx="187" formatCode="m/d/yyyy">
                  <c:v>45999</c:v>
                </c:pt>
                <c:pt idx="188" formatCode="m/d/yyyy">
                  <c:v>45996</c:v>
                </c:pt>
                <c:pt idx="189" formatCode="m/d/yyyy">
                  <c:v>45995</c:v>
                </c:pt>
                <c:pt idx="190" formatCode="m/d/yyyy">
                  <c:v>45994</c:v>
                </c:pt>
                <c:pt idx="191" formatCode="m/d/yyyy">
                  <c:v>45993</c:v>
                </c:pt>
                <c:pt idx="192" formatCode="m/d/yyyy">
                  <c:v>45992</c:v>
                </c:pt>
                <c:pt idx="193" formatCode="m/d/yyyy">
                  <c:v>45989</c:v>
                </c:pt>
                <c:pt idx="194" formatCode="m/d/yyyy">
                  <c:v>45988</c:v>
                </c:pt>
                <c:pt idx="195" formatCode="m/d/yyyy">
                  <c:v>45987</c:v>
                </c:pt>
                <c:pt idx="196" formatCode="m/d/yyyy">
                  <c:v>45986</c:v>
                </c:pt>
                <c:pt idx="197" formatCode="m/d/yyyy">
                  <c:v>45985</c:v>
                </c:pt>
                <c:pt idx="198" formatCode="m/d/yyyy">
                  <c:v>45982</c:v>
                </c:pt>
                <c:pt idx="199" formatCode="m/d/yyyy">
                  <c:v>45981</c:v>
                </c:pt>
                <c:pt idx="200" formatCode="m/d/yyyy">
                  <c:v>45980</c:v>
                </c:pt>
                <c:pt idx="201" formatCode="m/d/yyyy">
                  <c:v>45979</c:v>
                </c:pt>
                <c:pt idx="202" formatCode="m/d/yyyy">
                  <c:v>45978</c:v>
                </c:pt>
                <c:pt idx="203" formatCode="m/d/yyyy">
                  <c:v>45975</c:v>
                </c:pt>
                <c:pt idx="204" formatCode="m/d/yyyy">
                  <c:v>45974</c:v>
                </c:pt>
                <c:pt idx="205" formatCode="m/d/yyyy">
                  <c:v>45973</c:v>
                </c:pt>
                <c:pt idx="206" formatCode="m/d/yyyy">
                  <c:v>45972</c:v>
                </c:pt>
                <c:pt idx="207" formatCode="m/d/yyyy">
                  <c:v>45971</c:v>
                </c:pt>
                <c:pt idx="208" formatCode="m/d/yyyy">
                  <c:v>45968</c:v>
                </c:pt>
                <c:pt idx="209" formatCode="m/d/yyyy">
                  <c:v>45967</c:v>
                </c:pt>
                <c:pt idx="210" formatCode="m/d/yyyy">
                  <c:v>45966</c:v>
                </c:pt>
                <c:pt idx="211" formatCode="m/d/yyyy">
                  <c:v>45965</c:v>
                </c:pt>
                <c:pt idx="212" formatCode="m/d/yyyy">
                  <c:v>45964</c:v>
                </c:pt>
                <c:pt idx="213" formatCode="m/d/yyyy">
                  <c:v>45961</c:v>
                </c:pt>
                <c:pt idx="214" formatCode="m/d/yyyy">
                  <c:v>45960</c:v>
                </c:pt>
                <c:pt idx="215" formatCode="m/d/yyyy">
                  <c:v>45959</c:v>
                </c:pt>
                <c:pt idx="216" formatCode="m/d/yyyy">
                  <c:v>45958</c:v>
                </c:pt>
                <c:pt idx="217" formatCode="m/d/yyyy">
                  <c:v>45957</c:v>
                </c:pt>
                <c:pt idx="218" formatCode="m/d/yyyy">
                  <c:v>45954</c:v>
                </c:pt>
                <c:pt idx="219" formatCode="m/d/yyyy">
                  <c:v>45953</c:v>
                </c:pt>
                <c:pt idx="220" formatCode="m/d/yyyy">
                  <c:v>45952</c:v>
                </c:pt>
                <c:pt idx="221" formatCode="m/d/yyyy">
                  <c:v>45951</c:v>
                </c:pt>
                <c:pt idx="222" formatCode="m/d/yyyy">
                  <c:v>45950</c:v>
                </c:pt>
                <c:pt idx="223" formatCode="m/d/yyyy">
                  <c:v>45947</c:v>
                </c:pt>
                <c:pt idx="224" formatCode="m/d/yyyy">
                  <c:v>45946</c:v>
                </c:pt>
                <c:pt idx="225" formatCode="m/d/yyyy">
                  <c:v>45945</c:v>
                </c:pt>
                <c:pt idx="226" formatCode="m/d/yyyy">
                  <c:v>45944</c:v>
                </c:pt>
                <c:pt idx="227" formatCode="m/d/yyyy">
                  <c:v>45943</c:v>
                </c:pt>
                <c:pt idx="228" formatCode="m/d/yyyy">
                  <c:v>45940</c:v>
                </c:pt>
                <c:pt idx="229" formatCode="m/d/yyyy">
                  <c:v>45939</c:v>
                </c:pt>
                <c:pt idx="230" formatCode="m/d/yyyy">
                  <c:v>45938</c:v>
                </c:pt>
                <c:pt idx="231" formatCode="m/d/yyyy">
                  <c:v>45937</c:v>
                </c:pt>
                <c:pt idx="232" formatCode="m/d/yyyy">
                  <c:v>45936</c:v>
                </c:pt>
                <c:pt idx="233" formatCode="m/d/yyyy">
                  <c:v>45933</c:v>
                </c:pt>
                <c:pt idx="234" formatCode="m/d/yyyy">
                  <c:v>45932</c:v>
                </c:pt>
                <c:pt idx="235" formatCode="m/d/yyyy">
                  <c:v>45931</c:v>
                </c:pt>
                <c:pt idx="236" formatCode="m/d/yyyy">
                  <c:v>45930</c:v>
                </c:pt>
                <c:pt idx="237" formatCode="m/d/yyyy">
                  <c:v>45929</c:v>
                </c:pt>
                <c:pt idx="238" formatCode="m/d/yyyy">
                  <c:v>45926</c:v>
                </c:pt>
                <c:pt idx="239" formatCode="m/d/yyyy">
                  <c:v>45925</c:v>
                </c:pt>
                <c:pt idx="240" formatCode="m/d/yyyy">
                  <c:v>45924</c:v>
                </c:pt>
                <c:pt idx="241" formatCode="m/d/yyyy">
                  <c:v>45923</c:v>
                </c:pt>
                <c:pt idx="242" formatCode="m/d/yyyy">
                  <c:v>45922</c:v>
                </c:pt>
                <c:pt idx="243" formatCode="m/d/yyyy">
                  <c:v>45919</c:v>
                </c:pt>
                <c:pt idx="244" formatCode="m/d/yyyy">
                  <c:v>45918</c:v>
                </c:pt>
                <c:pt idx="245" formatCode="m/d/yyyy">
                  <c:v>45917</c:v>
                </c:pt>
                <c:pt idx="246" formatCode="m/d/yyyy">
                  <c:v>45916</c:v>
                </c:pt>
                <c:pt idx="247" formatCode="m/d/yyyy">
                  <c:v>45915</c:v>
                </c:pt>
                <c:pt idx="248" formatCode="m/d/yyyy">
                  <c:v>45912</c:v>
                </c:pt>
                <c:pt idx="249" formatCode="m/d/yyyy">
                  <c:v>45911</c:v>
                </c:pt>
                <c:pt idx="250" formatCode="m/d/yyyy">
                  <c:v>45910</c:v>
                </c:pt>
                <c:pt idx="251" formatCode="m/d/yyyy">
                  <c:v>45909</c:v>
                </c:pt>
                <c:pt idx="252" formatCode="m/d/yyyy">
                  <c:v>45908</c:v>
                </c:pt>
                <c:pt idx="253" formatCode="m/d/yyyy">
                  <c:v>45905</c:v>
                </c:pt>
                <c:pt idx="254" formatCode="m/d/yyyy">
                  <c:v>45904</c:v>
                </c:pt>
                <c:pt idx="255" formatCode="m/d/yyyy">
                  <c:v>45903</c:v>
                </c:pt>
                <c:pt idx="256" formatCode="m/d/yyyy">
                  <c:v>45898</c:v>
                </c:pt>
                <c:pt idx="257" formatCode="m/d/yyyy">
                  <c:v>45897</c:v>
                </c:pt>
                <c:pt idx="258" formatCode="m/d/yyyy">
                  <c:v>45896</c:v>
                </c:pt>
                <c:pt idx="259" formatCode="m/d/yyyy">
                  <c:v>45895</c:v>
                </c:pt>
                <c:pt idx="260" formatCode="m/d/yyyy">
                  <c:v>45894</c:v>
                </c:pt>
                <c:pt idx="261" formatCode="m/d/yyyy">
                  <c:v>45891</c:v>
                </c:pt>
                <c:pt idx="262" formatCode="m/d/yyyy">
                  <c:v>45890</c:v>
                </c:pt>
                <c:pt idx="263" formatCode="m/d/yyyy">
                  <c:v>45889</c:v>
                </c:pt>
                <c:pt idx="264" formatCode="m/d/yyyy">
                  <c:v>45888</c:v>
                </c:pt>
                <c:pt idx="265" formatCode="m/d/yyyy">
                  <c:v>45887</c:v>
                </c:pt>
                <c:pt idx="266" formatCode="m/d/yyyy">
                  <c:v>45884</c:v>
                </c:pt>
                <c:pt idx="267" formatCode="m/d/yyyy">
                  <c:v>45883</c:v>
                </c:pt>
                <c:pt idx="268" formatCode="m/d/yyyy">
                  <c:v>45882</c:v>
                </c:pt>
                <c:pt idx="269" formatCode="m/d/yyyy">
                  <c:v>45881</c:v>
                </c:pt>
                <c:pt idx="270" formatCode="m/d/yyyy">
                  <c:v>45880</c:v>
                </c:pt>
                <c:pt idx="271" formatCode="m/d/yyyy">
                  <c:v>45877</c:v>
                </c:pt>
                <c:pt idx="272" formatCode="m/d/yyyy">
                  <c:v>45876</c:v>
                </c:pt>
                <c:pt idx="273" formatCode="m/d/yyyy">
                  <c:v>45875</c:v>
                </c:pt>
                <c:pt idx="274" formatCode="m/d/yyyy">
                  <c:v>45874</c:v>
                </c:pt>
                <c:pt idx="275" formatCode="m/d/yyyy">
                  <c:v>45873</c:v>
                </c:pt>
                <c:pt idx="276" formatCode="m/d/yyyy">
                  <c:v>45870</c:v>
                </c:pt>
                <c:pt idx="277" formatCode="m/d/yyyy">
                  <c:v>45869</c:v>
                </c:pt>
                <c:pt idx="278" formatCode="m/d/yyyy">
                  <c:v>45868</c:v>
                </c:pt>
                <c:pt idx="279" formatCode="m/d/yyyy">
                  <c:v>45867</c:v>
                </c:pt>
                <c:pt idx="280" formatCode="m/d/yyyy">
                  <c:v>45866</c:v>
                </c:pt>
                <c:pt idx="281" formatCode="m/d/yyyy">
                  <c:v>45863</c:v>
                </c:pt>
                <c:pt idx="282" formatCode="m/d/yyyy">
                  <c:v>45862</c:v>
                </c:pt>
                <c:pt idx="283" formatCode="m/d/yyyy">
                  <c:v>45861</c:v>
                </c:pt>
                <c:pt idx="284" formatCode="m/d/yyyy">
                  <c:v>45860</c:v>
                </c:pt>
                <c:pt idx="285" formatCode="m/d/yyyy">
                  <c:v>45859</c:v>
                </c:pt>
                <c:pt idx="286" formatCode="m/d/yyyy">
                  <c:v>45856</c:v>
                </c:pt>
                <c:pt idx="287" formatCode="m/d/yyyy">
                  <c:v>45855</c:v>
                </c:pt>
                <c:pt idx="288" formatCode="m/d/yyyy">
                  <c:v>45854</c:v>
                </c:pt>
                <c:pt idx="289" formatCode="m/d/yyyy">
                  <c:v>45853</c:v>
                </c:pt>
                <c:pt idx="290" formatCode="m/d/yyyy">
                  <c:v>45852</c:v>
                </c:pt>
                <c:pt idx="291" formatCode="m/d/yyyy">
                  <c:v>45849</c:v>
                </c:pt>
                <c:pt idx="292" formatCode="m/d/yyyy">
                  <c:v>45848</c:v>
                </c:pt>
                <c:pt idx="293" formatCode="m/d/yyyy">
                  <c:v>45847</c:v>
                </c:pt>
                <c:pt idx="294" formatCode="m/d/yyyy">
                  <c:v>45846</c:v>
                </c:pt>
                <c:pt idx="295" formatCode="m/d/yyyy">
                  <c:v>45845</c:v>
                </c:pt>
                <c:pt idx="296" formatCode="m/d/yyyy">
                  <c:v>45842</c:v>
                </c:pt>
                <c:pt idx="297" formatCode="m/d/yyyy">
                  <c:v>45841</c:v>
                </c:pt>
                <c:pt idx="298" formatCode="m/d/yyyy">
                  <c:v>45840</c:v>
                </c:pt>
                <c:pt idx="299" formatCode="m/d/yyyy">
                  <c:v>45839</c:v>
                </c:pt>
                <c:pt idx="300" formatCode="m/d/yyyy">
                  <c:v>45838</c:v>
                </c:pt>
                <c:pt idx="301" formatCode="m/d/yyyy">
                  <c:v>45835</c:v>
                </c:pt>
                <c:pt idx="302" formatCode="m/d/yyyy">
                  <c:v>45834</c:v>
                </c:pt>
                <c:pt idx="303" formatCode="m/d/yyyy">
                  <c:v>45833</c:v>
                </c:pt>
                <c:pt idx="304" formatCode="m/d/yyyy">
                  <c:v>45832</c:v>
                </c:pt>
                <c:pt idx="305" formatCode="m/d/yyyy">
                  <c:v>45831</c:v>
                </c:pt>
                <c:pt idx="306" formatCode="m/d/yyyy">
                  <c:v>45828</c:v>
                </c:pt>
                <c:pt idx="307" formatCode="m/d/yyyy">
                  <c:v>45827</c:v>
                </c:pt>
                <c:pt idx="308" formatCode="m/d/yyyy">
                  <c:v>45826</c:v>
                </c:pt>
                <c:pt idx="309" formatCode="m/d/yyyy">
                  <c:v>45825</c:v>
                </c:pt>
                <c:pt idx="310" formatCode="m/d/yyyy">
                  <c:v>45824</c:v>
                </c:pt>
                <c:pt idx="311" formatCode="m/d/yyyy">
                  <c:v>45821</c:v>
                </c:pt>
                <c:pt idx="312" formatCode="m/d/yyyy">
                  <c:v>45820</c:v>
                </c:pt>
                <c:pt idx="313" formatCode="m/d/yyyy">
                  <c:v>45819</c:v>
                </c:pt>
                <c:pt idx="314" formatCode="m/d/yyyy">
                  <c:v>45818</c:v>
                </c:pt>
                <c:pt idx="315" formatCode="m/d/yyyy">
                  <c:v>45817</c:v>
                </c:pt>
                <c:pt idx="316" formatCode="m/d/yyyy">
                  <c:v>45814</c:v>
                </c:pt>
                <c:pt idx="317" formatCode="m/d/yyyy">
                  <c:v>45813</c:v>
                </c:pt>
                <c:pt idx="318" formatCode="m/d/yyyy">
                  <c:v>45812</c:v>
                </c:pt>
                <c:pt idx="319" formatCode="m/d/yyyy">
                  <c:v>45811</c:v>
                </c:pt>
                <c:pt idx="320" formatCode="m/d/yyyy">
                  <c:v>45810</c:v>
                </c:pt>
                <c:pt idx="321" formatCode="m/d/yyyy">
                  <c:v>45807</c:v>
                </c:pt>
                <c:pt idx="322" formatCode="m/d/yyyy">
                  <c:v>45806</c:v>
                </c:pt>
                <c:pt idx="323" formatCode="m/d/yyyy">
                  <c:v>45805</c:v>
                </c:pt>
                <c:pt idx="324" formatCode="m/d/yyyy">
                  <c:v>45804</c:v>
                </c:pt>
                <c:pt idx="325" formatCode="m/d/yyyy">
                  <c:v>45803</c:v>
                </c:pt>
                <c:pt idx="326" formatCode="m/d/yyyy">
                  <c:v>45800</c:v>
                </c:pt>
                <c:pt idx="327" formatCode="m/d/yyyy">
                  <c:v>45799</c:v>
                </c:pt>
                <c:pt idx="328" formatCode="m/d/yyyy">
                  <c:v>45798</c:v>
                </c:pt>
                <c:pt idx="329" formatCode="m/d/yyyy">
                  <c:v>45797</c:v>
                </c:pt>
                <c:pt idx="330" formatCode="m/d/yyyy">
                  <c:v>45796</c:v>
                </c:pt>
                <c:pt idx="331" formatCode="m/d/yyyy">
                  <c:v>45793</c:v>
                </c:pt>
                <c:pt idx="332" formatCode="m/d/yyyy">
                  <c:v>45792</c:v>
                </c:pt>
                <c:pt idx="333" formatCode="m/d/yyyy">
                  <c:v>45791</c:v>
                </c:pt>
                <c:pt idx="334" formatCode="m/d/yyyy">
                  <c:v>45790</c:v>
                </c:pt>
                <c:pt idx="335" formatCode="m/d/yyyy">
                  <c:v>45789</c:v>
                </c:pt>
                <c:pt idx="336" formatCode="m/d/yyyy">
                  <c:v>45786</c:v>
                </c:pt>
                <c:pt idx="337" formatCode="m/d/yyyy">
                  <c:v>45785</c:v>
                </c:pt>
                <c:pt idx="338" formatCode="m/d/yyyy">
                  <c:v>45784</c:v>
                </c:pt>
                <c:pt idx="339" formatCode="m/d/yyyy">
                  <c:v>45783</c:v>
                </c:pt>
                <c:pt idx="340" formatCode="m/d/yyyy">
                  <c:v>45782</c:v>
                </c:pt>
                <c:pt idx="341" formatCode="m/d/yyyy">
                  <c:v>45776</c:v>
                </c:pt>
                <c:pt idx="342" formatCode="m/d/yyyy">
                  <c:v>45775</c:v>
                </c:pt>
                <c:pt idx="343" formatCode="m/d/yyyy">
                  <c:v>45772</c:v>
                </c:pt>
                <c:pt idx="344" formatCode="m/d/yyyy">
                  <c:v>45771</c:v>
                </c:pt>
                <c:pt idx="345" formatCode="m/d/yyyy">
                  <c:v>45770</c:v>
                </c:pt>
                <c:pt idx="346" formatCode="m/d/yyyy">
                  <c:v>45769</c:v>
                </c:pt>
                <c:pt idx="347" formatCode="m/d/yyyy">
                  <c:v>45768</c:v>
                </c:pt>
                <c:pt idx="348" formatCode="m/d/yyyy">
                  <c:v>45765</c:v>
                </c:pt>
                <c:pt idx="349" formatCode="m/d/yyyy">
                  <c:v>45764</c:v>
                </c:pt>
                <c:pt idx="350" formatCode="m/d/yyyy">
                  <c:v>45763</c:v>
                </c:pt>
                <c:pt idx="351" formatCode="m/d/yyyy">
                  <c:v>45762</c:v>
                </c:pt>
                <c:pt idx="352" formatCode="m/d/yyyy">
                  <c:v>45761</c:v>
                </c:pt>
                <c:pt idx="353" formatCode="m/d/yyyy">
                  <c:v>45758</c:v>
                </c:pt>
                <c:pt idx="354" formatCode="m/d/yyyy">
                  <c:v>45757</c:v>
                </c:pt>
                <c:pt idx="355" formatCode="m/d/yyyy">
                  <c:v>45756</c:v>
                </c:pt>
                <c:pt idx="356" formatCode="m/d/yyyy">
                  <c:v>45755</c:v>
                </c:pt>
                <c:pt idx="357" formatCode="m/d/yyyy">
                  <c:v>45751</c:v>
                </c:pt>
                <c:pt idx="358" formatCode="m/d/yyyy">
                  <c:v>45750</c:v>
                </c:pt>
                <c:pt idx="359" formatCode="m/d/yyyy">
                  <c:v>45749</c:v>
                </c:pt>
                <c:pt idx="360" formatCode="m/d/yyyy">
                  <c:v>45748</c:v>
                </c:pt>
                <c:pt idx="361" formatCode="m/d/yyyy">
                  <c:v>45747</c:v>
                </c:pt>
                <c:pt idx="362" formatCode="m/d/yyyy">
                  <c:v>45744</c:v>
                </c:pt>
                <c:pt idx="363" formatCode="m/d/yyyy">
                  <c:v>45743</c:v>
                </c:pt>
                <c:pt idx="364" formatCode="m/d/yyyy">
                  <c:v>45742</c:v>
                </c:pt>
                <c:pt idx="365" formatCode="m/d/yyyy">
                  <c:v>45741</c:v>
                </c:pt>
                <c:pt idx="366" formatCode="m/d/yyyy">
                  <c:v>45740</c:v>
                </c:pt>
                <c:pt idx="367" formatCode="m/d/yyyy">
                  <c:v>45737</c:v>
                </c:pt>
                <c:pt idx="368" formatCode="m/d/yyyy">
                  <c:v>45736</c:v>
                </c:pt>
                <c:pt idx="369" formatCode="m/d/yyyy">
                  <c:v>45735</c:v>
                </c:pt>
                <c:pt idx="370" formatCode="m/d/yyyy">
                  <c:v>45734</c:v>
                </c:pt>
                <c:pt idx="371" formatCode="m/d/yyyy">
                  <c:v>45733</c:v>
                </c:pt>
                <c:pt idx="372" formatCode="m/d/yyyy">
                  <c:v>45730</c:v>
                </c:pt>
                <c:pt idx="373" formatCode="m/d/yyyy">
                  <c:v>45729</c:v>
                </c:pt>
                <c:pt idx="374" formatCode="m/d/yyyy">
                  <c:v>45728</c:v>
                </c:pt>
                <c:pt idx="375" formatCode="m/d/yyyy">
                  <c:v>45727</c:v>
                </c:pt>
                <c:pt idx="376" formatCode="m/d/yyyy">
                  <c:v>45726</c:v>
                </c:pt>
                <c:pt idx="377" formatCode="m/d/yyyy">
                  <c:v>45723</c:v>
                </c:pt>
                <c:pt idx="378" formatCode="m/d/yyyy">
                  <c:v>45722</c:v>
                </c:pt>
                <c:pt idx="379" formatCode="m/d/yyyy">
                  <c:v>45721</c:v>
                </c:pt>
                <c:pt idx="380" formatCode="m/d/yyyy">
                  <c:v>45720</c:v>
                </c:pt>
                <c:pt idx="381" formatCode="m/d/yyyy">
                  <c:v>45719</c:v>
                </c:pt>
                <c:pt idx="382" formatCode="m/d/yyyy">
                  <c:v>45716</c:v>
                </c:pt>
                <c:pt idx="383" formatCode="m/d/yyyy">
                  <c:v>45715</c:v>
                </c:pt>
                <c:pt idx="384" formatCode="m/d/yyyy">
                  <c:v>45714</c:v>
                </c:pt>
                <c:pt idx="385" formatCode="m/d/yyyy">
                  <c:v>45713</c:v>
                </c:pt>
                <c:pt idx="386" formatCode="m/d/yyyy">
                  <c:v>45712</c:v>
                </c:pt>
                <c:pt idx="387" formatCode="m/d/yyyy">
                  <c:v>45709</c:v>
                </c:pt>
                <c:pt idx="388" formatCode="m/d/yyyy">
                  <c:v>45708</c:v>
                </c:pt>
                <c:pt idx="389" formatCode="m/d/yyyy">
                  <c:v>45707</c:v>
                </c:pt>
                <c:pt idx="390" formatCode="m/d/yyyy">
                  <c:v>45706</c:v>
                </c:pt>
                <c:pt idx="391" formatCode="m/d/yyyy">
                  <c:v>45705</c:v>
                </c:pt>
              </c:numCache>
            </c:numRef>
          </c:cat>
          <c:val>
            <c:numRef>
              <c:f>Sheet1!$AL$2:$AL$393</c:f>
              <c:numCache>
                <c:formatCode>#,##0.00</c:formatCode>
                <c:ptCount val="392"/>
                <c:pt idx="1">
                  <c:v>1313.4276822840225</c:v>
                </c:pt>
                <c:pt idx="2">
                  <c:v>1337.6507321524196</c:v>
                </c:pt>
                <c:pt idx="3">
                  <c:v>1336.5953049837942</c:v>
                </c:pt>
                <c:pt idx="4">
                  <c:v>1335.6362337163951</c:v>
                </c:pt>
                <c:pt idx="5">
                  <c:v>1332.7228277370359</c:v>
                </c:pt>
                <c:pt idx="6">
                  <c:v>1346.7551364605195</c:v>
                </c:pt>
                <c:pt idx="7">
                  <c:v>1343.463730041228</c:v>
                </c:pt>
                <c:pt idx="8">
                  <c:v>1361.8870814025722</c:v>
                </c:pt>
                <c:pt idx="9">
                  <c:v>1360.054247125669</c:v>
                </c:pt>
                <c:pt idx="10">
                  <c:v>1360.8077020320411</c:v>
                </c:pt>
                <c:pt idx="11">
                  <c:v>1345.8279387418745</c:v>
                </c:pt>
                <c:pt idx="12">
                  <c:v>1352.9572126696171</c:v>
                </c:pt>
                <c:pt idx="13">
                  <c:v>1350.4042335277984</c:v>
                </c:pt>
                <c:pt idx="14">
                  <c:v>1326.3059105703414</c:v>
                </c:pt>
                <c:pt idx="15">
                  <c:v>1322.6998992971701</c:v>
                </c:pt>
                <c:pt idx="16">
                  <c:v>1327.6825308124385</c:v>
                </c:pt>
                <c:pt idx="17">
                  <c:v>1328.0498313322137</c:v>
                </c:pt>
                <c:pt idx="18">
                  <c:v>1326.2014996768125</c:v>
                </c:pt>
                <c:pt idx="19">
                  <c:v>1343.2925631357386</c:v>
                </c:pt>
                <c:pt idx="20">
                  <c:v>1354.2650899815599</c:v>
                </c:pt>
                <c:pt idx="21">
                  <c:v>1348.6716668110339</c:v>
                </c:pt>
                <c:pt idx="22">
                  <c:v>1352.8005635418613</c:v>
                </c:pt>
                <c:pt idx="23">
                  <c:v>1331.3155586230312</c:v>
                </c:pt>
                <c:pt idx="24">
                  <c:v>1314.0365668048387</c:v>
                </c:pt>
                <c:pt idx="25">
                  <c:v>1324.2067073572121</c:v>
                </c:pt>
                <c:pt idx="26">
                  <c:v>1328.2771047602234</c:v>
                </c:pt>
                <c:pt idx="27">
                  <c:v>1326.933244617228</c:v>
                </c:pt>
                <c:pt idx="28">
                  <c:v>1298.7100733086327</c:v>
                </c:pt>
                <c:pt idx="29">
                  <c:v>1298.4058848391583</c:v>
                </c:pt>
                <c:pt idx="30">
                  <c:v>1267.9530924200694</c:v>
                </c:pt>
                <c:pt idx="31">
                  <c:v>1261.6338297209145</c:v>
                </c:pt>
                <c:pt idx="32">
                  <c:v>1251.4559584571134</c:v>
                </c:pt>
                <c:pt idx="33">
                  <c:v>1269.6215808096088</c:v>
                </c:pt>
                <c:pt idx="34">
                  <c:v>1279.4953127304589</c:v>
                </c:pt>
                <c:pt idx="35">
                  <c:v>1273.1338610503396</c:v>
                </c:pt>
                <c:pt idx="36">
                  <c:v>1299.9636307055598</c:v>
                </c:pt>
                <c:pt idx="37">
                  <c:v>1307.9712554819143</c:v>
                </c:pt>
                <c:pt idx="38">
                  <c:v>1347.3437294341711</c:v>
                </c:pt>
                <c:pt idx="39">
                  <c:v>1356.2066389381644</c:v>
                </c:pt>
                <c:pt idx="40">
                  <c:v>1349.9413955239042</c:v>
                </c:pt>
                <c:pt idx="41">
                  <c:v>1366.6455030355487</c:v>
                </c:pt>
                <c:pt idx="42">
                  <c:v>1353.9941340548917</c:v>
                </c:pt>
                <c:pt idx="43">
                  <c:v>1375.8721456420913</c:v>
                </c:pt>
                <c:pt idx="44">
                  <c:v>1389.4084750264954</c:v>
                </c:pt>
                <c:pt idx="45">
                  <c:v>1401.3932917116226</c:v>
                </c:pt>
                <c:pt idx="46">
                  <c:v>1396.9702976181004</c:v>
                </c:pt>
                <c:pt idx="47">
                  <c:v>1388.3527663691007</c:v>
                </c:pt>
                <c:pt idx="48">
                  <c:v>1407.8255700244963</c:v>
                </c:pt>
                <c:pt idx="49">
                  <c:v>1412.6824121304098</c:v>
                </c:pt>
                <c:pt idx="50">
                  <c:v>1419.703430227657</c:v>
                </c:pt>
                <c:pt idx="51">
                  <c:v>1404.3859446210467</c:v>
                </c:pt>
                <c:pt idx="52">
                  <c:v>1405.3659446009178</c:v>
                </c:pt>
                <c:pt idx="53">
                  <c:v>1394.0562651842806</c:v>
                </c:pt>
                <c:pt idx="54">
                  <c:v>1395.4117951216369</c:v>
                </c:pt>
                <c:pt idx="55">
                  <c:v>1397.384771043251</c:v>
                </c:pt>
                <c:pt idx="56">
                  <c:v>1394.2159250664752</c:v>
                </c:pt>
                <c:pt idx="57">
                  <c:v>1397.6347965196833</c:v>
                </c:pt>
                <c:pt idx="58">
                  <c:v>1397.3157412472681</c:v>
                </c:pt>
                <c:pt idx="59">
                  <c:v>1403.8399819821489</c:v>
                </c:pt>
                <c:pt idx="60">
                  <c:v>1411.1491742738767</c:v>
                </c:pt>
                <c:pt idx="61">
                  <c:v>1408.0865846217009</c:v>
                </c:pt>
                <c:pt idx="62">
                  <c:v>1402.3991581788341</c:v>
                </c:pt>
                <c:pt idx="63">
                  <c:v>1388.3372540060759</c:v>
                </c:pt>
                <c:pt idx="64">
                  <c:v>1388.0798751013278</c:v>
                </c:pt>
                <c:pt idx="65">
                  <c:v>1390.903725955555</c:v>
                </c:pt>
                <c:pt idx="66">
                  <c:v>1385.7662562203122</c:v>
                </c:pt>
                <c:pt idx="67">
                  <c:v>1379.843684770723</c:v>
                </c:pt>
                <c:pt idx="68">
                  <c:v>1402.334744996012</c:v>
                </c:pt>
                <c:pt idx="69">
                  <c:v>1408.156299293697</c:v>
                </c:pt>
                <c:pt idx="70">
                  <c:v>1401.2560308080654</c:v>
                </c:pt>
                <c:pt idx="71">
                  <c:v>1394.2749360906378</c:v>
                </c:pt>
                <c:pt idx="72">
                  <c:v>1411.1303139732831</c:v>
                </c:pt>
                <c:pt idx="73">
                  <c:v>1415.1741664513297</c:v>
                </c:pt>
                <c:pt idx="74">
                  <c:v>1415.3370373568371</c:v>
                </c:pt>
                <c:pt idx="75">
                  <c:v>1435.564892842229</c:v>
                </c:pt>
                <c:pt idx="76">
                  <c:v>1433.9534318062081</c:v>
                </c:pt>
                <c:pt idx="77">
                  <c:v>1422.0428262570065</c:v>
                </c:pt>
                <c:pt idx="78">
                  <c:v>1422.5509973248618</c:v>
                </c:pt>
                <c:pt idx="79">
                  <c:v>1432.9432568635566</c:v>
                </c:pt>
                <c:pt idx="80">
                  <c:v>1436.5373126088264</c:v>
                </c:pt>
                <c:pt idx="81">
                  <c:v>1441.4039201178562</c:v>
                </c:pt>
                <c:pt idx="82">
                  <c:v>1459.7933218945946</c:v>
                </c:pt>
                <c:pt idx="83">
                  <c:v>1445.4133616196773</c:v>
                </c:pt>
                <c:pt idx="84">
                  <c:v>1446.6048375182104</c:v>
                </c:pt>
                <c:pt idx="85">
                  <c:v>1438.2460481297965</c:v>
                </c:pt>
                <c:pt idx="86">
                  <c:v>1431.6679300315152</c:v>
                </c:pt>
                <c:pt idx="87">
                  <c:v>1424.821703222362</c:v>
                </c:pt>
                <c:pt idx="88">
                  <c:v>1435.1411271529073</c:v>
                </c:pt>
                <c:pt idx="89">
                  <c:v>1433.9248420477991</c:v>
                </c:pt>
                <c:pt idx="90">
                  <c:v>1433.0934578437705</c:v>
                </c:pt>
                <c:pt idx="91">
                  <c:v>1418.0012432409167</c:v>
                </c:pt>
                <c:pt idx="92">
                  <c:v>1419.210761201716</c:v>
                </c:pt>
                <c:pt idx="93">
                  <c:v>1412.9990588726541</c:v>
                </c:pt>
                <c:pt idx="94">
                  <c:v>1412.8947980546689</c:v>
                </c:pt>
                <c:pt idx="95">
                  <c:v>1422.7295555623705</c:v>
                </c:pt>
                <c:pt idx="96">
                  <c:v>1428.2297074899766</c:v>
                </c:pt>
                <c:pt idx="97">
                  <c:v>1425.3573677561728</c:v>
                </c:pt>
                <c:pt idx="98">
                  <c:v>1427.8453371019141</c:v>
                </c:pt>
                <c:pt idx="99">
                  <c:v>1435.8063464850445</c:v>
                </c:pt>
                <c:pt idx="100">
                  <c:v>1430.4455670916207</c:v>
                </c:pt>
                <c:pt idx="101">
                  <c:v>1422.6591357598957</c:v>
                </c:pt>
                <c:pt idx="102">
                  <c:v>1429.7734394310487</c:v>
                </c:pt>
                <c:pt idx="103">
                  <c:v>1432.7506714921947</c:v>
                </c:pt>
                <c:pt idx="104">
                  <c:v>1430.3328742636149</c:v>
                </c:pt>
                <c:pt idx="105">
                  <c:v>1436.1875646726983</c:v>
                </c:pt>
                <c:pt idx="106">
                  <c:v>1426.4921840445845</c:v>
                </c:pt>
                <c:pt idx="107">
                  <c:v>1436.7499783664211</c:v>
                </c:pt>
                <c:pt idx="108">
                  <c:v>1383.0339531240143</c:v>
                </c:pt>
                <c:pt idx="109">
                  <c:v>1381.4389922579371</c:v>
                </c:pt>
                <c:pt idx="110">
                  <c:v>1388.967320047185</c:v>
                </c:pt>
                <c:pt idx="111">
                  <c:v>1402.0696723842771</c:v>
                </c:pt>
                <c:pt idx="112">
                  <c:v>1414.9119120035264</c:v>
                </c:pt>
                <c:pt idx="113">
                  <c:v>1403.575379830226</c:v>
                </c:pt>
                <c:pt idx="114">
                  <c:v>1400.6833017878698</c:v>
                </c:pt>
                <c:pt idx="115">
                  <c:v>1405.9527423793995</c:v>
                </c:pt>
                <c:pt idx="116">
                  <c:v>1384.2271070537658</c:v>
                </c:pt>
                <c:pt idx="117">
                  <c:v>1396.5603463315465</c:v>
                </c:pt>
                <c:pt idx="118">
                  <c:v>1367.065216372059</c:v>
                </c:pt>
                <c:pt idx="119">
                  <c:v>1342.078647401577</c:v>
                </c:pt>
                <c:pt idx="120">
                  <c:v>1380.9745423878701</c:v>
                </c:pt>
                <c:pt idx="121">
                  <c:v>1413.2476328466371</c:v>
                </c:pt>
                <c:pt idx="122">
                  <c:v>1427.7677188626853</c:v>
                </c:pt>
                <c:pt idx="123">
                  <c:v>1424.0745784469946</c:v>
                </c:pt>
                <c:pt idx="124">
                  <c:v>1411.565004649389</c:v>
                </c:pt>
                <c:pt idx="125">
                  <c:v>1415.7864160826659</c:v>
                </c:pt>
                <c:pt idx="126">
                  <c:v>1429.6382141457761</c:v>
                </c:pt>
                <c:pt idx="127">
                  <c:v>1447.7155290094906</c:v>
                </c:pt>
                <c:pt idx="128">
                  <c:v>1410.961717822805</c:v>
                </c:pt>
                <c:pt idx="129">
                  <c:v>1382.4487697286086</c:v>
                </c:pt>
                <c:pt idx="130">
                  <c:v>1471.0644960097986</c:v>
                </c:pt>
                <c:pt idx="131">
                  <c:v>1498.2532869037636</c:v>
                </c:pt>
                <c:pt idx="132">
                  <c:v>1524.3439215774836</c:v>
                </c:pt>
                <c:pt idx="133">
                  <c:v>1519.5642689183237</c:v>
                </c:pt>
                <c:pt idx="134">
                  <c:v>1524.9873784681777</c:v>
                </c:pt>
                <c:pt idx="135">
                  <c:v>1542.9310637836124</c:v>
                </c:pt>
                <c:pt idx="136">
                  <c:v>1548.0076035944744</c:v>
                </c:pt>
                <c:pt idx="137">
                  <c:v>1548.4737107751625</c:v>
                </c:pt>
                <c:pt idx="138">
                  <c:v>1542.2722847350055</c:v>
                </c:pt>
                <c:pt idx="139">
                  <c:v>1535.3372876580916</c:v>
                </c:pt>
                <c:pt idx="140">
                  <c:v>1504.2846220803979</c:v>
                </c:pt>
                <c:pt idx="141">
                  <c:v>1495.9240110473702</c:v>
                </c:pt>
                <c:pt idx="142">
                  <c:v>1497.3623472320876</c:v>
                </c:pt>
                <c:pt idx="143">
                  <c:v>1472.0215955280642</c:v>
                </c:pt>
                <c:pt idx="144">
                  <c:v>1494.2824034501459</c:v>
                </c:pt>
                <c:pt idx="145">
                  <c:v>1494.971537550412</c:v>
                </c:pt>
                <c:pt idx="146">
                  <c:v>1521.922186835983</c:v>
                </c:pt>
                <c:pt idx="147">
                  <c:v>1550.7438639712377</c:v>
                </c:pt>
                <c:pt idx="148">
                  <c:v>1551.9621446978431</c:v>
                </c:pt>
                <c:pt idx="149">
                  <c:v>1544.0300803385278</c:v>
                </c:pt>
                <c:pt idx="150">
                  <c:v>1540.7728073946168</c:v>
                </c:pt>
                <c:pt idx="151">
                  <c:v>1526.1246149650958</c:v>
                </c:pt>
                <c:pt idx="152">
                  <c:v>1517.2403679274162</c:v>
                </c:pt>
                <c:pt idx="153">
                  <c:v>1520.8210245550208</c:v>
                </c:pt>
                <c:pt idx="154">
                  <c:v>1511.4654138935891</c:v>
                </c:pt>
                <c:pt idx="155">
                  <c:v>1525.5396021998654</c:v>
                </c:pt>
                <c:pt idx="156">
                  <c:v>1547.2608965520508</c:v>
                </c:pt>
                <c:pt idx="157">
                  <c:v>1549.2595496913736</c:v>
                </c:pt>
                <c:pt idx="158">
                  <c:v>1556.738013288151</c:v>
                </c:pt>
                <c:pt idx="159">
                  <c:v>1555.04837471683</c:v>
                </c:pt>
                <c:pt idx="160">
                  <c:v>1542.0230074057392</c:v>
                </c:pt>
                <c:pt idx="161">
                  <c:v>1543.1687702775976</c:v>
                </c:pt>
                <c:pt idx="162">
                  <c:v>1555.1788381175058</c:v>
                </c:pt>
                <c:pt idx="163">
                  <c:v>1542.4647866351702</c:v>
                </c:pt>
                <c:pt idx="164">
                  <c:v>1528.2650227900797</c:v>
                </c:pt>
                <c:pt idx="165">
                  <c:v>1488.8179673720094</c:v>
                </c:pt>
                <c:pt idx="166">
                  <c:v>1475.459512294419</c:v>
                </c:pt>
                <c:pt idx="167">
                  <c:v>1464.6570678005291</c:v>
                </c:pt>
                <c:pt idx="168">
                  <c:v>1435.1470706000403</c:v>
                </c:pt>
                <c:pt idx="169">
                  <c:v>1417.6575224839862</c:v>
                </c:pt>
                <c:pt idx="170">
                  <c:v>1430.2467303271922</c:v>
                </c:pt>
                <c:pt idx="171">
                  <c:v>1430.8886073763715</c:v>
                </c:pt>
                <c:pt idx="172">
                  <c:v>1422.7474973880908</c:v>
                </c:pt>
                <c:pt idx="173">
                  <c:v>1413.5321592908485</c:v>
                </c:pt>
                <c:pt idx="174">
                  <c:v>1415.0902991544292</c:v>
                </c:pt>
                <c:pt idx="175">
                  <c:v>1424.9456067208707</c:v>
                </c:pt>
                <c:pt idx="176">
                  <c:v>1421.0608962758033</c:v>
                </c:pt>
                <c:pt idx="177">
                  <c:v>1428.1769646860321</c:v>
                </c:pt>
                <c:pt idx="178">
                  <c:v>1406.5948035721835</c:v>
                </c:pt>
                <c:pt idx="179">
                  <c:v>1397.7360640540412</c:v>
                </c:pt>
                <c:pt idx="180">
                  <c:v>1394.7577067430923</c:v>
                </c:pt>
                <c:pt idx="181">
                  <c:v>1401.6604164820919</c:v>
                </c:pt>
                <c:pt idx="182">
                  <c:v>1373.326830658948</c:v>
                </c:pt>
                <c:pt idx="183">
                  <c:v>1369.2349414935939</c:v>
                </c:pt>
                <c:pt idx="184">
                  <c:v>1407.8606926462426</c:v>
                </c:pt>
                <c:pt idx="185">
                  <c:v>1418.6667164259743</c:v>
                </c:pt>
                <c:pt idx="186">
                  <c:v>1419.7775306603007</c:v>
                </c:pt>
                <c:pt idx="187">
                  <c:v>1434.888809329771</c:v>
                </c:pt>
                <c:pt idx="188">
                  <c:v>1442.9447370337261</c:v>
                </c:pt>
                <c:pt idx="189">
                  <c:v>1457.1945283174723</c:v>
                </c:pt>
                <c:pt idx="190">
                  <c:v>1448.9147749058991</c:v>
                </c:pt>
                <c:pt idx="191">
                  <c:v>1427.5973632991017</c:v>
                </c:pt>
                <c:pt idx="192">
                  <c:v>1418.5473454961523</c:v>
                </c:pt>
                <c:pt idx="193">
                  <c:v>1421.7176138499517</c:v>
                </c:pt>
                <c:pt idx="194">
                  <c:v>1428.724133933626</c:v>
                </c:pt>
                <c:pt idx="195">
                  <c:v>1428.5690619945026</c:v>
                </c:pt>
                <c:pt idx="196">
                  <c:v>1412.3800734014781</c:v>
                </c:pt>
                <c:pt idx="197">
                  <c:v>1423.8670377349872</c:v>
                </c:pt>
                <c:pt idx="198">
                  <c:v>1425.0118733599629</c:v>
                </c:pt>
                <c:pt idx="199">
                  <c:v>1430.0525475723193</c:v>
                </c:pt>
                <c:pt idx="200">
                  <c:v>1430.6200880532206</c:v>
                </c:pt>
                <c:pt idx="201">
                  <c:v>1441.4975730171122</c:v>
                </c:pt>
                <c:pt idx="202">
                  <c:v>1440.5754316240002</c:v>
                </c:pt>
                <c:pt idx="203">
                  <c:v>1427.8602996374088</c:v>
                </c:pt>
                <c:pt idx="204">
                  <c:v>1423.9352044871466</c:v>
                </c:pt>
                <c:pt idx="205">
                  <c:v>1423.02630216127</c:v>
                </c:pt>
                <c:pt idx="206">
                  <c:v>1398.8719252439373</c:v>
                </c:pt>
                <c:pt idx="207">
                  <c:v>1391.6684606939764</c:v>
                </c:pt>
                <c:pt idx="208">
                  <c:v>1403.6862359662177</c:v>
                </c:pt>
                <c:pt idx="209">
                  <c:v>1432.5055531766684</c:v>
                </c:pt>
                <c:pt idx="210">
                  <c:v>1444.6568003040202</c:v>
                </c:pt>
                <c:pt idx="211">
                  <c:v>1445.5053777458866</c:v>
                </c:pt>
                <c:pt idx="212">
                  <c:v>1417.6779360689061</c:v>
                </c:pt>
                <c:pt idx="213">
                  <c:v>1441.8597277192473</c:v>
                </c:pt>
                <c:pt idx="214">
                  <c:v>1455.0869084048234</c:v>
                </c:pt>
                <c:pt idx="215">
                  <c:v>1463.2710331769265</c:v>
                </c:pt>
                <c:pt idx="216">
                  <c:v>1447.1506481137699</c:v>
                </c:pt>
                <c:pt idx="217">
                  <c:v>1424.9238573862694</c:v>
                </c:pt>
                <c:pt idx="218">
                  <c:v>1441.9034549731118</c:v>
                </c:pt>
                <c:pt idx="219">
                  <c:v>1449.144602713654</c:v>
                </c:pt>
                <c:pt idx="220">
                  <c:v>1453.752321826752</c:v>
                </c:pt>
                <c:pt idx="221">
                  <c:v>1442.4318819559842</c:v>
                </c:pt>
                <c:pt idx="222">
                  <c:v>1426.2757126944523</c:v>
                </c:pt>
                <c:pt idx="223">
                  <c:v>1501.6831055007522</c:v>
                </c:pt>
                <c:pt idx="224">
                  <c:v>1521.0902083125602</c:v>
                </c:pt>
                <c:pt idx="225">
                  <c:v>1513.6140065959023</c:v>
                </c:pt>
                <c:pt idx="226">
                  <c:v>1510.169004932357</c:v>
                </c:pt>
                <c:pt idx="227">
                  <c:v>1521.3879439731716</c:v>
                </c:pt>
                <c:pt idx="228">
                  <c:v>1518.3296753886855</c:v>
                </c:pt>
                <c:pt idx="229">
                  <c:v>1507.905999329033</c:v>
                </c:pt>
                <c:pt idx="230">
                  <c:v>1498.7534745634953</c:v>
                </c:pt>
                <c:pt idx="231">
                  <c:v>1489.3843571101856</c:v>
                </c:pt>
                <c:pt idx="232">
                  <c:v>1502.5458585385061</c:v>
                </c:pt>
                <c:pt idx="233">
                  <c:v>1459.8596305438805</c:v>
                </c:pt>
                <c:pt idx="234">
                  <c:v>1473.3634978955652</c:v>
                </c:pt>
                <c:pt idx="235">
                  <c:v>1483.4367342189169</c:v>
                </c:pt>
                <c:pt idx="236">
                  <c:v>1474.5774038845734</c:v>
                </c:pt>
                <c:pt idx="237">
                  <c:v>1483.4482150278427</c:v>
                </c:pt>
                <c:pt idx="238">
                  <c:v>1488.4727651781184</c:v>
                </c:pt>
                <c:pt idx="239">
                  <c:v>1498.7648216127022</c:v>
                </c:pt>
                <c:pt idx="240">
                  <c:v>1499.7680916812699</c:v>
                </c:pt>
                <c:pt idx="241">
                  <c:v>1477.0524743872677</c:v>
                </c:pt>
                <c:pt idx="242">
                  <c:v>1475.5776738445638</c:v>
                </c:pt>
                <c:pt idx="243">
                  <c:v>1493.4921853604526</c:v>
                </c:pt>
                <c:pt idx="244">
                  <c:v>1505.2488045553671</c:v>
                </c:pt>
                <c:pt idx="245">
                  <c:v>1513.1748196207932</c:v>
                </c:pt>
                <c:pt idx="246">
                  <c:v>1530.3394678724537</c:v>
                </c:pt>
                <c:pt idx="247">
                  <c:v>1530.0679224562289</c:v>
                </c:pt>
                <c:pt idx="248">
                  <c:v>1511.4257132895088</c:v>
                </c:pt>
                <c:pt idx="249">
                  <c:v>1502.9555007953575</c:v>
                </c:pt>
                <c:pt idx="250">
                  <c:v>1497.1651815644186</c:v>
                </c:pt>
                <c:pt idx="251">
                  <c:v>1493.2771821678286</c:v>
                </c:pt>
                <c:pt idx="252">
                  <c:v>1485.5584714306215</c:v>
                </c:pt>
                <c:pt idx="253">
                  <c:v>1527.9570067857214</c:v>
                </c:pt>
                <c:pt idx="254">
                  <c:v>1555.2170537816662</c:v>
                </c:pt>
                <c:pt idx="255">
                  <c:v>1539.8845131433054</c:v>
                </c:pt>
                <c:pt idx="256">
                  <c:v>1536.013710316241</c:v>
                </c:pt>
                <c:pt idx="257">
                  <c:v>1532.8075124072404</c:v>
                </c:pt>
                <c:pt idx="258">
                  <c:v>1523.0873461825981</c:v>
                </c:pt>
                <c:pt idx="259">
                  <c:v>1513.8817178986633</c:v>
                </c:pt>
                <c:pt idx="260">
                  <c:v>1471.1827230701733</c:v>
                </c:pt>
                <c:pt idx="261">
                  <c:v>1509.0548348700981</c:v>
                </c:pt>
                <c:pt idx="262">
                  <c:v>1548.9168775240414</c:v>
                </c:pt>
                <c:pt idx="263">
                  <c:v>1526.7053769574868</c:v>
                </c:pt>
                <c:pt idx="264">
                  <c:v>1526.723230570854</c:v>
                </c:pt>
                <c:pt idx="265">
                  <c:v>1508.8517520944692</c:v>
                </c:pt>
                <c:pt idx="266">
                  <c:v>1501.6635746289751</c:v>
                </c:pt>
                <c:pt idx="267">
                  <c:v>1512.5689134556837</c:v>
                </c:pt>
                <c:pt idx="268">
                  <c:v>1486.4406005035357</c:v>
                </c:pt>
                <c:pt idx="269">
                  <c:v>1483.2124837399142</c:v>
                </c:pt>
                <c:pt idx="270">
                  <c:v>1471.4299381506232</c:v>
                </c:pt>
                <c:pt idx="271">
                  <c:v>1456.6160565969296</c:v>
                </c:pt>
                <c:pt idx="272">
                  <c:v>1454.4189538443939</c:v>
                </c:pt>
                <c:pt idx="273">
                  <c:v>1441.057591455477</c:v>
                </c:pt>
                <c:pt idx="274">
                  <c:v>1416.7340849089499</c:v>
                </c:pt>
                <c:pt idx="275">
                  <c:v>1407.5156642348875</c:v>
                </c:pt>
                <c:pt idx="276">
                  <c:v>1384.733117330233</c:v>
                </c:pt>
                <c:pt idx="277">
                  <c:v>1390.4709395061484</c:v>
                </c:pt>
                <c:pt idx="278">
                  <c:v>1389.5294497121888</c:v>
                </c:pt>
                <c:pt idx="279">
                  <c:v>1371.2223173310435</c:v>
                </c:pt>
                <c:pt idx="280">
                  <c:v>1428.2750784783293</c:v>
                </c:pt>
                <c:pt idx="281">
                  <c:v>1405.170268954404</c:v>
                </c:pt>
                <c:pt idx="282">
                  <c:v>1394.6704010456647</c:v>
                </c:pt>
                <c:pt idx="283">
                  <c:v>1386.8631594496062</c:v>
                </c:pt>
                <c:pt idx="284">
                  <c:v>1378.2479505582774</c:v>
                </c:pt>
                <c:pt idx="285">
                  <c:v>1362.2975227831635</c:v>
                </c:pt>
                <c:pt idx="286">
                  <c:v>1363.7467522459933</c:v>
                </c:pt>
                <c:pt idx="287">
                  <c:v>1355.3823362620385</c:v>
                </c:pt>
                <c:pt idx="288">
                  <c:v>1350.8418829609673</c:v>
                </c:pt>
                <c:pt idx="289">
                  <c:v>1341.8025480738645</c:v>
                </c:pt>
                <c:pt idx="290">
                  <c:v>1348.5600919725603</c:v>
                </c:pt>
                <c:pt idx="291">
                  <c:v>1341.2726039091306</c:v>
                </c:pt>
                <c:pt idx="292">
                  <c:v>1336.1520814985399</c:v>
                </c:pt>
                <c:pt idx="293">
                  <c:v>1332.4151591085467</c:v>
                </c:pt>
                <c:pt idx="294">
                  <c:v>1321.0778349215964</c:v>
                </c:pt>
                <c:pt idx="295">
                  <c:v>1310.2999993569804</c:v>
                </c:pt>
                <c:pt idx="296">
                  <c:v>1297.2326943060004</c:v>
                </c:pt>
                <c:pt idx="297">
                  <c:v>1289.677110606465</c:v>
                </c:pt>
                <c:pt idx="298">
                  <c:v>1291.5056239919386</c:v>
                </c:pt>
                <c:pt idx="299">
                  <c:v>1284.5026053641857</c:v>
                </c:pt>
                <c:pt idx="300">
                  <c:v>1282.4298025104947</c:v>
                </c:pt>
                <c:pt idx="301">
                  <c:v>1277.5229085672038</c:v>
                </c:pt>
                <c:pt idx="302">
                  <c:v>1273.3111881919219</c:v>
                </c:pt>
                <c:pt idx="303">
                  <c:v>1271.7857297032783</c:v>
                </c:pt>
                <c:pt idx="304">
                  <c:v>1272.2467160113968</c:v>
                </c:pt>
                <c:pt idx="305">
                  <c:v>1269.6008092741899</c:v>
                </c:pt>
                <c:pt idx="306">
                  <c:v>1270.2374834779305</c:v>
                </c:pt>
                <c:pt idx="307">
                  <c:v>1268.8356511504526</c:v>
                </c:pt>
                <c:pt idx="308">
                  <c:v>1265.1429968932146</c:v>
                </c:pt>
                <c:pt idx="309">
                  <c:v>1267.5844357129604</c:v>
                </c:pt>
                <c:pt idx="310">
                  <c:v>1262.7649961087156</c:v>
                </c:pt>
                <c:pt idx="311">
                  <c:v>1241.4943249614616</c:v>
                </c:pt>
                <c:pt idx="312">
                  <c:v>1245.9642179917082</c:v>
                </c:pt>
                <c:pt idx="313">
                  <c:v>1232.6651501079784</c:v>
                </c:pt>
                <c:pt idx="314">
                  <c:v>1232.6496899043966</c:v>
                </c:pt>
                <c:pt idx="315">
                  <c:v>1229.5756815770562</c:v>
                </c:pt>
                <c:pt idx="316">
                  <c:v>1237.3630135719302</c:v>
                </c:pt>
                <c:pt idx="317">
                  <c:v>1247.6436939242101</c:v>
                </c:pt>
                <c:pt idx="318">
                  <c:v>1251.027804599333</c:v>
                </c:pt>
                <c:pt idx="319">
                  <c:v>1252.5064948712263</c:v>
                </c:pt>
                <c:pt idx="320">
                  <c:v>1242.1133657048008</c:v>
                </c:pt>
                <c:pt idx="321">
                  <c:v>1236.434418273941</c:v>
                </c:pt>
                <c:pt idx="322">
                  <c:v>1247.7391015847656</c:v>
                </c:pt>
                <c:pt idx="323">
                  <c:v>1249.6076053322624</c:v>
                </c:pt>
                <c:pt idx="324">
                  <c:v>1252.1856833065581</c:v>
                </c:pt>
                <c:pt idx="325">
                  <c:v>1244.375965727301</c:v>
                </c:pt>
                <c:pt idx="326">
                  <c:v>1231.9501236166682</c:v>
                </c:pt>
                <c:pt idx="327">
                  <c:v>1231.8935075985269</c:v>
                </c:pt>
                <c:pt idx="328">
                  <c:v>1238.2620606762619</c:v>
                </c:pt>
                <c:pt idx="329">
                  <c:v>1235.696931839582</c:v>
                </c:pt>
                <c:pt idx="330">
                  <c:v>1227.1073016447681</c:v>
                </c:pt>
                <c:pt idx="331">
                  <c:v>1236.9203216874762</c:v>
                </c:pt>
                <c:pt idx="332">
                  <c:v>1250.4711537645335</c:v>
                </c:pt>
                <c:pt idx="333">
                  <c:v>1247.0454426822412</c:v>
                </c:pt>
                <c:pt idx="334">
                  <c:v>1231.5077521531821</c:v>
                </c:pt>
                <c:pt idx="335">
                  <c:v>1221.1713559363841</c:v>
                </c:pt>
                <c:pt idx="336">
                  <c:v>1208.2377469720154</c:v>
                </c:pt>
                <c:pt idx="337">
                  <c:v>1208.90532520542</c:v>
                </c:pt>
                <c:pt idx="338">
                  <c:v>1194.3992914181163</c:v>
                </c:pt>
                <c:pt idx="339">
                  <c:v>1189.7220280263102</c:v>
                </c:pt>
                <c:pt idx="340">
                  <c:v>1188.2805143182904</c:v>
                </c:pt>
                <c:pt idx="341">
                  <c:v>1179.4993254252568</c:v>
                </c:pt>
                <c:pt idx="342">
                  <c:v>1180.2001751301195</c:v>
                </c:pt>
                <c:pt idx="343">
                  <c:v>1179.9724240395817</c:v>
                </c:pt>
                <c:pt idx="344">
                  <c:v>1179.1096353221023</c:v>
                </c:pt>
                <c:pt idx="345">
                  <c:v>1173.6291120393162</c:v>
                </c:pt>
                <c:pt idx="346">
                  <c:v>1161.1105100035804</c:v>
                </c:pt>
                <c:pt idx="347">
                  <c:v>1171.3291879390185</c:v>
                </c:pt>
                <c:pt idx="348">
                  <c:v>1179.1668731681307</c:v>
                </c:pt>
                <c:pt idx="349">
                  <c:v>1171.0390964048922</c:v>
                </c:pt>
                <c:pt idx="350">
                  <c:v>1167.222975315168</c:v>
                </c:pt>
                <c:pt idx="351">
                  <c:v>1181.4027621729974</c:v>
                </c:pt>
                <c:pt idx="352">
                  <c:v>1196.172041159457</c:v>
                </c:pt>
                <c:pt idx="353">
                  <c:v>1185.4422458606034</c:v>
                </c:pt>
                <c:pt idx="354">
                  <c:v>1136.9222449946044</c:v>
                </c:pt>
                <c:pt idx="355">
                  <c:v>1070.3800768664607</c:v>
                </c:pt>
                <c:pt idx="356">
                  <c:v>1112.3576988502227</c:v>
                </c:pt>
                <c:pt idx="357">
                  <c:v>1183.3535652276041</c:v>
                </c:pt>
                <c:pt idx="358">
                  <c:v>1205.4576761735498</c:v>
                </c:pt>
                <c:pt idx="359">
                  <c:v>1285.1996035390998</c:v>
                </c:pt>
                <c:pt idx="360">
                  <c:v>1285.4222830338663</c:v>
                </c:pt>
                <c:pt idx="361">
                  <c:v>1278.6440555379859</c:v>
                </c:pt>
                <c:pt idx="362">
                  <c:v>1289.1519151223824</c:v>
                </c:pt>
                <c:pt idx="363">
                  <c:v>1296.2448013997059</c:v>
                </c:pt>
                <c:pt idx="364">
                  <c:v>1298.1578351202463</c:v>
                </c:pt>
                <c:pt idx="365">
                  <c:v>1304.1611196235656</c:v>
                </c:pt>
                <c:pt idx="366">
                  <c:v>1303.2951542321002</c:v>
                </c:pt>
                <c:pt idx="367">
                  <c:v>1304.6437174900893</c:v>
                </c:pt>
                <c:pt idx="368">
                  <c:v>1305.9810974018008</c:v>
                </c:pt>
                <c:pt idx="369">
                  <c:v>1306.2873794215629</c:v>
                </c:pt>
                <c:pt idx="370">
                  <c:v>1313.2264247957589</c:v>
                </c:pt>
                <c:pt idx="371">
                  <c:v>1317.15498740003</c:v>
                </c:pt>
                <c:pt idx="372">
                  <c:v>1306.8276850811178</c:v>
                </c:pt>
                <c:pt idx="373">
                  <c:v>1307.7519934444829</c:v>
                </c:pt>
                <c:pt idx="374">
                  <c:v>1320.0249923047763</c:v>
                </c:pt>
                <c:pt idx="375">
                  <c:v>1320.3698442983382</c:v>
                </c:pt>
                <c:pt idx="376">
                  <c:v>1318.2794858278264</c:v>
                </c:pt>
                <c:pt idx="377">
                  <c:v>1316.2539385012121</c:v>
                </c:pt>
                <c:pt idx="378">
                  <c:v>1312.6466415727427</c:v>
                </c:pt>
                <c:pt idx="379">
                  <c:v>1300.1687644257756</c:v>
                </c:pt>
                <c:pt idx="380">
                  <c:v>1308.310833656197</c:v>
                </c:pt>
                <c:pt idx="381">
                  <c:v>1305.186392158955</c:v>
                </c:pt>
                <c:pt idx="382">
                  <c:v>1303.4499906606945</c:v>
                </c:pt>
                <c:pt idx="383">
                  <c:v>1306.2844376773037</c:v>
                </c:pt>
                <c:pt idx="384">
                  <c:v>1301.8624971203287</c:v>
                </c:pt>
                <c:pt idx="385">
                  <c:v>1302.2339290400248</c:v>
                </c:pt>
                <c:pt idx="386">
                  <c:v>1304.1639060912512</c:v>
                </c:pt>
                <c:pt idx="387">
                  <c:v>1296.3132800987064</c:v>
                </c:pt>
                <c:pt idx="388">
                  <c:v>1291.9671410457734</c:v>
                </c:pt>
                <c:pt idx="389">
                  <c:v>1289.5625434552194</c:v>
                </c:pt>
                <c:pt idx="390">
                  <c:v>1279.7139629861424</c:v>
                </c:pt>
                <c:pt idx="391">
                  <c:v>1274.7023478174192</c:v>
                </c:pt>
              </c:numCache>
            </c:numRef>
          </c:val>
          <c:smooth val="0"/>
          <c:extLst>
            <c:ext xmlns:c16="http://schemas.microsoft.com/office/drawing/2014/chart" uri="{C3380CC4-5D6E-409C-BE32-E72D297353CC}">
              <c16:uniqueId val="{00000001-7A0E-4A25-8ACD-CC0F8B3A413B}"/>
            </c:ext>
          </c:extLst>
        </c:ser>
        <c:dLbls>
          <c:showLegendKey val="0"/>
          <c:showVal val="0"/>
          <c:showCatName val="0"/>
          <c:showSerName val="0"/>
          <c:showPercent val="0"/>
          <c:showBubbleSize val="0"/>
        </c:dLbls>
        <c:smooth val="0"/>
        <c:axId val="390324447"/>
        <c:axId val="390324927"/>
      </c:lineChart>
      <c:dateAx>
        <c:axId val="390324447"/>
        <c:scaling>
          <c:orientation val="minMax"/>
        </c:scaling>
        <c:delete val="0"/>
        <c:axPos val="b"/>
        <c:numFmt formatCode="mm/yy" sourceLinked="0"/>
        <c:majorTickMark val="none"/>
        <c:minorTickMark val="none"/>
        <c:tickLblPos val="nextTo"/>
        <c:spPr>
          <a:noFill/>
          <a:ln w="9525" cap="flat" cmpd="sng" algn="ctr">
            <a:solidFill>
              <a:schemeClr val="tx1">
                <a:lumMod val="15000"/>
                <a:lumOff val="85000"/>
              </a:schemeClr>
            </a:solidFill>
            <a:prstDash val="solid"/>
            <a:roun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n-US"/>
          </a:p>
        </c:txPr>
        <c:crossAx val="390324927"/>
        <c:crosses val="autoZero"/>
        <c:auto val="1"/>
        <c:lblOffset val="100"/>
        <c:baseTimeUnit val="days"/>
      </c:dateAx>
      <c:valAx>
        <c:axId val="390324927"/>
        <c:scaling>
          <c:orientation val="minMax"/>
          <c:min val="1100"/>
        </c:scaling>
        <c:delete val="0"/>
        <c:axPos val="l"/>
        <c:numFmt formatCode="#,##0" sourceLinked="0"/>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n-US"/>
          </a:p>
        </c:txPr>
        <c:crossAx val="390324447"/>
        <c:crosses val="autoZero"/>
        <c:crossBetween val="between"/>
      </c:valAx>
    </c:plotArea>
    <c:legend>
      <c:legendPos val="t"/>
      <c:overlay val="0"/>
    </c:legend>
    <c:plotVisOnly val="1"/>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9/13/2026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9/13/2026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latin typeface="Arial" panose="020B0604020202020204" pitchFamily="34" charset="0"/>
                <a:ea typeface="Tahoma" panose="020B0604030504040204" pitchFamily="34" charset="0"/>
                <a:cs typeface="Arial" panose="020B0604020202020204" pitchFamily="34" charset="0"/>
              </a:rPr>
              <a:t>BÁO CÁO TUẦN</a:t>
            </a:r>
          </a:p>
          <a:p>
            <a:r>
              <a:rPr lang="vi-VN" sz="2800" b="1">
                <a:solidFill>
                  <a:srgbClr val="141ED2"/>
                </a:solidFill>
                <a:latin typeface="Arial" panose="020B0604020202020204" pitchFamily="34" charset="0"/>
                <a:ea typeface="Tahoma" panose="020B0604030504040204" pitchFamily="34" charset="0"/>
                <a:cs typeface="Arial" panose="020B0604020202020204" pitchFamily="34" charset="0"/>
              </a:rPr>
              <a:t>NHẬN ĐỊNH THỊ TRƯỜNG TUẦN 14/09/2026 – 18/09/2026</a:t>
            </a:r>
            <a:endParaRPr lang="en-AU" sz="2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1</a:t>
            </a:fld>
            <a:endParaRPr lang="en-GB">
              <a:solidFill>
                <a:srgbClr val="31313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latin typeface="Arial" panose="020B0604020202020204" pitchFamily="34" charset="0"/>
                <a:ea typeface="Tahoma" panose="020B0604030504040204" pitchFamily="34" charset="0"/>
                <a:cs typeface="Arial" panose="020B0604020202020204" pitchFamily="34" charset="0"/>
              </a:rPr>
              <a:t>MỤC LỤC</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3284041"/>
          </a:xfrm>
          <a:prstGeom prst="rect">
            <a:avLst/>
          </a:prstGeom>
          <a:noFill/>
        </p:spPr>
        <p:txBody>
          <a:bodyPr wrap="square" rtlCol="0">
            <a:spAutoFit/>
          </a:bodyPr>
          <a:lstStyle/>
          <a:p>
            <a:pPr>
              <a:lnSpc>
                <a:spcPct val="150000"/>
              </a:lnSpc>
            </a:pPr>
            <a:r>
              <a:rPr lang="vi-VN" sz="1400" b="1" dirty="0">
                <a:solidFill>
                  <a:srgbClr val="141ED2"/>
                </a:solidFill>
                <a:latin typeface="Arial" panose="020B0604020202020204" pitchFamily="34" charset="0"/>
                <a:cs typeface="Arial" panose="020B0604020202020204" pitchFamily="34" charset="0"/>
              </a:rPr>
              <a:t>DIỄN BIẾN THỊ TRƯỜNG TUẦN 07/09 – 11/09/2026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a:solidFill>
                  <a:srgbClr val="141ED2"/>
                </a:solidFill>
                <a:latin typeface="Arial" panose="020B0604020202020204" pitchFamily="34" charset="0"/>
                <a:cs typeface="Arial" panose="020B0604020202020204" pitchFamily="34" charset="0"/>
              </a:rPr>
              <a:t>Xu h</a:t>
            </a:r>
            <a:r>
              <a:rPr lang="vi-VN" sz="1400" b="1" dirty="0">
                <a:solidFill>
                  <a:srgbClr val="141ED2"/>
                </a:solidFill>
                <a:latin typeface="Arial" panose="020B0604020202020204" pitchFamily="34" charset="0"/>
                <a:cs typeface="Arial" panose="020B0604020202020204" pitchFamily="34" charset="0"/>
              </a:rPr>
              <a:t>ư</a:t>
            </a:r>
            <a:r>
              <a:rPr lang="en-US" sz="1400" b="1" dirty="0" err="1">
                <a:solidFill>
                  <a:srgbClr val="141ED2"/>
                </a:solidFill>
                <a:latin typeface="Arial" panose="020B0604020202020204" pitchFamily="34" charset="0"/>
                <a:cs typeface="Arial" panose="020B0604020202020204" pitchFamily="34" charset="0"/>
              </a:rPr>
              <a:t>ớng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và</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độ</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rộng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thị</a:t>
            </a:r>
            <a:r>
              <a:rPr lang="en-US" sz="1400" b="1" dirty="0">
                <a:solidFill>
                  <a:srgbClr val="141ED2"/>
                </a:solidFill>
                <a:latin typeface="Arial" panose="020B0604020202020204" pitchFamily="34" charset="0"/>
                <a:cs typeface="Arial" panose="020B0604020202020204" pitchFamily="34" charset="0"/>
              </a:rPr>
              <a:t> tr</a:t>
            </a:r>
            <a:r>
              <a:rPr lang="vi-VN" sz="1400" b="1" dirty="0">
                <a:solidFill>
                  <a:srgbClr val="141ED2"/>
                </a:solidFill>
                <a:latin typeface="Arial" panose="020B0604020202020204" pitchFamily="34" charset="0"/>
                <a:cs typeface="Arial" panose="020B0604020202020204" pitchFamily="34" charset="0"/>
              </a:rPr>
              <a:t>ư</a:t>
            </a:r>
            <a:r>
              <a:rPr lang="en-US" sz="1400" b="1" dirty="0" err="1">
                <a:solidFill>
                  <a:srgbClr val="141ED2"/>
                </a:solidFill>
                <a:latin typeface="Arial" panose="020B0604020202020204" pitchFamily="34" charset="0"/>
                <a:cs typeface="Arial" panose="020B0604020202020204" pitchFamily="34" charset="0"/>
              </a:rPr>
              <a:t>ờng</a:t>
            </a: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err="1">
                <a:solidFill>
                  <a:srgbClr val="141ED2"/>
                </a:solidFill>
                <a:latin typeface="Arial" panose="020B0604020202020204" pitchFamily="34" charset="0"/>
                <a:cs typeface="Arial" panose="020B0604020202020204" pitchFamily="34" charset="0"/>
              </a:rPr>
              <a:t>Biến</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động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các</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nhóm</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ngành</a:t>
            </a: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err="1">
                <a:solidFill>
                  <a:srgbClr val="141ED2"/>
                </a:solidFill>
                <a:latin typeface="Arial" panose="020B0604020202020204" pitchFamily="34" charset="0"/>
                <a:cs typeface="Arial" panose="020B0604020202020204" pitchFamily="34" charset="0"/>
              </a:rPr>
              <a:t>Giao</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dịch</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các</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nhóm</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nhà</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đầu</a:t>
            </a:r>
            <a:r>
              <a:rPr lang="en-US" sz="1400" b="1" dirty="0">
                <a:solidFill>
                  <a:srgbClr val="141ED2"/>
                </a:solidFill>
                <a:latin typeface="Arial" panose="020B0604020202020204" pitchFamily="34" charset="0"/>
                <a:cs typeface="Arial" panose="020B0604020202020204" pitchFamily="34" charset="0"/>
              </a:rPr>
              <a:t> t</a:t>
            </a:r>
            <a:r>
              <a:rPr lang="vi-VN" sz="1400" b="1" dirty="0">
                <a:solidFill>
                  <a:srgbClr val="141ED2"/>
                </a:solidFill>
                <a:latin typeface="Arial" panose="020B0604020202020204" pitchFamily="34" charset="0"/>
                <a:cs typeface="Arial" panose="020B0604020202020204" pitchFamily="34" charset="0"/>
              </a:rPr>
              <a:t>ư</a:t>
            </a: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en-US" sz="1400" b="1" dirty="0">
                <a:solidFill>
                  <a:srgbClr val="141ED2"/>
                </a:solidFill>
                <a:latin typeface="Arial" panose="020B0604020202020204" pitchFamily="34" charset="0"/>
                <a:cs typeface="Arial" panose="020B0604020202020204" pitchFamily="34" charset="0"/>
              </a:rPr>
              <a:t>CÁC SỰ KIỆN DIỄN RA TRONG TUẦN 14/09/2026 – 18/09/2026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vi-VN" sz="1400" b="1" dirty="0">
                <a:solidFill>
                  <a:srgbClr val="141ED2"/>
                </a:solidFill>
                <a:latin typeface="Arial" panose="020B0604020202020204" pitchFamily="34" charset="0"/>
                <a:cs typeface="Arial" panose="020B0604020202020204" pitchFamily="34" charset="0"/>
              </a:rPr>
              <a:t>NHẬN ĐỊNH XU HƯỚNG THỊ TRƯỜNG TUẦN 14/09/2026 – 18/09/2026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en-US" sz="1400" b="1" dirty="0">
                <a:solidFill>
                  <a:srgbClr val="141ED2"/>
                </a:solidFill>
                <a:latin typeface="Arial" panose="020B0604020202020204" pitchFamily="34" charset="0"/>
                <a:cs typeface="Arial" panose="020B0604020202020204" pitchFamily="34" charset="0"/>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07/09 – 11/09/2026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Xu h</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ớng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và</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độ</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rộng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thị</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tr</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ờng</a:t>
            </a: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150000"/>
              </a:lnSpc>
              <a:spcBef>
                <a:spcPct val="0"/>
              </a:spcBef>
            </a:pPr>
            <a:endParaRPr lang="en-US" sz="110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Trong tuần </a:t>
            </a:r>
            <a:r>
              <a:rPr lang="en-US" sz="1100" dirty="0">
                <a:solidFill>
                  <a:schemeClr val="tx1"/>
                </a:solidFill>
                <a:latin typeface="Arial" panose="020B0604020202020204" pitchFamily="34" charset="0"/>
                <a:cs typeface="Arial" panose="020B0604020202020204" pitchFamily="34" charset="0"/>
              </a:rPr>
              <a:t>07</a:t>
            </a:r>
            <a:r>
              <a:rPr lang="vi-VN" sz="1100" dirty="0">
                <a:solidFill>
                  <a:schemeClr val="tx1"/>
                </a:solidFill>
                <a:latin typeface="Arial" panose="020B0604020202020204" pitchFamily="34" charset="0"/>
                <a:cs typeface="Arial" panose="020B0604020202020204" pitchFamily="34" charset="0"/>
              </a:rPr>
              <a:t>/0</a:t>
            </a:r>
            <a:r>
              <a:rPr lang="en-US" sz="1100" dirty="0">
                <a:solidFill>
                  <a:schemeClr val="tx1"/>
                </a:solidFill>
                <a:latin typeface="Arial" panose="020B0604020202020204" pitchFamily="34" charset="0"/>
                <a:cs typeface="Arial" panose="020B0604020202020204" pitchFamily="34" charset="0"/>
              </a:rPr>
              <a:t>9</a:t>
            </a:r>
            <a:r>
              <a:rPr lang="vi-VN" sz="1100" dirty="0">
                <a:solidFill>
                  <a:schemeClr val="tx1"/>
                </a:solidFill>
                <a:latin typeface="Arial" panose="020B0604020202020204" pitchFamily="34" charset="0"/>
                <a:cs typeface="Arial" panose="020B0604020202020204" pitchFamily="34" charset="0"/>
              </a:rPr>
              <a:t>–</a:t>
            </a:r>
            <a:r>
              <a:rPr lang="en-US" sz="1100" dirty="0">
                <a:solidFill>
                  <a:schemeClr val="tx1"/>
                </a:solidFill>
                <a:latin typeface="Arial" panose="020B0604020202020204" pitchFamily="34" charset="0"/>
                <a:cs typeface="Arial" panose="020B0604020202020204" pitchFamily="34" charset="0"/>
              </a:rPr>
              <a:t>11</a:t>
            </a:r>
            <a:r>
              <a:rPr lang="vi-VN" sz="1100" dirty="0">
                <a:solidFill>
                  <a:schemeClr val="tx1"/>
                </a:solidFill>
                <a:latin typeface="Arial" panose="020B0604020202020204" pitchFamily="34" charset="0"/>
                <a:cs typeface="Arial" panose="020B0604020202020204" pitchFamily="34" charset="0"/>
              </a:rPr>
              <a:t>/0</a:t>
            </a:r>
            <a:r>
              <a:rPr lang="en-US" sz="1100" dirty="0">
                <a:solidFill>
                  <a:schemeClr val="tx1"/>
                </a:solidFill>
                <a:latin typeface="Arial" panose="020B0604020202020204" pitchFamily="34" charset="0"/>
                <a:cs typeface="Arial" panose="020B0604020202020204" pitchFamily="34" charset="0"/>
              </a:rPr>
              <a:t>9</a:t>
            </a:r>
            <a:r>
              <a:rPr lang="vi-VN" sz="1100" dirty="0">
                <a:solidFill>
                  <a:schemeClr val="tx1"/>
                </a:solidFill>
                <a:latin typeface="Arial" panose="020B0604020202020204" pitchFamily="34" charset="0"/>
                <a:cs typeface="Arial" panose="020B0604020202020204" pitchFamily="34" charset="0"/>
              </a:rPr>
              <a:t>/2026, VNINDEX </a:t>
            </a:r>
            <a:r>
              <a:rPr lang="en-US" sz="1100" dirty="0" err="1">
                <a:solidFill>
                  <a:schemeClr val="tx1"/>
                </a:solidFill>
                <a:latin typeface="Arial" panose="020B0604020202020204" pitchFamily="34" charset="0"/>
                <a:cs typeface="Arial" panose="020B0604020202020204" pitchFamily="34" charset="0"/>
              </a:rPr>
              <a:t>giảm</a:t>
            </a:r>
            <a:r>
              <a:rPr lang="vi-VN" sz="1100" dirty="0">
                <a:solidFill>
                  <a:schemeClr val="tx1"/>
                </a:solidFill>
                <a:latin typeface="Arial" panose="020B0604020202020204" pitchFamily="34" charset="0"/>
                <a:cs typeface="Arial" panose="020B0604020202020204" pitchFamily="34" charset="0"/>
              </a:rPr>
              <a:t> 5</a:t>
            </a:r>
            <a:r>
              <a:rPr lang="en-US" sz="1100" dirty="0">
                <a:solidFill>
                  <a:schemeClr val="tx1"/>
                </a:solidFill>
                <a:latin typeface="Arial" panose="020B0604020202020204" pitchFamily="34" charset="0"/>
                <a:cs typeface="Arial" panose="020B0604020202020204" pitchFamily="34" charset="0"/>
              </a:rPr>
              <a:t>8</a:t>
            </a:r>
            <a:r>
              <a:rPr lang="vi-VN" sz="1100" dirty="0">
                <a:solidFill>
                  <a:schemeClr val="tx1"/>
                </a:solidFill>
                <a:latin typeface="Arial" panose="020B0604020202020204" pitchFamily="34" charset="0"/>
                <a:cs typeface="Arial" panose="020B0604020202020204" pitchFamily="34" charset="0"/>
              </a:rPr>
              <a:t> điểm (</a:t>
            </a:r>
            <a:r>
              <a:rPr lang="en-US" sz="1100" dirty="0">
                <a:solidFill>
                  <a:schemeClr val="tx1"/>
                </a:solidFill>
                <a:latin typeface="Arial" panose="020B0604020202020204" pitchFamily="34" charset="0"/>
                <a:cs typeface="Arial" panose="020B0604020202020204" pitchFamily="34" charset="0"/>
              </a:rPr>
              <a:t>-3</a:t>
            </a:r>
            <a:r>
              <a:rPr lang="vi-VN" sz="1100" dirty="0">
                <a:solidFill>
                  <a:schemeClr val="tx1"/>
                </a:solidFill>
                <a:latin typeface="Arial" panose="020B0604020202020204" pitchFamily="34" charset="0"/>
                <a:cs typeface="Arial" panose="020B0604020202020204" pitchFamily="34" charset="0"/>
              </a:rPr>
              <a:t>,</a:t>
            </a:r>
            <a:r>
              <a:rPr lang="en-US" sz="1100" dirty="0">
                <a:solidFill>
                  <a:schemeClr val="tx1"/>
                </a:solidFill>
                <a:latin typeface="Arial" panose="020B0604020202020204" pitchFamily="34" charset="0"/>
                <a:cs typeface="Arial" panose="020B0604020202020204" pitchFamily="34" charset="0"/>
              </a:rPr>
              <a:t>1</a:t>
            </a:r>
            <a:r>
              <a:rPr lang="vi-VN"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xuống</a:t>
            </a:r>
            <a:r>
              <a:rPr lang="vi-VN" sz="1100" dirty="0">
                <a:solidFill>
                  <a:schemeClr val="tx1"/>
                </a:solidFill>
                <a:latin typeface="Arial" panose="020B0604020202020204" pitchFamily="34" charset="0"/>
                <a:cs typeface="Arial" panose="020B0604020202020204" pitchFamily="34" charset="0"/>
              </a:rPr>
              <a:t> 1.7</a:t>
            </a:r>
            <a:r>
              <a:rPr lang="en-US" sz="1100" dirty="0">
                <a:solidFill>
                  <a:schemeClr val="tx1"/>
                </a:solidFill>
                <a:latin typeface="Arial" panose="020B0604020202020204" pitchFamily="34" charset="0"/>
                <a:cs typeface="Arial" panose="020B0604020202020204" pitchFamily="34" charset="0"/>
              </a:rPr>
              <a:t>95</a:t>
            </a:r>
            <a:r>
              <a:rPr lang="vi-VN" sz="1100" dirty="0">
                <a:solidFill>
                  <a:schemeClr val="tx1"/>
                </a:solidFill>
                <a:latin typeface="Arial" panose="020B0604020202020204" pitchFamily="34" charset="0"/>
                <a:cs typeface="Arial" panose="020B0604020202020204" pitchFamily="34" charset="0"/>
              </a:rPr>
              <a:t> điểm, trong khi thanh khoản </a:t>
            </a:r>
            <a:r>
              <a:rPr lang="en-US" sz="1100" dirty="0" err="1">
                <a:solidFill>
                  <a:schemeClr val="tx1"/>
                </a:solidFill>
                <a:latin typeface="Arial" panose="020B0604020202020204" pitchFamily="34" charset="0"/>
                <a:cs typeface="Arial" panose="020B0604020202020204" pitchFamily="34" charset="0"/>
              </a:rPr>
              <a:t>tăng</a:t>
            </a:r>
            <a:r>
              <a:rPr lang="vi-VN" sz="1100" dirty="0">
                <a:solidFill>
                  <a:schemeClr val="tx1"/>
                </a:solidFill>
                <a:latin typeface="Arial" panose="020B0604020202020204" pitchFamily="34" charset="0"/>
                <a:cs typeface="Arial" panose="020B0604020202020204" pitchFamily="34" charset="0"/>
              </a:rPr>
              <a:t> so với tuần trước. VN30 </a:t>
            </a:r>
            <a:r>
              <a:rPr lang="en-US" sz="1100" dirty="0" err="1">
                <a:solidFill>
                  <a:schemeClr val="tx1"/>
                </a:solidFill>
                <a:latin typeface="Arial" panose="020B0604020202020204" pitchFamily="34" charset="0"/>
                <a:cs typeface="Arial" panose="020B0604020202020204" pitchFamily="34" charset="0"/>
              </a:rPr>
              <a:t>giảm</a:t>
            </a:r>
            <a:r>
              <a:rPr lang="vi-VN" sz="1100" dirty="0">
                <a:solidFill>
                  <a:schemeClr val="tx1"/>
                </a:solidFill>
                <a:latin typeface="Arial" panose="020B0604020202020204" pitchFamily="34" charset="0"/>
                <a:cs typeface="Arial" panose="020B0604020202020204" pitchFamily="34" charset="0"/>
              </a:rPr>
              <a:t> 4</a:t>
            </a:r>
            <a:r>
              <a:rPr lang="en-US" sz="1100" dirty="0">
                <a:solidFill>
                  <a:schemeClr val="tx1"/>
                </a:solidFill>
                <a:latin typeface="Arial" panose="020B0604020202020204" pitchFamily="34" charset="0"/>
                <a:cs typeface="Arial" panose="020B0604020202020204" pitchFamily="34" charset="0"/>
              </a:rPr>
              <a:t>8</a:t>
            </a:r>
            <a:r>
              <a:rPr lang="vi-VN" sz="1100" dirty="0">
                <a:solidFill>
                  <a:schemeClr val="tx1"/>
                </a:solidFill>
                <a:latin typeface="Arial" panose="020B0604020202020204" pitchFamily="34" charset="0"/>
                <a:cs typeface="Arial" panose="020B0604020202020204" pitchFamily="34" charset="0"/>
              </a:rPr>
              <a:t> điểm (</a:t>
            </a:r>
            <a:r>
              <a:rPr lang="en-US" sz="1100" dirty="0">
                <a:solidFill>
                  <a:schemeClr val="tx1"/>
                </a:solidFill>
                <a:latin typeface="Arial" panose="020B0604020202020204" pitchFamily="34" charset="0"/>
                <a:cs typeface="Arial" panose="020B0604020202020204" pitchFamily="34" charset="0"/>
              </a:rPr>
              <a:t>-</a:t>
            </a:r>
            <a:r>
              <a:rPr lang="vi-VN" sz="1100" dirty="0">
                <a:solidFill>
                  <a:schemeClr val="tx1"/>
                </a:solidFill>
                <a:latin typeface="Arial" panose="020B0604020202020204" pitchFamily="34" charset="0"/>
                <a:cs typeface="Arial" panose="020B0604020202020204" pitchFamily="34" charset="0"/>
              </a:rPr>
              <a:t>2,</a:t>
            </a:r>
            <a:r>
              <a:rPr lang="en-US" sz="1100" dirty="0">
                <a:solidFill>
                  <a:schemeClr val="tx1"/>
                </a:solidFill>
                <a:latin typeface="Arial" panose="020B0604020202020204" pitchFamily="34" charset="0"/>
                <a:cs typeface="Arial" panose="020B0604020202020204" pitchFamily="34" charset="0"/>
              </a:rPr>
              <a:t>4</a:t>
            </a:r>
            <a:r>
              <a:rPr lang="vi-VN"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xuống</a:t>
            </a:r>
            <a:r>
              <a:rPr lang="vi-VN" sz="1100" dirty="0">
                <a:solidFill>
                  <a:schemeClr val="tx1"/>
                </a:solidFill>
                <a:latin typeface="Arial" panose="020B0604020202020204" pitchFamily="34" charset="0"/>
                <a:cs typeface="Arial" panose="020B0604020202020204" pitchFamily="34" charset="0"/>
              </a:rPr>
              <a:t> 1.</a:t>
            </a:r>
            <a:r>
              <a:rPr lang="en-US" sz="1100" dirty="0">
                <a:solidFill>
                  <a:schemeClr val="tx1"/>
                </a:solidFill>
                <a:latin typeface="Arial" panose="020B0604020202020204" pitchFamily="34" charset="0"/>
                <a:cs typeface="Arial" panose="020B0604020202020204" pitchFamily="34" charset="0"/>
              </a:rPr>
              <a:t>936</a:t>
            </a:r>
            <a:r>
              <a:rPr lang="vi-VN" sz="1100" dirty="0">
                <a:solidFill>
                  <a:schemeClr val="tx1"/>
                </a:solidFill>
                <a:latin typeface="Arial" panose="020B0604020202020204" pitchFamily="34" charset="0"/>
                <a:cs typeface="Arial" panose="020B0604020202020204" pitchFamily="34" charset="0"/>
              </a:rPr>
              <a:t> điểm</a:t>
            </a:r>
            <a:r>
              <a:rPr lang="en-US" sz="1100" dirty="0">
                <a:solidFill>
                  <a:schemeClr val="tx1"/>
                </a:solidFill>
                <a:latin typeface="Arial" panose="020B0604020202020204" pitchFamily="34" charset="0"/>
                <a:cs typeface="Arial" panose="020B0604020202020204" pitchFamily="34" charset="0"/>
              </a:rPr>
              <a:t>.</a:t>
            </a:r>
            <a:r>
              <a:rPr lang="vi-VN" sz="1100" dirty="0">
                <a:solidFill>
                  <a:schemeClr val="tx1"/>
                </a:solidFill>
                <a:latin typeface="Arial" panose="020B0604020202020204" pitchFamily="34" charset="0"/>
                <a:cs typeface="Arial" panose="020B0604020202020204" pitchFamily="34" charset="0"/>
              </a:rPr>
              <a:t> Thị trường giảm 1,</a:t>
            </a:r>
            <a:r>
              <a:rPr lang="en-US" sz="1100" dirty="0">
                <a:solidFill>
                  <a:schemeClr val="tx1"/>
                </a:solidFill>
                <a:latin typeface="Arial" panose="020B0604020202020204" pitchFamily="34" charset="0"/>
                <a:cs typeface="Arial" panose="020B0604020202020204" pitchFamily="34" charset="0"/>
              </a:rPr>
              <a:t>7</a:t>
            </a:r>
            <a:r>
              <a:rPr lang="vi-VN" sz="1100" dirty="0">
                <a:solidFill>
                  <a:schemeClr val="tx1"/>
                </a:solidFill>
                <a:latin typeface="Arial" panose="020B0604020202020204" pitchFamily="34" charset="0"/>
                <a:cs typeface="Arial" panose="020B0604020202020204" pitchFamily="34" charset="0"/>
              </a:rPr>
              <a:t>% ngay trong phiên đầu tuần xuống </a:t>
            </a:r>
            <a:r>
              <a:rPr lang="en-US" sz="1100" dirty="0">
                <a:solidFill>
                  <a:schemeClr val="tx1"/>
                </a:solidFill>
                <a:latin typeface="Arial" panose="020B0604020202020204" pitchFamily="34" charset="0"/>
                <a:cs typeface="Arial" panose="020B0604020202020204" pitchFamily="34" charset="0"/>
              </a:rPr>
              <a:t>1.821</a:t>
            </a:r>
            <a:r>
              <a:rPr lang="vi-VN" sz="1100" dirty="0">
                <a:solidFill>
                  <a:schemeClr val="tx1"/>
                </a:solidFill>
                <a:latin typeface="Arial" panose="020B0604020202020204" pitchFamily="34" charset="0"/>
                <a:cs typeface="Arial" panose="020B0604020202020204" pitchFamily="34" charset="0"/>
              </a:rPr>
              <a:t> sau đó </a:t>
            </a:r>
            <a:r>
              <a:rPr lang="en-US" sz="1100" dirty="0" err="1">
                <a:solidFill>
                  <a:schemeClr val="tx1"/>
                </a:solidFill>
                <a:latin typeface="Arial" panose="020B0604020202020204" pitchFamily="34" charset="0"/>
                <a:cs typeface="Arial" panose="020B0604020202020204" pitchFamily="34" charset="0"/>
              </a:rPr>
              <a:t>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ngang</a:t>
            </a:r>
            <a:r>
              <a:rPr lang="vi-VN" sz="1100" dirty="0">
                <a:solidFill>
                  <a:schemeClr val="tx1"/>
                </a:solidFill>
                <a:latin typeface="Arial" panose="020B0604020202020204" pitchFamily="34" charset="0"/>
                <a:cs typeface="Arial" panose="020B0604020202020204" pitchFamily="34" charset="0"/>
              </a:rPr>
              <a:t> trong ba phiên.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cuối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ghi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nhận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lực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mạnh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thanh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khoản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tăng</a:t>
            </a:r>
            <a:r>
              <a:rPr lang="en-US" sz="1100" dirty="0">
                <a:solidFill>
                  <a:schemeClr val="tx1"/>
                </a:solidFill>
                <a:latin typeface="Arial" panose="020B0604020202020204" pitchFamily="34" charset="0"/>
                <a:cs typeface="Arial" panose="020B0604020202020204" pitchFamily="34" charset="0"/>
              </a:rPr>
              <a:t> 25% so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trước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đó</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chỉ</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đóng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cửa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thấp</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nhất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ở </a:t>
            </a:r>
            <a:r>
              <a:rPr lang="en-US" sz="1100" dirty="0" err="1">
                <a:solidFill>
                  <a:schemeClr val="tx1"/>
                </a:solidFill>
                <a:latin typeface="Arial" panose="020B0604020202020204" pitchFamily="34" charset="0"/>
                <a:cs typeface="Arial" panose="020B0604020202020204" pitchFamily="34" charset="0"/>
              </a:rPr>
              <a:t>mức</a:t>
            </a:r>
            <a:r>
              <a:rPr lang="en-US" sz="1100" dirty="0">
                <a:solidFill>
                  <a:schemeClr val="tx1"/>
                </a:solidFill>
                <a:latin typeface="Arial" panose="020B0604020202020204" pitchFamily="34" charset="0"/>
                <a:cs typeface="Arial" panose="020B0604020202020204" pitchFamily="34" charset="0"/>
              </a:rPr>
              <a:t> 1.795 </a:t>
            </a:r>
            <a:r>
              <a:rPr lang="en-US" sz="1100" dirty="0" err="1">
                <a:solidFill>
                  <a:schemeClr val="tx1"/>
                </a:solidFill>
                <a:latin typeface="Arial" panose="020B0604020202020204" pitchFamily="34" charset="0"/>
                <a:cs typeface="Arial" panose="020B0604020202020204" pitchFamily="34" charset="0"/>
              </a:rPr>
              <a:t>điểm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Có</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thể</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thấy</a:t>
            </a:r>
            <a:r>
              <a:rPr lang="en-US" sz="1100" dirty="0">
                <a:solidFill>
                  <a:schemeClr val="tx1"/>
                </a:solidFill>
                <a:latin typeface="Arial" panose="020B0604020202020204" pitchFamily="34" charset="0"/>
                <a:cs typeface="Arial" panose="020B0604020202020204" pitchFamily="34" charset="0"/>
              </a:rPr>
              <a:t> VNINDEX </a:t>
            </a:r>
            <a:r>
              <a:rPr lang="en-US" sz="1100" dirty="0" err="1">
                <a:solidFill>
                  <a:schemeClr val="tx1"/>
                </a:solidFill>
                <a:latin typeface="Arial" panose="020B0604020202020204" pitchFamily="34" charset="0"/>
                <a:cs typeface="Arial" panose="020B0604020202020204" pitchFamily="34" charset="0"/>
              </a:rPr>
              <a:t>đã</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tạo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đỉnh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ngắn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sau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kiểm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định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ngưỡng</a:t>
            </a:r>
            <a:r>
              <a:rPr lang="en-US" sz="1100" dirty="0">
                <a:solidFill>
                  <a:schemeClr val="tx1"/>
                </a:solidFill>
                <a:latin typeface="Arial" panose="020B0604020202020204" pitchFamily="34" charset="0"/>
                <a:cs typeface="Arial" panose="020B0604020202020204" pitchFamily="34" charset="0"/>
              </a:rPr>
              <a:t> 1.870 </a:t>
            </a:r>
            <a:r>
              <a:rPr lang="en-US" sz="1100" dirty="0" err="1">
                <a:solidFill>
                  <a:schemeClr val="tx1"/>
                </a:solidFill>
                <a:latin typeface="Arial" panose="020B0604020202020204" pitchFamily="34" charset="0"/>
                <a:cs typeface="Arial" panose="020B0604020202020204" pitchFamily="34" charset="0"/>
              </a:rPr>
              <a:t>không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thành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công</a:t>
            </a:r>
            <a:r>
              <a:rPr lang="en-US" sz="1100" dirty="0">
                <a:solidFill>
                  <a:schemeClr val="tx1"/>
                </a:solidFill>
                <a:latin typeface="Arial" panose="020B0604020202020204" pitchFamily="34" charset="0"/>
                <a:cs typeface="Arial" panose="020B0604020202020204" pitchFamily="34" charset="0"/>
              </a:rPr>
              <a:t>.</a:t>
            </a:r>
            <a:r>
              <a:rPr lang="vi-VN" sz="1100" dirty="0">
                <a:solidFill>
                  <a:schemeClr val="tx1"/>
                </a:solidFill>
                <a:latin typeface="Arial" panose="020B0604020202020204" pitchFamily="34" charset="0"/>
                <a:cs typeface="Arial" panose="020B0604020202020204" pitchFamily="34" charset="0"/>
              </a:rPr>
              <a:t> Nhìn chung, </a:t>
            </a:r>
            <a:r>
              <a:rPr lang="en-US" sz="1100" dirty="0" err="1">
                <a:solidFill>
                  <a:schemeClr val="tx1"/>
                </a:solidFill>
                <a:latin typeface="Arial" panose="020B0604020202020204" pitchFamily="34" charset="0"/>
                <a:cs typeface="Arial" panose="020B0604020202020204" pitchFamily="34" charset="0"/>
              </a:rPr>
              <a:t>diễn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biến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giao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dịch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cho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thấy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động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lực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hồi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phục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ngắn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đã</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kiệt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cảnh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các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nỗ</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lực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tăng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điểm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không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đạt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được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đồng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thuận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của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cổ</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phiếu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sàn</a:t>
            </a:r>
            <a:r>
              <a:rPr lang="en-US" sz="1100" dirty="0">
                <a:solidFill>
                  <a:schemeClr val="tx1"/>
                </a:solidFill>
                <a:latin typeface="Arial" panose="020B0604020202020204" pitchFamily="34" charset="0"/>
                <a:cs typeface="Arial" panose="020B0604020202020204" pitchFamily="34" charset="0"/>
              </a:rPr>
              <a:t>. </a:t>
            </a:r>
            <a:endParaRPr lang="vi-VN" sz="1100" dirty="0">
              <a:solidFill>
                <a:schemeClr val="tx1"/>
              </a:solidFill>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Về </a:t>
            </a:r>
            <a:r>
              <a:rPr lang="en-US" sz="1100" dirty="0" err="1">
                <a:solidFill>
                  <a:schemeClr val="tx1"/>
                </a:solidFill>
                <a:latin typeface="Arial" panose="020B0604020202020204" pitchFamily="34" charset="0"/>
                <a:cs typeface="Arial" panose="020B0604020202020204" pitchFamily="34" charset="0"/>
              </a:rPr>
              <a:t>diễn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biến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địa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chính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trị</a:t>
            </a:r>
            <a:r>
              <a:rPr lang="en-US" sz="1100" dirty="0">
                <a:solidFill>
                  <a:schemeClr val="tx1"/>
                </a:solidFill>
                <a:latin typeface="Arial" panose="020B0604020202020204" pitchFamily="34" charset="0"/>
                <a:cs typeface="Arial" panose="020B0604020202020204" pitchFamily="34" charset="0"/>
              </a:rPr>
              <a:t>, g</a:t>
            </a:r>
            <a:r>
              <a:rPr lang="vi-VN" sz="1100" dirty="0">
                <a:solidFill>
                  <a:schemeClr val="tx1"/>
                </a:solidFill>
                <a:latin typeface="Arial" panose="020B0604020202020204" pitchFamily="34" charset="0"/>
                <a:cs typeface="Arial" panose="020B0604020202020204" pitchFamily="34" charset="0"/>
              </a:rPr>
              <a:t>iá dầu Brent chững lại đà tăng </a:t>
            </a:r>
            <a:r>
              <a:rPr lang="en-US" sz="1100" dirty="0" err="1">
                <a:solidFill>
                  <a:schemeClr val="tx1"/>
                </a:solidFill>
                <a:latin typeface="Arial" panose="020B0604020202020204" pitchFamily="34" charset="0"/>
                <a:cs typeface="Arial" panose="020B0604020202020204" pitchFamily="34" charset="0"/>
              </a:rPr>
              <a:t>và</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chốt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tăng</a:t>
            </a:r>
            <a:r>
              <a:rPr lang="en-US" sz="1100" dirty="0">
                <a:solidFill>
                  <a:schemeClr val="tx1"/>
                </a:solidFill>
                <a:latin typeface="Arial" panose="020B0604020202020204" pitchFamily="34" charset="0"/>
                <a:cs typeface="Arial" panose="020B0604020202020204" pitchFamily="34" charset="0"/>
              </a:rPr>
              <a:t> 9% </a:t>
            </a:r>
            <a:r>
              <a:rPr lang="en-US" sz="1100" dirty="0" err="1">
                <a:solidFill>
                  <a:schemeClr val="tx1"/>
                </a:solidFill>
                <a:latin typeface="Arial" panose="020B0604020202020204" pitchFamily="34" charset="0"/>
                <a:cs typeface="Arial" panose="020B0604020202020204" pitchFamily="34" charset="0"/>
              </a:rPr>
              <a:t>lên</a:t>
            </a:r>
            <a:r>
              <a:rPr lang="en-US" sz="1100" dirty="0">
                <a:solidFill>
                  <a:schemeClr val="tx1"/>
                </a:solidFill>
                <a:latin typeface="Arial" panose="020B0604020202020204" pitchFamily="34" charset="0"/>
                <a:cs typeface="Arial" panose="020B0604020202020204" pitchFamily="34" charset="0"/>
              </a:rPr>
              <a:t> 104USD/</a:t>
            </a:r>
            <a:r>
              <a:rPr lang="en-US" sz="1100" dirty="0" err="1">
                <a:solidFill>
                  <a:schemeClr val="tx1"/>
                </a:solidFill>
                <a:latin typeface="Arial" panose="020B0604020202020204" pitchFamily="34" charset="0"/>
                <a:cs typeface="Arial" panose="020B0604020202020204" pitchFamily="34" charset="0"/>
              </a:rPr>
              <a:t>thùng</a:t>
            </a:r>
            <a:r>
              <a:rPr lang="vi-VN" sz="1100" dirty="0">
                <a:solidFill>
                  <a:schemeClr val="tx1"/>
                </a:solidFill>
                <a:latin typeface="Arial" panose="020B0604020202020204" pitchFamily="34" charset="0"/>
                <a:cs typeface="Arial" panose="020B0604020202020204" pitchFamily="34" charset="0"/>
              </a:rPr>
              <a:t> sau khi truyền thông Iran đưa tin Tehran sẽ gặp các quốc gia Vùng Vịnh tại Oman vào thứ </a:t>
            </a:r>
            <a:r>
              <a:rPr lang="en-US" sz="1100" dirty="0">
                <a:solidFill>
                  <a:schemeClr val="tx1"/>
                </a:solidFill>
                <a:latin typeface="Arial" panose="020B0604020202020204" pitchFamily="34" charset="0"/>
                <a:cs typeface="Arial" panose="020B0604020202020204" pitchFamily="34" charset="0"/>
              </a:rPr>
              <a:t>h</a:t>
            </a:r>
            <a:r>
              <a:rPr lang="vi-VN" sz="1100" dirty="0">
                <a:solidFill>
                  <a:schemeClr val="tx1"/>
                </a:solidFill>
                <a:latin typeface="Arial" panose="020B0604020202020204" pitchFamily="34" charset="0"/>
                <a:cs typeface="Arial" panose="020B0604020202020204" pitchFamily="34" charset="0"/>
              </a:rPr>
              <a:t>ai để thảo luận về một thỏa thuận tạm thời quản lý việc vận tải qua eo biển Hormuz.</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Cùng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đó</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là</a:t>
            </a:r>
            <a:r>
              <a:rPr lang="vi-VN" sz="1100" dirty="0">
                <a:solidFill>
                  <a:schemeClr val="tx1"/>
                </a:solidFill>
                <a:latin typeface="Arial" panose="020B0604020202020204" pitchFamily="34" charset="0"/>
                <a:cs typeface="Arial" panose="020B0604020202020204" pitchFamily="34" charset="0"/>
              </a:rPr>
              <a:t> việc EIA nâng dự báo sản lượng dầu thô năm 2027 của Mỹ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khi</a:t>
            </a:r>
            <a:r>
              <a:rPr lang="vi-VN" sz="1100" dirty="0">
                <a:solidFill>
                  <a:schemeClr val="tx1"/>
                </a:solidFill>
                <a:latin typeface="Arial" panose="020B0604020202020204" pitchFamily="34" charset="0"/>
                <a:cs typeface="Arial" panose="020B0604020202020204" pitchFamily="34" charset="0"/>
              </a:rPr>
              <a:t> cắt giảm mạnh triển vọng nhu cầu toàn cầu</a:t>
            </a:r>
            <a:r>
              <a:rPr lang="en-US" sz="1100" dirty="0">
                <a:solidFill>
                  <a:schemeClr val="tx1"/>
                </a:solidFill>
                <a:latin typeface="Arial" panose="020B0604020202020204" pitchFamily="34" charset="0"/>
                <a:cs typeface="Arial" panose="020B0604020202020204" pitchFamily="34" charset="0"/>
              </a:rPr>
              <a:t>. Trong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Mỹ</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đã</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công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bố</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lạm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phát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tháng</a:t>
            </a:r>
            <a:r>
              <a:rPr lang="en-US" sz="1100" dirty="0">
                <a:solidFill>
                  <a:schemeClr val="tx1"/>
                </a:solidFill>
                <a:latin typeface="Arial" panose="020B0604020202020204" pitchFamily="34" charset="0"/>
                <a:cs typeface="Arial" panose="020B0604020202020204" pitchFamily="34" charset="0"/>
              </a:rPr>
              <a:t> 8 </a:t>
            </a:r>
            <a:r>
              <a:rPr lang="en-US" sz="1100" dirty="0" err="1">
                <a:solidFill>
                  <a:schemeClr val="tx1"/>
                </a:solidFill>
                <a:latin typeface="Arial" panose="020B0604020202020204" pitchFamily="34" charset="0"/>
                <a:cs typeface="Arial" panose="020B0604020202020204" pitchFamily="34" charset="0"/>
              </a:rPr>
              <a:t>đạt</a:t>
            </a:r>
            <a:r>
              <a:rPr lang="en-US" sz="1100" dirty="0">
                <a:solidFill>
                  <a:schemeClr val="tx1"/>
                </a:solidFill>
                <a:latin typeface="Arial" panose="020B0604020202020204" pitchFamily="34" charset="0"/>
                <a:cs typeface="Arial" panose="020B0604020202020204" pitchFamily="34" charset="0"/>
              </a:rPr>
              <a:t> 3,4%, </a:t>
            </a:r>
            <a:r>
              <a:rPr lang="en-US" sz="1100" dirty="0" err="1">
                <a:solidFill>
                  <a:schemeClr val="tx1"/>
                </a:solidFill>
                <a:latin typeface="Arial" panose="020B0604020202020204" pitchFamily="34" charset="0"/>
                <a:cs typeface="Arial" panose="020B0604020202020204" pitchFamily="34" charset="0"/>
              </a:rPr>
              <a:t>ngang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báo</a:t>
            </a:r>
            <a:r>
              <a:rPr lang="en-US" sz="1100" dirty="0">
                <a:solidFill>
                  <a:schemeClr val="tx1"/>
                </a:solidFill>
                <a:latin typeface="Arial" panose="020B0604020202020204" pitchFamily="34" charset="0"/>
                <a:cs typeface="Arial" panose="020B0604020202020204" pitchFamily="34" charset="0"/>
              </a:rPr>
              <a:t>. </a:t>
            </a:r>
            <a:r>
              <a:rPr lang="vi-VN" sz="1100" dirty="0">
                <a:solidFill>
                  <a:schemeClr val="tx1"/>
                </a:solidFill>
                <a:latin typeface="Arial" panose="020B0604020202020204" pitchFamily="34" charset="0"/>
                <a:cs typeface="Arial" panose="020B0604020202020204" pitchFamily="34" charset="0"/>
              </a:rPr>
              <a:t>Trong tuần kế tiếp, thị trường quốc tế dự kiến đón nhận số liệu lạm phát của Canada, Anh và Nhật Bản, cùng quyết định lãi suất của Fed, BoE và BoJ.</a:t>
            </a:r>
            <a:r>
              <a:rPr lang="en-US" sz="1100" dirty="0">
                <a:solidFill>
                  <a:schemeClr val="tx1"/>
                </a:solidFill>
                <a:latin typeface="Arial" panose="020B0604020202020204" pitchFamily="34" charset="0"/>
                <a:cs typeface="Arial" panose="020B0604020202020204" pitchFamily="34" charset="0"/>
              </a:rPr>
              <a:t> Trong </a:t>
            </a:r>
            <a:r>
              <a:rPr lang="en-US" sz="1100" dirty="0" err="1">
                <a:solidFill>
                  <a:schemeClr val="tx1"/>
                </a:solidFill>
                <a:latin typeface="Arial" panose="020B0604020202020204" pitchFamily="34" charset="0"/>
                <a:cs typeface="Arial" panose="020B0604020202020204" pitchFamily="34" charset="0"/>
              </a:rPr>
              <a:t>đó</a:t>
            </a:r>
            <a:r>
              <a:rPr lang="en-US" sz="1100" dirty="0">
                <a:solidFill>
                  <a:schemeClr val="tx1"/>
                </a:solidFill>
                <a:latin typeface="Arial" panose="020B0604020202020204" pitchFamily="34" charset="0"/>
                <a:cs typeface="Arial" panose="020B0604020202020204" pitchFamily="34" charset="0"/>
              </a:rPr>
              <a:t> Fed </a:t>
            </a:r>
            <a:r>
              <a:rPr lang="en-US" sz="1100" dirty="0" err="1">
                <a:solidFill>
                  <a:schemeClr val="tx1"/>
                </a:solidFill>
                <a:latin typeface="Arial" panose="020B0604020202020204" pitchFamily="34" charset="0"/>
                <a:cs typeface="Arial" panose="020B0604020202020204" pitchFamily="34" charset="0"/>
              </a:rPr>
              <a:t>và</a:t>
            </a:r>
            <a:r>
              <a:rPr lang="en-US" sz="1100" dirty="0">
                <a:solidFill>
                  <a:schemeClr val="tx1"/>
                </a:solidFill>
                <a:latin typeface="Arial" panose="020B0604020202020204" pitchFamily="34" charset="0"/>
                <a:cs typeface="Arial" panose="020B0604020202020204" pitchFamily="34" charset="0"/>
              </a:rPr>
              <a:t> BoJ </a:t>
            </a:r>
            <a:r>
              <a:rPr lang="en-US" sz="1100" dirty="0" err="1">
                <a:solidFill>
                  <a:schemeClr val="tx1"/>
                </a:solidFill>
                <a:latin typeface="Arial" panose="020B0604020202020204" pitchFamily="34" charset="0"/>
                <a:cs typeface="Arial" panose="020B0604020202020204" pitchFamily="34" charset="0"/>
              </a:rPr>
              <a:t>được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cùng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tăng</a:t>
            </a:r>
            <a:r>
              <a:rPr lang="en-US" sz="1100" dirty="0">
                <a:solidFill>
                  <a:schemeClr val="tx1"/>
                </a:solidFill>
                <a:latin typeface="Arial" panose="020B0604020202020204" pitchFamily="34" charset="0"/>
                <a:cs typeface="Arial" panose="020B0604020202020204" pitchFamily="34" charset="0"/>
              </a:rPr>
              <a:t> 25bps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họp</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này</a:t>
            </a:r>
            <a:r>
              <a:rPr lang="en-US" sz="1100" dirty="0">
                <a:solidFill>
                  <a:schemeClr val="tx1"/>
                </a:solidFill>
                <a:latin typeface="Arial" panose="020B0604020202020204" pitchFamily="34" charset="0"/>
                <a:cs typeface="Arial" panose="020B0604020202020204" pitchFamily="34" charset="0"/>
              </a:rPr>
              <a:t>.</a:t>
            </a:r>
            <a:r>
              <a:rPr lang="vi-VN" sz="1100" dirty="0">
                <a:solidFill>
                  <a:schemeClr val="tx1"/>
                </a:solidFill>
                <a:latin typeface="Arial" panose="020B0604020202020204" pitchFamily="34" charset="0"/>
                <a:cs typeface="Arial" panose="020B0604020202020204" pitchFamily="34" charset="0"/>
              </a:rPr>
              <a:t> Áp lực bán ròng từ dòng tiền lớn cùng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lãi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suất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thế</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giới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tiếp</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tục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tăng</a:t>
            </a:r>
            <a:r>
              <a:rPr lang="vi-VN"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cho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thấy</a:t>
            </a:r>
            <a:r>
              <a:rPr lang="en-US" sz="1100" dirty="0">
                <a:solidFill>
                  <a:schemeClr val="tx1"/>
                </a:solidFill>
                <a:latin typeface="Arial" panose="020B0604020202020204" pitchFamily="34" charset="0"/>
                <a:cs typeface="Arial" panose="020B0604020202020204" pitchFamily="34" charset="0"/>
              </a:rPr>
              <a:t> xu </a:t>
            </a:r>
            <a:r>
              <a:rPr lang="en-US" sz="1100" dirty="0" err="1">
                <a:solidFill>
                  <a:schemeClr val="tx1"/>
                </a:solidFill>
                <a:latin typeface="Arial" panose="020B0604020202020204" pitchFamily="34" charset="0"/>
                <a:cs typeface="Arial" panose="020B0604020202020204" pitchFamily="34" charset="0"/>
              </a:rPr>
              <a:t>hướng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giảm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sẽ</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chiếm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ưu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thế</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tới</a:t>
            </a:r>
            <a:r>
              <a:rPr lang="vi-VN" sz="1100" dirty="0">
                <a:solidFill>
                  <a:schemeClr val="tx1"/>
                </a:solidFill>
                <a:latin typeface="Arial" panose="020B0604020202020204" pitchFamily="34" charset="0"/>
                <a:cs typeface="Arial" panose="020B0604020202020204" pitchFamily="34" charset="0"/>
              </a:rPr>
              <a:t>. Dự báo VNINDEX sẽ</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giảm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về</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vùng</a:t>
            </a:r>
            <a:r>
              <a:rPr lang="en-US" sz="1100" dirty="0">
                <a:solidFill>
                  <a:schemeClr val="tx1"/>
                </a:solidFill>
                <a:latin typeface="Arial" panose="020B0604020202020204" pitchFamily="34" charset="0"/>
                <a:cs typeface="Arial" panose="020B0604020202020204" pitchFamily="34" charset="0"/>
              </a:rPr>
              <a:t> 1.700 – 1.730 </a:t>
            </a:r>
            <a:r>
              <a:rPr lang="en-US" sz="1100" dirty="0" err="1">
                <a:solidFill>
                  <a:schemeClr val="tx1"/>
                </a:solidFill>
                <a:latin typeface="Arial" panose="020B0604020202020204" pitchFamily="34" charset="0"/>
                <a:cs typeface="Arial" panose="020B0604020202020204" pitchFamily="34" charset="0"/>
              </a:rPr>
              <a:t>điểm</a:t>
            </a:r>
            <a:r>
              <a:rPr lang="vi-VN" sz="1100" dirty="0">
                <a:solidFill>
                  <a:schemeClr val="tx1"/>
                </a:solidFill>
                <a:latin typeface="Arial" panose="020B0604020202020204" pitchFamily="34" charset="0"/>
                <a:cs typeface="Arial" panose="020B0604020202020204" pitchFamily="34" charset="0"/>
              </a:rPr>
              <a:t>. </a:t>
            </a:r>
          </a:p>
          <a:p>
            <a:pPr marL="171450" indent="-171450" algn="just">
              <a:lnSpc>
                <a:spcPct val="150000"/>
              </a:lnSpc>
              <a:buFont typeface="Arial" panose="020B0604020202020204" pitchFamily="34" charset="0"/>
              <a:buChar char="•"/>
            </a:pPr>
            <a:r>
              <a:rPr lang="vi-VN" sz="1100" dirty="0">
                <a:solidFill>
                  <a:schemeClr val="tx1"/>
                </a:solidFill>
              </a:rPr>
              <a:t>Xét về đóng góp của nhóm Vingroup, từ đầu năm nhóm VIC, VHM, VRE và VPL đóng góp </a:t>
            </a:r>
            <a:r>
              <a:rPr lang="en-US" sz="1100" dirty="0" err="1">
                <a:solidFill>
                  <a:schemeClr val="tx1"/>
                </a:solidFill>
              </a:rPr>
              <a:t>tăng</a:t>
            </a:r>
            <a:r>
              <a:rPr lang="vi-VN" sz="1100" dirty="0">
                <a:solidFill>
                  <a:schemeClr val="tx1"/>
                </a:solidFill>
              </a:rPr>
              <a:t> </a:t>
            </a:r>
            <a:r>
              <a:rPr lang="en-US" sz="1100" dirty="0">
                <a:solidFill>
                  <a:schemeClr val="tx1"/>
                </a:solidFill>
              </a:rPr>
              <a:t>127</a:t>
            </a:r>
            <a:r>
              <a:rPr lang="vi-VN" sz="1100" dirty="0">
                <a:solidFill>
                  <a:schemeClr val="tx1"/>
                </a:solidFill>
              </a:rPr>
              <a:t> điểm trong khi VNINDEX </a:t>
            </a:r>
            <a:r>
              <a:rPr lang="en-US" sz="1100" dirty="0" err="1">
                <a:solidFill>
                  <a:schemeClr val="tx1"/>
                </a:solidFill>
              </a:rPr>
              <a:t>tăng</a:t>
            </a:r>
            <a:r>
              <a:rPr lang="vi-VN" sz="1100" dirty="0">
                <a:solidFill>
                  <a:schemeClr val="tx1"/>
                </a:solidFill>
              </a:rPr>
              <a:t> </a:t>
            </a:r>
            <a:r>
              <a:rPr lang="en-US" sz="1100" dirty="0">
                <a:solidFill>
                  <a:schemeClr val="tx1"/>
                </a:solidFill>
              </a:rPr>
              <a:t>11 </a:t>
            </a:r>
            <a:r>
              <a:rPr lang="vi-VN" sz="1100" dirty="0">
                <a:solidFill>
                  <a:schemeClr val="tx1"/>
                </a:solidFill>
              </a:rPr>
              <a:t>điểm. Từ đầu tháng, nhóm đóng góp </a:t>
            </a:r>
            <a:r>
              <a:rPr lang="en-US" sz="1100" dirty="0" err="1">
                <a:solidFill>
                  <a:schemeClr val="tx1"/>
                </a:solidFill>
              </a:rPr>
              <a:t>tăng</a:t>
            </a:r>
            <a:r>
              <a:rPr lang="en-US" sz="1100" dirty="0">
                <a:solidFill>
                  <a:schemeClr val="tx1"/>
                </a:solidFill>
              </a:rPr>
              <a:t> 11</a:t>
            </a:r>
            <a:r>
              <a:rPr lang="vi-VN" sz="1100" dirty="0">
                <a:solidFill>
                  <a:schemeClr val="tx1"/>
                </a:solidFill>
              </a:rPr>
              <a:t> điểm, so với mức </a:t>
            </a:r>
            <a:r>
              <a:rPr lang="en-US" sz="1100" dirty="0" err="1">
                <a:solidFill>
                  <a:schemeClr val="tx1"/>
                </a:solidFill>
              </a:rPr>
              <a:t>giảm</a:t>
            </a:r>
            <a:r>
              <a:rPr lang="vi-VN" sz="1100" dirty="0">
                <a:solidFill>
                  <a:schemeClr val="tx1"/>
                </a:solidFill>
              </a:rPr>
              <a:t> </a:t>
            </a:r>
            <a:r>
              <a:rPr lang="en-US" sz="1100" dirty="0">
                <a:solidFill>
                  <a:schemeClr val="tx1"/>
                </a:solidFill>
              </a:rPr>
              <a:t>37</a:t>
            </a:r>
            <a:r>
              <a:rPr lang="vi-VN" sz="1100" dirty="0">
                <a:solidFill>
                  <a:schemeClr val="tx1"/>
                </a:solidFill>
              </a:rPr>
              <a:t> điểm của VNINDEX. </a:t>
            </a:r>
            <a:r>
              <a:rPr lang="en-US" sz="1100" dirty="0" err="1">
                <a:solidFill>
                  <a:schemeClr val="tx1"/>
                </a:solidFill>
              </a:rPr>
              <a:t>Nếu</a:t>
            </a:r>
            <a:r>
              <a:rPr lang="en-US" sz="1100" dirty="0">
                <a:solidFill>
                  <a:schemeClr val="tx1"/>
                </a:solidFill>
              </a:rPr>
              <a:t> </a:t>
            </a:r>
            <a:r>
              <a:rPr lang="en-US" sz="1100" dirty="0" err="1">
                <a:solidFill>
                  <a:schemeClr val="tx1"/>
                </a:solidFill>
              </a:rPr>
              <a:t>loại</a:t>
            </a:r>
            <a:r>
              <a:rPr lang="en-US" sz="1100" dirty="0">
                <a:solidFill>
                  <a:schemeClr val="tx1"/>
                </a:solidFill>
              </a:rPr>
              <a:t> </a:t>
            </a:r>
            <a:r>
              <a:rPr lang="en-US" sz="1100" dirty="0" err="1">
                <a:solidFill>
                  <a:schemeClr val="tx1"/>
                </a:solidFill>
              </a:rPr>
              <a:t>trừ</a:t>
            </a:r>
            <a:r>
              <a:rPr lang="en-US" sz="1100" dirty="0">
                <a:solidFill>
                  <a:schemeClr val="tx1"/>
                </a:solidFill>
              </a:rPr>
              <a:t> </a:t>
            </a:r>
            <a:r>
              <a:rPr lang="en-US" sz="1100" dirty="0" err="1">
                <a:solidFill>
                  <a:schemeClr val="tx1"/>
                </a:solidFill>
              </a:rPr>
              <a:t>nhóm</a:t>
            </a:r>
            <a:r>
              <a:rPr lang="en-US" sz="1100" dirty="0">
                <a:solidFill>
                  <a:schemeClr val="tx1"/>
                </a:solidFill>
              </a:rPr>
              <a:t> Vingroup, </a:t>
            </a:r>
            <a:r>
              <a:rPr lang="en-US" sz="1100" dirty="0" err="1">
                <a:solidFill>
                  <a:schemeClr val="tx1"/>
                </a:solidFill>
              </a:rPr>
              <a:t>điểm</a:t>
            </a:r>
            <a:r>
              <a:rPr lang="en-US" sz="1100" dirty="0">
                <a:solidFill>
                  <a:schemeClr val="tx1"/>
                </a:solidFill>
              </a:rPr>
              <a:t> </a:t>
            </a:r>
            <a:r>
              <a:rPr lang="en-US" sz="1100" dirty="0" err="1">
                <a:solidFill>
                  <a:schemeClr val="tx1"/>
                </a:solidFill>
              </a:rPr>
              <a:t>số</a:t>
            </a:r>
            <a:r>
              <a:rPr lang="en-US" sz="1100" dirty="0">
                <a:solidFill>
                  <a:schemeClr val="tx1"/>
                </a:solidFill>
              </a:rPr>
              <a:t> </a:t>
            </a:r>
            <a:r>
              <a:rPr lang="en-US" sz="1100" dirty="0" err="1">
                <a:solidFill>
                  <a:schemeClr val="tx1"/>
                </a:solidFill>
              </a:rPr>
              <a:t>của</a:t>
            </a:r>
            <a:r>
              <a:rPr lang="en-US" sz="1100" dirty="0">
                <a:solidFill>
                  <a:schemeClr val="tx1"/>
                </a:solidFill>
              </a:rPr>
              <a:t> VNINDEX </a:t>
            </a:r>
            <a:r>
              <a:rPr lang="en-US" sz="1100" dirty="0" err="1">
                <a:solidFill>
                  <a:schemeClr val="tx1"/>
                </a:solidFill>
              </a:rPr>
              <a:t>hiện</a:t>
            </a:r>
            <a:r>
              <a:rPr lang="en-US" sz="1100" dirty="0">
                <a:solidFill>
                  <a:schemeClr val="tx1"/>
                </a:solidFill>
              </a:rPr>
              <a:t> </a:t>
            </a:r>
            <a:r>
              <a:rPr lang="en-US" sz="1100" dirty="0" err="1">
                <a:solidFill>
                  <a:schemeClr val="tx1"/>
                </a:solidFill>
              </a:rPr>
              <a:t>tại</a:t>
            </a:r>
            <a:r>
              <a:rPr lang="en-US" sz="1100" dirty="0">
                <a:solidFill>
                  <a:schemeClr val="tx1"/>
                </a:solidFill>
              </a:rPr>
              <a:t> </a:t>
            </a:r>
            <a:r>
              <a:rPr lang="en-US" sz="1100" dirty="0" err="1">
                <a:solidFill>
                  <a:schemeClr val="tx1"/>
                </a:solidFill>
              </a:rPr>
              <a:t>là</a:t>
            </a:r>
            <a:r>
              <a:rPr lang="en-US" sz="1100" dirty="0">
                <a:solidFill>
                  <a:schemeClr val="tx1"/>
                </a:solidFill>
              </a:rPr>
              <a:t> 1.313 </a:t>
            </a:r>
            <a:r>
              <a:rPr lang="en-US" sz="1100" dirty="0" err="1">
                <a:solidFill>
                  <a:schemeClr val="tx1"/>
                </a:solidFill>
              </a:rPr>
              <a:t>điểm</a:t>
            </a:r>
            <a:r>
              <a:rPr lang="vi-VN" sz="1100" dirty="0">
                <a:solidFill>
                  <a:schemeClr val="tx1"/>
                </a:solidFill>
                <a:latin typeface="Arial" panose="020B0604020202020204" pitchFamily="34" charset="0"/>
                <a:cs typeface="Arial" panose="020B0604020202020204" pitchFamily="34" charset="0"/>
              </a:rPr>
              <a:t>.</a:t>
            </a:r>
          </a:p>
          <a:p>
            <a:pPr marL="171450" indent="-171450" algn="just">
              <a:lnSpc>
                <a:spcPct val="15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3</a:t>
            </a:fld>
            <a:endParaRPr lang="en-GB">
              <a:solidFill>
                <a:srgbClr val="313131"/>
              </a:solidFill>
              <a:latin typeface="Arial" panose="020B0604020202020204" pitchFamily="34" charset="0"/>
              <a:cs typeface="Arial" panose="020B0604020202020204" pitchFamily="34" charset="0"/>
            </a:endParaRPr>
          </a:p>
        </p:txBody>
      </p:sp>
      <p:pic>
        <p:nvPicPr>
          <p:cNvPr id="7" name="Picture 1">
            <a:extLst>
              <a:ext uri="{FF2B5EF4-FFF2-40B4-BE49-F238E27FC236}">
                <a16:creationId xmlns:a16="http://schemas.microsoft.com/office/drawing/2014/main" id="{F4C50797-F18F-4705-861B-8D4F151FD04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757281" y="763728"/>
            <a:ext cx="4248525" cy="2913765"/>
          </a:xfrm>
          <a:prstGeom prst="rect">
            <a:avLst/>
          </a:prstGeom>
        </p:spPr>
      </p:pic>
      <p:graphicFrame>
        <p:nvGraphicFramePr>
          <p:cNvPr id="2" name="Chart 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3650024095"/>
              </p:ext>
            </p:extLst>
          </p:nvPr>
        </p:nvGraphicFramePr>
        <p:xfrm>
          <a:off x="7757281" y="3677493"/>
          <a:ext cx="4248525" cy="294142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07/09 – 11/09/2026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Biến động các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nhóm</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ngành</a:t>
            </a: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Xét về các nhóm ngành, sắc đỏ chiếm ưu thế áp đảo trong tuần với 16/18 nhóm ngành giảm giá và chỉ 2/18 nhóm ngành tăng giá. Du lịch và Giải trí cùng Dầu khí là hai nhóm dẫn đầu đà tăng hiếm hoi, lần lượt tăng 1,7% và 1,2%. Ở chiều ngược lại, Dịch vụ tài chính là nhóm diễn biến kém tích cực nhất khi giảm 5,2%, theo sau là Truyền thông giảm 5,2% và Bất động sản giảm 4,8%.</a:t>
            </a: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Áp lực điều chỉnh lan rộng trên toàn thị trường khi phần lớn các nhóm ngành đều ghi nhận diễn biến tiêu cực trong tuần. Xét trong khung thời gian một tháng, xu hướng giảm giá cũng chiếm ưu thế với 13/18 nhóm ngành giảm giá. Sự đồng thuận giữa diễn biến tuần và tháng cho thấy áp lực điều chỉnh ngắn hạn đang chiếm ưu thế trên diện rộng, phản ánh tâm lý thận trọng và xu hướng thoái lui của dòng tiền thay vì chỉ là rung lắc cục bộ.</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2954116817"/>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Ngành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gridSpan="3">
                  <a:txBody>
                    <a:bodyPr/>
                    <a:lstStyle/>
                    <a:p>
                      <a:pPr algn="ctr" fontAlgn="ctr"/>
                      <a:r>
                        <a:rPr lang="en-US" sz="1000" b="1" u="none" strike="noStrike" dirty="0">
                          <a:solidFill>
                            <a:srgbClr val="FFFFFF"/>
                          </a:solidFill>
                          <a:effectLst/>
                          <a:latin typeface="Arial" panose="020B0604020202020204" pitchFamily="34" charset="0"/>
                          <a:cs typeface="Arial" panose="020B0604020202020204" pitchFamily="34" charset="0"/>
                        </a:rPr>
                        <a:t>% Thay </a:t>
                      </a:r>
                      <a:r>
                        <a:rPr lang="en-US" sz="1000" b="1" u="none" strike="noStrike" dirty="0" err="1">
                          <a:solidFill>
                            <a:srgbClr val="FFFFFF"/>
                          </a:solidFill>
                          <a:effectLst/>
                          <a:latin typeface="Arial" panose="020B0604020202020204" pitchFamily="34" charset="0"/>
                          <a:cs typeface="Arial" panose="020B0604020202020204" pitchFamily="34" charset="0"/>
                        </a:rPr>
                        <a:t>đổi</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latin typeface="Arial" panose="020B0604020202020204" pitchFamily="34" charset="0"/>
                          <a:cs typeface="Arial" panose="020B0604020202020204" pitchFamily="34" charset="0"/>
                        </a:rPr>
                        <a:t>1 </a:t>
                      </a:r>
                      <a:r>
                        <a:rPr lang="en-US" sz="1000" b="1" u="none" strike="noStrike" dirty="0" err="1">
                          <a:solidFill>
                            <a:schemeClr val="bg1"/>
                          </a:solidFill>
                          <a:effectLst/>
                          <a:latin typeface="Arial" panose="020B0604020202020204" pitchFamily="34" charset="0"/>
                          <a:cs typeface="Arial" panose="020B0604020202020204" pitchFamily="34" charset="0"/>
                        </a:rPr>
                        <a:t>ngày</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latin typeface="Arial" panose="020B0604020202020204" pitchFamily="34" charset="0"/>
                          <a:cs typeface="Arial" panose="020B0604020202020204" pitchFamily="34" charset="0"/>
                        </a:rPr>
                        <a:t>1 </a:t>
                      </a:r>
                      <a:r>
                        <a:rPr lang="en-US" sz="1000" b="1" u="none" strike="noStrike" dirty="0" err="1">
                          <a:solidFill>
                            <a:schemeClr val="bg1"/>
                          </a:solidFill>
                          <a:effectLst/>
                          <a:latin typeface="Arial" panose="020B0604020202020204" pitchFamily="34" charset="0"/>
                          <a:cs typeface="Arial" panose="020B0604020202020204" pitchFamily="34" charset="0"/>
                        </a:rPr>
                        <a:t>tuần</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Arial" panose="020B0604020202020204" pitchFamily="34" charset="0"/>
                          <a:cs typeface="Arial" panose="020B0604020202020204" pitchFamily="34" charset="0"/>
                        </a:rPr>
                        <a:t>1 </a:t>
                      </a:r>
                      <a:r>
                        <a:rPr lang="en-US" sz="1000" b="1" i="0" u="none" strike="noStrike" dirty="0" err="1">
                          <a:solidFill>
                            <a:schemeClr val="bg1"/>
                          </a:solidFill>
                          <a:effectLst/>
                          <a:latin typeface="Arial" panose="020B0604020202020204" pitchFamily="34" charset="0"/>
                          <a:cs typeface="Arial" panose="020B0604020202020204" pitchFamily="34" charset="0"/>
                        </a:rPr>
                        <a:t>tháng</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-1,22%</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1,74%</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-0,59%</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0,97%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1,23%</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3,25%</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1,45%</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Điện, nước &amp; xăng dầu khí đốt</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-1,22%</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1,59%</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-1,73%</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-2,22%</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-1,79%</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-6,36%</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Tài nguyên Cơ bản</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-1,83%</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-3,30%</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-2,27%</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-0,16%</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-4,57%</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-1,89%</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-3,61%</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-3,20%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-1,69%</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Arial" panose="020B0604020202020204" pitchFamily="34" charset="0"/>
                          <a:cs typeface="Arial" panose="020B060402020202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-3,74%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-6,90%</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-4,17%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-4,91%</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pt-BR" sz="1100" b="0" i="0" u="none" strike="noStrike">
                          <a:solidFill>
                            <a:srgbClr val="000000"/>
                          </a:solidFill>
                          <a:effectLst/>
                          <a:latin typeface="Arial" panose="020B0604020202020204" pitchFamily="34" charset="0"/>
                          <a:cs typeface="Arial" panose="020B0604020202020204" pitchFamily="34" charset="0"/>
                        </a:rPr>
                        <a:t>Hàng cá nhân &amp; Gia dụng</a:t>
                      </a:r>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-1,34%</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-4,48%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2,14%</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-4,75%</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10,39%</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-1,28%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-5,16%</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-7,45%</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-3,58%</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-5,17%</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-6,69%</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4</a:t>
            </a:fld>
            <a:endParaRPr lang="en-GB">
              <a:solidFill>
                <a:srgbClr val="31313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07/09 – 11/09/2026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Giao</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dịch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các</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nhóm</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nhà</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đầu</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t</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Trong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1570 </a:t>
            </a:r>
            <a:r>
              <a:rPr lang="en-US" sz="1100" dirty="0" err="1">
                <a:solidFill>
                  <a:schemeClr val="tx1"/>
                </a:solidFill>
                <a:latin typeface="Arial" panose="020B0604020202020204" pitchFamily="34" charset="0"/>
                <a:cs typeface="Arial" panose="020B0604020202020204" pitchFamily="34" charset="0"/>
              </a:rPr>
              <a:t>tỷ</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doanh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664 </a:t>
            </a:r>
            <a:r>
              <a:rPr lang="en-US" sz="1100" dirty="0" err="1">
                <a:solidFill>
                  <a:schemeClr val="tx1"/>
                </a:solidFill>
                <a:latin typeface="Arial" panose="020B0604020202020204" pitchFamily="34" charset="0"/>
                <a:cs typeface="Arial" panose="020B0604020202020204" pitchFamily="34" charset="0"/>
              </a:rPr>
              <a:t>tỷ</a:t>
            </a:r>
            <a:r>
              <a:rPr lang="en-US" sz="1100" dirty="0">
                <a:solidFill>
                  <a:schemeClr val="tx1"/>
                </a:solidFill>
                <a:latin typeface="Arial" panose="020B0604020202020204" pitchFamily="34" charset="0"/>
                <a:cs typeface="Arial" panose="020B0604020202020204" pitchFamily="34" charset="0"/>
              </a:rPr>
              <a:t>. </a:t>
            </a:r>
          </a:p>
          <a:p>
            <a:pPr>
              <a:lnSpc>
                <a:spcPct val="160000"/>
              </a:lnSpc>
            </a:pP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GD </a:t>
            </a:r>
            <a:r>
              <a:rPr lang="en-US" sz="1100" dirty="0" err="1">
                <a:solidFill>
                  <a:schemeClr val="tx1"/>
                </a:solidFill>
                <a:latin typeface="Arial" panose="020B0604020202020204" pitchFamily="34" charset="0"/>
                <a:cs typeface="Arial" panose="020B0604020202020204" pitchFamily="34" charset="0"/>
              </a:rPr>
              <a:t>Tự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doanh</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a:p>
            <a:pPr>
              <a:lnSpc>
                <a:spcPct val="160000"/>
              </a:lnSpc>
            </a:pPr>
            <a:endParaRPr lang="en-US" sz="1800" dirty="0">
              <a:latin typeface="Arial" panose="020B060402020202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latin typeface="Arial" panose="020B0604020202020204" pitchFamily="34" charset="0"/>
              <a:cs typeface="Arial" panose="020B0604020202020204" pitchFamily="34" charset="0"/>
            </a:endParaRPr>
          </a:p>
          <a:p>
            <a:pPr>
              <a:lnSpc>
                <a:spcPct val="160000"/>
              </a:lnSpc>
            </a:pPr>
            <a:endParaRPr lang="en-US" sz="14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GD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endParaRPr lang="en-US" sz="1100" dirty="0">
              <a:solidFill>
                <a:schemeClr val="tx1"/>
              </a:solidFill>
              <a:latin typeface="Arial" panose="020B0604020202020204" pitchFamily="34" charset="0"/>
              <a:cs typeface="Arial" panose="020B0604020202020204" pitchFamily="34" charset="0"/>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4013594540"/>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Bán ròng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Tỷ trọng bán của Khối Tự doanh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13.250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-484.039.540.000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8,56%</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141.800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-68.703.970.000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24,16%</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19.750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-44.473.204.000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5,62%</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22.050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-37.329.975.000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11,66%</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-33.752.885.000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9,78%</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NAF</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48.000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-29.008.500.000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21,13%</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29.950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-28.612.565.000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9,89%</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NLG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-21.980.780.000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3,60%</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STB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77.300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-18.111.450.000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2,45%</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72.700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-17.979.590.000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3,43%</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2907595457"/>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Mua ròng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Tỷ trọng mua của Khối Tự doanh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E1VFVN30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34.850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87.402.099.000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42,65%</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58.200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73.472.190.000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6,67%</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MWG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71.300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40.140.884.000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16,48%</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FUEKIVFS</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17.170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39.801.344.000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50,00%</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31.600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32.922.695.000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9,77%</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59.900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26.112.262.000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6,58%</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72.000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20.199.660.000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2,42%</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SSB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14.840.978.000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1,41%</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10.395.231.000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5,23%</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GAS</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82.900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10.185.610.000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6,42%</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1865827805"/>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Arial" panose="020B0604020202020204" pitchFamily="34" charset="0"/>
                          <a:cs typeface="Arial" panose="020B0604020202020204" pitchFamily="34" charset="0"/>
                        </a:rPr>
                        <a:t>Mua </a:t>
                      </a:r>
                      <a:r>
                        <a:rPr lang="en-US" sz="1000" b="1" i="0" u="none" strike="noStrike" dirty="0" err="1">
                          <a:solidFill>
                            <a:srgbClr val="FFFFFF"/>
                          </a:solidFill>
                          <a:effectLst/>
                          <a:latin typeface="Arial" panose="020B0604020202020204" pitchFamily="34" charset="0"/>
                          <a:cs typeface="Arial" panose="020B0604020202020204" pitchFamily="34" charset="0"/>
                        </a:rPr>
                        <a:t>ròng</a:t>
                      </a:r>
                      <a:r>
                        <a:rPr lang="en-US" sz="1000" b="1" i="0" u="none" strike="noStrike" dirty="0">
                          <a:solidFill>
                            <a:srgbClr val="FFFFFF"/>
                          </a:solidFill>
                          <a:effectLst/>
                          <a:latin typeface="Arial" panose="020B0604020202020204" pitchFamily="34" charset="0"/>
                          <a:cs typeface="Arial" panose="020B0604020202020204" pitchFamily="34" charset="0"/>
                        </a:rPr>
                        <a:t> (GT)</a:t>
                      </a: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 NN </a:t>
                      </a:r>
                      <a:r>
                        <a:rPr lang="en-US" sz="1000" b="1" u="none" strike="noStrike" dirty="0" err="1">
                          <a:solidFill>
                            <a:srgbClr val="FFFFFF"/>
                          </a:solidFill>
                          <a:effectLst/>
                          <a:latin typeface="Arial" panose="020B0604020202020204" pitchFamily="34" charset="0"/>
                          <a:cs typeface="Arial" panose="020B0604020202020204" pitchFamily="34" charset="0"/>
                        </a:rPr>
                        <a:t>Sở</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hữu</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72.700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383.282.587.400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27,52%</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257.374.182.450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21,72%</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243.300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157.172.398.800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3,15%</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31.600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150.739.261.650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20,73%</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BSR</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27.550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134.644.347.000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1,09%</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DGW</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44.400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115.846.803.650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24,61%</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SBT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95.123.962.350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19,72%</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26.800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85.200.647.100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21,64%</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PVT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75.172.074.750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14,43%</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VPL</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82.500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72.101.179.200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6,35%</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1369804054"/>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Bán </a:t>
                      </a:r>
                      <a:r>
                        <a:rPr lang="en-US" sz="1000" b="1" u="none" strike="noStrike" dirty="0" err="1">
                          <a:solidFill>
                            <a:srgbClr val="FFFFFF"/>
                          </a:solidFill>
                          <a:effectLst/>
                          <a:latin typeface="Arial" panose="020B0604020202020204" pitchFamily="34" charset="0"/>
                          <a:cs typeface="Arial" panose="020B0604020202020204" pitchFamily="34" charset="0"/>
                        </a:rPr>
                        <a:t>ròng</a:t>
                      </a:r>
                      <a:r>
                        <a:rPr lang="en-US" sz="1000" b="1" u="none" strike="noStrike" dirty="0">
                          <a:solidFill>
                            <a:srgbClr val="FFFFFF"/>
                          </a:solidFill>
                          <a:effectLst/>
                          <a:latin typeface="Arial" panose="020B0604020202020204" pitchFamily="34" charset="0"/>
                          <a:cs typeface="Arial" panose="020B0604020202020204" pitchFamily="34" charset="0"/>
                        </a:rPr>
                        <a:t>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 NN </a:t>
                      </a:r>
                      <a:r>
                        <a:rPr lang="en-US" sz="1000" b="1" u="none" strike="noStrike" dirty="0" err="1">
                          <a:solidFill>
                            <a:srgbClr val="FFFFFF"/>
                          </a:solidFill>
                          <a:effectLst/>
                          <a:latin typeface="Arial" panose="020B0604020202020204" pitchFamily="34" charset="0"/>
                          <a:cs typeface="Arial" panose="020B0604020202020204" pitchFamily="34" charset="0"/>
                        </a:rPr>
                        <a:t>Sở</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hữu</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72.000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-688.783.117.700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6,81%</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STB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77.300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-334.086.995.600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10,81%</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58.200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-228.977.598.000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20,05%</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29.950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-222.026.874.700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24,68%</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26.950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-198.729.648.950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22,81%</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19.750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-189.240.220.250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22,17%</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SHB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11.550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-137.943.103.250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3,76%</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DXG</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10.750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-116.853.938.800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18,08%</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TCX</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38.100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-102.542.603.050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9,00%</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59.900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-84.807.984.500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49,80%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07/09 – 11/09/2026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Trong </a:t>
            </a:r>
            <a:r>
              <a:rPr lang="en-US" sz="1100" dirty="0" err="1">
                <a:solidFill>
                  <a:schemeClr val="tx1"/>
                </a:solidFill>
                <a:latin typeface="Arial" panose="020B0604020202020204" pitchFamily="34" charset="0"/>
                <a:cs typeface="Arial" panose="020B0604020202020204" pitchFamily="34" charset="0"/>
              </a:rPr>
              <a:t>tháng</a:t>
            </a:r>
            <a:r>
              <a:rPr lang="en-US" sz="1100" dirty="0">
                <a:solidFill>
                  <a:schemeClr val="tx1"/>
                </a:solidFill>
                <a:latin typeface="Arial" panose="020B0604020202020204" pitchFamily="34" charset="0"/>
                <a:cs typeface="Arial" panose="020B0604020202020204" pitchFamily="34" charset="0"/>
              </a:rPr>
              <a:t> 9,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23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ở 4 </a:t>
            </a:r>
            <a:r>
              <a:rPr lang="en-US" sz="1100" dirty="0" err="1">
                <a:solidFill>
                  <a:schemeClr val="tx1"/>
                </a:solidFill>
                <a:latin typeface="Arial" panose="020B0604020202020204" pitchFamily="34" charset="0"/>
                <a:cs typeface="Arial" panose="020B0604020202020204" pitchFamily="34" charset="0"/>
              </a:rPr>
              <a:t>cổ</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phiếu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theo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dõi</a:t>
            </a:r>
            <a:r>
              <a:rPr lang="en-US" sz="1100" dirty="0">
                <a:solidFill>
                  <a:schemeClr val="tx1"/>
                </a:solidFill>
                <a:latin typeface="Arial" panose="020B0604020202020204" pitchFamily="34" charset="0"/>
                <a:cs typeface="Arial" panose="020B0604020202020204" pitchFamily="34" charset="0"/>
              </a:rPr>
              <a:t>.</a:t>
            </a: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279589530"/>
              </p:ext>
            </p:extLst>
          </p:nvPr>
        </p:nvGraphicFramePr>
        <p:xfrm>
          <a:off x="364321" y="1265121"/>
          <a:ext cx="11463359" cy="1218249"/>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10/09/2026</a:t>
                      </a: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TCB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vi-VN" sz="1200" b="0" u="none" strike="noStrike" kern="1200">
                          <a:solidFill>
                            <a:srgbClr val="000000"/>
                          </a:solidFill>
                          <a:effectLst/>
                          <a:latin typeface="Arial" panose="020B0604020202020204" pitchFamily="34" charset="0"/>
                          <a:ea typeface="+mn-ea"/>
                          <a:cs typeface="Arial" panose="020B0604020202020204" pitchFamily="34" charset="0"/>
                        </a:rPr>
                        <a:t>TCB: Biên bản kiểm phiếu và Nghị quyết ĐHĐCĐ thông qua Phương án tăng vốn điều lệ 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10/09/2026</a:t>
                      </a: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dirty="0">
                          <a:solidFill>
                            <a:srgbClr val="000000"/>
                          </a:solidFill>
                          <a:effectLst/>
                          <a:latin typeface="Arial" panose="020B0604020202020204" pitchFamily="34" charset="0"/>
                          <a:ea typeface="+mn-ea"/>
                          <a:cs typeface="Arial" panose="020B0604020202020204" pitchFamily="34" charset="0"/>
                        </a:rPr>
                        <a:t>VPB</a:t>
                      </a: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vi-VN" sz="1200" b="0" u="none" strike="noStrike" kern="1200" dirty="0">
                          <a:solidFill>
                            <a:srgbClr val="000000"/>
                          </a:solidFill>
                          <a:effectLst/>
                          <a:latin typeface="+mn-lt"/>
                          <a:ea typeface="+mn-ea"/>
                          <a:cs typeface="Arial" panose="020B0604020202020204" pitchFamily="34" charset="0"/>
                        </a:rPr>
                        <a:t>VPB: Nghị quyết HĐQT về ngày đăng ký cuối cùng để thực hiện quyền nhận cổ tức bằng cổ phiếu</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1491663758"/>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-26.925.294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-6.326.504</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-33.422.661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-12.545.859</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9</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-6.974.892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5.844.042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-10.052.008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203.114</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-261.995.552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-53.633.971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-149.122.821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-121.085.638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1,6%</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CÁC SỰ KIỆN DIỄN RA TRONG TUẦN 14/09/2026 – 18/09/2026</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Arial" panose="020B0604020202020204" pitchFamily="34" charset="0"/>
                <a:cs typeface="Arial" panose="020B0604020202020204" pitchFamily="34" charset="0"/>
              </a:rPr>
              <a:t>Trong</a:t>
            </a:r>
            <a:r>
              <a:rPr lang="en-US" sz="1400" b="1" dirty="0">
                <a:solidFill>
                  <a:srgbClr val="141ED2"/>
                </a:solidFill>
                <a:latin typeface="Arial" panose="020B0604020202020204" pitchFamily="34" charset="0"/>
                <a:cs typeface="Arial" panose="020B0604020202020204" pitchFamily="34" charset="0"/>
              </a:rPr>
              <a:t> n</a:t>
            </a:r>
            <a:r>
              <a:rPr lang="vi-VN" sz="1400" b="1">
                <a:solidFill>
                  <a:srgbClr val="141ED2"/>
                </a:solidFill>
                <a:latin typeface="Arial" panose="020B0604020202020204" pitchFamily="34" charset="0"/>
                <a:cs typeface="Arial" panose="020B0604020202020204" pitchFamily="34" charset="0"/>
              </a:rPr>
              <a:t>ư</a:t>
            </a:r>
            <a:r>
              <a:rPr lang="en-US" sz="1400" b="1">
                <a:solidFill>
                  <a:srgbClr val="141ED2"/>
                </a:solidFill>
                <a:latin typeface="Arial" panose="020B0604020202020204" pitchFamily="34" charset="0"/>
                <a:cs typeface="Arial" panose="020B0604020202020204" pitchFamily="34"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Arial" panose="020B0604020202020204" pitchFamily="34" charset="0"/>
                <a:cs typeface="Arial" panose="020B0604020202020204" pitchFamily="34" charset="0"/>
              </a:rPr>
              <a:t>Quốc </a:t>
            </a:r>
            <a:r>
              <a:rPr lang="en-US" sz="1400" b="1" dirty="0" err="1">
                <a:solidFill>
                  <a:srgbClr val="141ED2"/>
                </a:solidFill>
                <a:latin typeface="Arial" panose="020B0604020202020204" pitchFamily="34" charset="0"/>
                <a:cs typeface="Arial" panose="020B0604020202020204" pitchFamily="34" charset="0"/>
              </a:rPr>
              <a:t>tế</a:t>
            </a: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endParaRPr lang="en-US" sz="1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7</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280475471"/>
              </p:ext>
            </p:extLst>
          </p:nvPr>
        </p:nvGraphicFramePr>
        <p:xfrm>
          <a:off x="364321" y="3577080"/>
          <a:ext cx="11463358" cy="270383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latin typeface="Arial" panose="020B0604020202020204" pitchFamily="34" charset="0"/>
                          <a:cs typeface="Arial" panose="020B0604020202020204" pitchFamily="34" charset="0"/>
                        </a:rPr>
                        <a:t>Ngày</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400" b="1" u="none" strike="noStrike" dirty="0" err="1">
                          <a:solidFill>
                            <a:schemeClr val="tx1"/>
                          </a:solidFill>
                          <a:effectLst/>
                          <a:latin typeface="Arial" panose="020B0604020202020204" pitchFamily="34" charset="0"/>
                          <a:cs typeface="Arial" panose="020B0604020202020204" pitchFamily="34" charset="0"/>
                        </a:rPr>
                        <a:t>Sự</a:t>
                      </a:r>
                      <a:r>
                        <a:rPr lang="en-US" sz="1400" b="1" u="none" strike="noStrike" dirty="0">
                          <a:solidFill>
                            <a:schemeClr val="tx1"/>
                          </a:solidFill>
                          <a:effectLst/>
                          <a:latin typeface="Arial" panose="020B0604020202020204" pitchFamily="34" charset="0"/>
                          <a:cs typeface="Arial" panose="020B0604020202020204" pitchFamily="34" charset="0"/>
                        </a:rPr>
                        <a:t> </a:t>
                      </a:r>
                      <a:r>
                        <a:rPr lang="en-US" sz="1400" b="1" u="none" strike="noStrike" dirty="0" err="1">
                          <a:solidFill>
                            <a:schemeClr val="tx1"/>
                          </a:solidFill>
                          <a:effectLst/>
                          <a:latin typeface="Arial" panose="020B0604020202020204" pitchFamily="34" charset="0"/>
                          <a:cs typeface="Arial" panose="020B0604020202020204" pitchFamily="34" charset="0"/>
                        </a:rPr>
                        <a:t>kiện</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14/09/2026</a:t>
                      </a: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[Canada]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Lạm</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phát</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theo</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năm</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(YoY)</a:t>
                      </a:r>
                    </a:p>
                  </a:txBody>
                  <a:tcPr marL="45720" marR="45720" anchor="ctr"/>
                </a:tc>
                <a:extLst>
                  <a:ext uri="{0D108BD9-81ED-4DB2-BD59-A6C34878D82A}">
                    <a16:rowId xmlns:a16="http://schemas.microsoft.com/office/drawing/2014/main" val="10001"/>
                  </a:ext>
                </a:extLst>
              </a:tr>
              <a:tr h="169612">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16/09/2026</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[Anh]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Lạm</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phát</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theo</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năm</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(YoY) </a:t>
                      </a:r>
                    </a:p>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Mỹ</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Quyết</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định</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lãi</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suất</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của</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Fed</a:t>
                      </a:r>
                    </a:p>
                  </a:txBody>
                  <a:tcPr marL="45720" marR="45720" anchor="ctr"/>
                </a:tc>
                <a:extLst>
                  <a:ext uri="{0D108BD9-81ED-4DB2-BD59-A6C34878D82A}">
                    <a16:rowId xmlns:a16="http://schemas.microsoft.com/office/drawing/2014/main" val="568331513"/>
                  </a:ext>
                </a:extLst>
              </a:tr>
              <a:tr h="169612">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17/09/2026</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[Anh]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Quyết</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định</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lãi</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suất</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của</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BoE </a:t>
                      </a:r>
                    </a:p>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[Nhật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Bản</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Lạm</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phát</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theo</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a:t>
                      </a:r>
                      <a:r>
                        <a:rPr lang="en-US" sz="1400" b="0" u="none" strike="noStrike" kern="1200" dirty="0" err="1">
                          <a:solidFill>
                            <a:srgbClr val="000000"/>
                          </a:solidFill>
                          <a:effectLst/>
                          <a:latin typeface="Arial" panose="020B0604020202020204" pitchFamily="34" charset="0"/>
                          <a:ea typeface="+mn-ea"/>
                          <a:cs typeface="Arial" panose="020B0604020202020204" pitchFamily="34" charset="0"/>
                        </a:rPr>
                        <a:t>năm</a:t>
                      </a:r>
                      <a:r>
                        <a:rPr lang="en-US" sz="1400" b="0" u="none" strike="noStrike" kern="1200" dirty="0">
                          <a:solidFill>
                            <a:srgbClr val="000000"/>
                          </a:solidFill>
                          <a:effectLst/>
                          <a:latin typeface="Arial" panose="020B0604020202020204" pitchFamily="34" charset="0"/>
                          <a:ea typeface="+mn-ea"/>
                          <a:cs typeface="Arial" panose="020B0604020202020204" pitchFamily="34" charset="0"/>
                        </a:rPr>
                        <a:t> (YoY)</a:t>
                      </a:r>
                    </a:p>
                  </a:txBody>
                  <a:tcPr marL="45720" marR="45720" anchor="ctr"/>
                </a:tc>
                <a:extLst>
                  <a:ext uri="{0D108BD9-81ED-4DB2-BD59-A6C34878D82A}">
                    <a16:rowId xmlns:a16="http://schemas.microsoft.com/office/drawing/2014/main" val="1936472446"/>
                  </a:ext>
                </a:extLst>
              </a:tr>
              <a:tr h="169612">
                <a:tc>
                  <a:txBody>
                    <a:bodyPr/>
                    <a:lstStyle/>
                    <a:p>
                      <a:pPr algn="l" fontAlgn="b"/>
                      <a:r>
                        <a:rPr lang="en-US" sz="1400" b="0" i="0" u="none" strike="noStrike">
                          <a:solidFill>
                            <a:srgbClr val="000000"/>
                          </a:solidFill>
                          <a:effectLst/>
                          <a:latin typeface="Arial" panose="020B0604020202020204" pitchFamily="34" charset="0"/>
                          <a:cs typeface="Arial" panose="020B0604020202020204" pitchFamily="34" charset="0"/>
                        </a:rPr>
                        <a:t>18/09/2026</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Arial" panose="020B0604020202020204" pitchFamily="34" charset="0"/>
                          <a:ea typeface="+mn-ea"/>
                          <a:cs typeface="Arial" panose="020B0604020202020204" pitchFamily="34" charset="0"/>
                        </a:rPr>
                        <a:t>• [Nhật Bản] Quyết định lãi suất của BoJ</a:t>
                      </a: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810848027"/>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latin typeface="Arial" panose="020B0604020202020204" pitchFamily="34" charset="0"/>
                          <a:cs typeface="Arial" panose="020B0604020202020204" pitchFamily="34" charset="0"/>
                        </a:rPr>
                        <a:t>Ngày</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400" b="1" u="none" strike="noStrike" dirty="0" err="1">
                          <a:solidFill>
                            <a:schemeClr val="tx1"/>
                          </a:solidFill>
                          <a:effectLst/>
                          <a:latin typeface="Arial" panose="020B0604020202020204" pitchFamily="34" charset="0"/>
                          <a:cs typeface="Arial" panose="020B0604020202020204" pitchFamily="34" charset="0"/>
                        </a:rPr>
                        <a:t>Sự</a:t>
                      </a:r>
                      <a:r>
                        <a:rPr lang="en-US" sz="1400" b="1" u="none" strike="noStrike" dirty="0">
                          <a:solidFill>
                            <a:schemeClr val="tx1"/>
                          </a:solidFill>
                          <a:effectLst/>
                          <a:latin typeface="Arial" panose="020B0604020202020204" pitchFamily="34" charset="0"/>
                          <a:cs typeface="Arial" panose="020B0604020202020204" pitchFamily="34" charset="0"/>
                        </a:rPr>
                        <a:t> </a:t>
                      </a:r>
                      <a:r>
                        <a:rPr lang="en-US" sz="1400" b="1" u="none" strike="noStrike" dirty="0" err="1">
                          <a:solidFill>
                            <a:schemeClr val="tx1"/>
                          </a:solidFill>
                          <a:effectLst/>
                          <a:latin typeface="Arial" panose="020B0604020202020204" pitchFamily="34" charset="0"/>
                          <a:cs typeface="Arial" panose="020B0604020202020204" pitchFamily="34" charset="0"/>
                        </a:rPr>
                        <a:t>kiện</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Trong tuần 07/09–11/09/2026, VNINDEX giảm 58 điểm (-3,1%) xuống 1.795 điểm, trong khi thanh khoản tăng so với tuần trước. VN30 giảm 48 điểm (-2,4%) xuống 1.936 điểm. Thị trường giảm 1,7% ngay trong phiên đầu tuần xuống 1.821 sau đó đi ngang trong ba phiên. Phiên cuối tuần ghi nhận lực bán mạnh với thanh khoản tăng 25% so với ngày trước đó, chỉ số đóng cửa thấp nhất tuần ở mức 1.795 điểm. Có thể thấy VNINDEX đã tạo đỉnh ngắn hạn sau khi kiểm định ngưỡng 1.870 không thành công. Nhìn chung, diễn biến giao dịch trong tuần cho thấy động lực hồi phục ngắn hạn đã cạn kiệt trong bối cảnh các nỗ lực tăng điểm không đạt được sự đồng thuận của đa số cổ phiếu trên sàn. </a:t>
            </a:r>
          </a:p>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Về diễn biến địa chính trị, giá dầu Brent chững lại đà tăng và chốt tuần tăng 9% lên 104USD/thùng sau khi truyền thông Iran đưa tin Tehran sẽ gặp các quốc gia Vùng Vịnh tại Oman vào thứ hai để thảo luận về một thỏa thuận tạm thời quản lý việc vận tải qua eo biển Hormuz. Cùng với đó là việc EIA nâng dự báo sản lượng dầu thô năm 2027 của Mỹ trong khi cắt giảm mạnh triển vọng nhu cầu toàn cầu. Trong tuần này, Mỹ đã công bố lạm phát tháng 8 đạt 3,4%, ngang với dự báo. Trong tuần kế tiếp, thị trường quốc tế dự kiến đón nhận số liệu lạm phát của Canada, Anh và Nhật Bản, cùng quyết định lãi suất của Fed, BoE và BoJ. Trong đó Fed và BoJ được dự báo cùng tăng 25bps trong lần họp này. </a:t>
            </a:r>
            <a:endParaRPr lang="en-US" sz="1100" b="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Áp lực bán ròng từ dòng tiền lớn cùng lãi suất thế giới tiếp tục tăng cho thấy xu hướng giảm sẽ chiếm ưu thế trong tuần tới. Dự báo VNINDEX sẽ giảm về vùng 1.700 – 1.730 điểm. </a:t>
            </a:r>
          </a:p>
          <a:p>
            <a:pPr marL="171450" indent="-171450" algn="just">
              <a:lnSpc>
                <a:spcPct val="150000"/>
              </a:lnSpc>
              <a:buFont typeface="Arial" panose="020B0604020202020204" pitchFamily="34" charset="0"/>
              <a:buChar char="•"/>
            </a:pPr>
            <a:endParaRPr lang="vi-VN" sz="1100" b="0" dirty="0">
              <a:latin typeface="Arial" panose="020B0604020202020204" pitchFamily="34" charset="0"/>
              <a:cs typeface="Arial" panose="020B0604020202020204" pitchFamily="34" charset="0"/>
            </a:endParaRPr>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NHẬN ĐỊNH THỊ TRƯỜNG TUẦN 14/09/2026 – 18/09/2026</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8</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9</a:t>
            </a:fld>
            <a:endParaRPr lang="en-US"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2490504548"/>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Mã</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11/09/2026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dirty="0">
                          <a:solidFill>
                            <a:srgbClr val="002060"/>
                          </a:solidFill>
                          <a:effectLst/>
                          <a:latin typeface="Arial" panose="020B0604020202020204" pitchFamily="34" charset="0"/>
                          <a:cs typeface="Arial" panose="020B0604020202020204" pitchFamily="34" charset="0"/>
                        </a:rPr>
                        <a:t>DGW</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-19,09%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PVT</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46,44%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BSR</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27.550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106,39%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49,19%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VGC</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-13,78%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PC1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-58,25%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-20,25%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STB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77.300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68,04%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424,61%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74,44%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FPT</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MCH</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141.800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38,21%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94,32%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DCM</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32.500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ACB</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DGC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46.750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-51,21%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29,86%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-61,90%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PVS</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38.400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45,70%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58.200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GAS</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82.900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48,04%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REE</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44.950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-23,21%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EIB</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HDB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26.800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DPM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22.400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HPG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POW</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-68,48%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KBC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PLX</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MWG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71.300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-13,74%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BID</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35.600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-30,24%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HAH</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46.000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-0,22%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-32,55%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4,78%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-28,19%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C00000"/>
                          </a:solidFill>
                          <a:effectLst/>
                          <a:latin typeface="Arial" panose="020B0604020202020204" pitchFamily="34" charset="0"/>
                          <a:cs typeface="Arial" panose="020B0604020202020204" pitchFamily="34" charset="0"/>
                        </a:rPr>
                        <a:t>-12,18%</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10</a:t>
            </a:fld>
            <a:endParaRPr lang="en-US" dirty="0">
              <a:latin typeface="Arial" panose="020B060402020202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505083100"/>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Mã</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11/09/2026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VPB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26.950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-9,09%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TCB</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VNM</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59.900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-15,72%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SAB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43.850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-7,42%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OCB</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-11,22%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PVD</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63,80%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VRE</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25.600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HCM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54,85%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16,34%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SSI</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-27,88%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VIB</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-28,47%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GMD</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74.600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MSN</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-67,89%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PDR</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11.750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-46,86%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TPB</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-27,12%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HSG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-15,81%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NLG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FRT</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137.000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-26,09%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ACV</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39.333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-50,52%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DIG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-80,62%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-54,59%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TCH</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93,49%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-12,93%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BVB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-13,21%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VHM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72.000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41,77%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VHC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50.200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-35,26%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HHV</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9.540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VCG</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15.050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-5,94%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-25,05%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-40,77%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-81,42%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C00000"/>
                          </a:solidFill>
                          <a:effectLst/>
                          <a:latin typeface="Arial" panose="020B0604020202020204" pitchFamily="34" charset="0"/>
                          <a:cs typeface="Arial" panose="020B0604020202020204" pitchFamily="34" charset="0"/>
                        </a:rPr>
                        <a:t>-41,03%</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11</a:t>
            </a:fld>
            <a:endParaRPr lang="en-US">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3652968122"/>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Mã</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11/09/2026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CTG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29.950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-15,83%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GVR</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DBC</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243.300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260,44%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409,68%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NKG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209,55%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-29,79%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VIX</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-58,40%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KDH</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16.300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-54,53%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-62,67%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-50,75%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IDC</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IJC</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-47,06%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CTD</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-61,67%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-14,10%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NVL</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PNJ</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37.300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-41,76%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-52,67%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CII</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132,57%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VND</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ANV</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15.650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-32,92%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GEX</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23.950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-0,63%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BCM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38.850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-50,80%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HDG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15.950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DXG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10.750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77,23%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VCI</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20.050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-10,09%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-9,28%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-21,64%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8,67%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-33,07%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C00000"/>
                          </a:solidFill>
                          <a:effectLst/>
                          <a:latin typeface="Arial" panose="020B0604020202020204" pitchFamily="34" charset="0"/>
                          <a:cs typeface="Arial" panose="020B0604020202020204" pitchFamily="34" charset="0"/>
                        </a:rPr>
                        <a:t>-39,73%</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87624</TotalTime>
  <Words>3749</Words>
  <Application>Microsoft Office PowerPoint</Application>
  <PresentationFormat>Widescreen</PresentationFormat>
  <Paragraphs>1310</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Administrator</cp:lastModifiedBy>
  <cp:revision>3867</cp:revision>
  <dcterms:created xsi:type="dcterms:W3CDTF">2020-03-18T03:42:50Z</dcterms:created>
  <dcterms:modified xsi:type="dcterms:W3CDTF">2026-09-13T15:20:29Z</dcterms:modified>
</cp:coreProperties>
</file>