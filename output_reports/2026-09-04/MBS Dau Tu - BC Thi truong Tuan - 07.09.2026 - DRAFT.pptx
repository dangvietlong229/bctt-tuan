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9/7/2026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latin typeface="Arial" panose="020B0604020202020204" pitchFamily="34" charset="0"/>
                <a:ea typeface="Tahoma" panose="020B0604030504040204" pitchFamily="34" charset="0"/>
                <a:cs typeface="Arial" panose="020B0604020202020204" pitchFamily="34" charset="0"/>
              </a:rPr>
              <a:t>BÁO CÁO TUẦN</a:t>
            </a:r>
          </a:p>
          <a:p>
            <a:r>
              <a:rPr lang="vi-VN" sz="2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07/09/2026 – 11/09/2026</a:t>
            </a:r>
            <a:endParaRPr lang="en-AU" sz="2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1</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latin typeface="Arial" panose="020B0604020202020204" pitchFamily="34" charset="0"/>
                <a:ea typeface="Tahoma" panose="020B0604030504040204" pitchFamily="34" charset="0"/>
                <a:cs typeface="Arial" panose="020B0604020202020204" pitchFamily="34" charset="0"/>
              </a:rPr>
              <a:t>MỤC LỤC</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Arial" panose="020B0604020202020204" pitchFamily="34" charset="0"/>
                <a:cs typeface="Arial" panose="020B0604020202020204" pitchFamily="34" charset="0"/>
              </a:rPr>
              <a:t>DIỄN BIẾN THỊ TRƯỜNG TUẦN 31/08 – 04/09/2026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a:solidFill>
                  <a:srgbClr val="141ED2"/>
                </a:solidFill>
                <a:latin typeface="Arial" panose="020B0604020202020204" pitchFamily="34" charset="0"/>
                <a:cs typeface="Arial" panose="020B0604020202020204" pitchFamily="34" charset="0"/>
              </a:rPr>
              <a:t>Xu h</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ớng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và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rộng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thị</a:t>
            </a:r>
            <a:r>
              <a:rPr lang="en-US" sz="1400" b="1" dirty="0">
                <a:solidFill>
                  <a:srgbClr val="141ED2"/>
                </a:solidFill>
                <a:latin typeface="Arial" panose="020B0604020202020204" pitchFamily="34" charset="0"/>
                <a:cs typeface="Arial" panose="020B0604020202020204" pitchFamily="34" charset="0"/>
              </a:rPr>
              <a:t> tr</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ờng</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Biến</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ngành</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Giao</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dịch</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đầu</a:t>
            </a:r>
            <a:r>
              <a:rPr lang="en-US" sz="1400" b="1" dirty="0">
                <a:solidFill>
                  <a:srgbClr val="141ED2"/>
                </a:solidFill>
                <a:latin typeface="Arial" panose="020B0604020202020204" pitchFamily="34" charset="0"/>
                <a:cs typeface="Arial" panose="020B0604020202020204" pitchFamily="34" charset="0"/>
              </a:rPr>
              <a:t> t</a:t>
            </a:r>
            <a:r>
              <a:rPr lang="vi-VN" sz="1400" b="1" dirty="0">
                <a:solidFill>
                  <a:srgbClr val="141ED2"/>
                </a:solidFill>
                <a:latin typeface="Arial" panose="020B0604020202020204" pitchFamily="34" charset="0"/>
                <a:cs typeface="Arial" panose="020B0604020202020204" pitchFamily="34" charset="0"/>
              </a:rPr>
              <a:t>ư</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a:solidFill>
                  <a:srgbClr val="141ED2"/>
                </a:solidFill>
                <a:latin typeface="Arial" panose="020B0604020202020204" pitchFamily="34" charset="0"/>
                <a:cs typeface="Arial" panose="020B0604020202020204" pitchFamily="34" charset="0"/>
              </a:rPr>
              <a:t>CÁC SỰ KIỆN DIỄN RA TRONG TUẦN 07/09/2026 – 11/09/2026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vi-VN" sz="1400" b="1">
                <a:solidFill>
                  <a:srgbClr val="141ED2"/>
                </a:solidFill>
                <a:latin typeface="Arial" panose="020B0604020202020204" pitchFamily="34" charset="0"/>
                <a:cs typeface="Arial" panose="020B0604020202020204" pitchFamily="34" charset="0"/>
              </a:rPr>
              <a:t>NHẬN ĐỊNH XU HƯỚNG THỊ TRƯỜNG TUẦN 07/09/2026 – 11/09/2026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NHẬN ĐỊNH XU H</a:t>
            </a:r>
            <a:r>
              <a:rPr lang="vi-VN" sz="1400" b="1" dirty="0">
                <a:solidFill>
                  <a:srgbClr val="141ED2"/>
                </a:solidFill>
                <a:latin typeface="Arial" panose="020B0604020202020204" pitchFamily="34" charset="0"/>
                <a:cs typeface="Arial" panose="020B0604020202020204" pitchFamily="34" charset="0"/>
              </a:rPr>
              <a:t>Ư</a:t>
            </a:r>
            <a:r>
              <a:rPr lang="en-US" sz="1400" b="1" dirty="0">
                <a:solidFill>
                  <a:srgbClr val="141ED2"/>
                </a:solidFill>
                <a:latin typeface="Arial" panose="020B0604020202020204" pitchFamily="34" charset="0"/>
                <a:cs typeface="Arial" panose="020B0604020202020204" pitchFamily="34" charset="0"/>
              </a:rPr>
              <a:t>ỚNG THỊ TR</a:t>
            </a:r>
            <a:r>
              <a:rPr lang="vi-VN" sz="1400" b="1" dirty="0">
                <a:solidFill>
                  <a:srgbClr val="141ED2"/>
                </a:solidFill>
                <a:latin typeface="Arial" panose="020B0604020202020204" pitchFamily="34" charset="0"/>
                <a:cs typeface="Arial" panose="020B0604020202020204" pitchFamily="34" charset="0"/>
              </a:rPr>
              <a:t>Ư</a:t>
            </a:r>
            <a:r>
              <a:rPr lang="en-US" sz="1400" b="1" dirty="0">
                <a:solidFill>
                  <a:srgbClr val="141ED2"/>
                </a:solidFill>
                <a:latin typeface="Arial" panose="020B0604020202020204" pitchFamily="34" charset="0"/>
                <a:cs typeface="Arial" panose="020B0604020202020204" pitchFamily="34" charset="0"/>
              </a:rPr>
              <a:t>ỜNG TUẦN 03/08 – 07/08/2026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DANH MỤC CỔ PHIẾU CẦN </a:t>
            </a:r>
            <a:r>
              <a:rPr lang="en-US" sz="1400" b="1">
                <a:solidFill>
                  <a:srgbClr val="141ED2"/>
                </a:solidFill>
                <a:latin typeface="Arial" panose="020B0604020202020204" pitchFamily="34" charset="0"/>
                <a:cs typeface="Arial" panose="020B0604020202020204" pitchFamily="34" charset="0"/>
              </a:rPr>
              <a:t>THEO DÕI</a:t>
            </a:r>
            <a:endParaRPr lang="en-US" sz="1400" b="1" dirty="0">
              <a:solidFill>
                <a:srgbClr val="141ED2"/>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31/08 – 04/09/2026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Xu h</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ớng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và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độ</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rộng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thị</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tr</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ờng</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50000"/>
              </a:lnSpc>
              <a:spcBef>
                <a:spcPct val="0"/>
              </a:spcBef>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3</a:t>
            </a:fld>
            <a:endParaRPr lang="en-GB">
              <a:solidFill>
                <a:srgbClr val="313131"/>
              </a:solidFill>
              <a:latin typeface="Arial" panose="020B0604020202020204" pitchFamily="34" charset="0"/>
              <a:cs typeface="Arial" panose="020B0604020202020204" pitchFamily="34" charset="0"/>
            </a:endParaRPr>
          </a:p>
        </p:txBody>
      </p:sp>
      <p:pic>
        <p:nvPicPr>
          <p:cNvPr id="5" name="Chart 6">
            <a:extLst>
              <a:ext uri="{FF2B5EF4-FFF2-40B4-BE49-F238E27FC236}">
                <a16:creationId xmlns:a16="http://schemas.microsoft.com/office/drawing/2014/main" id="{54F0DA95-680F-4006-90E3-450E985B47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FA4E20CA-3521-4BC0-AFA0-14B24A67EC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31/08 – 04/09/2026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Biến động các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ngành</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851182284"/>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Ngành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gridSpan="3">
                  <a:txBody>
                    <a:bodyPr/>
                    <a:lstStyle/>
                    <a:p>
                      <a:pPr algn="ctr" fontAlgn="ctr"/>
                      <a:r>
                        <a:rPr lang="en-US" sz="1000" b="1" u="none" strike="noStrike" dirty="0">
                          <a:solidFill>
                            <a:srgbClr val="FFFFFF"/>
                          </a:solidFill>
                          <a:effectLst/>
                          <a:latin typeface="Arial" panose="020B0604020202020204" pitchFamily="34" charset="0"/>
                          <a:cs typeface="Arial" panose="020B0604020202020204" pitchFamily="34" charset="0"/>
                        </a:rPr>
                        <a:t>% Thay </a:t>
                      </a:r>
                      <a:r>
                        <a:rPr lang="en-US" sz="1000" b="1" u="none" strike="noStrike" dirty="0" err="1">
                          <a:solidFill>
                            <a:srgbClr val="FFFFFF"/>
                          </a:solidFill>
                          <a:effectLst/>
                          <a:latin typeface="Arial" panose="020B0604020202020204" pitchFamily="34" charset="0"/>
                          <a:cs typeface="Arial" panose="020B0604020202020204" pitchFamily="34" charset="0"/>
                        </a:rPr>
                        <a:t>đổi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ngày</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tuần</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Arial" panose="020B0604020202020204" pitchFamily="34" charset="0"/>
                          <a:cs typeface="Arial" panose="020B0604020202020204" pitchFamily="34" charset="0"/>
                        </a:rPr>
                        <a:t>1 </a:t>
                      </a:r>
                      <a:r>
                        <a:rPr lang="en-US" sz="1000" b="1" i="0" u="none" strike="noStrike" dirty="0" err="1">
                          <a:solidFill>
                            <a:schemeClr val="bg1"/>
                          </a:solidFill>
                          <a:effectLst/>
                          <a:latin typeface="Arial" panose="020B0604020202020204" pitchFamily="34" charset="0"/>
                          <a:cs typeface="Arial" panose="020B0604020202020204" pitchFamily="34" charset="0"/>
                        </a:rPr>
                        <a:t>tháng</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6,19%</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11,37%</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3,36%</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0,76%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0,85%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-1,13%</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0,25%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8,03%</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-0,09%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9,28%</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-0,20%</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Điện, nước &amp; xăng dầu khí đốt</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-0,61%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9,16%</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0,74%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1,26%</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0,09%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-3,62%</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0,29%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-0,77%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2,58%</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-0,47%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0,00%</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-0,28%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-0,09%</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1,47%</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-0,80%</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Tài nguyên Cơ bản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-0,79%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-1,04%</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2,57%</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pt-BR" sz="1100" b="0" i="0" u="none" strike="noStrike">
                          <a:solidFill>
                            <a:srgbClr val="000000"/>
                          </a:solidFill>
                          <a:effectLst/>
                          <a:latin typeface="Arial" panose="020B0604020202020204" pitchFamily="34" charset="0"/>
                          <a:cs typeface="Arial" panose="020B0604020202020204" pitchFamily="34" charset="0"/>
                        </a:rPr>
                        <a:t>Hàng cá nhân &amp; Gia dụng</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0,23%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7,76%</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4</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31/08 – 04/09/2026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Giao</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dịch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các</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đầu</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a:solidFill>
                <a:schemeClr val="tx1"/>
              </a:solidFill>
              <a:latin typeface="Arial" panose="020B0604020202020204" pitchFamily="34" charset="0"/>
              <a:cs typeface="Arial" panose="020B0604020202020204" pitchFamily="34" charset="0"/>
            </a:endParaRPr>
          </a:p>
          <a:p>
            <a:pPr>
              <a:lnSpc>
                <a:spcPct val="160000"/>
              </a:lnSpc>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a:lnSpc>
                <a:spcPct val="160000"/>
              </a:lnSpc>
            </a:pPr>
            <a:endParaRPr lang="en-US" sz="18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a:lnSpc>
                <a:spcPct val="160000"/>
              </a:lnSpc>
            </a:pPr>
            <a:endParaRPr lang="en-US" sz="14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endParaRPr lang="en-US" sz="1100" dirty="0">
              <a:solidFill>
                <a:schemeClr val="tx1"/>
              </a:solidFill>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18705403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Bán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bán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-99.614.000.000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4,61%</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-96.939.150.000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28,23%</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-65.301.540.000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6,40%</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-58.746.450.000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5,61%</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-54.861.325.000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-35.401.356.000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4,58%</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-23.855.025.000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9,27%</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-21.242.660.000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10,14%</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256.100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-16.519.550.000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69.000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-16.284.690.000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4,34%</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533616163"/>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Mua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mua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NAF</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48.600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28.965.000.000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21,41%</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73.100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16.544.844.000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9,94%</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PVD</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11.723.365.000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4,33%</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35.340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10.350.847.000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43,72%</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8.928.790.000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7,38%</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8.039.290.000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GAS</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7.448.110.000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VPL</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5.309.550.000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3,97%</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4.684.000.000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0,77%</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DPM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4.664.260.000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0,83%</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3507891486"/>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Arial" panose="020B0604020202020204" pitchFamily="34" charset="0"/>
                          <a:cs typeface="Arial" panose="020B0604020202020204" pitchFamily="34" charset="0"/>
                        </a:rPr>
                        <a:t>Mua </a:t>
                      </a:r>
                      <a:r>
                        <a:rPr lang="en-US" sz="1000" b="1" i="0" u="none" strike="noStrike" dirty="0" err="1">
                          <a:solidFill>
                            <a:srgbClr val="FFFFFF"/>
                          </a:solidFill>
                          <a:effectLst/>
                          <a:latin typeface="Arial" panose="020B0604020202020204" pitchFamily="34" charset="0"/>
                          <a:cs typeface="Arial" panose="020B0604020202020204" pitchFamily="34" charset="0"/>
                        </a:rPr>
                        <a:t>ròng</a:t>
                      </a:r>
                      <a:r>
                        <a:rPr lang="en-US" sz="1000" b="1" i="0" u="none" strike="noStrike" dirty="0">
                          <a:solidFill>
                            <a:srgbClr val="FFFFFF"/>
                          </a:solidFill>
                          <a:effectLst/>
                          <a:latin typeface="Arial" panose="020B0604020202020204" pitchFamily="34" charset="0"/>
                          <a:cs typeface="Arial" panose="020B0604020202020204" pitchFamily="34" charset="0"/>
                        </a:rPr>
                        <a:t> (GT)</a:t>
                      </a: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75.200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160.743.275.900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6,81%</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100.402.739.000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15,60%</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91.696.615.400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27,52%</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BAF</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59.443.695.000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3,59%</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VRE</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43.619.218.950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11,09%</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41.352.243.500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10,00%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37.637.878.350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7,48%</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DPM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34.966.147.850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3,34%</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30.076.487.450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0,19%</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14.700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29.472.633.350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304933138"/>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Bán </a:t>
                      </a:r>
                      <a:r>
                        <a:rPr lang="en-US" sz="1000" b="1" u="none" strike="noStrike" dirty="0" err="1">
                          <a:solidFill>
                            <a:srgbClr val="FFFFFF"/>
                          </a:solidFill>
                          <a:effectLst/>
                          <a:latin typeface="Arial" panose="020B0604020202020204" pitchFamily="34" charset="0"/>
                          <a:cs typeface="Arial" panose="020B0604020202020204" pitchFamily="34" charset="0"/>
                        </a:rPr>
                        <a:t>ròng</a:t>
                      </a:r>
                      <a:r>
                        <a:rPr lang="en-US" sz="1000" b="1" u="none" strike="noStrike" dirty="0">
                          <a:solidFill>
                            <a:srgbClr val="FFFFFF"/>
                          </a:solidFill>
                          <a:effectLst/>
                          <a:latin typeface="Arial" panose="020B0604020202020204" pitchFamily="34" charset="0"/>
                          <a:cs typeface="Arial" panose="020B0604020202020204" pitchFamily="34" charset="0"/>
                        </a:rPr>
                        <a:t>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-294.839.759.400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20,05%</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-219.198.864.100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21,72%</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DXG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-161.415.243.600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18,08%</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-145.318.562.550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20,73%</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-135.799.282.450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23,79%</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69.000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-123.287.261.000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24,11%</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13.050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-122.950.024.450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4,11%</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-87.382.677.150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21,64%</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-86.814.853.400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22,17%</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40.400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-84.882.333.550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31/08 – 04/09/2026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1374776073"/>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507242224"/>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-26.925.294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-6.326.504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-33.422.661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-12.545.859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9</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-6.090.320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1.858.000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-2.827.122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-4.459.330</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-261.110.980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-57.620.013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-141.897.935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-125.748.082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CÁC SỰ KIỆN DIỄN RA TRONG TUẦN 07/09/2026 – 11/09/2026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Arial" panose="020B0604020202020204" pitchFamily="34" charset="0"/>
                <a:cs typeface="Arial" panose="020B0604020202020204" pitchFamily="34" charset="0"/>
              </a:rPr>
              <a:t>Trong</a:t>
            </a:r>
            <a:r>
              <a:rPr lang="en-US" sz="1400" b="1" dirty="0">
                <a:solidFill>
                  <a:srgbClr val="141ED2"/>
                </a:solidFill>
                <a:latin typeface="Arial" panose="020B0604020202020204" pitchFamily="34" charset="0"/>
                <a:cs typeface="Arial" panose="020B0604020202020204" pitchFamily="34" charset="0"/>
              </a:rPr>
              <a:t> n</a:t>
            </a:r>
            <a:r>
              <a:rPr lang="vi-VN" sz="1400" b="1">
                <a:solidFill>
                  <a:srgbClr val="141ED2"/>
                </a:solidFill>
                <a:latin typeface="Arial" panose="020B0604020202020204" pitchFamily="34" charset="0"/>
                <a:cs typeface="Arial" panose="020B0604020202020204" pitchFamily="34" charset="0"/>
              </a:rPr>
              <a:t>ư</a:t>
            </a:r>
            <a:r>
              <a:rPr lang="en-US" sz="1400" b="1">
                <a:solidFill>
                  <a:srgbClr val="141ED2"/>
                </a:solidFill>
                <a:latin typeface="Arial" panose="020B0604020202020204" pitchFamily="34" charset="0"/>
                <a:cs typeface="Arial" panose="020B0604020202020204" pitchFamily="34"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Arial" panose="020B0604020202020204" pitchFamily="34" charset="0"/>
                <a:cs typeface="Arial" panose="020B0604020202020204" pitchFamily="34" charset="0"/>
              </a:rPr>
              <a:t>Quốc </a:t>
            </a:r>
            <a:r>
              <a:rPr lang="en-US" sz="1400" b="1" dirty="0" err="1">
                <a:solidFill>
                  <a:srgbClr val="141ED2"/>
                </a:solidFill>
                <a:latin typeface="Arial" panose="020B0604020202020204" pitchFamily="34" charset="0"/>
                <a:cs typeface="Arial" panose="020B0604020202020204" pitchFamily="34" charset="0"/>
              </a:rPr>
              <a:t>tế</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7</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682413357"/>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09/09/2026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[Trung Quốc] Lạm phát, theo năm (YoY)</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10/09/2026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[Khu vực Euro] Quyết định lãi suất của ECB</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568331513"/>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11/09/2026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400" b="0" u="none" strike="noStrike" kern="1200">
                          <a:solidFill>
                            <a:srgbClr val="000000"/>
                          </a:solidFill>
                          <a:effectLst/>
                          <a:latin typeface="Arial" panose="020B0604020202020204" pitchFamily="34" charset="0"/>
                          <a:ea typeface="+mn-ea"/>
                          <a:cs typeface="Arial" panose="020B0604020202020204" pitchFamily="34" charset="0"/>
                        </a:rPr>
                        <a:t>• [Mỹ] Lạm phát cơ bản, theo tháng (MoM) • [Mỹ] Lạm phát cơ bản, theo năm (YoY) • [Mỹ] Lạm phát, theo tháng (MoM) • [Mỹ] Lạm phát, theo năm (YoY)</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3047640696"/>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07/09/2026 – 11/09/2026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616104397"/>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04/09/2026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256.100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436,41%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25.700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32.550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79,72%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74,44%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19.200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45.550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84.000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61.900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PLX</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36.000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-46,34%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14,21%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-31,96%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-8,76%</a:t>
                      </a:r>
                      <a:endParaRPr lang="en-VN" sz="1000" b="0" i="0" u="none" strike="noStrike" dirty="0">
                        <a:solidFill>
                          <a:srgbClr val="C0000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65188536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04/09/2026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9.980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-16,47%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21.050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61.900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-27,55%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47.200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69.000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-66,96%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230,25%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25.950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27,83%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7,55%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12.850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-67,86%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-7,80%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58.900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27.200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22,91%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3,92%</a:t>
                      </a:r>
                      <a:endParaRPr lang="en-VN" sz="1000" b="0" i="0" u="none" strike="noStrike" dirty="0">
                        <a:solidFill>
                          <a:srgbClr val="00B05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4268746285"/>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04/09/2026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142.700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38.700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77.400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20.100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40.977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150,13%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-49,33%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DGW</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40.050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20,81%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-42,58%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-27,49%</a:t>
                      </a:r>
                      <a:endParaRPr lang="en-VN" sz="1000" b="0" i="0" u="none" strike="noStrike" dirty="0">
                        <a:solidFill>
                          <a:srgbClr val="C0000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3689</Words>
  <Application>Microsoft Office PowerPoint</Application>
  <PresentationFormat>Widescreen</PresentationFormat>
  <Paragraphs>1302</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3858</cp:revision>
  <dcterms:created xsi:type="dcterms:W3CDTF">2020-03-18T03:42:50Z</dcterms:created>
  <dcterms:modified xsi:type="dcterms:W3CDTF">2026-09-07T10:17:04Z</dcterms:modified>
</cp:coreProperties>
</file>