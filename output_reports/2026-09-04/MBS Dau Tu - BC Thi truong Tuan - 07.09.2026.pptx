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91" r:id="rId2"/>
    <p:sldId id="2738" r:id="rId3"/>
    <p:sldId id="2898" r:id="rId4"/>
    <p:sldId id="2922" r:id="rId5"/>
    <p:sldId id="2899" r:id="rId6"/>
    <p:sldId id="2926" r:id="rId7"/>
    <p:sldId id="2920" r:id="rId8"/>
    <p:sldId id="2921" r:id="rId9"/>
    <p:sldId id="2925" r:id="rId10"/>
    <p:sldId id="2915" r:id="rId11"/>
    <p:sldId id="29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99133-360E-B7FA-5670-27D0F42E245D}" name="Tran Khanh Hien" initials="TKH" userId="4f6d85d472746b1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rương Thùy Dương" initials="TTD" lastIdx="12" clrIdx="0"/>
  <p:cmAuthor id="1" name="Trần Thị Khánh Hiền" initials="TKH" lastIdx="7" clrIdx="1">
    <p:extLst>
      <p:ext uri="{19B8F6BF-5375-455C-9EA6-DF929625EA0E}">
        <p15:presenceInfo xmlns:p15="http://schemas.microsoft.com/office/powerpoint/2012/main" userId="4f6d85d472746b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CC4"/>
    <a:srgbClr val="07A9F0"/>
    <a:srgbClr val="EB2D4B"/>
    <a:srgbClr val="141ED2"/>
    <a:srgbClr val="54C4AE"/>
    <a:srgbClr val="FF7F0C"/>
    <a:srgbClr val="0000FF"/>
    <a:srgbClr val="2355CA"/>
    <a:srgbClr val="40B3FF"/>
    <a:srgbClr val="8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909"/>
  </p:normalViewPr>
  <p:slideViewPr>
    <p:cSldViewPr snapToGrid="0">
      <p:cViewPr varScale="1">
        <p:scale>
          <a:sx n="106" d="100"/>
          <a:sy n="106" d="100"/>
        </p:scale>
        <p:origin x="846" y="114"/>
      </p:cViewPr>
      <p:guideLst>
        <p:guide orient="horz" pos="2160"/>
        <p:guide pos="3840"/>
      </p:guideLst>
    </p:cSldViewPr>
  </p:slideViewPr>
  <p:notesTextViewPr>
    <p:cViewPr>
      <p:scale>
        <a:sx n="90" d="100"/>
        <a:sy n="9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94628D-3C0F-054D-8791-1E014C8126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4F8D-CF95-4841-86AD-E6D3A29459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8269-38C2-7D4D-A383-B0DE858D0BF5}" type="datetimeFigureOut">
              <a:rPr lang="x-none" smtClean="0"/>
              <a:t>9/4/2026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0004C-873E-8F4F-9235-C7C87821E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FA5B4-0FAA-3343-8A05-50FF71F8AB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DF604-DC69-804E-BCB1-065D48F4168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802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FE7D8-6C5D-4769-A7FE-A35B5E589012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6FFC7-E364-467E-B51E-FE8228D3C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522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223838" y="809625"/>
            <a:ext cx="7185026" cy="40417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7B6B41B-6250-4DA8-B3C5-CA30F599117A}" type="slidenum">
              <a:rPr lang="en-GB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812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53" name="Google Shape;115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54" name="Google Shape;1154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893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6FFC7-E364-467E-B51E-FE8228D3C2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2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6FFC7-E364-467E-B51E-FE8228D3C2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99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5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973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BD5E2-7F34-5282-6559-1ECB96B8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ACDFE-1497-52C4-51FE-79E9938C9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D9E50-697A-1197-15C9-5F9544E2D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6EF2-6376-461F-8AC7-4CEF50AA0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787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18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4426-FFF4-B44A-FA04-B77C7D98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DBB6B-8716-E98D-0D09-DEC016C84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F76C0-7D3F-0435-C09E-7B0269222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CDAF5-6C87-E27C-8840-F3B244A20A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805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7FE3-425C-42A1-AE9C-713B30FCD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25D80-0906-4C19-AC06-9A76AB6A7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F3C1B-D018-41EC-9DD8-35E59253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3718-5FC1-46E3-B40D-F64201D2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CCA59-DEEA-4AF5-801B-CFEBB521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136D-F0E5-4FB0-A259-AF1615BE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5C46-DC0F-4FBC-AB77-DDA913A5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FCD8-937C-4E51-916A-732F9D02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C4CC0-7ED2-4542-B745-AB8F970E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B079-703F-49FE-8D6D-195218E9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7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EDAE-A1AC-475C-8AC5-07279944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F99F5-2D96-45B7-8850-A7DA2985C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47F52-6459-47BE-933F-90EFB972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588B8-AFDF-4E5A-A2B3-C521C97C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E6209-CCC2-4ADB-93BA-9F97301A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3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6752-E32E-4BC1-94E9-319BA091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C5A1-EF86-4A94-B13E-88FE4CAEB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AC424-233F-4707-A9A3-929522B8B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8A4CF-8853-4052-9790-D4BF4F4C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BABD7-38E1-41B2-9D10-38464EAB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A3BA7-5191-4FB5-92F1-58921224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0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F12C-2C78-4094-8663-B3E298066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854BC-E799-481C-B4BE-C171195B5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09149-061E-4A65-B1F8-C97FF564E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EA436-8591-49CB-BB4E-E5CBB7CB9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B6BF6-4AF6-49C1-AFF7-6AE37265E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76EBF-F919-49B4-8002-5E87F6C8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3E8DC-C3E7-4CEF-86C5-0CA0AB27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717F2-7AFC-4FED-8914-FF5716E9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2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7812-7F36-4618-8CD6-7B412EE0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52E1C-8F86-4DE2-885F-E6E8D9FD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019F5-EEA6-46E9-BE03-694C8353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009F0-993E-4226-90F5-107C5E1C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7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63E2D-020B-49D4-B656-C478EE3F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771F2-13AB-47E2-B4BF-E7AFA63B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DBCA-47AD-46FB-9033-0C38A3E4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3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D464-3DE3-4E8B-B53F-4DA17504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520A3-E416-4CD8-8623-A7325A101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CDF86-E1EE-4D6D-835B-D3B1B4C7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EFA61-F0D4-4DCB-8E76-639EF5A4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9A2F2-C01F-4896-8633-2983D0CF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4CFC5-BDFE-4D87-AE10-3BCCDBCF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6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970-9460-4E10-8E98-5EA375BC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598D2-5974-4407-92C0-3A74B50C2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41C1B-5054-4D1E-8537-7EF09D6D2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B1C9C-90D2-4467-A13B-4F1C4431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FB0B2-7B8B-413D-8D91-5BB3EFEB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84AC2-9F95-4ACC-8F44-7EA09554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8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E74C-8A2E-4504-95D5-2D71303A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FC900-DB26-401A-9BA4-6E5D8292A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8C0EE-4169-4AAA-BA44-A1CCB133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CE93F-CCFF-4811-AAA5-EDF17F11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2352F-13E5-4C33-A32D-D631932B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0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74B45-594F-4B68-B4D6-0436FBCF6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2B570-CB02-4ACC-BE2E-FBC46954E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CCE57-58B7-4E1A-A687-EEB98D67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95271-FB2E-44A4-9272-646D0178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3868-1496-4F1F-A048-FAAA02ED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04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68" y="1828800"/>
            <a:ext cx="7142913" cy="828000"/>
          </a:xfrm>
        </p:spPr>
        <p:txBody>
          <a:bodyPr>
            <a:noAutofit/>
          </a:bodyPr>
          <a:lstStyle>
            <a:lvl1pPr>
              <a:defRPr sz="1875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68" y="4286257"/>
            <a:ext cx="7142913" cy="1500198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chemeClr val="accent5"/>
                </a:solidFill>
              </a:defRPr>
            </a:lvl1pPr>
            <a:lvl2pPr marL="359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8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7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7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6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6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629332" y="6408009"/>
            <a:ext cx="1056117" cy="25200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525" b="0">
                <a:solidFill>
                  <a:schemeClr val="tx2"/>
                </a:solidFill>
              </a:defRPr>
            </a:lvl1pPr>
          </a:lstStyle>
          <a:p>
            <a:fld id="{95CC1D26-A9BD-4BDE-BDD9-08EDBAE96860}" type="slidenum">
              <a:rPr lang="en-GB" smtClean="0">
                <a:solidFill>
                  <a:srgbClr val="313131"/>
                </a:solidFill>
              </a:rPr>
              <a:pPr/>
              <a:t>‹#›</a:t>
            </a:fld>
            <a:endParaRPr lang="en-GB">
              <a:solidFill>
                <a:srgbClr val="313131"/>
              </a:solidFill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95568" y="2663188"/>
            <a:ext cx="7142913" cy="1623070"/>
          </a:xfrm>
        </p:spPr>
        <p:txBody>
          <a:bodyPr>
            <a:noAutofit/>
          </a:bodyPr>
          <a:lstStyle>
            <a:lvl1pPr marL="0" indent="0">
              <a:buNone/>
              <a:defRPr sz="1875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10384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63AF56-BF11-4CA7-B503-D1FFEC1E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B6D12-3677-496D-A39F-DB5E2B463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4FF2-8384-48B8-88EE-7D7DF329B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BF04-42FB-45DF-8C3C-1E250DAF7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8EF0-3E78-4DBB-9DA0-2B1EED3E8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CC494-26F7-44C2-B49D-DC25A759A9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663" y="106860"/>
            <a:ext cx="1325339" cy="44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8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067;p107">
            <a:extLst>
              <a:ext uri="{FF2B5EF4-FFF2-40B4-BE49-F238E27FC236}">
                <a16:creationId xmlns:a16="http://schemas.microsoft.com/office/drawing/2014/main" id="{BD446205-A9C9-145C-FBBE-181C87632E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91115"/>
            <a:ext cx="12192000" cy="6133754"/>
          </a:xfrm>
          <a:prstGeom prst="rect">
            <a:avLst/>
          </a:prstGeom>
          <a:noFill/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0" name="Straight Connector 19"/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3FA8882-DBA4-3986-D746-678C5CCE12AF}"/>
              </a:ext>
            </a:extLst>
          </p:cNvPr>
          <p:cNvSpPr txBox="1"/>
          <p:nvPr/>
        </p:nvSpPr>
        <p:spPr>
          <a:xfrm>
            <a:off x="914401" y="3868301"/>
            <a:ext cx="6006352" cy="1384995"/>
          </a:xfrm>
          <a:prstGeom prst="rect">
            <a:avLst/>
          </a:prstGeom>
          <a:noFill/>
          <a:ln w="15875">
            <a:solidFill>
              <a:srgbClr val="141ED2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BÁO CÁO TUẦN</a:t>
            </a:r>
          </a:p>
          <a:p>
            <a:r>
              <a:rPr lang="vi-VN" sz="2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NHẬN ĐỊNH THỊ TRƯỜNG TUẦN 07/09/2026 – 11/09/2026</a:t>
            </a:r>
            <a:endParaRPr lang="en-AU" sz="2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9A8FD-B872-9ACA-6333-0D02A6917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GB">
              <a:solidFill>
                <a:srgbClr val="3131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9999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CCwAAANqCAYAAABMrkioAAAAAXNSR0IArs4c6QAAIABJREFUeF7s2jENAAAMw7CVP+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" name="AutoShape 4" descr="data:image/png;base64,iVBORw0KGgoAAAANSUhEUgAACCwAAANqCAYAAABMrkioAAAAAXNSR0IArs4c6QAAIABJREFUeF7s2jENAAAMw7CVP+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378D81-16B3-BA0A-CD81-7E78B8D6F2C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5">
            <a:extLst>
              <a:ext uri="{FF2B5EF4-FFF2-40B4-BE49-F238E27FC236}">
                <a16:creationId xmlns:a16="http://schemas.microsoft.com/office/drawing/2014/main" id="{4A4D2A7D-D274-BA45-B498-25785F845D87}"/>
              </a:ext>
            </a:extLst>
          </p:cNvPr>
          <p:cNvSpPr txBox="1">
            <a:spLocks/>
          </p:cNvSpPr>
          <p:nvPr/>
        </p:nvSpPr>
        <p:spPr>
          <a:xfrm>
            <a:off x="261939" y="304973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MỤC LỤC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4612C-C222-90EB-0421-98AC31DBAA7B}"/>
              </a:ext>
            </a:extLst>
          </p:cNvPr>
          <p:cNvSpPr txBox="1"/>
          <p:nvPr/>
        </p:nvSpPr>
        <p:spPr>
          <a:xfrm>
            <a:off x="307974" y="957047"/>
            <a:ext cx="6570497" cy="4253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 BIẾN THỊ TRƯỜNG TUẦN 31/08 – 04/09/2026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 h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ngành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SỰ KIỆN DIỄN RA TRONG TUẦN 07/09/2026 – 11/09/2026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 ĐỊNH XU HƯỚNG THỊ TRƯỜNG TUẦN 07/09/2026 – 11/09/2026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 ĐỊNH XU H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ỚNG THỊ TR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 TUẦN 07/09 – 11/09/2026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 MỤC CỔ PHIẾU CẦN THEO DÕI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31D33-6EF9-2BF6-21CD-B166BC5D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875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9516C03B-CB8D-022C-BB34-4ECE32498F98}"/>
              </a:ext>
            </a:extLst>
          </p:cNvPr>
          <p:cNvSpPr txBox="1">
            <a:spLocks/>
          </p:cNvSpPr>
          <p:nvPr/>
        </p:nvSpPr>
        <p:spPr>
          <a:xfrm>
            <a:off x="261939" y="30159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THỊ TRƯỜNG TUẦN 31/08 – 04/09/2026</a:t>
            </a:r>
            <a:endParaRPr lang="en-US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4F60C0-301D-43A6-BB17-648BC55F0C62}"/>
              </a:ext>
            </a:extLst>
          </p:cNvPr>
          <p:cNvSpPr txBox="1">
            <a:spLocks/>
          </p:cNvSpPr>
          <p:nvPr/>
        </p:nvSpPr>
        <p:spPr>
          <a:xfrm>
            <a:off x="261121" y="677863"/>
            <a:ext cx="7449864" cy="59410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Xu h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ớng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và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độ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rộng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thị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tr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ờng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Trong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31/08–04/09/2026, VNINDEX tăng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21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%) lên 1.8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53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trong khi thanh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khớp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lệnh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đạt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8,4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nghìn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tỷ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đồng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VN30 tăng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%) lên 1.98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khớp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lệnh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đạt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17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9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nghìn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tỷ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đồng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Thị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trường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bền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bỉ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trong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năm phiên,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khởi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từ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1.788,8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vào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trước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khi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bứt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phá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mạnh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hơn 30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trong phiên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26/08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duy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trì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vững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chắc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trên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mốc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1.830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cuối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Thanh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khớp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lệnh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trưởng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đồng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thuận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cùng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số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tuy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ư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a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bứt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phá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rõ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rệt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Việc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chỉ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số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đóng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cửa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tại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cao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hiệu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kỹ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thuật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tiếp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tục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theo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dõi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diễn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biến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địa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chính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trị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Goldman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Sachs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cho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biết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xuất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khẩu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từ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Vịnh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Ba Tư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phục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hồi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tương đương 2/3 giai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đoạn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trước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chiến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sự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nhờ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lưu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chuyển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qua eo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biển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Hormuz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gia tăng.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Tổng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xuất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khẩu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thô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từ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khu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này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ghi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lên 15–16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triệu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thùng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/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dù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vẫn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thấp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hơn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7–8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triệu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thùng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so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trước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xung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đột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Iran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Oman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cũng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đạt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thỏa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thuận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chia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sẻ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doanh thu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đối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tuyến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hàng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hải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chiến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này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Dự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báo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q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uán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cùng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cải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thiện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kỳ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vọng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sẽ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tiếp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tục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hỗ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thị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trường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duy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trì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xu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hướng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ăng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ư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ớng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1880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tr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ư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ớc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khi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có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nhịp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điều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chỉnh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endParaRPr lang="vi-VN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</a:rPr>
              <a:t>Xét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về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Vingroup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từ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 năm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VIC, VHM, VRE </a:t>
            </a:r>
            <a:r>
              <a:rPr lang="vi-VN" sz="1100" dirty="0" err="1">
                <a:solidFill>
                  <a:schemeClr val="tx1"/>
                </a:solidFill>
              </a:rPr>
              <a:t>và</a:t>
            </a:r>
            <a:r>
              <a:rPr lang="vi-VN" sz="1100" dirty="0">
                <a:solidFill>
                  <a:schemeClr val="tx1"/>
                </a:solidFill>
              </a:rPr>
              <a:t> VPL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116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trong khi VNINDEX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47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Từ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tháng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en-US" sz="1100" dirty="0">
                <a:solidFill>
                  <a:schemeClr val="tx1"/>
                </a:solidFill>
              </a:rPr>
              <a:t> 33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so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mức</a:t>
            </a:r>
            <a:r>
              <a:rPr lang="vi-VN" sz="1100" dirty="0">
                <a:solidFill>
                  <a:schemeClr val="tx1"/>
                </a:solidFill>
              </a:rPr>
              <a:t> tăng </a:t>
            </a:r>
            <a:r>
              <a:rPr lang="en-US" sz="1100" dirty="0">
                <a:solidFill>
                  <a:schemeClr val="tx1"/>
                </a:solidFill>
              </a:rPr>
              <a:t>96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VNINDEX. Riêng trong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en-US" sz="1100" dirty="0">
                <a:solidFill>
                  <a:schemeClr val="tx1"/>
                </a:solidFill>
              </a:rPr>
              <a:t> 52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trong khi VNINDEX tăng </a:t>
            </a:r>
            <a:r>
              <a:rPr lang="en-US" sz="1100" dirty="0">
                <a:solidFill>
                  <a:schemeClr val="tx1"/>
                </a:solidFill>
              </a:rPr>
              <a:t>64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en-US" sz="1100" dirty="0" err="1">
                <a:solidFill>
                  <a:schemeClr val="tx1"/>
                </a:solidFill>
              </a:rPr>
              <a:t>Nếu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loại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trừ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nhóm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Vingroup</a:t>
            </a:r>
            <a:r>
              <a:rPr lang="en-US" sz="1100" dirty="0">
                <a:solidFill>
                  <a:schemeClr val="tx1"/>
                </a:solidFill>
              </a:rPr>
              <a:t>, </a:t>
            </a:r>
            <a:r>
              <a:rPr lang="en-US" sz="1100" dirty="0" err="1">
                <a:solidFill>
                  <a:schemeClr val="tx1"/>
                </a:solidFill>
              </a:rPr>
              <a:t>điểm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số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của</a:t>
            </a:r>
            <a:r>
              <a:rPr lang="en-US" sz="1100" dirty="0">
                <a:solidFill>
                  <a:schemeClr val="tx1"/>
                </a:solidFill>
              </a:rPr>
              <a:t> VNINDEX </a:t>
            </a:r>
            <a:r>
              <a:rPr lang="en-US" sz="1100" dirty="0" err="1">
                <a:solidFill>
                  <a:schemeClr val="tx1"/>
                </a:solidFill>
              </a:rPr>
              <a:t>hiện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tại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là</a:t>
            </a:r>
            <a:r>
              <a:rPr lang="en-US" sz="1100" dirty="0">
                <a:solidFill>
                  <a:schemeClr val="tx1"/>
                </a:solidFill>
              </a:rPr>
              <a:t> 1.361 </a:t>
            </a:r>
            <a:r>
              <a:rPr lang="en-US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46BBBE7-79B2-883E-C577-2EC6A3256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GB">
              <a:solidFill>
                <a:srgbClr val="3131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10CAB5-1FD7-4EF0-8F3B-79AE747EC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280" y="1030973"/>
            <a:ext cx="4248526" cy="267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6596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9516C03B-CB8D-022C-BB34-4ECE32498F98}"/>
              </a:ext>
            </a:extLst>
          </p:cNvPr>
          <p:cNvSpPr txBox="1">
            <a:spLocks/>
          </p:cNvSpPr>
          <p:nvPr/>
        </p:nvSpPr>
        <p:spPr>
          <a:xfrm>
            <a:off x="261939" y="30159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THỊ TRƯỜNG TUẦN 31/08 – 04/09/2026</a:t>
            </a:r>
            <a:endParaRPr lang="en-US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4F60C0-301D-43A6-BB17-648BC55F0C62}"/>
              </a:ext>
            </a:extLst>
          </p:cNvPr>
          <p:cNvSpPr txBox="1">
            <a:spLocks/>
          </p:cNvSpPr>
          <p:nvPr/>
        </p:nvSpPr>
        <p:spPr>
          <a:xfrm>
            <a:off x="275870" y="872464"/>
            <a:ext cx="6773859" cy="5746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Biến động các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ngành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Xét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các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sắc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đỏ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chiếm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ưu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thế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trong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/18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giá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14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/18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giảm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giá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động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Bảo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hiểm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dẫn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6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%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6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%. Ở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chiều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lại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Hàng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cá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nhân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&amp; Gia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dụng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diễn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kém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khi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giảm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7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%, theo sau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B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án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lẻ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giảm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2,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%.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Thị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tr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ư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ờng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ko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biến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động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nhiều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trong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do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chỉ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có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2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phiên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giao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dịch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Tuy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nhiên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Bất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động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sản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tăng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mạnh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do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đóng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góp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rất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lớn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của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VIC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VHM. </a:t>
            </a:r>
            <a:endParaRPr lang="vi-V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B309FE-C3BB-4440-9EE1-CF5913798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42035"/>
              </p:ext>
            </p:extLst>
          </p:nvPr>
        </p:nvGraphicFramePr>
        <p:xfrm>
          <a:off x="7264866" y="1482010"/>
          <a:ext cx="4666012" cy="412301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863">
                  <a:extLst>
                    <a:ext uri="{9D8B030D-6E8A-4147-A177-3AD203B41FA5}">
                      <a16:colId xmlns:a16="http://schemas.microsoft.com/office/drawing/2014/main" val="1939264631"/>
                    </a:ext>
                  </a:extLst>
                </a:gridCol>
                <a:gridCol w="796107">
                  <a:extLst>
                    <a:ext uri="{9D8B030D-6E8A-4147-A177-3AD203B41FA5}">
                      <a16:colId xmlns:a16="http://schemas.microsoft.com/office/drawing/2014/main" val="3494045"/>
                    </a:ext>
                  </a:extLst>
                </a:gridCol>
                <a:gridCol w="908078">
                  <a:extLst>
                    <a:ext uri="{9D8B030D-6E8A-4147-A177-3AD203B41FA5}">
                      <a16:colId xmlns:a16="http://schemas.microsoft.com/office/drawing/2014/main" val="1423265677"/>
                    </a:ext>
                  </a:extLst>
                </a:gridCol>
                <a:gridCol w="890964">
                  <a:extLst>
                    <a:ext uri="{9D8B030D-6E8A-4147-A177-3AD203B41FA5}">
                      <a16:colId xmlns:a16="http://schemas.microsoft.com/office/drawing/2014/main" val="3340808993"/>
                    </a:ext>
                  </a:extLst>
                </a:gridCol>
              </a:tblGrid>
              <a:tr h="16285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Thay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26659"/>
                  </a:ext>
                </a:extLst>
              </a:tr>
              <a:tr h="199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12050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Bất động sản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3,64%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6,19%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11,37%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5288796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Bảo hiểm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3,36%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5598061"/>
                  </a:ext>
                </a:extLst>
              </a:tr>
              <a:tr h="1835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Truyền thông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0,85%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-1,13%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3026902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Dầu khí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0,25%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8,03%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526680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Hóa chất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-0,18%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-0,09%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9,28%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3390970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Ô tô và phụ tùng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-0,31%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-0,20%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5675849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Điện, nước &amp; xăng dầu khí đốt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9,16%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1055151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Công nghệ Thông tin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0,74%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-0,64%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0095949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Du lịch và Giải trí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-3,62%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3460031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Thực phẩm và đồ uống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0,29%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-0,77%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14090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 tế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-0,47%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-1,05%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615112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Xây dựng và Vật liệu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-0,28%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-1,09%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-0,09%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3183893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Ngân hàng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-1,26%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1,47%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5693035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Dịch vụ tài chính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0,36%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-1,75%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-0,80%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319894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Tài nguyên Cơ bản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0,32%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-1,77%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-1,64%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170941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Hàng &amp; Dịch vụ Công nghiệp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-0,79%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-2,14%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-1,04%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190429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Bán lẻ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-0,14%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-2,48%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9587826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Hàng cá nhân &amp; Gia dụng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0,23%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-2,71%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7,76%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71627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F8204-603B-9BA4-6DCB-6299323F0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GB">
              <a:solidFill>
                <a:srgbClr val="3131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87250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5">
            <a:extLst>
              <a:ext uri="{FF2B5EF4-FFF2-40B4-BE49-F238E27FC236}">
                <a16:creationId xmlns:a16="http://schemas.microsoft.com/office/drawing/2014/main" id="{C7B400DF-E852-3B21-5B29-27FBDA5499ED}"/>
              </a:ext>
            </a:extLst>
          </p:cNvPr>
          <p:cNvSpPr txBox="1">
            <a:spLocks/>
          </p:cNvSpPr>
          <p:nvPr/>
        </p:nvSpPr>
        <p:spPr>
          <a:xfrm>
            <a:off x="261939" y="28887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THỊ TRƯỜNG TUẦN 31/08 – 04/09/2026</a:t>
            </a:r>
            <a:endParaRPr lang="en-US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D2477056-2295-443A-AA08-60DBDA6FCCAD}"/>
              </a:ext>
            </a:extLst>
          </p:cNvPr>
          <p:cNvSpPr txBox="1">
            <a:spLocks/>
          </p:cNvSpPr>
          <p:nvPr/>
        </p:nvSpPr>
        <p:spPr>
          <a:xfrm>
            <a:off x="261940" y="677864"/>
            <a:ext cx="10725608" cy="5891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Giao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dịch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nhà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đầu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ư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</a:t>
            </a:r>
            <a:r>
              <a:rPr lang="vi-V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ròng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519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ròng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713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6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A8BC4CC-9D0A-423C-A157-B4DF37B19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709628"/>
              </p:ext>
            </p:extLst>
          </p:nvPr>
        </p:nvGraphicFramePr>
        <p:xfrm>
          <a:off x="517525" y="1935413"/>
          <a:ext cx="4729594" cy="22144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40220">
                  <a:extLst>
                    <a:ext uri="{9D8B030D-6E8A-4147-A177-3AD203B41FA5}">
                      <a16:colId xmlns:a16="http://schemas.microsoft.com/office/drawing/2014/main" val="476193012"/>
                    </a:ext>
                  </a:extLst>
                </a:gridCol>
                <a:gridCol w="941075">
                  <a:extLst>
                    <a:ext uri="{9D8B030D-6E8A-4147-A177-3AD203B41FA5}">
                      <a16:colId xmlns:a16="http://schemas.microsoft.com/office/drawing/2014/main" val="3541350674"/>
                    </a:ext>
                  </a:extLst>
                </a:gridCol>
                <a:gridCol w="1375873">
                  <a:extLst>
                    <a:ext uri="{9D8B030D-6E8A-4147-A177-3AD203B41FA5}">
                      <a16:colId xmlns:a16="http://schemas.microsoft.com/office/drawing/2014/main" val="373586832"/>
                    </a:ext>
                  </a:extLst>
                </a:gridCol>
                <a:gridCol w="1572426">
                  <a:extLst>
                    <a:ext uri="{9D8B030D-6E8A-4147-A177-3AD203B41FA5}">
                      <a16:colId xmlns:a16="http://schemas.microsoft.com/office/drawing/2014/main" val="14922052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Bán ròng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Tỷ trọng bán của Khối Tự doanh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extLst>
                  <a:ext uri="{0D108BD9-81ED-4DB2-BD59-A6C34878D82A}">
                    <a16:rowId xmlns:a16="http://schemas.microsoft.com/office/drawing/2014/main" val="4153642203"/>
                  </a:ext>
                </a:extLst>
              </a:tr>
              <a:tr h="1586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-248.764.980.000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15,11%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05394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-194.111.812.000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7,22%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26624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-160.622.570.000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7,30%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31816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-156.535.489.000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19,46%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5606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236.000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-149.741.360.000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57009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-143.147.245.000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14,56%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88398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-117.965.930.000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17,10%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8042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HDB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-99.510.204.000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84817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-98.317.385.000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14,48%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61039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HPG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22.100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-96.143.630.000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12,53%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425312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F517E2-A8B1-49E1-9B1E-1D5C00C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70010"/>
              </p:ext>
            </p:extLst>
          </p:nvPr>
        </p:nvGraphicFramePr>
        <p:xfrm>
          <a:off x="6082353" y="1929390"/>
          <a:ext cx="4729594" cy="22474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37189">
                  <a:extLst>
                    <a:ext uri="{9D8B030D-6E8A-4147-A177-3AD203B41FA5}">
                      <a16:colId xmlns:a16="http://schemas.microsoft.com/office/drawing/2014/main" val="682583455"/>
                    </a:ext>
                  </a:extLst>
                </a:gridCol>
                <a:gridCol w="880217">
                  <a:extLst>
                    <a:ext uri="{9D8B030D-6E8A-4147-A177-3AD203B41FA5}">
                      <a16:colId xmlns:a16="http://schemas.microsoft.com/office/drawing/2014/main" val="1140088890"/>
                    </a:ext>
                  </a:extLst>
                </a:gridCol>
                <a:gridCol w="1418601">
                  <a:extLst>
                    <a:ext uri="{9D8B030D-6E8A-4147-A177-3AD203B41FA5}">
                      <a16:colId xmlns:a16="http://schemas.microsoft.com/office/drawing/2014/main" val="3285455083"/>
                    </a:ext>
                  </a:extLst>
                </a:gridCol>
                <a:gridCol w="1493587">
                  <a:extLst>
                    <a:ext uri="{9D8B030D-6E8A-4147-A177-3AD203B41FA5}">
                      <a16:colId xmlns:a16="http://schemas.microsoft.com/office/drawing/2014/main" val="2755322544"/>
                    </a:ext>
                  </a:extLst>
                </a:gridCol>
              </a:tblGrid>
              <a:tr h="3175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Mua ròng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Tỷ trọng mua của Khối Tự doanh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0" marT="18000" marB="0" anchor="ctr"/>
                </a:tc>
                <a:extLst>
                  <a:ext uri="{0D108BD9-81ED-4DB2-BD59-A6C34878D82A}">
                    <a16:rowId xmlns:a16="http://schemas.microsoft.com/office/drawing/2014/main" val="901127028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GMD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227.975.730.000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19,30%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8757191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33.977.405.000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8,41%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8216377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26.239.425.000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75799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24.239.772.000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2016339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9.571.955.000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18,52%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1833493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9.391.620.000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7,98%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56620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8.026.170.000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221801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VTP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5.105.740.000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8515178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GVR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32.350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4.531.845.000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6965531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36.250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4.441.825.000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0,51%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089538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8EC5B45-3871-449D-AA94-FF528E886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40791"/>
              </p:ext>
            </p:extLst>
          </p:nvPr>
        </p:nvGraphicFramePr>
        <p:xfrm>
          <a:off x="6096000" y="4625975"/>
          <a:ext cx="4729594" cy="20955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91322">
                  <a:extLst>
                    <a:ext uri="{9D8B030D-6E8A-4147-A177-3AD203B41FA5}">
                      <a16:colId xmlns:a16="http://schemas.microsoft.com/office/drawing/2014/main" val="263410430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1620157925"/>
                    </a:ext>
                  </a:extLst>
                </a:gridCol>
                <a:gridCol w="1457302">
                  <a:extLst>
                    <a:ext uri="{9D8B030D-6E8A-4147-A177-3AD203B41FA5}">
                      <a16:colId xmlns:a16="http://schemas.microsoft.com/office/drawing/2014/main" val="4010576076"/>
                    </a:ext>
                  </a:extLst>
                </a:gridCol>
                <a:gridCol w="1512782">
                  <a:extLst>
                    <a:ext uri="{9D8B030D-6E8A-4147-A177-3AD203B41FA5}">
                      <a16:colId xmlns:a16="http://schemas.microsoft.com/office/drawing/2014/main" val="21226686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Mua 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ròng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(GT)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NN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Sở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hữu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14571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718.019.844.250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21,13%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010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430.183.470.200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27,06%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0707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236.000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380.627.742.900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72319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280.559.351.750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23,35%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66712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HPG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220.630.986.050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21,55%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6524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PNJ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157.401.876.800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42,64%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57567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140.360.670.600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32988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135.675.409.200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34,18%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83287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123.528.242.600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073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68.100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122.383.692.400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9,67%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861386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8D254E8-9BE5-4B20-AD2E-FE0C3AEEA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442029"/>
              </p:ext>
            </p:extLst>
          </p:nvPr>
        </p:nvGraphicFramePr>
        <p:xfrm>
          <a:off x="531172" y="4599948"/>
          <a:ext cx="4729594" cy="212152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51647">
                  <a:extLst>
                    <a:ext uri="{9D8B030D-6E8A-4147-A177-3AD203B41FA5}">
                      <a16:colId xmlns:a16="http://schemas.microsoft.com/office/drawing/2014/main" val="1197368528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3730308002"/>
                    </a:ext>
                  </a:extLst>
                </a:gridCol>
                <a:gridCol w="1395083">
                  <a:extLst>
                    <a:ext uri="{9D8B030D-6E8A-4147-A177-3AD203B41FA5}">
                      <a16:colId xmlns:a16="http://schemas.microsoft.com/office/drawing/2014/main" val="62363021"/>
                    </a:ext>
                  </a:extLst>
                </a:gridCol>
                <a:gridCol w="1514676">
                  <a:extLst>
                    <a:ext uri="{9D8B030D-6E8A-4147-A177-3AD203B41FA5}">
                      <a16:colId xmlns:a16="http://schemas.microsoft.com/office/drawing/2014/main" val="412189218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ròng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NN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Sở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hữu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8978472"/>
                  </a:ext>
                </a:extLst>
              </a:tr>
              <a:tr h="2165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-203.808.385.300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20,06%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4795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-190.284.278.500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24,51%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9843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-183.408.296.500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4,63%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83756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-125.579.259.050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9,31%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544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36.850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-113.685.357.050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17,52%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2191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30.850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-93.873.826.000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6,40%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61984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-91.231.169.300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24,34%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71375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-83.265.923.100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6,93%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71503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-82.744.545.000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14,02%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26481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64.800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-70.217.154.700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1,02%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34345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78591D-EBD3-4A78-A389-694F47B2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0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C5E1-222D-5D88-9964-4A8FF259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5383B4-C0C0-C437-0842-ECBE904CDC74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5">
            <a:extLst>
              <a:ext uri="{FF2B5EF4-FFF2-40B4-BE49-F238E27FC236}">
                <a16:creationId xmlns:a16="http://schemas.microsoft.com/office/drawing/2014/main" id="{BB5C97C4-862A-269F-A388-3BA6E6A2B487}"/>
              </a:ext>
            </a:extLst>
          </p:cNvPr>
          <p:cNvSpPr txBox="1">
            <a:spLocks/>
          </p:cNvSpPr>
          <p:nvPr/>
        </p:nvSpPr>
        <p:spPr>
          <a:xfrm>
            <a:off x="261939" y="28887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DANH MỤC THEO DÕI TUẦN 31/08 – 04/09/2026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C378252-A32A-9839-7495-0D5F68F1E791}"/>
              </a:ext>
            </a:extLst>
          </p:cNvPr>
          <p:cNvSpPr txBox="1">
            <a:spLocks/>
          </p:cNvSpPr>
          <p:nvPr/>
        </p:nvSpPr>
        <p:spPr>
          <a:xfrm>
            <a:off x="261940" y="677864"/>
            <a:ext cx="10725608" cy="5891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Sự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kiện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doanh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nghiệp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trong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tuần</a:t>
            </a: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giao dịch NDTNN 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9, NDTNN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ròng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cổ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phiếu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4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5E438-760F-A277-DDDD-CB26F754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B2CB95-BB19-5CE2-096D-C942A23B0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909997"/>
              </p:ext>
            </p:extLst>
          </p:nvPr>
        </p:nvGraphicFramePr>
        <p:xfrm>
          <a:off x="364321" y="1265121"/>
          <a:ext cx="11463359" cy="1218249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399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858">
                  <a:extLst>
                    <a:ext uri="{9D8B030D-6E8A-4147-A177-3AD203B41FA5}">
                      <a16:colId xmlns:a16="http://schemas.microsoft.com/office/drawing/2014/main" val="3086632694"/>
                    </a:ext>
                  </a:extLst>
                </a:gridCol>
                <a:gridCol w="92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36472446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79009439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4006841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3DB183-A5CC-8AA9-CAC4-E0699E1A7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610660"/>
              </p:ext>
            </p:extLst>
          </p:nvPr>
        </p:nvGraphicFramePr>
        <p:xfrm>
          <a:off x="364321" y="4048812"/>
          <a:ext cx="7733305" cy="162529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46661">
                  <a:extLst>
                    <a:ext uri="{9D8B030D-6E8A-4147-A177-3AD203B41FA5}">
                      <a16:colId xmlns:a16="http://schemas.microsoft.com/office/drawing/2014/main" val="476193012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541350674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73586832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1492205293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276923108"/>
                    </a:ext>
                  </a:extLst>
                </a:gridCol>
              </a:tblGrid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V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KLGD NDTNN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3642203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-20.044.268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-25.052.808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-39.496.132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-43.747.657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0539495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-26.925.294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-6.326.504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-33.422.661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-12.545.859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2662491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-6.090.320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1.858.000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-2.827.122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-4.459.330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3181617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Từ đầu năm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-261.110.980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-57.620.013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-141.897.935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-125.748.082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560680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Room NN còn lại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1,7%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7387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02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CÁC SỰ KIỆN DIỄN RA TRONG TUẦN 07/09/2026 – 11/09/2026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735BD-8F3E-4D76-B4E3-A85529B82324}"/>
              </a:ext>
            </a:extLst>
          </p:cNvPr>
          <p:cNvSpPr txBox="1"/>
          <p:nvPr/>
        </p:nvSpPr>
        <p:spPr>
          <a:xfrm>
            <a:off x="306595" y="922013"/>
            <a:ext cx="1149367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780BA3-FEDF-45F2-A2CF-3F69BACA285D}"/>
              </a:ext>
            </a:extLst>
          </p:cNvPr>
          <p:cNvSpPr txBox="1"/>
          <p:nvPr/>
        </p:nvSpPr>
        <p:spPr>
          <a:xfrm>
            <a:off x="306595" y="3124233"/>
            <a:ext cx="11493675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Quốc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E5AEA-65D3-A6C9-7C6A-63F9481C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43C129-FA9E-58D6-50EA-AE21A11F0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020353"/>
              </p:ext>
            </p:extLst>
          </p:nvPr>
        </p:nvGraphicFramePr>
        <p:xfrm>
          <a:off x="364321" y="3577080"/>
          <a:ext cx="11463358" cy="1532892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49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09/09/2026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Trung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Quốc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Lạm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theo năm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YoY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10/09/2026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[Khu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vực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Euro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Quyết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lãi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suất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ECB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68331513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11/09/2026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Mỹ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Lạm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theo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năm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(YoY)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theo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quý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QoQ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36472446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7900943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D4413C-9908-D492-D53F-AD247402B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466646"/>
              </p:ext>
            </p:extLst>
          </p:nvPr>
        </p:nvGraphicFramePr>
        <p:xfrm>
          <a:off x="364321" y="1385240"/>
          <a:ext cx="11463358" cy="27432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49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C2EF0C-B614-16E0-B17F-10D8DAD09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561" y="914400"/>
            <a:ext cx="11676878" cy="5807075"/>
          </a:xfrm>
        </p:spPr>
        <p:txBody>
          <a:bodyPr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b="0" dirty="0">
                <a:cs typeface="Arial" panose="020B0604020202020204" pitchFamily="34" charset="0"/>
              </a:rPr>
              <a:t>Trong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 31/08–04/09/2026, VNINDEX tăng 64,0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(3,6%) lên 1.832,1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, trong khi thanh </a:t>
            </a:r>
            <a:r>
              <a:rPr lang="vi-VN" sz="1100" b="0" dirty="0" err="1">
                <a:cs typeface="Arial" panose="020B0604020202020204" pitchFamily="34" charset="0"/>
              </a:rPr>
              <a:t>khoản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khớp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lệnh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đạt</a:t>
            </a:r>
            <a:r>
              <a:rPr lang="vi-VN" sz="1100" b="0" dirty="0">
                <a:cs typeface="Arial" panose="020B0604020202020204" pitchFamily="34" charset="0"/>
              </a:rPr>
              <a:t> 78,4 </a:t>
            </a:r>
            <a:r>
              <a:rPr lang="vi-VN" sz="1100" b="0" dirty="0" err="1">
                <a:cs typeface="Arial" panose="020B0604020202020204" pitchFamily="34" charset="0"/>
              </a:rPr>
              <a:t>nghìn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tỷ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đồng</a:t>
            </a:r>
            <a:r>
              <a:rPr lang="vi-VN" sz="1100" b="0" dirty="0">
                <a:cs typeface="Arial" panose="020B0604020202020204" pitchFamily="34" charset="0"/>
              </a:rPr>
              <a:t>, tăng 36,3% so </a:t>
            </a:r>
            <a:r>
              <a:rPr lang="vi-VN" sz="1100" b="0" dirty="0" err="1">
                <a:cs typeface="Arial" panose="020B0604020202020204" pitchFamily="34" charset="0"/>
              </a:rPr>
              <a:t>với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. VN30 tăng 55,2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(2,9%) lên 1.983,0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, </a:t>
            </a:r>
            <a:r>
              <a:rPr lang="vi-VN" sz="1100" b="0" dirty="0" err="1">
                <a:cs typeface="Arial" panose="020B0604020202020204" pitchFamily="34" charset="0"/>
              </a:rPr>
              <a:t>với</a:t>
            </a:r>
            <a:r>
              <a:rPr lang="vi-VN" sz="1100" b="0" dirty="0">
                <a:cs typeface="Arial" panose="020B0604020202020204" pitchFamily="34" charset="0"/>
              </a:rPr>
              <a:t> thanh </a:t>
            </a:r>
            <a:r>
              <a:rPr lang="vi-VN" sz="1100" b="0" dirty="0" err="1">
                <a:cs typeface="Arial" panose="020B0604020202020204" pitchFamily="34" charset="0"/>
              </a:rPr>
              <a:t>khoản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khớp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lệnh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đạt</a:t>
            </a:r>
            <a:r>
              <a:rPr lang="vi-VN" sz="1100" b="0" dirty="0">
                <a:cs typeface="Arial" panose="020B0604020202020204" pitchFamily="34" charset="0"/>
              </a:rPr>
              <a:t> 48,0 </a:t>
            </a:r>
            <a:r>
              <a:rPr lang="vi-VN" sz="1100" b="0" dirty="0" err="1">
                <a:cs typeface="Arial" panose="020B0604020202020204" pitchFamily="34" charset="0"/>
              </a:rPr>
              <a:t>nghìn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tỷ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đồng</a:t>
            </a:r>
            <a:r>
              <a:rPr lang="vi-VN" sz="1100" b="0" dirty="0">
                <a:cs typeface="Arial" panose="020B0604020202020204" pitchFamily="34" charset="0"/>
              </a:rPr>
              <a:t>. </a:t>
            </a:r>
            <a:r>
              <a:rPr lang="vi-VN" sz="1100" b="0" dirty="0" err="1">
                <a:cs typeface="Arial" panose="020B0604020202020204" pitchFamily="34" charset="0"/>
              </a:rPr>
              <a:t>Thị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trường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bền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bỉ</a:t>
            </a:r>
            <a:r>
              <a:rPr lang="vi-VN" sz="1100" b="0" dirty="0">
                <a:cs typeface="Arial" panose="020B0604020202020204" pitchFamily="34" charset="0"/>
              </a:rPr>
              <a:t> trong </a:t>
            </a:r>
            <a:r>
              <a:rPr lang="vi-VN" sz="1100" b="0" dirty="0" err="1">
                <a:cs typeface="Arial" panose="020B0604020202020204" pitchFamily="34" charset="0"/>
              </a:rPr>
              <a:t>cả</a:t>
            </a:r>
            <a:r>
              <a:rPr lang="vi-VN" sz="1100" b="0" dirty="0">
                <a:cs typeface="Arial" panose="020B0604020202020204" pitchFamily="34" charset="0"/>
              </a:rPr>
              <a:t> năm phiên, </a:t>
            </a:r>
            <a:r>
              <a:rPr lang="vi-VN" sz="1100" b="0" dirty="0" err="1">
                <a:cs typeface="Arial" panose="020B0604020202020204" pitchFamily="34" charset="0"/>
              </a:rPr>
              <a:t>khởi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đầu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từ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mức</a:t>
            </a:r>
            <a:r>
              <a:rPr lang="vi-VN" sz="1100" b="0" dirty="0">
                <a:cs typeface="Arial" panose="020B0604020202020204" pitchFamily="34" charset="0"/>
              </a:rPr>
              <a:t> 1.788,8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vào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đầu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 khi </a:t>
            </a:r>
            <a:r>
              <a:rPr lang="vi-VN" sz="1100" b="0" dirty="0" err="1">
                <a:cs typeface="Arial" panose="020B0604020202020204" pitchFamily="34" charset="0"/>
              </a:rPr>
              <a:t>bứt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phá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mạnh</a:t>
            </a:r>
            <a:r>
              <a:rPr lang="vi-VN" sz="1100" b="0" dirty="0">
                <a:cs typeface="Arial" panose="020B0604020202020204" pitchFamily="34" charset="0"/>
              </a:rPr>
              <a:t> hơn 30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trong phiên </a:t>
            </a:r>
            <a:r>
              <a:rPr lang="vi-VN" sz="1100" b="0" dirty="0" err="1">
                <a:cs typeface="Arial" panose="020B0604020202020204" pitchFamily="34" charset="0"/>
              </a:rPr>
              <a:t>ngày</a:t>
            </a:r>
            <a:r>
              <a:rPr lang="vi-VN" sz="1100" b="0" dirty="0">
                <a:cs typeface="Arial" panose="020B0604020202020204" pitchFamily="34" charset="0"/>
              </a:rPr>
              <a:t> 26/08 </a:t>
            </a:r>
            <a:r>
              <a:rPr lang="vi-VN" sz="1100" b="0" dirty="0" err="1">
                <a:cs typeface="Arial" panose="020B0604020202020204" pitchFamily="34" charset="0"/>
              </a:rPr>
              <a:t>và</a:t>
            </a:r>
            <a:r>
              <a:rPr lang="vi-VN" sz="1100" b="0" dirty="0">
                <a:cs typeface="Arial" panose="020B0604020202020204" pitchFamily="34" charset="0"/>
              </a:rPr>
              <a:t> duy </a:t>
            </a:r>
            <a:r>
              <a:rPr lang="vi-VN" sz="1100" b="0" dirty="0" err="1">
                <a:cs typeface="Arial" panose="020B0604020202020204" pitchFamily="34" charset="0"/>
              </a:rPr>
              <a:t>trì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vững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chắc</a:t>
            </a:r>
            <a:r>
              <a:rPr lang="vi-VN" sz="1100" b="0" dirty="0">
                <a:cs typeface="Arial" panose="020B0604020202020204" pitchFamily="34" charset="0"/>
              </a:rPr>
              <a:t> trên </a:t>
            </a:r>
            <a:r>
              <a:rPr lang="vi-VN" sz="1100" b="0" dirty="0" err="1">
                <a:cs typeface="Arial" panose="020B0604020202020204" pitchFamily="34" charset="0"/>
              </a:rPr>
              <a:t>mốc</a:t>
            </a:r>
            <a:r>
              <a:rPr lang="vi-VN" sz="1100" b="0" dirty="0">
                <a:cs typeface="Arial" panose="020B0604020202020204" pitchFamily="34" charset="0"/>
              </a:rPr>
              <a:t> 1.830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về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cuối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. Thanh </a:t>
            </a:r>
            <a:r>
              <a:rPr lang="vi-VN" sz="1100" b="0" dirty="0" err="1">
                <a:cs typeface="Arial" panose="020B0604020202020204" pitchFamily="34" charset="0"/>
              </a:rPr>
              <a:t>khoản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khớp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lệnh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trưởng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tích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cực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đồng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thuận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cùng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đà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số</a:t>
            </a:r>
            <a:r>
              <a:rPr lang="vi-VN" sz="1100" b="0" dirty="0">
                <a:cs typeface="Arial" panose="020B0604020202020204" pitchFamily="34" charset="0"/>
              </a:rPr>
              <a:t>, tuy chưa </a:t>
            </a:r>
            <a:r>
              <a:rPr lang="vi-VN" sz="1100" b="0" dirty="0" err="1">
                <a:cs typeface="Arial" panose="020B0604020202020204" pitchFamily="34" charset="0"/>
              </a:rPr>
              <a:t>bứt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phá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rõ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rệt</a:t>
            </a:r>
            <a:r>
              <a:rPr lang="vi-VN" sz="1100" b="0" dirty="0">
                <a:cs typeface="Arial" panose="020B0604020202020204" pitchFamily="34" charset="0"/>
              </a:rPr>
              <a:t>. </a:t>
            </a:r>
            <a:r>
              <a:rPr lang="vi-VN" sz="1100" b="0" dirty="0" err="1">
                <a:cs typeface="Arial" panose="020B0604020202020204" pitchFamily="34" charset="0"/>
              </a:rPr>
              <a:t>Việc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chỉ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số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đóng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cửa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tại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mức</a:t>
            </a:r>
            <a:r>
              <a:rPr lang="vi-VN" sz="1100" b="0" dirty="0">
                <a:cs typeface="Arial" panose="020B0604020202020204" pitchFamily="34" charset="0"/>
              </a:rPr>
              <a:t> cao </a:t>
            </a:r>
            <a:r>
              <a:rPr lang="vi-VN" sz="1100" b="0" dirty="0" err="1">
                <a:cs typeface="Arial" panose="020B0604020202020204" pitchFamily="34" charset="0"/>
              </a:rPr>
              <a:t>nhất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là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tín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hiệu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kỹ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thuật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tích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cực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cần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tiếp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tục</a:t>
            </a:r>
            <a:r>
              <a:rPr lang="vi-VN" sz="1100" b="0" dirty="0">
                <a:cs typeface="Arial" panose="020B0604020202020204" pitchFamily="34" charset="0"/>
              </a:rPr>
              <a:t> theo </a:t>
            </a:r>
            <a:r>
              <a:rPr lang="vi-VN" sz="1100" b="0" dirty="0" err="1">
                <a:cs typeface="Arial" panose="020B0604020202020204" pitchFamily="34" charset="0"/>
              </a:rPr>
              <a:t>dõi</a:t>
            </a:r>
            <a:r>
              <a:rPr lang="vi-VN" sz="1100" b="0" dirty="0"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b="0" dirty="0" err="1">
                <a:cs typeface="Arial" panose="020B0604020202020204" pitchFamily="34" charset="0"/>
              </a:rPr>
              <a:t>Về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diễn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biến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địa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chính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trị</a:t>
            </a:r>
            <a:r>
              <a:rPr lang="vi-VN" sz="1100" b="0" dirty="0">
                <a:cs typeface="Arial" panose="020B0604020202020204" pitchFamily="34" charset="0"/>
              </a:rPr>
              <a:t>, </a:t>
            </a:r>
            <a:r>
              <a:rPr lang="vi-VN" sz="1100" b="0" dirty="0" err="1">
                <a:cs typeface="Arial" panose="020B0604020202020204" pitchFamily="34" charset="0"/>
              </a:rPr>
              <a:t>Goldman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Sachs</a:t>
            </a:r>
            <a:r>
              <a:rPr lang="vi-VN" sz="1100" b="0" dirty="0">
                <a:cs typeface="Arial" panose="020B0604020202020204" pitchFamily="34" charset="0"/>
              </a:rPr>
              <a:t> cho </a:t>
            </a:r>
            <a:r>
              <a:rPr lang="vi-VN" sz="1100" b="0" dirty="0" err="1">
                <a:cs typeface="Arial" panose="020B0604020202020204" pitchFamily="34" charset="0"/>
              </a:rPr>
              <a:t>biết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lượng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dầu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xuất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khẩu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từ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Vịnh</a:t>
            </a:r>
            <a:r>
              <a:rPr lang="vi-VN" sz="1100" b="0" dirty="0">
                <a:cs typeface="Arial" panose="020B0604020202020204" pitchFamily="34" charset="0"/>
              </a:rPr>
              <a:t> Ba Tư </a:t>
            </a:r>
            <a:r>
              <a:rPr lang="vi-VN" sz="1100" b="0" dirty="0" err="1">
                <a:cs typeface="Arial" panose="020B0604020202020204" pitchFamily="34" charset="0"/>
              </a:rPr>
              <a:t>đã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phục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hồi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về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mức</a:t>
            </a:r>
            <a:r>
              <a:rPr lang="vi-VN" sz="1100" b="0" dirty="0">
                <a:cs typeface="Arial" panose="020B0604020202020204" pitchFamily="34" charset="0"/>
              </a:rPr>
              <a:t> tương đương 2/3 giai </a:t>
            </a:r>
            <a:r>
              <a:rPr lang="vi-VN" sz="1100" b="0" dirty="0" err="1">
                <a:cs typeface="Arial" panose="020B0604020202020204" pitchFamily="34" charset="0"/>
              </a:rPr>
              <a:t>đoạn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chiến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sự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nhờ</a:t>
            </a:r>
            <a:r>
              <a:rPr lang="vi-VN" sz="1100" b="0" dirty="0">
                <a:cs typeface="Arial" panose="020B0604020202020204" pitchFamily="34" charset="0"/>
              </a:rPr>
              <a:t> lưu </a:t>
            </a:r>
            <a:r>
              <a:rPr lang="vi-VN" sz="1100" b="0" dirty="0" err="1">
                <a:cs typeface="Arial" panose="020B0604020202020204" pitchFamily="34" charset="0"/>
              </a:rPr>
              <a:t>lượng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vận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chuyển</a:t>
            </a:r>
            <a:r>
              <a:rPr lang="vi-VN" sz="1100" b="0" dirty="0">
                <a:cs typeface="Arial" panose="020B0604020202020204" pitchFamily="34" charset="0"/>
              </a:rPr>
              <a:t> qua eo </a:t>
            </a:r>
            <a:r>
              <a:rPr lang="vi-VN" sz="1100" b="0" dirty="0" err="1">
                <a:cs typeface="Arial" panose="020B0604020202020204" pitchFamily="34" charset="0"/>
              </a:rPr>
              <a:t>biển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Hormuz</a:t>
            </a:r>
            <a:r>
              <a:rPr lang="vi-VN" sz="1100" b="0" dirty="0">
                <a:cs typeface="Arial" panose="020B0604020202020204" pitchFamily="34" charset="0"/>
              </a:rPr>
              <a:t> gia tăng. </a:t>
            </a:r>
            <a:r>
              <a:rPr lang="vi-VN" sz="1100" b="0" dirty="0" err="1">
                <a:cs typeface="Arial" panose="020B0604020202020204" pitchFamily="34" charset="0"/>
              </a:rPr>
              <a:t>Tổng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lượng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xuất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khẩu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dầu</a:t>
            </a:r>
            <a:r>
              <a:rPr lang="vi-VN" sz="1100" b="0" dirty="0">
                <a:cs typeface="Arial" panose="020B0604020202020204" pitchFamily="34" charset="0"/>
              </a:rPr>
              <a:t> thô </a:t>
            </a:r>
            <a:r>
              <a:rPr lang="vi-VN" sz="1100" b="0" dirty="0" err="1">
                <a:cs typeface="Arial" panose="020B0604020202020204" pitchFamily="34" charset="0"/>
              </a:rPr>
              <a:t>từ</a:t>
            </a:r>
            <a:r>
              <a:rPr lang="vi-VN" sz="1100" b="0" dirty="0">
                <a:cs typeface="Arial" panose="020B0604020202020204" pitchFamily="34" charset="0"/>
              </a:rPr>
              <a:t> khu </a:t>
            </a:r>
            <a:r>
              <a:rPr lang="vi-VN" sz="1100" b="0" dirty="0" err="1">
                <a:cs typeface="Arial" panose="020B0604020202020204" pitchFamily="34" charset="0"/>
              </a:rPr>
              <a:t>vực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này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được</a:t>
            </a:r>
            <a:r>
              <a:rPr lang="vi-VN" sz="1100" b="0" dirty="0">
                <a:cs typeface="Arial" panose="020B0604020202020204" pitchFamily="34" charset="0"/>
              </a:rPr>
              <a:t> ghi </a:t>
            </a:r>
            <a:r>
              <a:rPr lang="vi-VN" sz="1100" b="0" dirty="0" err="1">
                <a:cs typeface="Arial" panose="020B0604020202020204" pitchFamily="34" charset="0"/>
              </a:rPr>
              <a:t>nhận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đã</a:t>
            </a:r>
            <a:r>
              <a:rPr lang="vi-VN" sz="1100" b="0" dirty="0">
                <a:cs typeface="Arial" panose="020B0604020202020204" pitchFamily="34" charset="0"/>
              </a:rPr>
              <a:t> tăng lên 15–16 </a:t>
            </a:r>
            <a:r>
              <a:rPr lang="vi-VN" sz="1100" b="0" dirty="0" err="1">
                <a:cs typeface="Arial" panose="020B0604020202020204" pitchFamily="34" charset="0"/>
              </a:rPr>
              <a:t>triệu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thùng</a:t>
            </a:r>
            <a:r>
              <a:rPr lang="vi-VN" sz="1100" b="0" dirty="0">
                <a:cs typeface="Arial" panose="020B0604020202020204" pitchFamily="34" charset="0"/>
              </a:rPr>
              <a:t>/</a:t>
            </a:r>
            <a:r>
              <a:rPr lang="vi-VN" sz="1100" b="0" dirty="0" err="1">
                <a:cs typeface="Arial" panose="020B0604020202020204" pitchFamily="34" charset="0"/>
              </a:rPr>
              <a:t>ngày</a:t>
            </a:r>
            <a:r>
              <a:rPr lang="vi-VN" sz="1100" b="0" dirty="0">
                <a:cs typeface="Arial" panose="020B0604020202020204" pitchFamily="34" charset="0"/>
              </a:rPr>
              <a:t>, </a:t>
            </a:r>
            <a:r>
              <a:rPr lang="vi-VN" sz="1100" b="0" dirty="0" err="1">
                <a:cs typeface="Arial" panose="020B0604020202020204" pitchFamily="34" charset="0"/>
              </a:rPr>
              <a:t>dù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vẫn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thấp</a:t>
            </a:r>
            <a:r>
              <a:rPr lang="vi-VN" sz="1100" b="0" dirty="0">
                <a:cs typeface="Arial" panose="020B0604020202020204" pitchFamily="34" charset="0"/>
              </a:rPr>
              <a:t> hơn </a:t>
            </a:r>
            <a:r>
              <a:rPr lang="vi-VN" sz="1100" b="0" dirty="0" err="1">
                <a:cs typeface="Arial" panose="020B0604020202020204" pitchFamily="34" charset="0"/>
              </a:rPr>
              <a:t>khoảng</a:t>
            </a:r>
            <a:r>
              <a:rPr lang="vi-VN" sz="1100" b="0" dirty="0">
                <a:cs typeface="Arial" panose="020B0604020202020204" pitchFamily="34" charset="0"/>
              </a:rPr>
              <a:t> 7–8 </a:t>
            </a:r>
            <a:r>
              <a:rPr lang="vi-VN" sz="1100" b="0" dirty="0" err="1">
                <a:cs typeface="Arial" panose="020B0604020202020204" pitchFamily="34" charset="0"/>
              </a:rPr>
              <a:t>triệu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thùng</a:t>
            </a:r>
            <a:r>
              <a:rPr lang="vi-VN" sz="1100" b="0" dirty="0">
                <a:cs typeface="Arial" panose="020B0604020202020204" pitchFamily="34" charset="0"/>
              </a:rPr>
              <a:t> so </a:t>
            </a:r>
            <a:r>
              <a:rPr lang="vi-VN" sz="1100" b="0" dirty="0" err="1">
                <a:cs typeface="Arial" panose="020B0604020202020204" pitchFamily="34" charset="0"/>
              </a:rPr>
              <a:t>với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mức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 xung </a:t>
            </a:r>
            <a:r>
              <a:rPr lang="vi-VN" sz="1100" b="0" dirty="0" err="1">
                <a:cs typeface="Arial" panose="020B0604020202020204" pitchFamily="34" charset="0"/>
              </a:rPr>
              <a:t>đột</a:t>
            </a:r>
            <a:r>
              <a:rPr lang="vi-VN" sz="1100" b="0" dirty="0">
                <a:cs typeface="Arial" panose="020B0604020202020204" pitchFamily="34" charset="0"/>
              </a:rPr>
              <a:t>. Iran </a:t>
            </a:r>
            <a:r>
              <a:rPr lang="vi-VN" sz="1100" b="0" dirty="0" err="1">
                <a:cs typeface="Arial" panose="020B0604020202020204" pitchFamily="34" charset="0"/>
              </a:rPr>
              <a:t>và</a:t>
            </a:r>
            <a:r>
              <a:rPr lang="vi-VN" sz="1100" b="0" dirty="0">
                <a:cs typeface="Arial" panose="020B0604020202020204" pitchFamily="34" charset="0"/>
              </a:rPr>
              <a:t> Oman </a:t>
            </a:r>
            <a:r>
              <a:rPr lang="vi-VN" sz="1100" b="0" dirty="0" err="1">
                <a:cs typeface="Arial" panose="020B0604020202020204" pitchFamily="34" charset="0"/>
              </a:rPr>
              <a:t>cũng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đã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đạt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được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thỏa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thuận</a:t>
            </a:r>
            <a:r>
              <a:rPr lang="vi-VN" sz="1100" b="0" dirty="0">
                <a:cs typeface="Arial" panose="020B0604020202020204" pitchFamily="34" charset="0"/>
              </a:rPr>
              <a:t> chia </a:t>
            </a:r>
            <a:r>
              <a:rPr lang="vi-VN" sz="1100" b="0" dirty="0" err="1">
                <a:cs typeface="Arial" panose="020B0604020202020204" pitchFamily="34" charset="0"/>
              </a:rPr>
              <a:t>sẻ</a:t>
            </a:r>
            <a:r>
              <a:rPr lang="vi-VN" sz="1100" b="0" dirty="0">
                <a:cs typeface="Arial" panose="020B0604020202020204" pitchFamily="34" charset="0"/>
              </a:rPr>
              <a:t> doanh thu </a:t>
            </a:r>
            <a:r>
              <a:rPr lang="vi-VN" sz="1100" b="0" dirty="0" err="1">
                <a:cs typeface="Arial" panose="020B0604020202020204" pitchFamily="34" charset="0"/>
              </a:rPr>
              <a:t>đối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với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tuyến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hàng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hải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chiến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lược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này</a:t>
            </a:r>
            <a:r>
              <a:rPr lang="vi-VN" sz="1100" b="0" dirty="0">
                <a:cs typeface="Arial" panose="020B0604020202020204" pitchFamily="34" charset="0"/>
              </a:rPr>
              <a:t>. </a:t>
            </a:r>
            <a:endParaRPr lang="en-US" sz="1100" b="0" dirty="0"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b="0" dirty="0" err="1">
                <a:cs typeface="Arial" panose="020B0604020202020204" pitchFamily="34" charset="0"/>
              </a:rPr>
              <a:t>Dự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báo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quán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tính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cùng</a:t>
            </a:r>
            <a:r>
              <a:rPr lang="vi-VN" sz="1100" b="0" dirty="0">
                <a:cs typeface="Arial" panose="020B0604020202020204" pitchFamily="34" charset="0"/>
              </a:rPr>
              <a:t> thanh </a:t>
            </a:r>
            <a:r>
              <a:rPr lang="vi-VN" sz="1100" b="0" dirty="0" err="1">
                <a:cs typeface="Arial" panose="020B0604020202020204" pitchFamily="34" charset="0"/>
              </a:rPr>
              <a:t>khoản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cải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thiện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kỳ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vọng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sẽ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tiếp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tục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hỗ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trợ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thị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trường</a:t>
            </a:r>
            <a:r>
              <a:rPr lang="vi-VN" sz="1100" b="0" dirty="0">
                <a:cs typeface="Arial" panose="020B0604020202020204" pitchFamily="34" charset="0"/>
              </a:rPr>
              <a:t> duy </a:t>
            </a:r>
            <a:r>
              <a:rPr lang="vi-VN" sz="1100" b="0" dirty="0" err="1">
                <a:cs typeface="Arial" panose="020B0604020202020204" pitchFamily="34" charset="0"/>
              </a:rPr>
              <a:t>trì</a:t>
            </a:r>
            <a:r>
              <a:rPr lang="vi-VN" sz="1100" b="0" dirty="0">
                <a:cs typeface="Arial" panose="020B0604020202020204" pitchFamily="34" charset="0"/>
              </a:rPr>
              <a:t> xu </a:t>
            </a:r>
            <a:r>
              <a:rPr lang="vi-VN" sz="1100" b="0" dirty="0" err="1">
                <a:cs typeface="Arial" panose="020B0604020202020204" pitchFamily="34" charset="0"/>
              </a:rPr>
              <a:t>hướng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hướng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về</a:t>
            </a:r>
            <a:r>
              <a:rPr lang="vi-VN" sz="1100" b="0" dirty="0">
                <a:cs typeface="Arial" panose="020B0604020202020204" pitchFamily="34" charset="0"/>
              </a:rPr>
              <a:t> 1880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 khi </a:t>
            </a:r>
            <a:r>
              <a:rPr lang="vi-VN" sz="1100" b="0" dirty="0" err="1">
                <a:cs typeface="Arial" panose="020B0604020202020204" pitchFamily="34" charset="0"/>
              </a:rPr>
              <a:t>có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nhịp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điều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chỉnh</a:t>
            </a:r>
            <a:r>
              <a:rPr lang="vi-VN" sz="1100" b="0" dirty="0">
                <a:cs typeface="Arial" panose="020B0604020202020204" pitchFamily="34" charset="0"/>
              </a:rPr>
              <a:t>. </a:t>
            </a:r>
            <a:endParaRPr lang="vi-VN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NHẬN ĐỊNH THỊ TRƯỜNG TUẦN 07/09/2026 – 11/09/2026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9392C-D4F1-51F2-AE95-76854FE8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8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CF2F-2891-B675-F483-98B3FC69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C42DA8-CC49-FACB-ED37-68E72B51C25C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623AE942-9D6D-ED13-84E7-98B768A2EFD3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4FC048D-159C-5638-DF97-BF8F03F2A6E9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486F2-7BBA-4111-65B4-16D12444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DA4063-CA1C-ACAF-5ED4-A58412D18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757203"/>
              </p:ext>
            </p:extLst>
          </p:nvPr>
        </p:nvGraphicFramePr>
        <p:xfrm>
          <a:off x="254000" y="800222"/>
          <a:ext cx="11649965" cy="578963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04/09/2026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DGC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47.100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18,94%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-50,84%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30,83%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-23,27%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-61,56%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VIC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256.100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51,00%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309,76%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93,0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119,57%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436,41%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NLG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25.700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-13,97%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-34,35%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28,50%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18,3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-14,39%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-36,31%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32.550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-38,24%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HDG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17.500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-45,09%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-24,73%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-32,26%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DPM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22.800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10,94%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VHM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75.200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25,95%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79,72%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48,10%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STB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77.300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33,28%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68,04%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424,61%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74,44%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VRE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26.500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-18,46%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-36,78%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24,41%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-45,69%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26.400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39,00%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60,31%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16,55%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VHC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52.500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-24,13%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-32,37%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VIB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15.050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-10,57%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-26,00%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-5,22%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-25,69%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BSR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26.750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68,03%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-27,83%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45,16%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TPB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14.700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-14,04%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-26,30%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-25,21%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PVD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19.200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13,03%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69,54%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16,0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-32,23%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13,19%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TCH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12.200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-26,67%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-45,49%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22,00%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39,1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102,38%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-9,48%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25762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27.800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-33,27%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0885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45.550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-12,74%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-26,95%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-15,39%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02514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PVT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20.200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-27,62%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33,85%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-18,03%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-7,56%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82995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NVL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13.050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33,61%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-40,97%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8956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GAS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84.000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16,02%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-34,73%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15,9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FPT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72.800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-30,44%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-37,07%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-36,70%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SAB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45.350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-9,74%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14,86%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-33,82%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VNM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61.900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-12,91%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16,23%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-23,55%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-9,17%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PLX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36.000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-46,34%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14,21%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-8,76%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00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33D6793-C142-1267-CD98-44105357C7FC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05E8C-AEDB-2F83-7F33-0859E3AE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BA8233-D1FC-43BF-8E94-2CA691EC0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6325"/>
              </p:ext>
            </p:extLst>
          </p:nvPr>
        </p:nvGraphicFramePr>
        <p:xfrm>
          <a:off x="254000" y="800222"/>
          <a:ext cx="11649965" cy="578963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04/09/2026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HHV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9.980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-20,31%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-35,93%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-35,81%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-42,53%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MCH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142.000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-20,23%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-20,76%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38,40%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26,2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85,66%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94,52%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VIX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14.000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-56,04%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25,10%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-41,42%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BID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36.500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-27,57%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KBC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27.100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-23,34%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-30,87%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18,57%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BVB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11.900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-5,18%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-10,27%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-55,00%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-9,43%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VGC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39.900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-26,74%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14,33%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-24,98%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SSI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21.050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-12,94%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-30,25%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19,71%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-25,36%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CTD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61.900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-14,48%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-33,29%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-59,13%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-7,69%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EIB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17.050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-19,95%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-38,00%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64,6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328,61%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ANV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16.950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-34,05%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-47,50%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-70,53%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-27,55%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VCG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15.750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-0,94%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-38,02%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-80,55%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-38,22%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PDR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12.200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-35,11%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-53,61%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19,7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-44,57%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HAH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47.200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-30,79%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-26,73%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-10,15%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MSN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69.000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-10,39%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-66,96%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-33,68%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CTG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31.400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-10,81%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-23,17%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-29,99%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-11,51%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25762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VND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16.350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-13,51%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-19,44%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0885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HPG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21.700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-7,93%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-19,91%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-42,95%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-17,20%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02514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NKG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10.750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-20,37%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-40,58%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230,25%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-27,37%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82995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IDC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31.900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-29,43%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13,41%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-36,61%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-38,63%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8956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GEX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25.950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-13,70%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-42,47%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27,83%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24,7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POW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12.850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-7,55%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-67,86%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22.200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18,74%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18,61%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-7,80%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58.900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HDB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27.200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-8,42%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-8,42%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22,91%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33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B6B6-4C21-BB2C-0DCA-53F6BA9D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08F11E-ED6A-DABE-4118-1E1609DB07F7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0C06C6F-9E47-2E51-CCE2-125829A70D57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E555233-330D-C30B-8BEA-B65C630650DB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23904C-FBE6-E09A-DD1A-2006ECC4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A6A812-72CB-162F-0BBD-281F70701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216290"/>
              </p:ext>
            </p:extLst>
          </p:nvPr>
        </p:nvGraphicFramePr>
        <p:xfrm>
          <a:off x="254000" y="800222"/>
          <a:ext cx="11649965" cy="479461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04/09/2026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142.700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0,22%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-14,63%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35,90%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PVS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38.700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-29,12%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46,84%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-50,25%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32.600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-19,41%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15,98%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VCI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22.300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-12,84%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16,7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-25,53%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-33,18%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BCM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42.300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14,32%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-30,37%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-46,21%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22,5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-22,22%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-46,52%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DXG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11.800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8,26%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-44,41%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18,36%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75,3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95,97%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MWG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73.100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-20,77%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17,28%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-49,62%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-11,95%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GVR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31.500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26,54%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18,0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-30,11%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DIG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11.100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-33,73%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-54,88%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14,55%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-79,89%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-52,43%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GMD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77.400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30,57%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38,76%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12,8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HSG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10.600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-12,50%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-33,43%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-8,10%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-28,00%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IJC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7.200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-29,32%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-46,49%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-34,63%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-44,12%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PC1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20.100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-10,86%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-35,89%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13,88%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-58,88%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-21,52%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ACV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40.977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-16,56%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-35,16%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6,95%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13,2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-40,54%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-48,57%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CII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14.250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-31,82%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-53,05%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104,4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150,13%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DBC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16.800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-29,48%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-35,12%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7,01%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-36,38%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-37,50%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OCB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10.550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-10,46%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16,65%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-8,16%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PNJ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40.050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12,98%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-37,47%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-52,70%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30,24%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-43,93%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-49,33%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KDH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17.300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-3,89%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-45,08%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-51,74%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-60,41%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-47,74%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DGW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40.050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-5,09%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5,19%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-26,75%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20,81%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-42,58%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-27,49%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09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87614</TotalTime>
  <Words>3507</Words>
  <Application>Microsoft Office PowerPoint</Application>
  <PresentationFormat>Widescreen</PresentationFormat>
  <Paragraphs>1303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Dương Thiện Chí</dc:creator>
  <cp:lastModifiedBy>Đặng Việt Long</cp:lastModifiedBy>
  <cp:revision>3875</cp:revision>
  <dcterms:created xsi:type="dcterms:W3CDTF">2020-03-18T03:42:50Z</dcterms:created>
  <dcterms:modified xsi:type="dcterms:W3CDTF">2026-09-04T10:41:47Z</dcterms:modified>
</cp:coreProperties>
</file>